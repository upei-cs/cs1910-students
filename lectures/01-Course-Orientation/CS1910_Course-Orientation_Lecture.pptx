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40"/>
  </p:notesMasterIdLst>
  <p:sldIdLst>
    <p:sldId id="266" r:id="rId2"/>
    <p:sldId id="308" r:id="rId3"/>
    <p:sldId id="256" r:id="rId4"/>
    <p:sldId id="302" r:id="rId5"/>
    <p:sldId id="257" r:id="rId6"/>
    <p:sldId id="280" r:id="rId7"/>
    <p:sldId id="301" r:id="rId8"/>
    <p:sldId id="259" r:id="rId9"/>
    <p:sldId id="262" r:id="rId10"/>
    <p:sldId id="263" r:id="rId11"/>
    <p:sldId id="282" r:id="rId12"/>
    <p:sldId id="290" r:id="rId13"/>
    <p:sldId id="260" r:id="rId14"/>
    <p:sldId id="287" r:id="rId15"/>
    <p:sldId id="261" r:id="rId16"/>
    <p:sldId id="291" r:id="rId17"/>
    <p:sldId id="297" r:id="rId18"/>
    <p:sldId id="298" r:id="rId19"/>
    <p:sldId id="288" r:id="rId20"/>
    <p:sldId id="289" r:id="rId21"/>
    <p:sldId id="292" r:id="rId22"/>
    <p:sldId id="279" r:id="rId23"/>
    <p:sldId id="283" r:id="rId24"/>
    <p:sldId id="294" r:id="rId25"/>
    <p:sldId id="265" r:id="rId26"/>
    <p:sldId id="293" r:id="rId27"/>
    <p:sldId id="299" r:id="rId28"/>
    <p:sldId id="295" r:id="rId29"/>
    <p:sldId id="284" r:id="rId30"/>
    <p:sldId id="285" r:id="rId31"/>
    <p:sldId id="264" r:id="rId32"/>
    <p:sldId id="304" r:id="rId33"/>
    <p:sldId id="269" r:id="rId34"/>
    <p:sldId id="306" r:id="rId35"/>
    <p:sldId id="267" r:id="rId36"/>
    <p:sldId id="268" r:id="rId37"/>
    <p:sldId id="274" r:id="rId38"/>
    <p:sldId id="278"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1BBAB6-5345-40ED-8B74-0897D64622F1}" v="1" dt="2026-09-08T13:56:45.8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412"/>
    <p:restoredTop sz="94767"/>
  </p:normalViewPr>
  <p:slideViewPr>
    <p:cSldViewPr snapToGrid="0">
      <p:cViewPr varScale="1">
        <p:scale>
          <a:sx n="103" d="100"/>
          <a:sy n="103" d="100"/>
        </p:scale>
        <p:origin x="11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020B0DAE-24A7-40F8-9A5C-565589CDAAC4}"/>
    <pc:docChg chg="undo custSel addSld delSld modSld">
      <pc:chgData name="Christopher Power" userId="83706efc-52ec-4aad-b93a-e27c6e901a30" providerId="ADAL" clId="{020B0DAE-24A7-40F8-9A5C-565589CDAAC4}" dt="2026-09-08T14:12:54.375" v="686" actId="20577"/>
      <pc:docMkLst>
        <pc:docMk/>
      </pc:docMkLst>
      <pc:sldChg chg="modSp mod">
        <pc:chgData name="Christopher Power" userId="83706efc-52ec-4aad-b93a-e27c6e901a30" providerId="ADAL" clId="{020B0DAE-24A7-40F8-9A5C-565589CDAAC4}" dt="2026-09-03T18:29:32.288" v="482" actId="20577"/>
        <pc:sldMkLst>
          <pc:docMk/>
          <pc:sldMk cId="2323063488" sldId="260"/>
        </pc:sldMkLst>
        <pc:spChg chg="mod">
          <ac:chgData name="Christopher Power" userId="83706efc-52ec-4aad-b93a-e27c6e901a30" providerId="ADAL" clId="{020B0DAE-24A7-40F8-9A5C-565589CDAAC4}" dt="2026-09-03T18:29:32.288" v="482" actId="20577"/>
          <ac:spMkLst>
            <pc:docMk/>
            <pc:sldMk cId="2323063488" sldId="260"/>
            <ac:spMk id="3" creationId="{D92DE33F-324D-AF1B-882E-65A57EAC2670}"/>
          </ac:spMkLst>
        </pc:spChg>
      </pc:sldChg>
      <pc:sldChg chg="modSp mod">
        <pc:chgData name="Christopher Power" userId="83706efc-52ec-4aad-b93a-e27c6e901a30" providerId="ADAL" clId="{020B0DAE-24A7-40F8-9A5C-565589CDAAC4}" dt="2026-09-03T18:28:57.386" v="469" actId="20577"/>
        <pc:sldMkLst>
          <pc:docMk/>
          <pc:sldMk cId="2350308870" sldId="261"/>
        </pc:sldMkLst>
        <pc:spChg chg="mod">
          <ac:chgData name="Christopher Power" userId="83706efc-52ec-4aad-b93a-e27c6e901a30" providerId="ADAL" clId="{020B0DAE-24A7-40F8-9A5C-565589CDAAC4}" dt="2026-09-03T18:28:57.386" v="469" actId="20577"/>
          <ac:spMkLst>
            <pc:docMk/>
            <pc:sldMk cId="2350308870" sldId="261"/>
            <ac:spMk id="3" creationId="{C4CC7416-BD23-B305-0133-20145A8FEAFA}"/>
          </ac:spMkLst>
        </pc:spChg>
      </pc:sldChg>
      <pc:sldChg chg="addSp modSp mod">
        <pc:chgData name="Christopher Power" userId="83706efc-52ec-4aad-b93a-e27c6e901a30" providerId="ADAL" clId="{020B0DAE-24A7-40F8-9A5C-565589CDAAC4}" dt="2026-09-08T13:55:52.356" v="675" actId="1076"/>
        <pc:sldMkLst>
          <pc:docMk/>
          <pc:sldMk cId="122268572" sldId="262"/>
        </pc:sldMkLst>
        <pc:spChg chg="add mod">
          <ac:chgData name="Christopher Power" userId="83706efc-52ec-4aad-b93a-e27c6e901a30" providerId="ADAL" clId="{020B0DAE-24A7-40F8-9A5C-565589CDAAC4}" dt="2026-09-03T18:19:51.262" v="313" actId="20577"/>
          <ac:spMkLst>
            <pc:docMk/>
            <pc:sldMk cId="122268572" sldId="262"/>
            <ac:spMk id="5" creationId="{3194582F-8CBE-B3F5-8346-7A4D5AD6F5B1}"/>
          </ac:spMkLst>
        </pc:spChg>
        <pc:spChg chg="mod">
          <ac:chgData name="Christopher Power" userId="83706efc-52ec-4aad-b93a-e27c6e901a30" providerId="ADAL" clId="{020B0DAE-24A7-40F8-9A5C-565589CDAAC4}" dt="2026-09-03T18:19:54.298" v="314" actId="20577"/>
          <ac:spMkLst>
            <pc:docMk/>
            <pc:sldMk cId="122268572" sldId="262"/>
            <ac:spMk id="7" creationId="{A7C18B57-8B72-5E6B-BF5A-32186B434DCF}"/>
          </ac:spMkLst>
        </pc:spChg>
        <pc:spChg chg="mod">
          <ac:chgData name="Christopher Power" userId="83706efc-52ec-4aad-b93a-e27c6e901a30" providerId="ADAL" clId="{020B0DAE-24A7-40F8-9A5C-565589CDAAC4}" dt="2026-09-08T13:55:52.356" v="675" actId="1076"/>
          <ac:spMkLst>
            <pc:docMk/>
            <pc:sldMk cId="122268572" sldId="262"/>
            <ac:spMk id="10" creationId="{952E1AC1-4325-7866-1921-541A41E49D42}"/>
          </ac:spMkLst>
        </pc:spChg>
        <pc:spChg chg="mod">
          <ac:chgData name="Christopher Power" userId="83706efc-52ec-4aad-b93a-e27c6e901a30" providerId="ADAL" clId="{020B0DAE-24A7-40F8-9A5C-565589CDAAC4}" dt="2026-09-08T13:55:52.356" v="675" actId="1076"/>
          <ac:spMkLst>
            <pc:docMk/>
            <pc:sldMk cId="122268572" sldId="262"/>
            <ac:spMk id="12" creationId="{B3EC712F-58E3-764E-32D3-0BB92E216FC3}"/>
          </ac:spMkLst>
        </pc:spChg>
        <pc:graphicFrameChg chg="mod modGraphic">
          <ac:chgData name="Christopher Power" userId="83706efc-52ec-4aad-b93a-e27c6e901a30" providerId="ADAL" clId="{020B0DAE-24A7-40F8-9A5C-565589CDAAC4}" dt="2026-09-03T18:19:11.573" v="241" actId="20577"/>
          <ac:graphicFrameMkLst>
            <pc:docMk/>
            <pc:sldMk cId="122268572" sldId="262"/>
            <ac:graphicFrameMk id="4" creationId="{024CF10F-4DA2-2A77-A2DC-AD3FD124B2BD}"/>
          </ac:graphicFrameMkLst>
        </pc:graphicFrameChg>
        <pc:cxnChg chg="add mod">
          <ac:chgData name="Christopher Power" userId="83706efc-52ec-4aad-b93a-e27c6e901a30" providerId="ADAL" clId="{020B0DAE-24A7-40F8-9A5C-565589CDAAC4}" dt="2026-09-03T18:19:28.588" v="245" actId="1076"/>
          <ac:cxnSpMkLst>
            <pc:docMk/>
            <pc:sldMk cId="122268572" sldId="262"/>
            <ac:cxnSpMk id="3" creationId="{3A0A1E92-17C6-9156-053C-1DA2BC43C7F4}"/>
          </ac:cxnSpMkLst>
        </pc:cxnChg>
        <pc:cxnChg chg="mod">
          <ac:chgData name="Christopher Power" userId="83706efc-52ec-4aad-b93a-e27c6e901a30" providerId="ADAL" clId="{020B0DAE-24A7-40F8-9A5C-565589CDAAC4}" dt="2026-09-08T13:55:52.356" v="675" actId="1076"/>
          <ac:cxnSpMkLst>
            <pc:docMk/>
            <pc:sldMk cId="122268572" sldId="262"/>
            <ac:cxnSpMk id="9" creationId="{07FE936D-578C-3B4C-2511-B7B44B9A7995}"/>
          </ac:cxnSpMkLst>
        </pc:cxnChg>
        <pc:cxnChg chg="mod">
          <ac:chgData name="Christopher Power" userId="83706efc-52ec-4aad-b93a-e27c6e901a30" providerId="ADAL" clId="{020B0DAE-24A7-40F8-9A5C-565589CDAAC4}" dt="2026-09-08T13:55:52.356" v="675" actId="1076"/>
          <ac:cxnSpMkLst>
            <pc:docMk/>
            <pc:sldMk cId="122268572" sldId="262"/>
            <ac:cxnSpMk id="11" creationId="{507B8169-42B9-CC02-E3CE-5867901C7B36}"/>
          </ac:cxnSpMkLst>
        </pc:cxnChg>
      </pc:sldChg>
      <pc:sldChg chg="modSp mod">
        <pc:chgData name="Christopher Power" userId="83706efc-52ec-4aad-b93a-e27c6e901a30" providerId="ADAL" clId="{020B0DAE-24A7-40F8-9A5C-565589CDAAC4}" dt="2026-09-03T18:20:17.878" v="325" actId="20577"/>
        <pc:sldMkLst>
          <pc:docMk/>
          <pc:sldMk cId="1217478224" sldId="263"/>
        </pc:sldMkLst>
        <pc:spChg chg="mod">
          <ac:chgData name="Christopher Power" userId="83706efc-52ec-4aad-b93a-e27c6e901a30" providerId="ADAL" clId="{020B0DAE-24A7-40F8-9A5C-565589CDAAC4}" dt="2026-09-03T18:20:17.878" v="325" actId="20577"/>
          <ac:spMkLst>
            <pc:docMk/>
            <pc:sldMk cId="1217478224" sldId="263"/>
            <ac:spMk id="3" creationId="{4D55D105-EFDE-539C-869F-B909057F0592}"/>
          </ac:spMkLst>
        </pc:spChg>
      </pc:sldChg>
      <pc:sldChg chg="modSp mod">
        <pc:chgData name="Christopher Power" userId="83706efc-52ec-4aad-b93a-e27c6e901a30" providerId="ADAL" clId="{020B0DAE-24A7-40F8-9A5C-565589CDAAC4}" dt="2026-09-08T14:12:54.375" v="686" actId="20577"/>
        <pc:sldMkLst>
          <pc:docMk/>
          <pc:sldMk cId="139064739" sldId="282"/>
        </pc:sldMkLst>
        <pc:spChg chg="mod">
          <ac:chgData name="Christopher Power" userId="83706efc-52ec-4aad-b93a-e27c6e901a30" providerId="ADAL" clId="{020B0DAE-24A7-40F8-9A5C-565589CDAAC4}" dt="2026-09-08T14:12:54.375" v="686" actId="20577"/>
          <ac:spMkLst>
            <pc:docMk/>
            <pc:sldMk cId="139064739" sldId="282"/>
            <ac:spMk id="3" creationId="{73D8FF82-D0F3-6169-4800-9CD7C67E6D3A}"/>
          </ac:spMkLst>
        </pc:spChg>
      </pc:sldChg>
      <pc:sldChg chg="modSp mod">
        <pc:chgData name="Christopher Power" userId="83706efc-52ec-4aad-b93a-e27c6e901a30" providerId="ADAL" clId="{020B0DAE-24A7-40F8-9A5C-565589CDAAC4}" dt="2026-09-03T18:28:18.794" v="354" actId="20577"/>
        <pc:sldMkLst>
          <pc:docMk/>
          <pc:sldMk cId="8773762" sldId="287"/>
        </pc:sldMkLst>
        <pc:spChg chg="mod">
          <ac:chgData name="Christopher Power" userId="83706efc-52ec-4aad-b93a-e27c6e901a30" providerId="ADAL" clId="{020B0DAE-24A7-40F8-9A5C-565589CDAAC4}" dt="2026-09-03T18:28:18.794" v="354" actId="20577"/>
          <ac:spMkLst>
            <pc:docMk/>
            <pc:sldMk cId="8773762" sldId="287"/>
            <ac:spMk id="3" creationId="{59939830-C84C-C998-0BA6-EBC4B658E083}"/>
          </ac:spMkLst>
        </pc:spChg>
      </pc:sldChg>
      <pc:sldChg chg="modSp mod">
        <pc:chgData name="Christopher Power" userId="83706efc-52ec-4aad-b93a-e27c6e901a30" providerId="ADAL" clId="{020B0DAE-24A7-40F8-9A5C-565589CDAAC4}" dt="2026-09-03T18:30:42.048" v="513" actId="20577"/>
        <pc:sldMkLst>
          <pc:docMk/>
          <pc:sldMk cId="1199974937" sldId="288"/>
        </pc:sldMkLst>
        <pc:spChg chg="mod">
          <ac:chgData name="Christopher Power" userId="83706efc-52ec-4aad-b93a-e27c6e901a30" providerId="ADAL" clId="{020B0DAE-24A7-40F8-9A5C-565589CDAAC4}" dt="2026-09-03T18:30:42.048" v="513" actId="20577"/>
          <ac:spMkLst>
            <pc:docMk/>
            <pc:sldMk cId="1199974937" sldId="288"/>
            <ac:spMk id="3" creationId="{FD7D5F8A-DD3A-959F-90B5-E87FD1DDA2D5}"/>
          </ac:spMkLst>
        </pc:spChg>
      </pc:sldChg>
      <pc:sldChg chg="modSp mod">
        <pc:chgData name="Christopher Power" userId="83706efc-52ec-4aad-b93a-e27c6e901a30" providerId="ADAL" clId="{020B0DAE-24A7-40F8-9A5C-565589CDAAC4}" dt="2026-09-03T18:31:17.508" v="664" actId="20577"/>
        <pc:sldMkLst>
          <pc:docMk/>
          <pc:sldMk cId="3254469506" sldId="289"/>
        </pc:sldMkLst>
        <pc:spChg chg="mod">
          <ac:chgData name="Christopher Power" userId="83706efc-52ec-4aad-b93a-e27c6e901a30" providerId="ADAL" clId="{020B0DAE-24A7-40F8-9A5C-565589CDAAC4}" dt="2026-09-03T18:31:17.508" v="664" actId="20577"/>
          <ac:spMkLst>
            <pc:docMk/>
            <pc:sldMk cId="3254469506" sldId="289"/>
            <ac:spMk id="3" creationId="{F7AB469B-3607-8B18-0F17-07550545EF02}"/>
          </ac:spMkLst>
        </pc:spChg>
      </pc:sldChg>
      <pc:sldChg chg="modSp mod">
        <pc:chgData name="Christopher Power" userId="83706efc-52ec-4aad-b93a-e27c6e901a30" providerId="ADAL" clId="{020B0DAE-24A7-40F8-9A5C-565589CDAAC4}" dt="2026-09-03T18:20:47.126" v="333" actId="20577"/>
        <pc:sldMkLst>
          <pc:docMk/>
          <pc:sldMk cId="4006704977" sldId="290"/>
        </pc:sldMkLst>
        <pc:spChg chg="mod">
          <ac:chgData name="Christopher Power" userId="83706efc-52ec-4aad-b93a-e27c6e901a30" providerId="ADAL" clId="{020B0DAE-24A7-40F8-9A5C-565589CDAAC4}" dt="2026-09-03T18:20:47.126" v="333" actId="20577"/>
          <ac:spMkLst>
            <pc:docMk/>
            <pc:sldMk cId="4006704977" sldId="290"/>
            <ac:spMk id="2" creationId="{75F36119-F120-305F-ECB3-EBA73CE17D4C}"/>
          </ac:spMkLst>
        </pc:spChg>
      </pc:sldChg>
      <pc:sldChg chg="modSp mod">
        <pc:chgData name="Christopher Power" userId="83706efc-52ec-4aad-b93a-e27c6e901a30" providerId="ADAL" clId="{020B0DAE-24A7-40F8-9A5C-565589CDAAC4}" dt="2026-09-03T18:32:12.697" v="672" actId="20577"/>
        <pc:sldMkLst>
          <pc:docMk/>
          <pc:sldMk cId="1662518105" sldId="295"/>
        </pc:sldMkLst>
        <pc:spChg chg="mod">
          <ac:chgData name="Christopher Power" userId="83706efc-52ec-4aad-b93a-e27c6e901a30" providerId="ADAL" clId="{020B0DAE-24A7-40F8-9A5C-565589CDAAC4}" dt="2026-09-03T18:32:12.697" v="672" actId="20577"/>
          <ac:spMkLst>
            <pc:docMk/>
            <pc:sldMk cId="1662518105" sldId="295"/>
            <ac:spMk id="3" creationId="{3805030E-52CC-B383-06C2-64ED62CB9079}"/>
          </ac:spMkLst>
        </pc:spChg>
      </pc:sldChg>
      <pc:sldChg chg="modSp mod">
        <pc:chgData name="Christopher Power" userId="83706efc-52ec-4aad-b93a-e27c6e901a30" providerId="ADAL" clId="{020B0DAE-24A7-40F8-9A5C-565589CDAAC4}" dt="2026-09-03T18:29:08.312" v="471" actId="20577"/>
        <pc:sldMkLst>
          <pc:docMk/>
          <pc:sldMk cId="161095701" sldId="297"/>
        </pc:sldMkLst>
        <pc:spChg chg="mod">
          <ac:chgData name="Christopher Power" userId="83706efc-52ec-4aad-b93a-e27c6e901a30" providerId="ADAL" clId="{020B0DAE-24A7-40F8-9A5C-565589CDAAC4}" dt="2026-09-03T18:29:08.312" v="471" actId="20577"/>
          <ac:spMkLst>
            <pc:docMk/>
            <pc:sldMk cId="161095701" sldId="297"/>
            <ac:spMk id="3" creationId="{00E17D8D-C162-C1A0-E345-86231FD6D889}"/>
          </ac:spMkLst>
        </pc:spChg>
      </pc:sldChg>
      <pc:sldChg chg="add">
        <pc:chgData name="Christopher Power" userId="83706efc-52ec-4aad-b93a-e27c6e901a30" providerId="ADAL" clId="{020B0DAE-24A7-40F8-9A5C-565589CDAAC4}" dt="2026-09-08T13:56:45.890" v="677"/>
        <pc:sldMkLst>
          <pc:docMk/>
          <pc:sldMk cId="3312545535" sldId="301"/>
        </pc:sldMkLst>
      </pc:sldChg>
      <pc:sldChg chg="modSp del mod">
        <pc:chgData name="Christopher Power" userId="83706efc-52ec-4aad-b93a-e27c6e901a30" providerId="ADAL" clId="{020B0DAE-24A7-40F8-9A5C-565589CDAAC4}" dt="2026-09-08T13:56:20.556" v="676" actId="2696"/>
        <pc:sldMkLst>
          <pc:docMk/>
          <pc:sldMk cId="3414665496" sldId="301"/>
        </pc:sldMkLst>
      </pc:sldChg>
      <pc:sldChg chg="delSp modSp mod">
        <pc:chgData name="Christopher Power" userId="83706efc-52ec-4aad-b93a-e27c6e901a30" providerId="ADAL" clId="{020B0DAE-24A7-40F8-9A5C-565589CDAAC4}" dt="2026-09-03T18:16:12.728" v="155" actId="14100"/>
        <pc:sldMkLst>
          <pc:docMk/>
          <pc:sldMk cId="3869190149" sldId="302"/>
        </pc:sldMkLst>
        <pc:spChg chg="mod">
          <ac:chgData name="Christopher Power" userId="83706efc-52ec-4aad-b93a-e27c6e901a30" providerId="ADAL" clId="{020B0DAE-24A7-40F8-9A5C-565589CDAAC4}" dt="2026-09-03T18:16:12.728" v="155" actId="14100"/>
          <ac:spMkLst>
            <pc:docMk/>
            <pc:sldMk cId="3869190149" sldId="302"/>
            <ac:spMk id="4" creationId="{133821B8-089F-BDC1-5B7C-D34A6AA62B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DD8F4B-B0A6-43B4-BDFD-FA2B63B76F54}" type="doc">
      <dgm:prSet loTypeId="urn:microsoft.com/office/officeart/2016/7/layout/LinearArrowProcessNumbered" loCatId="process" qsTypeId="urn:microsoft.com/office/officeart/2005/8/quickstyle/simple2#1" qsCatId="simple" csTypeId="urn:microsoft.com/office/officeart/2005/8/colors/accent1_2#1" csCatId="accent1" phldr="1"/>
      <dgm:spPr/>
      <dgm:t>
        <a:bodyPr/>
        <a:lstStyle/>
        <a:p>
          <a:endParaRPr lang="en-US"/>
        </a:p>
      </dgm:t>
    </dgm:pt>
    <dgm:pt modelId="{38D13D65-5360-4DA8-A1F5-FD1868CE502E}">
      <dgm:prSet/>
      <dgm:spPr/>
      <dgm:t>
        <a:bodyPr/>
        <a:lstStyle/>
        <a:p>
          <a:r>
            <a:rPr lang="en-US"/>
            <a:t>Break into groups of 3 – 5 people</a:t>
          </a:r>
        </a:p>
      </dgm:t>
    </dgm:pt>
    <dgm:pt modelId="{920047A4-A215-4C24-93C3-97E17AB9189A}" type="parTrans" cxnId="{A43190B5-1768-49D7-B326-82086A3A0B63}">
      <dgm:prSet/>
      <dgm:spPr/>
      <dgm:t>
        <a:bodyPr/>
        <a:lstStyle/>
        <a:p>
          <a:endParaRPr lang="en-US"/>
        </a:p>
      </dgm:t>
    </dgm:pt>
    <dgm:pt modelId="{BC47214C-08AB-4F33-9601-477518853570}" type="sibTrans" cxnId="{A43190B5-1768-49D7-B326-82086A3A0B63}">
      <dgm:prSet phldrT="1"/>
      <dgm:spPr/>
      <dgm:t>
        <a:bodyPr/>
        <a:lstStyle/>
        <a:p>
          <a:r>
            <a:rPr lang="en-US"/>
            <a:t>1</a:t>
          </a:r>
        </a:p>
      </dgm:t>
    </dgm:pt>
    <dgm:pt modelId="{86C65648-4873-43CD-899C-394AA970F7C6}">
      <dgm:prSet/>
      <dgm:spPr/>
      <dgm:t>
        <a:bodyPr/>
        <a:lstStyle/>
        <a:p>
          <a:r>
            <a:rPr lang="en-US"/>
            <a:t>Introduce yourself</a:t>
          </a:r>
        </a:p>
      </dgm:t>
    </dgm:pt>
    <dgm:pt modelId="{EE91EC3A-57B8-412D-A7AD-59991821797B}" type="parTrans" cxnId="{0413AE13-5FF2-4EA7-BBF8-29E51FF7E781}">
      <dgm:prSet/>
      <dgm:spPr/>
      <dgm:t>
        <a:bodyPr/>
        <a:lstStyle/>
        <a:p>
          <a:endParaRPr lang="en-US"/>
        </a:p>
      </dgm:t>
    </dgm:pt>
    <dgm:pt modelId="{BD79EE0D-FAE1-48BE-8875-985BEFF9D5CD}" type="sibTrans" cxnId="{0413AE13-5FF2-4EA7-BBF8-29E51FF7E781}">
      <dgm:prSet phldrT="2"/>
      <dgm:spPr/>
      <dgm:t>
        <a:bodyPr/>
        <a:lstStyle/>
        <a:p>
          <a:r>
            <a:rPr lang="en-US"/>
            <a:t>2</a:t>
          </a:r>
        </a:p>
      </dgm:t>
    </dgm:pt>
    <dgm:pt modelId="{0FB8E867-7558-4626-9FF9-F13EB6634A76}">
      <dgm:prSet/>
      <dgm:spPr/>
      <dgm:t>
        <a:bodyPr/>
        <a:lstStyle/>
        <a:p>
          <a:r>
            <a:rPr lang="en-US"/>
            <a:t>Place a piece of paper in the middle of the group</a:t>
          </a:r>
        </a:p>
      </dgm:t>
    </dgm:pt>
    <dgm:pt modelId="{C952A762-762F-4AFE-9C61-36F1ADE65053}" type="parTrans" cxnId="{0A5B8BC0-5009-4624-9B2A-544A7C6EBFEE}">
      <dgm:prSet/>
      <dgm:spPr/>
      <dgm:t>
        <a:bodyPr/>
        <a:lstStyle/>
        <a:p>
          <a:endParaRPr lang="en-US"/>
        </a:p>
      </dgm:t>
    </dgm:pt>
    <dgm:pt modelId="{54A80011-09C8-45C8-B036-8506A19C1644}" type="sibTrans" cxnId="{0A5B8BC0-5009-4624-9B2A-544A7C6EBFEE}">
      <dgm:prSet phldrT="3"/>
      <dgm:spPr/>
      <dgm:t>
        <a:bodyPr/>
        <a:lstStyle/>
        <a:p>
          <a:r>
            <a:rPr lang="en-US"/>
            <a:t>3</a:t>
          </a:r>
        </a:p>
      </dgm:t>
    </dgm:pt>
    <dgm:pt modelId="{6FC935AF-4F9B-4AC1-B985-9168BC904C5D}">
      <dgm:prSet/>
      <dgm:spPr/>
      <dgm:t>
        <a:bodyPr/>
        <a:lstStyle/>
        <a:p>
          <a:r>
            <a:rPr lang="en-US"/>
            <a:t>Brainstorm a “Is this Computer Science” example that might spark discussion within the class </a:t>
          </a:r>
        </a:p>
      </dgm:t>
    </dgm:pt>
    <dgm:pt modelId="{D5A7DCF8-C0C1-47C2-B6C8-CCEA7BBA7521}" type="parTrans" cxnId="{EC8104A8-B15C-4231-9CDC-0746BA9653C7}">
      <dgm:prSet/>
      <dgm:spPr/>
      <dgm:t>
        <a:bodyPr/>
        <a:lstStyle/>
        <a:p>
          <a:endParaRPr lang="en-US"/>
        </a:p>
      </dgm:t>
    </dgm:pt>
    <dgm:pt modelId="{5F09EC27-E21A-4C0D-A653-F325B7A2A67A}" type="sibTrans" cxnId="{EC8104A8-B15C-4231-9CDC-0746BA9653C7}">
      <dgm:prSet phldrT="4"/>
      <dgm:spPr/>
      <dgm:t>
        <a:bodyPr/>
        <a:lstStyle/>
        <a:p>
          <a:r>
            <a:rPr lang="en-US"/>
            <a:t>4</a:t>
          </a:r>
        </a:p>
      </dgm:t>
    </dgm:pt>
    <dgm:pt modelId="{16822DE5-9AEA-4D10-90B4-10EE590389DE}" type="pres">
      <dgm:prSet presAssocID="{75DD8F4B-B0A6-43B4-BDFD-FA2B63B76F54}" presName="linearFlow" presStyleCnt="0">
        <dgm:presLayoutVars>
          <dgm:dir/>
          <dgm:animLvl val="lvl"/>
          <dgm:resizeHandles val="exact"/>
        </dgm:presLayoutVars>
      </dgm:prSet>
      <dgm:spPr/>
    </dgm:pt>
    <dgm:pt modelId="{9EB8B2FD-FAEF-4E77-AA9F-A5649D141EC7}" type="pres">
      <dgm:prSet presAssocID="{38D13D65-5360-4DA8-A1F5-FD1868CE502E}" presName="compositeNode" presStyleCnt="0"/>
      <dgm:spPr/>
    </dgm:pt>
    <dgm:pt modelId="{DA81B344-F6E5-43CC-9D92-CD348B1D82F3}" type="pres">
      <dgm:prSet presAssocID="{38D13D65-5360-4DA8-A1F5-FD1868CE502E}" presName="parTx" presStyleLbl="node1" presStyleIdx="0" presStyleCnt="0">
        <dgm:presLayoutVars>
          <dgm:chMax val="0"/>
          <dgm:chPref val="0"/>
          <dgm:bulletEnabled val="1"/>
        </dgm:presLayoutVars>
      </dgm:prSet>
      <dgm:spPr/>
    </dgm:pt>
    <dgm:pt modelId="{4E2766C6-CEA1-4023-8A49-9A0AD48F7379}" type="pres">
      <dgm:prSet presAssocID="{38D13D65-5360-4DA8-A1F5-FD1868CE502E}" presName="parSh" presStyleCnt="0"/>
      <dgm:spPr/>
    </dgm:pt>
    <dgm:pt modelId="{00271801-3431-405E-AFCD-85BA07E1E719}" type="pres">
      <dgm:prSet presAssocID="{38D13D65-5360-4DA8-A1F5-FD1868CE502E}" presName="lineNode" presStyleLbl="alignAccFollowNode1" presStyleIdx="0" presStyleCnt="12"/>
      <dgm:spPr/>
    </dgm:pt>
    <dgm:pt modelId="{843599D1-C863-4ED5-8D28-F32820AD5F3C}" type="pres">
      <dgm:prSet presAssocID="{38D13D65-5360-4DA8-A1F5-FD1868CE502E}" presName="lineArrowNode" presStyleLbl="alignAccFollowNode1" presStyleIdx="1" presStyleCnt="12"/>
      <dgm:spPr/>
    </dgm:pt>
    <dgm:pt modelId="{55C4DF13-6FF6-4CB8-B9AE-E85C3A64C9F2}" type="pres">
      <dgm:prSet presAssocID="{BC47214C-08AB-4F33-9601-477518853570}" presName="sibTransNodeCircle" presStyleLbl="alignNode1" presStyleIdx="0" presStyleCnt="4">
        <dgm:presLayoutVars>
          <dgm:chMax val="0"/>
          <dgm:bulletEnabled/>
        </dgm:presLayoutVars>
      </dgm:prSet>
      <dgm:spPr/>
    </dgm:pt>
    <dgm:pt modelId="{0A228F7B-0B41-4DA6-915C-AE963529103B}" type="pres">
      <dgm:prSet presAssocID="{BC47214C-08AB-4F33-9601-477518853570}" presName="spacerBetweenCircleAndCallout" presStyleCnt="0">
        <dgm:presLayoutVars/>
      </dgm:prSet>
      <dgm:spPr/>
    </dgm:pt>
    <dgm:pt modelId="{8BA122B1-EF04-48C6-A3C3-012A6F774DB7}" type="pres">
      <dgm:prSet presAssocID="{38D13D65-5360-4DA8-A1F5-FD1868CE502E}" presName="nodeText" presStyleLbl="alignAccFollowNode1" presStyleIdx="2" presStyleCnt="12">
        <dgm:presLayoutVars>
          <dgm:bulletEnabled val="1"/>
        </dgm:presLayoutVars>
      </dgm:prSet>
      <dgm:spPr/>
    </dgm:pt>
    <dgm:pt modelId="{5BECA75D-4910-4D0B-BDA9-4627D33C5D63}" type="pres">
      <dgm:prSet presAssocID="{BC47214C-08AB-4F33-9601-477518853570}" presName="sibTransComposite" presStyleCnt="0"/>
      <dgm:spPr/>
    </dgm:pt>
    <dgm:pt modelId="{7A19D616-A320-4574-85A5-08F579E1262F}" type="pres">
      <dgm:prSet presAssocID="{86C65648-4873-43CD-899C-394AA970F7C6}" presName="compositeNode" presStyleCnt="0"/>
      <dgm:spPr/>
    </dgm:pt>
    <dgm:pt modelId="{10F9B3F4-3AC3-4E74-BC21-D04A28C24DB7}" type="pres">
      <dgm:prSet presAssocID="{86C65648-4873-43CD-899C-394AA970F7C6}" presName="parTx" presStyleLbl="node1" presStyleIdx="0" presStyleCnt="0">
        <dgm:presLayoutVars>
          <dgm:chMax val="0"/>
          <dgm:chPref val="0"/>
          <dgm:bulletEnabled val="1"/>
        </dgm:presLayoutVars>
      </dgm:prSet>
      <dgm:spPr/>
    </dgm:pt>
    <dgm:pt modelId="{CA48BAA8-3318-45A4-9E6E-F7F57CAF62E5}" type="pres">
      <dgm:prSet presAssocID="{86C65648-4873-43CD-899C-394AA970F7C6}" presName="parSh" presStyleCnt="0"/>
      <dgm:spPr/>
    </dgm:pt>
    <dgm:pt modelId="{41804031-058B-4DC6-9FBC-6075823C540B}" type="pres">
      <dgm:prSet presAssocID="{86C65648-4873-43CD-899C-394AA970F7C6}" presName="lineNode" presStyleLbl="alignAccFollowNode1" presStyleIdx="3" presStyleCnt="12"/>
      <dgm:spPr/>
    </dgm:pt>
    <dgm:pt modelId="{CC61A065-1F8A-4180-849F-7EBEDA09E1B0}" type="pres">
      <dgm:prSet presAssocID="{86C65648-4873-43CD-899C-394AA970F7C6}" presName="lineArrowNode" presStyleLbl="alignAccFollowNode1" presStyleIdx="4" presStyleCnt="12"/>
      <dgm:spPr/>
    </dgm:pt>
    <dgm:pt modelId="{FEDEC1A8-F7AD-47C8-9B6E-94B3A86B040F}" type="pres">
      <dgm:prSet presAssocID="{BD79EE0D-FAE1-48BE-8875-985BEFF9D5CD}" presName="sibTransNodeCircle" presStyleLbl="alignNode1" presStyleIdx="1" presStyleCnt="4">
        <dgm:presLayoutVars>
          <dgm:chMax val="0"/>
          <dgm:bulletEnabled/>
        </dgm:presLayoutVars>
      </dgm:prSet>
      <dgm:spPr/>
    </dgm:pt>
    <dgm:pt modelId="{8EEA9C46-039A-4E5A-AC4F-5C98E572456F}" type="pres">
      <dgm:prSet presAssocID="{BD79EE0D-FAE1-48BE-8875-985BEFF9D5CD}" presName="spacerBetweenCircleAndCallout" presStyleCnt="0">
        <dgm:presLayoutVars/>
      </dgm:prSet>
      <dgm:spPr/>
    </dgm:pt>
    <dgm:pt modelId="{83EEBA96-1866-4FE4-BCFF-4010DF2AECF6}" type="pres">
      <dgm:prSet presAssocID="{86C65648-4873-43CD-899C-394AA970F7C6}" presName="nodeText" presStyleLbl="alignAccFollowNode1" presStyleIdx="5" presStyleCnt="12">
        <dgm:presLayoutVars>
          <dgm:bulletEnabled val="1"/>
        </dgm:presLayoutVars>
      </dgm:prSet>
      <dgm:spPr/>
    </dgm:pt>
    <dgm:pt modelId="{F02D8D07-5225-4B12-B72C-C01D5CFC2158}" type="pres">
      <dgm:prSet presAssocID="{BD79EE0D-FAE1-48BE-8875-985BEFF9D5CD}" presName="sibTransComposite" presStyleCnt="0"/>
      <dgm:spPr/>
    </dgm:pt>
    <dgm:pt modelId="{49FA6CEA-1BF9-4910-8DEA-174535A99414}" type="pres">
      <dgm:prSet presAssocID="{0FB8E867-7558-4626-9FF9-F13EB6634A76}" presName="compositeNode" presStyleCnt="0"/>
      <dgm:spPr/>
    </dgm:pt>
    <dgm:pt modelId="{46562EF9-0A9C-497A-8175-FE096CF37C8F}" type="pres">
      <dgm:prSet presAssocID="{0FB8E867-7558-4626-9FF9-F13EB6634A76}" presName="parTx" presStyleLbl="node1" presStyleIdx="0" presStyleCnt="0">
        <dgm:presLayoutVars>
          <dgm:chMax val="0"/>
          <dgm:chPref val="0"/>
          <dgm:bulletEnabled val="1"/>
        </dgm:presLayoutVars>
      </dgm:prSet>
      <dgm:spPr/>
    </dgm:pt>
    <dgm:pt modelId="{22516896-6DD0-445A-A8A3-9EC57FB22651}" type="pres">
      <dgm:prSet presAssocID="{0FB8E867-7558-4626-9FF9-F13EB6634A76}" presName="parSh" presStyleCnt="0"/>
      <dgm:spPr/>
    </dgm:pt>
    <dgm:pt modelId="{922A94F7-2353-4C8E-A65D-8B33E35BC8A5}" type="pres">
      <dgm:prSet presAssocID="{0FB8E867-7558-4626-9FF9-F13EB6634A76}" presName="lineNode" presStyleLbl="alignAccFollowNode1" presStyleIdx="6" presStyleCnt="12"/>
      <dgm:spPr/>
    </dgm:pt>
    <dgm:pt modelId="{2F45C440-29F6-4D5B-B447-DE6C3F28460F}" type="pres">
      <dgm:prSet presAssocID="{0FB8E867-7558-4626-9FF9-F13EB6634A76}" presName="lineArrowNode" presStyleLbl="alignAccFollowNode1" presStyleIdx="7" presStyleCnt="12"/>
      <dgm:spPr/>
    </dgm:pt>
    <dgm:pt modelId="{EDB91B4C-4AFE-49FB-A23B-52E81218A979}" type="pres">
      <dgm:prSet presAssocID="{54A80011-09C8-45C8-B036-8506A19C1644}" presName="sibTransNodeCircle" presStyleLbl="alignNode1" presStyleIdx="2" presStyleCnt="4">
        <dgm:presLayoutVars>
          <dgm:chMax val="0"/>
          <dgm:bulletEnabled/>
        </dgm:presLayoutVars>
      </dgm:prSet>
      <dgm:spPr/>
    </dgm:pt>
    <dgm:pt modelId="{5EE0BF7C-1B29-4E94-810B-76823CEB790C}" type="pres">
      <dgm:prSet presAssocID="{54A80011-09C8-45C8-B036-8506A19C1644}" presName="spacerBetweenCircleAndCallout" presStyleCnt="0">
        <dgm:presLayoutVars/>
      </dgm:prSet>
      <dgm:spPr/>
    </dgm:pt>
    <dgm:pt modelId="{91C2A838-10FA-492D-A021-98AA89324C1A}" type="pres">
      <dgm:prSet presAssocID="{0FB8E867-7558-4626-9FF9-F13EB6634A76}" presName="nodeText" presStyleLbl="alignAccFollowNode1" presStyleIdx="8" presStyleCnt="12">
        <dgm:presLayoutVars>
          <dgm:bulletEnabled val="1"/>
        </dgm:presLayoutVars>
      </dgm:prSet>
      <dgm:spPr/>
    </dgm:pt>
    <dgm:pt modelId="{AAB2F151-63CD-478F-AE40-C23C796A4975}" type="pres">
      <dgm:prSet presAssocID="{54A80011-09C8-45C8-B036-8506A19C1644}" presName="sibTransComposite" presStyleCnt="0"/>
      <dgm:spPr/>
    </dgm:pt>
    <dgm:pt modelId="{F481DE70-8583-4709-A0A4-7501EF348D96}" type="pres">
      <dgm:prSet presAssocID="{6FC935AF-4F9B-4AC1-B985-9168BC904C5D}" presName="compositeNode" presStyleCnt="0"/>
      <dgm:spPr/>
    </dgm:pt>
    <dgm:pt modelId="{64D7ADA2-9303-44E4-B5E6-601514865BD9}" type="pres">
      <dgm:prSet presAssocID="{6FC935AF-4F9B-4AC1-B985-9168BC904C5D}" presName="parTx" presStyleLbl="node1" presStyleIdx="0" presStyleCnt="0">
        <dgm:presLayoutVars>
          <dgm:chMax val="0"/>
          <dgm:chPref val="0"/>
          <dgm:bulletEnabled val="1"/>
        </dgm:presLayoutVars>
      </dgm:prSet>
      <dgm:spPr/>
    </dgm:pt>
    <dgm:pt modelId="{80FDC171-404A-42F1-A197-C2F4598BF41B}" type="pres">
      <dgm:prSet presAssocID="{6FC935AF-4F9B-4AC1-B985-9168BC904C5D}" presName="parSh" presStyleCnt="0"/>
      <dgm:spPr/>
    </dgm:pt>
    <dgm:pt modelId="{5A570A14-A501-48E2-B526-D96331E5CA93}" type="pres">
      <dgm:prSet presAssocID="{6FC935AF-4F9B-4AC1-B985-9168BC904C5D}" presName="lineNode" presStyleLbl="alignAccFollowNode1" presStyleIdx="9" presStyleCnt="12"/>
      <dgm:spPr/>
    </dgm:pt>
    <dgm:pt modelId="{159D2472-07CC-42E9-A8DD-7F2F66E58E2A}" type="pres">
      <dgm:prSet presAssocID="{6FC935AF-4F9B-4AC1-B985-9168BC904C5D}" presName="lineArrowNode" presStyleLbl="alignAccFollowNode1" presStyleIdx="10" presStyleCnt="12"/>
      <dgm:spPr/>
    </dgm:pt>
    <dgm:pt modelId="{DF54B630-49A9-41A5-850D-2A0003A3D711}" type="pres">
      <dgm:prSet presAssocID="{5F09EC27-E21A-4C0D-A653-F325B7A2A67A}" presName="sibTransNodeCircle" presStyleLbl="alignNode1" presStyleIdx="3" presStyleCnt="4">
        <dgm:presLayoutVars>
          <dgm:chMax val="0"/>
          <dgm:bulletEnabled/>
        </dgm:presLayoutVars>
      </dgm:prSet>
      <dgm:spPr/>
    </dgm:pt>
    <dgm:pt modelId="{6787F105-86F9-40B7-9D20-3BBF3D886418}" type="pres">
      <dgm:prSet presAssocID="{5F09EC27-E21A-4C0D-A653-F325B7A2A67A}" presName="spacerBetweenCircleAndCallout" presStyleCnt="0">
        <dgm:presLayoutVars/>
      </dgm:prSet>
      <dgm:spPr/>
    </dgm:pt>
    <dgm:pt modelId="{64C4BCDB-7015-4BDB-AFE0-7360D689D60B}" type="pres">
      <dgm:prSet presAssocID="{6FC935AF-4F9B-4AC1-B985-9168BC904C5D}" presName="nodeText" presStyleLbl="alignAccFollowNode1" presStyleIdx="11" presStyleCnt="12">
        <dgm:presLayoutVars>
          <dgm:bulletEnabled val="1"/>
        </dgm:presLayoutVars>
      </dgm:prSet>
      <dgm:spPr/>
    </dgm:pt>
  </dgm:ptLst>
  <dgm:cxnLst>
    <dgm:cxn modelId="{7ABEB703-E547-47CE-B105-F28553995AC0}" type="presOf" srcId="{54A80011-09C8-45C8-B036-8506A19C1644}" destId="{EDB91B4C-4AFE-49FB-A23B-52E81218A979}" srcOrd="0" destOrd="0" presId="urn:microsoft.com/office/officeart/2016/7/layout/LinearArrowProcessNumbered"/>
    <dgm:cxn modelId="{6F5DA512-24CE-48CC-A524-CDAC9BCEE42D}" type="presOf" srcId="{86C65648-4873-43CD-899C-394AA970F7C6}" destId="{83EEBA96-1866-4FE4-BCFF-4010DF2AECF6}" srcOrd="0" destOrd="0" presId="urn:microsoft.com/office/officeart/2016/7/layout/LinearArrowProcessNumbered"/>
    <dgm:cxn modelId="{0413AE13-5FF2-4EA7-BBF8-29E51FF7E781}" srcId="{75DD8F4B-B0A6-43B4-BDFD-FA2B63B76F54}" destId="{86C65648-4873-43CD-899C-394AA970F7C6}" srcOrd="1" destOrd="0" parTransId="{EE91EC3A-57B8-412D-A7AD-59991821797B}" sibTransId="{BD79EE0D-FAE1-48BE-8875-985BEFF9D5CD}"/>
    <dgm:cxn modelId="{2CB6C81D-B707-4B13-9E55-82CA8DE73443}" type="presOf" srcId="{6FC935AF-4F9B-4AC1-B985-9168BC904C5D}" destId="{64C4BCDB-7015-4BDB-AFE0-7360D689D60B}" srcOrd="0" destOrd="0" presId="urn:microsoft.com/office/officeart/2016/7/layout/LinearArrowProcessNumbered"/>
    <dgm:cxn modelId="{4BF70533-FCFE-4DB5-AC48-3C49E383C087}" type="presOf" srcId="{BD79EE0D-FAE1-48BE-8875-985BEFF9D5CD}" destId="{FEDEC1A8-F7AD-47C8-9B6E-94B3A86B040F}" srcOrd="0" destOrd="0" presId="urn:microsoft.com/office/officeart/2016/7/layout/LinearArrowProcessNumbered"/>
    <dgm:cxn modelId="{6FF72865-7276-4551-8363-F22792AC874B}" type="presOf" srcId="{0FB8E867-7558-4626-9FF9-F13EB6634A76}" destId="{91C2A838-10FA-492D-A021-98AA89324C1A}" srcOrd="0" destOrd="0" presId="urn:microsoft.com/office/officeart/2016/7/layout/LinearArrowProcessNumbered"/>
    <dgm:cxn modelId="{EC8104A8-B15C-4231-9CDC-0746BA9653C7}" srcId="{75DD8F4B-B0A6-43B4-BDFD-FA2B63B76F54}" destId="{6FC935AF-4F9B-4AC1-B985-9168BC904C5D}" srcOrd="3" destOrd="0" parTransId="{D5A7DCF8-C0C1-47C2-B6C8-CCEA7BBA7521}" sibTransId="{5F09EC27-E21A-4C0D-A653-F325B7A2A67A}"/>
    <dgm:cxn modelId="{1D9A34A8-99D1-411C-8ACB-D2674E5CCCAA}" type="presOf" srcId="{38D13D65-5360-4DA8-A1F5-FD1868CE502E}" destId="{8BA122B1-EF04-48C6-A3C3-012A6F774DB7}" srcOrd="0" destOrd="0" presId="urn:microsoft.com/office/officeart/2016/7/layout/LinearArrowProcessNumbered"/>
    <dgm:cxn modelId="{A43190B5-1768-49D7-B326-82086A3A0B63}" srcId="{75DD8F4B-B0A6-43B4-BDFD-FA2B63B76F54}" destId="{38D13D65-5360-4DA8-A1F5-FD1868CE502E}" srcOrd="0" destOrd="0" parTransId="{920047A4-A215-4C24-93C3-97E17AB9189A}" sibTransId="{BC47214C-08AB-4F33-9601-477518853570}"/>
    <dgm:cxn modelId="{0A5B8BC0-5009-4624-9B2A-544A7C6EBFEE}" srcId="{75DD8F4B-B0A6-43B4-BDFD-FA2B63B76F54}" destId="{0FB8E867-7558-4626-9FF9-F13EB6634A76}" srcOrd="2" destOrd="0" parTransId="{C952A762-762F-4AFE-9C61-36F1ADE65053}" sibTransId="{54A80011-09C8-45C8-B036-8506A19C1644}"/>
    <dgm:cxn modelId="{CD9A60D1-6834-4337-BA1F-AC74DB6C4235}" type="presOf" srcId="{BC47214C-08AB-4F33-9601-477518853570}" destId="{55C4DF13-6FF6-4CB8-B9AE-E85C3A64C9F2}" srcOrd="0" destOrd="0" presId="urn:microsoft.com/office/officeart/2016/7/layout/LinearArrowProcessNumbered"/>
    <dgm:cxn modelId="{BBCE0EE5-B304-4FA1-A717-BDD401693088}" type="presOf" srcId="{5F09EC27-E21A-4C0D-A653-F325B7A2A67A}" destId="{DF54B630-49A9-41A5-850D-2A0003A3D711}" srcOrd="0" destOrd="0" presId="urn:microsoft.com/office/officeart/2016/7/layout/LinearArrowProcessNumbered"/>
    <dgm:cxn modelId="{F0C54EE6-8FCF-4C86-B91F-079C04586919}" type="presOf" srcId="{75DD8F4B-B0A6-43B4-BDFD-FA2B63B76F54}" destId="{16822DE5-9AEA-4D10-90B4-10EE590389DE}" srcOrd="0" destOrd="0" presId="urn:microsoft.com/office/officeart/2016/7/layout/LinearArrowProcessNumbered"/>
    <dgm:cxn modelId="{F34901F3-F4D8-4F3C-9DBE-2F5483670521}" type="presParOf" srcId="{16822DE5-9AEA-4D10-90B4-10EE590389DE}" destId="{9EB8B2FD-FAEF-4E77-AA9F-A5649D141EC7}" srcOrd="0" destOrd="0" presId="urn:microsoft.com/office/officeart/2016/7/layout/LinearArrowProcessNumbered"/>
    <dgm:cxn modelId="{A99C56E7-1EA0-435F-853F-00A22D30A3B2}" type="presParOf" srcId="{9EB8B2FD-FAEF-4E77-AA9F-A5649D141EC7}" destId="{DA81B344-F6E5-43CC-9D92-CD348B1D82F3}" srcOrd="0" destOrd="0" presId="urn:microsoft.com/office/officeart/2016/7/layout/LinearArrowProcessNumbered"/>
    <dgm:cxn modelId="{0814CA28-DECE-4535-A6F2-8A01766147E8}" type="presParOf" srcId="{9EB8B2FD-FAEF-4E77-AA9F-A5649D141EC7}" destId="{4E2766C6-CEA1-4023-8A49-9A0AD48F7379}" srcOrd="1" destOrd="0" presId="urn:microsoft.com/office/officeart/2016/7/layout/LinearArrowProcessNumbered"/>
    <dgm:cxn modelId="{ACD2AC31-2BC0-433B-9E78-26D4E359A4C9}" type="presParOf" srcId="{4E2766C6-CEA1-4023-8A49-9A0AD48F7379}" destId="{00271801-3431-405E-AFCD-85BA07E1E719}" srcOrd="0" destOrd="0" presId="urn:microsoft.com/office/officeart/2016/7/layout/LinearArrowProcessNumbered"/>
    <dgm:cxn modelId="{08D872FA-7698-46D1-A1AD-AEF80121F14E}" type="presParOf" srcId="{4E2766C6-CEA1-4023-8A49-9A0AD48F7379}" destId="{843599D1-C863-4ED5-8D28-F32820AD5F3C}" srcOrd="1" destOrd="0" presId="urn:microsoft.com/office/officeart/2016/7/layout/LinearArrowProcessNumbered"/>
    <dgm:cxn modelId="{EF008598-C859-4E9C-8FFD-A6B560CD6E2D}" type="presParOf" srcId="{4E2766C6-CEA1-4023-8A49-9A0AD48F7379}" destId="{55C4DF13-6FF6-4CB8-B9AE-E85C3A64C9F2}" srcOrd="2" destOrd="0" presId="urn:microsoft.com/office/officeart/2016/7/layout/LinearArrowProcessNumbered"/>
    <dgm:cxn modelId="{BCCF0AA0-14C0-48D9-A743-FFE3EB0EFE38}" type="presParOf" srcId="{4E2766C6-CEA1-4023-8A49-9A0AD48F7379}" destId="{0A228F7B-0B41-4DA6-915C-AE963529103B}" srcOrd="3" destOrd="0" presId="urn:microsoft.com/office/officeart/2016/7/layout/LinearArrowProcessNumbered"/>
    <dgm:cxn modelId="{9544C4DA-C6EA-4481-BF6A-07EC3DD38CCE}" type="presParOf" srcId="{9EB8B2FD-FAEF-4E77-AA9F-A5649D141EC7}" destId="{8BA122B1-EF04-48C6-A3C3-012A6F774DB7}" srcOrd="2" destOrd="0" presId="urn:microsoft.com/office/officeart/2016/7/layout/LinearArrowProcessNumbered"/>
    <dgm:cxn modelId="{FF2700B1-9280-41CA-BAD0-5B1B9F8634BF}" type="presParOf" srcId="{16822DE5-9AEA-4D10-90B4-10EE590389DE}" destId="{5BECA75D-4910-4D0B-BDA9-4627D33C5D63}" srcOrd="1" destOrd="0" presId="urn:microsoft.com/office/officeart/2016/7/layout/LinearArrowProcessNumbered"/>
    <dgm:cxn modelId="{FF1CE4C8-5FC6-44C9-87EC-D2C429060A7D}" type="presParOf" srcId="{16822DE5-9AEA-4D10-90B4-10EE590389DE}" destId="{7A19D616-A320-4574-85A5-08F579E1262F}" srcOrd="2" destOrd="0" presId="urn:microsoft.com/office/officeart/2016/7/layout/LinearArrowProcessNumbered"/>
    <dgm:cxn modelId="{0A86B09D-261D-4BFB-A44C-2457FEA6D893}" type="presParOf" srcId="{7A19D616-A320-4574-85A5-08F579E1262F}" destId="{10F9B3F4-3AC3-4E74-BC21-D04A28C24DB7}" srcOrd="0" destOrd="0" presId="urn:microsoft.com/office/officeart/2016/7/layout/LinearArrowProcessNumbered"/>
    <dgm:cxn modelId="{E25BF5C5-C159-4559-92B8-A8F07B4DF157}" type="presParOf" srcId="{7A19D616-A320-4574-85A5-08F579E1262F}" destId="{CA48BAA8-3318-45A4-9E6E-F7F57CAF62E5}" srcOrd="1" destOrd="0" presId="urn:microsoft.com/office/officeart/2016/7/layout/LinearArrowProcessNumbered"/>
    <dgm:cxn modelId="{69057B58-3832-4930-8E56-95FA6EB501B2}" type="presParOf" srcId="{CA48BAA8-3318-45A4-9E6E-F7F57CAF62E5}" destId="{41804031-058B-4DC6-9FBC-6075823C540B}" srcOrd="0" destOrd="0" presId="urn:microsoft.com/office/officeart/2016/7/layout/LinearArrowProcessNumbered"/>
    <dgm:cxn modelId="{E0252730-A6D1-46F3-AC48-3572517D7729}" type="presParOf" srcId="{CA48BAA8-3318-45A4-9E6E-F7F57CAF62E5}" destId="{CC61A065-1F8A-4180-849F-7EBEDA09E1B0}" srcOrd="1" destOrd="0" presId="urn:microsoft.com/office/officeart/2016/7/layout/LinearArrowProcessNumbered"/>
    <dgm:cxn modelId="{D7502270-520C-43D3-A2F2-EEBB311A3C08}" type="presParOf" srcId="{CA48BAA8-3318-45A4-9E6E-F7F57CAF62E5}" destId="{FEDEC1A8-F7AD-47C8-9B6E-94B3A86B040F}" srcOrd="2" destOrd="0" presId="urn:microsoft.com/office/officeart/2016/7/layout/LinearArrowProcessNumbered"/>
    <dgm:cxn modelId="{0ECB304B-5613-43DC-898A-B47EC28DAC74}" type="presParOf" srcId="{CA48BAA8-3318-45A4-9E6E-F7F57CAF62E5}" destId="{8EEA9C46-039A-4E5A-AC4F-5C98E572456F}" srcOrd="3" destOrd="0" presId="urn:microsoft.com/office/officeart/2016/7/layout/LinearArrowProcessNumbered"/>
    <dgm:cxn modelId="{6535E483-99DC-4CE9-93AF-D2B48D00BB36}" type="presParOf" srcId="{7A19D616-A320-4574-85A5-08F579E1262F}" destId="{83EEBA96-1866-4FE4-BCFF-4010DF2AECF6}" srcOrd="2" destOrd="0" presId="urn:microsoft.com/office/officeart/2016/7/layout/LinearArrowProcessNumbered"/>
    <dgm:cxn modelId="{624A8641-FD51-4A47-AB61-2421BA27E982}" type="presParOf" srcId="{16822DE5-9AEA-4D10-90B4-10EE590389DE}" destId="{F02D8D07-5225-4B12-B72C-C01D5CFC2158}" srcOrd="3" destOrd="0" presId="urn:microsoft.com/office/officeart/2016/7/layout/LinearArrowProcessNumbered"/>
    <dgm:cxn modelId="{C27EE8F1-21C5-4722-B058-A5A4EB0F314B}" type="presParOf" srcId="{16822DE5-9AEA-4D10-90B4-10EE590389DE}" destId="{49FA6CEA-1BF9-4910-8DEA-174535A99414}" srcOrd="4" destOrd="0" presId="urn:microsoft.com/office/officeart/2016/7/layout/LinearArrowProcessNumbered"/>
    <dgm:cxn modelId="{31BFEBF9-4077-4590-8C77-BD4EFE68AC06}" type="presParOf" srcId="{49FA6CEA-1BF9-4910-8DEA-174535A99414}" destId="{46562EF9-0A9C-497A-8175-FE096CF37C8F}" srcOrd="0" destOrd="0" presId="urn:microsoft.com/office/officeart/2016/7/layout/LinearArrowProcessNumbered"/>
    <dgm:cxn modelId="{1872DC1E-CD4C-4A5A-9B4A-1F44D6EDCE29}" type="presParOf" srcId="{49FA6CEA-1BF9-4910-8DEA-174535A99414}" destId="{22516896-6DD0-445A-A8A3-9EC57FB22651}" srcOrd="1" destOrd="0" presId="urn:microsoft.com/office/officeart/2016/7/layout/LinearArrowProcessNumbered"/>
    <dgm:cxn modelId="{9F418824-2532-436C-AFCB-A11B8CB6BCAF}" type="presParOf" srcId="{22516896-6DD0-445A-A8A3-9EC57FB22651}" destId="{922A94F7-2353-4C8E-A65D-8B33E35BC8A5}" srcOrd="0" destOrd="0" presId="urn:microsoft.com/office/officeart/2016/7/layout/LinearArrowProcessNumbered"/>
    <dgm:cxn modelId="{A6818228-3337-4AEA-9A0A-8A1E6C479892}" type="presParOf" srcId="{22516896-6DD0-445A-A8A3-9EC57FB22651}" destId="{2F45C440-29F6-4D5B-B447-DE6C3F28460F}" srcOrd="1" destOrd="0" presId="urn:microsoft.com/office/officeart/2016/7/layout/LinearArrowProcessNumbered"/>
    <dgm:cxn modelId="{28C20E6F-2A0C-4A33-9E7E-57CB2556D037}" type="presParOf" srcId="{22516896-6DD0-445A-A8A3-9EC57FB22651}" destId="{EDB91B4C-4AFE-49FB-A23B-52E81218A979}" srcOrd="2" destOrd="0" presId="urn:microsoft.com/office/officeart/2016/7/layout/LinearArrowProcessNumbered"/>
    <dgm:cxn modelId="{20B83A8B-EDD3-4CCC-9018-587A83E3E3BF}" type="presParOf" srcId="{22516896-6DD0-445A-A8A3-9EC57FB22651}" destId="{5EE0BF7C-1B29-4E94-810B-76823CEB790C}" srcOrd="3" destOrd="0" presId="urn:microsoft.com/office/officeart/2016/7/layout/LinearArrowProcessNumbered"/>
    <dgm:cxn modelId="{DBDA0243-F4A5-47F3-9FC0-F49934C69DCE}" type="presParOf" srcId="{49FA6CEA-1BF9-4910-8DEA-174535A99414}" destId="{91C2A838-10FA-492D-A021-98AA89324C1A}" srcOrd="2" destOrd="0" presId="urn:microsoft.com/office/officeart/2016/7/layout/LinearArrowProcessNumbered"/>
    <dgm:cxn modelId="{5365ABCB-CFC7-4802-8FA7-C8C31F18497A}" type="presParOf" srcId="{16822DE5-9AEA-4D10-90B4-10EE590389DE}" destId="{AAB2F151-63CD-478F-AE40-C23C796A4975}" srcOrd="5" destOrd="0" presId="urn:microsoft.com/office/officeart/2016/7/layout/LinearArrowProcessNumbered"/>
    <dgm:cxn modelId="{6BF24785-E487-4D65-9388-983B5E1CC6BB}" type="presParOf" srcId="{16822DE5-9AEA-4D10-90B4-10EE590389DE}" destId="{F481DE70-8583-4709-A0A4-7501EF348D96}" srcOrd="6" destOrd="0" presId="urn:microsoft.com/office/officeart/2016/7/layout/LinearArrowProcessNumbered"/>
    <dgm:cxn modelId="{58EFC990-5314-4465-B8DF-48937F202833}" type="presParOf" srcId="{F481DE70-8583-4709-A0A4-7501EF348D96}" destId="{64D7ADA2-9303-44E4-B5E6-601514865BD9}" srcOrd="0" destOrd="0" presId="urn:microsoft.com/office/officeart/2016/7/layout/LinearArrowProcessNumbered"/>
    <dgm:cxn modelId="{ABDB24B7-CE60-4F09-8693-682CA0929ACC}" type="presParOf" srcId="{F481DE70-8583-4709-A0A4-7501EF348D96}" destId="{80FDC171-404A-42F1-A197-C2F4598BF41B}" srcOrd="1" destOrd="0" presId="urn:microsoft.com/office/officeart/2016/7/layout/LinearArrowProcessNumbered"/>
    <dgm:cxn modelId="{CFEF6D19-DEA9-4B46-A3DB-F0DAF67FA133}" type="presParOf" srcId="{80FDC171-404A-42F1-A197-C2F4598BF41B}" destId="{5A570A14-A501-48E2-B526-D96331E5CA93}" srcOrd="0" destOrd="0" presId="urn:microsoft.com/office/officeart/2016/7/layout/LinearArrowProcessNumbered"/>
    <dgm:cxn modelId="{A36918A0-FDD8-4304-9924-44B8AB06D7E0}" type="presParOf" srcId="{80FDC171-404A-42F1-A197-C2F4598BF41B}" destId="{159D2472-07CC-42E9-A8DD-7F2F66E58E2A}" srcOrd="1" destOrd="0" presId="urn:microsoft.com/office/officeart/2016/7/layout/LinearArrowProcessNumbered"/>
    <dgm:cxn modelId="{106B5B61-9718-4C06-82B8-0AEDDDAF8811}" type="presParOf" srcId="{80FDC171-404A-42F1-A197-C2F4598BF41B}" destId="{DF54B630-49A9-41A5-850D-2A0003A3D711}" srcOrd="2" destOrd="0" presId="urn:microsoft.com/office/officeart/2016/7/layout/LinearArrowProcessNumbered"/>
    <dgm:cxn modelId="{EFEAB6EF-462B-47A1-A579-DFD0B7BADECF}" type="presParOf" srcId="{80FDC171-404A-42F1-A197-C2F4598BF41B}" destId="{6787F105-86F9-40B7-9D20-3BBF3D886418}" srcOrd="3" destOrd="0" presId="urn:microsoft.com/office/officeart/2016/7/layout/LinearArrowProcessNumbered"/>
    <dgm:cxn modelId="{6A8B35DC-CD05-4D5A-A2B2-A2AD31597645}" type="presParOf" srcId="{F481DE70-8583-4709-A0A4-7501EF348D96}" destId="{64C4BCDB-7015-4BDB-AFE0-7360D689D60B}"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71801-3431-405E-AFCD-85BA07E1E719}">
      <dsp:nvSpPr>
        <dsp:cNvPr id="0" name=""/>
        <dsp:cNvSpPr/>
      </dsp:nvSpPr>
      <dsp:spPr>
        <a:xfrm>
          <a:off x="1292582" y="537603"/>
          <a:ext cx="103406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3599D1-C863-4ED5-8D28-F32820AD5F3C}">
      <dsp:nvSpPr>
        <dsp:cNvPr id="0" name=""/>
        <dsp:cNvSpPr/>
      </dsp:nvSpPr>
      <dsp:spPr>
        <a:xfrm>
          <a:off x="2388691" y="450777"/>
          <a:ext cx="118917" cy="22335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C4DF13-6FF6-4CB8-B9AE-E85C3A64C9F2}">
      <dsp:nvSpPr>
        <dsp:cNvPr id="0" name=""/>
        <dsp:cNvSpPr/>
      </dsp:nvSpPr>
      <dsp:spPr>
        <a:xfrm>
          <a:off x="625684" y="0"/>
          <a:ext cx="1075278" cy="10752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1727" tIns="41727" rIns="41727" bIns="41727" numCol="1" spcCol="1270" anchor="ctr" anchorCtr="0">
          <a:noAutofit/>
        </a:bodyPr>
        <a:lstStyle/>
        <a:p>
          <a:pPr marL="0" lvl="0" indent="0" algn="ctr" defTabSz="2178050">
            <a:lnSpc>
              <a:spcPct val="90000"/>
            </a:lnSpc>
            <a:spcBef>
              <a:spcPct val="0"/>
            </a:spcBef>
            <a:spcAft>
              <a:spcPct val="35000"/>
            </a:spcAft>
            <a:buNone/>
          </a:pPr>
          <a:r>
            <a:rPr lang="en-US" sz="4900" kern="1200"/>
            <a:t>1</a:t>
          </a:r>
        </a:p>
      </dsp:txBody>
      <dsp:txXfrm>
        <a:off x="783155" y="157471"/>
        <a:ext cx="760336" cy="760336"/>
      </dsp:txXfrm>
    </dsp:sp>
    <dsp:sp modelId="{8BA122B1-EF04-48C6-A3C3-012A6F774DB7}">
      <dsp:nvSpPr>
        <dsp:cNvPr id="0" name=""/>
        <dsp:cNvSpPr/>
      </dsp:nvSpPr>
      <dsp:spPr>
        <a:xfrm>
          <a:off x="0" y="1240878"/>
          <a:ext cx="2326648" cy="1547446"/>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3529" tIns="165100" rIns="183529" bIns="165100" numCol="1" spcCol="1270" anchor="t" anchorCtr="0">
          <a:noAutofit/>
        </a:bodyPr>
        <a:lstStyle/>
        <a:p>
          <a:pPr marL="0" lvl="0" indent="0" algn="l" defTabSz="622300">
            <a:lnSpc>
              <a:spcPct val="90000"/>
            </a:lnSpc>
            <a:spcBef>
              <a:spcPct val="0"/>
            </a:spcBef>
            <a:spcAft>
              <a:spcPct val="35000"/>
            </a:spcAft>
            <a:buNone/>
          </a:pPr>
          <a:r>
            <a:rPr lang="en-US" sz="1400" kern="1200"/>
            <a:t>Break into groups of 3 – 5 people</a:t>
          </a:r>
        </a:p>
      </dsp:txBody>
      <dsp:txXfrm>
        <a:off x="0" y="1550367"/>
        <a:ext cx="2326648" cy="1237957"/>
      </dsp:txXfrm>
    </dsp:sp>
    <dsp:sp modelId="{41804031-058B-4DC6-9FBC-6075823C540B}">
      <dsp:nvSpPr>
        <dsp:cNvPr id="0" name=""/>
        <dsp:cNvSpPr/>
      </dsp:nvSpPr>
      <dsp:spPr>
        <a:xfrm>
          <a:off x="2585164" y="537603"/>
          <a:ext cx="2326648"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61A065-1F8A-4180-849F-7EBEDA09E1B0}">
      <dsp:nvSpPr>
        <dsp:cNvPr id="0" name=""/>
        <dsp:cNvSpPr/>
      </dsp:nvSpPr>
      <dsp:spPr>
        <a:xfrm>
          <a:off x="4973856" y="450777"/>
          <a:ext cx="118917" cy="22335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DEC1A8-F7AD-47C8-9B6E-94B3A86B040F}">
      <dsp:nvSpPr>
        <dsp:cNvPr id="0" name=""/>
        <dsp:cNvSpPr/>
      </dsp:nvSpPr>
      <dsp:spPr>
        <a:xfrm>
          <a:off x="3210849" y="0"/>
          <a:ext cx="1075278" cy="10752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1727" tIns="41727" rIns="41727" bIns="41727" numCol="1" spcCol="1270" anchor="ctr" anchorCtr="0">
          <a:noAutofit/>
        </a:bodyPr>
        <a:lstStyle/>
        <a:p>
          <a:pPr marL="0" lvl="0" indent="0" algn="ctr" defTabSz="2178050">
            <a:lnSpc>
              <a:spcPct val="90000"/>
            </a:lnSpc>
            <a:spcBef>
              <a:spcPct val="0"/>
            </a:spcBef>
            <a:spcAft>
              <a:spcPct val="35000"/>
            </a:spcAft>
            <a:buNone/>
          </a:pPr>
          <a:r>
            <a:rPr lang="en-US" sz="4900" kern="1200"/>
            <a:t>2</a:t>
          </a:r>
        </a:p>
      </dsp:txBody>
      <dsp:txXfrm>
        <a:off x="3368320" y="157471"/>
        <a:ext cx="760336" cy="760336"/>
      </dsp:txXfrm>
    </dsp:sp>
    <dsp:sp modelId="{83EEBA96-1866-4FE4-BCFF-4010DF2AECF6}">
      <dsp:nvSpPr>
        <dsp:cNvPr id="0" name=""/>
        <dsp:cNvSpPr/>
      </dsp:nvSpPr>
      <dsp:spPr>
        <a:xfrm>
          <a:off x="2585164" y="1240878"/>
          <a:ext cx="2326648" cy="1547446"/>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3529" tIns="165100" rIns="183529" bIns="165100" numCol="1" spcCol="1270" anchor="t" anchorCtr="0">
          <a:noAutofit/>
        </a:bodyPr>
        <a:lstStyle/>
        <a:p>
          <a:pPr marL="0" lvl="0" indent="0" algn="l" defTabSz="622300">
            <a:lnSpc>
              <a:spcPct val="90000"/>
            </a:lnSpc>
            <a:spcBef>
              <a:spcPct val="0"/>
            </a:spcBef>
            <a:spcAft>
              <a:spcPct val="35000"/>
            </a:spcAft>
            <a:buNone/>
          </a:pPr>
          <a:r>
            <a:rPr lang="en-US" sz="1400" kern="1200"/>
            <a:t>Introduce yourself</a:t>
          </a:r>
        </a:p>
      </dsp:txBody>
      <dsp:txXfrm>
        <a:off x="2585164" y="1550367"/>
        <a:ext cx="2326648" cy="1237957"/>
      </dsp:txXfrm>
    </dsp:sp>
    <dsp:sp modelId="{922A94F7-2353-4C8E-A65D-8B33E35BC8A5}">
      <dsp:nvSpPr>
        <dsp:cNvPr id="0" name=""/>
        <dsp:cNvSpPr/>
      </dsp:nvSpPr>
      <dsp:spPr>
        <a:xfrm>
          <a:off x="5170329" y="537603"/>
          <a:ext cx="2326648"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45C440-29F6-4D5B-B447-DE6C3F28460F}">
      <dsp:nvSpPr>
        <dsp:cNvPr id="0" name=""/>
        <dsp:cNvSpPr/>
      </dsp:nvSpPr>
      <dsp:spPr>
        <a:xfrm>
          <a:off x="7559020" y="450777"/>
          <a:ext cx="118917" cy="22335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B91B4C-4AFE-49FB-A23B-52E81218A979}">
      <dsp:nvSpPr>
        <dsp:cNvPr id="0" name=""/>
        <dsp:cNvSpPr/>
      </dsp:nvSpPr>
      <dsp:spPr>
        <a:xfrm>
          <a:off x="5796013" y="0"/>
          <a:ext cx="1075278" cy="10752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1727" tIns="41727" rIns="41727" bIns="41727" numCol="1" spcCol="1270" anchor="ctr" anchorCtr="0">
          <a:noAutofit/>
        </a:bodyPr>
        <a:lstStyle/>
        <a:p>
          <a:pPr marL="0" lvl="0" indent="0" algn="ctr" defTabSz="2178050">
            <a:lnSpc>
              <a:spcPct val="90000"/>
            </a:lnSpc>
            <a:spcBef>
              <a:spcPct val="0"/>
            </a:spcBef>
            <a:spcAft>
              <a:spcPct val="35000"/>
            </a:spcAft>
            <a:buNone/>
          </a:pPr>
          <a:r>
            <a:rPr lang="en-US" sz="4900" kern="1200"/>
            <a:t>3</a:t>
          </a:r>
        </a:p>
      </dsp:txBody>
      <dsp:txXfrm>
        <a:off x="5953484" y="157471"/>
        <a:ext cx="760336" cy="760336"/>
      </dsp:txXfrm>
    </dsp:sp>
    <dsp:sp modelId="{91C2A838-10FA-492D-A021-98AA89324C1A}">
      <dsp:nvSpPr>
        <dsp:cNvPr id="0" name=""/>
        <dsp:cNvSpPr/>
      </dsp:nvSpPr>
      <dsp:spPr>
        <a:xfrm>
          <a:off x="5170329" y="1240878"/>
          <a:ext cx="2326648" cy="1547446"/>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3529" tIns="165100" rIns="183529" bIns="165100" numCol="1" spcCol="1270" anchor="t" anchorCtr="0">
          <a:noAutofit/>
        </a:bodyPr>
        <a:lstStyle/>
        <a:p>
          <a:pPr marL="0" lvl="0" indent="0" algn="l" defTabSz="622300">
            <a:lnSpc>
              <a:spcPct val="90000"/>
            </a:lnSpc>
            <a:spcBef>
              <a:spcPct val="0"/>
            </a:spcBef>
            <a:spcAft>
              <a:spcPct val="35000"/>
            </a:spcAft>
            <a:buNone/>
          </a:pPr>
          <a:r>
            <a:rPr lang="en-US" sz="1400" kern="1200"/>
            <a:t>Place a piece of paper in the middle of the group</a:t>
          </a:r>
        </a:p>
      </dsp:txBody>
      <dsp:txXfrm>
        <a:off x="5170329" y="1550367"/>
        <a:ext cx="2326648" cy="1237957"/>
      </dsp:txXfrm>
    </dsp:sp>
    <dsp:sp modelId="{5A570A14-A501-48E2-B526-D96331E5CA93}">
      <dsp:nvSpPr>
        <dsp:cNvPr id="0" name=""/>
        <dsp:cNvSpPr/>
      </dsp:nvSpPr>
      <dsp:spPr>
        <a:xfrm>
          <a:off x="7755493" y="537603"/>
          <a:ext cx="1163324"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54B630-49A9-41A5-850D-2A0003A3D711}">
      <dsp:nvSpPr>
        <dsp:cNvPr id="0" name=""/>
        <dsp:cNvSpPr/>
      </dsp:nvSpPr>
      <dsp:spPr>
        <a:xfrm>
          <a:off x="8381178" y="0"/>
          <a:ext cx="1075278" cy="10752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1727" tIns="41727" rIns="41727" bIns="41727" numCol="1" spcCol="1270" anchor="ctr" anchorCtr="0">
          <a:noAutofit/>
        </a:bodyPr>
        <a:lstStyle/>
        <a:p>
          <a:pPr marL="0" lvl="0" indent="0" algn="ctr" defTabSz="2178050">
            <a:lnSpc>
              <a:spcPct val="90000"/>
            </a:lnSpc>
            <a:spcBef>
              <a:spcPct val="0"/>
            </a:spcBef>
            <a:spcAft>
              <a:spcPct val="35000"/>
            </a:spcAft>
            <a:buNone/>
          </a:pPr>
          <a:r>
            <a:rPr lang="en-US" sz="4900" kern="1200"/>
            <a:t>4</a:t>
          </a:r>
        </a:p>
      </dsp:txBody>
      <dsp:txXfrm>
        <a:off x="8538649" y="157471"/>
        <a:ext cx="760336" cy="760336"/>
      </dsp:txXfrm>
    </dsp:sp>
    <dsp:sp modelId="{64C4BCDB-7015-4BDB-AFE0-7360D689D60B}">
      <dsp:nvSpPr>
        <dsp:cNvPr id="0" name=""/>
        <dsp:cNvSpPr/>
      </dsp:nvSpPr>
      <dsp:spPr>
        <a:xfrm>
          <a:off x="7755493" y="1240878"/>
          <a:ext cx="2326648" cy="1547446"/>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3529" tIns="165100" rIns="183529" bIns="165100" numCol="1" spcCol="1270" anchor="t" anchorCtr="0">
          <a:noAutofit/>
        </a:bodyPr>
        <a:lstStyle/>
        <a:p>
          <a:pPr marL="0" lvl="0" indent="0" algn="l" defTabSz="622300">
            <a:lnSpc>
              <a:spcPct val="90000"/>
            </a:lnSpc>
            <a:spcBef>
              <a:spcPct val="0"/>
            </a:spcBef>
            <a:spcAft>
              <a:spcPct val="35000"/>
            </a:spcAft>
            <a:buNone/>
          </a:pPr>
          <a:r>
            <a:rPr lang="en-US" sz="1400" kern="1200"/>
            <a:t>Brainstorm a “Is this Computer Science” example that might spark discussion within the class </a:t>
          </a:r>
        </a:p>
      </dsp:txBody>
      <dsp:txXfrm>
        <a:off x="7755493" y="1550367"/>
        <a:ext cx="2326648" cy="1237957"/>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A4B8C-BF6B-4440-8121-9D39C04872C3}"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DDFD1E-BA06-C243-A555-A00423D4FC5A}" type="slidenum">
              <a:rPr lang="en-US" smtClean="0"/>
              <a:t>‹#›</a:t>
            </a:fld>
            <a:endParaRPr lang="en-US"/>
          </a:p>
        </p:txBody>
      </p:sp>
    </p:spTree>
    <p:extLst>
      <p:ext uri="{BB962C8B-B14F-4D97-AF65-F5344CB8AC3E}">
        <p14:creationId xmlns:p14="http://schemas.microsoft.com/office/powerpoint/2010/main" val="4175184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9/8/2026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9/8/2026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9/8/2026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9/8/2026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alendar.upei.ca/current/chapter/undergraduate-and-professional-programs-academic-regulation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upei.ca/accessibilit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08222-6307-30E8-2244-5701A0AD47C2}"/>
              </a:ext>
            </a:extLst>
          </p:cNvPr>
          <p:cNvSpPr>
            <a:spLocks noGrp="1"/>
          </p:cNvSpPr>
          <p:nvPr>
            <p:ph type="title"/>
          </p:nvPr>
        </p:nvSpPr>
        <p:spPr>
          <a:xfrm>
            <a:off x="2231136" y="189777"/>
            <a:ext cx="7729728" cy="1188720"/>
          </a:xfrm>
        </p:spPr>
        <p:txBody>
          <a:bodyPr/>
          <a:lstStyle/>
          <a:p>
            <a:r>
              <a:rPr lang="en-US" dirty="0"/>
              <a:t>Lecture Objectives</a:t>
            </a:r>
          </a:p>
        </p:txBody>
      </p:sp>
      <p:sp>
        <p:nvSpPr>
          <p:cNvPr id="3" name="Content Placeholder 2">
            <a:extLst>
              <a:ext uri="{FF2B5EF4-FFF2-40B4-BE49-F238E27FC236}">
                <a16:creationId xmlns:a16="http://schemas.microsoft.com/office/drawing/2014/main" id="{C9BD3A44-D666-194C-0B46-E1ECA20D95D5}"/>
              </a:ext>
            </a:extLst>
          </p:cNvPr>
          <p:cNvSpPr>
            <a:spLocks noGrp="1"/>
          </p:cNvSpPr>
          <p:nvPr>
            <p:ph idx="1"/>
          </p:nvPr>
        </p:nvSpPr>
        <p:spPr>
          <a:xfrm>
            <a:off x="2231136" y="1487837"/>
            <a:ext cx="7729728" cy="5021451"/>
          </a:xfrm>
        </p:spPr>
        <p:txBody>
          <a:bodyPr>
            <a:normAutofit fontScale="85000" lnSpcReduction="20000"/>
          </a:bodyPr>
          <a:lstStyle/>
          <a:p>
            <a:r>
              <a:rPr lang="en-CA" dirty="0"/>
              <a:t>(Course orientation — the "Learning Objectives" slide states course-wide goals rather than a single lecture, so this lecture is framed entirely as an introduction. The CI objectives are realized across the whole term, not achieved in this lecture alone.)</a:t>
            </a:r>
          </a:p>
          <a:p>
            <a:r>
              <a:rPr lang="en-CA" dirty="0"/>
              <a:t>Students will be introduced to:</a:t>
            </a:r>
          </a:p>
          <a:p>
            <a:r>
              <a:rPr lang="en-CA" dirty="0"/>
              <a:t> The course, the instructors, and how lectures, labs, and homework fit together [—]</a:t>
            </a:r>
          </a:p>
          <a:p>
            <a:r>
              <a:rPr lang="en-CA" dirty="0"/>
              <a:t> The syllabus, grading breakdown, and the "pass the tests" requirement [—]</a:t>
            </a:r>
          </a:p>
          <a:p>
            <a:r>
              <a:rPr lang="en-CA" dirty="0"/>
              <a:t> Academic integrity expectations, including appropriate and inappropriate use of GenAI [—]</a:t>
            </a:r>
          </a:p>
          <a:p>
            <a:r>
              <a:rPr lang="en-CA" dirty="0"/>
              <a:t> The culture of the course: valuing the problem-solving </a:t>
            </a:r>
            <a:r>
              <a:rPr lang="en-CA" i="1" dirty="0"/>
              <a:t>process</a:t>
            </a:r>
            <a:r>
              <a:rPr lang="en-CA" dirty="0"/>
              <a:t> over "getting the answer" [CI01]</a:t>
            </a:r>
          </a:p>
          <a:p>
            <a:r>
              <a:rPr lang="en-CA" dirty="0"/>
              <a:t> Student resources and supports (accessibility services, office hours, the help centre) [—]</a:t>
            </a:r>
          </a:p>
          <a:p>
            <a:r>
              <a:rPr lang="en-CA" dirty="0"/>
              <a:t> Computational thinking as the organizing idea of the course (a preview of Lecture 2) [CI01, CI07]</a:t>
            </a:r>
          </a:p>
          <a:p>
            <a:r>
              <a:rPr lang="en-CA" dirty="0"/>
              <a:t> What Computer Science is, using examples (e.g. gaming, 3D animation) to challenge preconceptions [CI07]</a:t>
            </a:r>
          </a:p>
          <a:p>
            <a:r>
              <a:rPr lang="en-CA" dirty="0"/>
              <a:t> The tools and environment used in the course (Google </a:t>
            </a:r>
            <a:r>
              <a:rPr lang="en-CA" dirty="0" err="1"/>
              <a:t>Colab</a:t>
            </a:r>
            <a:r>
              <a:rPr lang="en-CA" dirty="0"/>
              <a:t> / Jupyter, Python 3, Moodle) [—]</a:t>
            </a:r>
          </a:p>
          <a:p>
            <a:r>
              <a:rPr lang="en-CA" dirty="0"/>
              <a:t> What it means to be a "good" programmer: problem solving, abstraction, logical reasoning, creativity [CI01, CI06]</a:t>
            </a:r>
          </a:p>
        </p:txBody>
      </p:sp>
    </p:spTree>
    <p:extLst>
      <p:ext uri="{BB962C8B-B14F-4D97-AF65-F5344CB8AC3E}">
        <p14:creationId xmlns:p14="http://schemas.microsoft.com/office/powerpoint/2010/main" val="1144124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70FB55-DC06-D22A-6000-78EBA164A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F90B6-7B43-8FC1-517D-4B2E67D12612}"/>
              </a:ext>
            </a:extLst>
          </p:cNvPr>
          <p:cNvSpPr>
            <a:spLocks noGrp="1"/>
          </p:cNvSpPr>
          <p:nvPr>
            <p:ph type="title"/>
          </p:nvPr>
        </p:nvSpPr>
        <p:spPr>
          <a:xfrm>
            <a:off x="2231136" y="189777"/>
            <a:ext cx="7729728" cy="1188720"/>
          </a:xfrm>
        </p:spPr>
        <p:txBody>
          <a:bodyPr/>
          <a:lstStyle/>
          <a:p>
            <a:r>
              <a:rPr lang="en-US" dirty="0"/>
              <a:t>Lecture Preparation</a:t>
            </a:r>
          </a:p>
        </p:txBody>
      </p:sp>
      <p:sp>
        <p:nvSpPr>
          <p:cNvPr id="3" name="Content Placeholder 2">
            <a:extLst>
              <a:ext uri="{FF2B5EF4-FFF2-40B4-BE49-F238E27FC236}">
                <a16:creationId xmlns:a16="http://schemas.microsoft.com/office/drawing/2014/main" id="{027AFA69-B4EE-8AF8-6D2D-6302BDE8E292}"/>
              </a:ext>
            </a:extLst>
          </p:cNvPr>
          <p:cNvSpPr>
            <a:spLocks noGrp="1"/>
          </p:cNvSpPr>
          <p:nvPr>
            <p:ph idx="1"/>
          </p:nvPr>
        </p:nvSpPr>
        <p:spPr>
          <a:xfrm>
            <a:off x="2231136" y="1487837"/>
            <a:ext cx="7729728" cy="5021451"/>
          </a:xfrm>
        </p:spPr>
        <p:txBody>
          <a:bodyPr>
            <a:normAutofit fontScale="77500" lnSpcReduction="20000"/>
          </a:bodyPr>
          <a:lstStyle/>
          <a:p>
            <a:r>
              <a:rPr lang="en-US" dirty="0"/>
              <a:t>Technical setup</a:t>
            </a:r>
          </a:p>
          <a:p>
            <a:pPr marL="0" indent="0">
              <a:buNone/>
            </a:pPr>
            <a:r>
              <a:rPr lang="en-US" dirty="0"/>
              <a:t>- Have the syllabus, grading table, and academic-integrity regulation link ready to display.</a:t>
            </a:r>
          </a:p>
          <a:p>
            <a:pPr marL="0" indent="0">
              <a:buNone/>
            </a:pPr>
            <a:r>
              <a:rPr lang="en-US" dirty="0"/>
              <a:t>- Bring an internet-capable device and confirm the room projector shows external links.</a:t>
            </a:r>
          </a:p>
          <a:p>
            <a:r>
              <a:rPr lang="en-US" dirty="0"/>
              <a:t>Content to review</a:t>
            </a:r>
          </a:p>
          <a:p>
            <a:pPr marL="0" indent="0">
              <a:buNone/>
            </a:pPr>
            <a:r>
              <a:rPr lang="en-US" dirty="0"/>
              <a:t>- Skim the "pass the tests" worked examples so you can answer grade-scenario questions confidently.</a:t>
            </a:r>
          </a:p>
          <a:p>
            <a:pPr marL="0" indent="0">
              <a:buNone/>
            </a:pPr>
            <a:r>
              <a:rPr lang="en-US" dirty="0"/>
              <a:t>- Refresh the two "Is this Computer Science?" examples (gaming, 3D animation) and be ready to prompt discussion.</a:t>
            </a:r>
          </a:p>
          <a:p>
            <a:r>
              <a:rPr lang="en-US" dirty="0"/>
              <a:t>Classroom flow</a:t>
            </a:r>
          </a:p>
          <a:p>
            <a:pPr marL="0" indent="0">
              <a:buNone/>
            </a:pPr>
            <a:r>
              <a:rPr lang="en-US" dirty="0"/>
              <a:t>- Plan the ~3-minute "Is this CS?" group brainstorm (groups of 3–5) and leave time to share out.</a:t>
            </a:r>
          </a:p>
          <a:p>
            <a:pPr marL="0" indent="0">
              <a:buNone/>
            </a:pPr>
            <a:r>
              <a:rPr lang="en-US" dirty="0"/>
              <a:t>- Reserve ~2 minutes for the first participation check so students practice the routine early.</a:t>
            </a:r>
          </a:p>
          <a:p>
            <a:r>
              <a:rPr lang="en-US" dirty="0"/>
              <a:t>Gotchas to anticipate</a:t>
            </a:r>
          </a:p>
          <a:p>
            <a:pPr marL="0" indent="0">
              <a:buNone/>
            </a:pPr>
            <a:r>
              <a:rPr lang="en-US" dirty="0"/>
              <a:t>- Students fixate on the "pass the tests" rule — have the FAQ examples ready to defuse anxiety.</a:t>
            </a:r>
          </a:p>
          <a:p>
            <a:pPr marL="0" indent="0">
              <a:buNone/>
            </a:pPr>
            <a:r>
              <a:rPr lang="en-US" dirty="0"/>
              <a:t>- Set expectations now that photographing code off the board correlates with lower success; emphasize the process.</a:t>
            </a:r>
          </a:p>
          <a:p>
            <a:pPr marL="0" indent="0">
              <a:buNone/>
            </a:pPr>
            <a:r>
              <a:rPr lang="en-US" dirty="0"/>
              <a:t>- Clarify the appropriate-vs-inappropriate GenAI boundary early; it recurs in Lecture 2.</a:t>
            </a:r>
          </a:p>
          <a:p>
            <a:r>
              <a:rPr lang="en-US" dirty="0"/>
              <a:t>Notebook ↔ slides</a:t>
            </a:r>
          </a:p>
          <a:p>
            <a:pPr marL="0" indent="0">
              <a:buNone/>
            </a:pPr>
            <a:r>
              <a:rPr lang="en-US" dirty="0"/>
              <a:t>- No example notebook for this lecture (intro/admin only)</a:t>
            </a:r>
            <a:endParaRPr lang="en-CA" dirty="0"/>
          </a:p>
        </p:txBody>
      </p:sp>
    </p:spTree>
    <p:extLst>
      <p:ext uri="{BB962C8B-B14F-4D97-AF65-F5344CB8AC3E}">
        <p14:creationId xmlns:p14="http://schemas.microsoft.com/office/powerpoint/2010/main" val="189958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Course Introduction</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6BA5-DFD0-F820-0A91-07E3CE403183}"/>
              </a:ext>
            </a:extLst>
          </p:cNvPr>
          <p:cNvSpPr>
            <a:spLocks noGrp="1"/>
          </p:cNvSpPr>
          <p:nvPr>
            <p:ph type="title"/>
          </p:nvPr>
        </p:nvSpPr>
        <p:spPr/>
        <p:txBody>
          <a:bodyPr/>
          <a:lstStyle/>
          <a:p>
            <a:r>
              <a:rPr lang="en-US" dirty="0"/>
              <a:t>Instructors</a:t>
            </a:r>
          </a:p>
        </p:txBody>
      </p:sp>
      <p:sp>
        <p:nvSpPr>
          <p:cNvPr id="4" name="TextBox 3">
            <a:extLst>
              <a:ext uri="{FF2B5EF4-FFF2-40B4-BE49-F238E27FC236}">
                <a16:creationId xmlns:a16="http://schemas.microsoft.com/office/drawing/2014/main" id="{133821B8-089F-BDC1-5B7C-D34A6AA62BDC}"/>
              </a:ext>
            </a:extLst>
          </p:cNvPr>
          <p:cNvSpPr txBox="1"/>
          <p:nvPr/>
        </p:nvSpPr>
        <p:spPr>
          <a:xfrm>
            <a:off x="2231136" y="2229753"/>
            <a:ext cx="7729728" cy="4185761"/>
          </a:xfrm>
          <a:prstGeom prst="rect">
            <a:avLst/>
          </a:prstGeom>
          <a:noFill/>
          <a:ln>
            <a:solidFill>
              <a:srgbClr val="404040"/>
            </a:solidFill>
          </a:ln>
        </p:spPr>
        <p:txBody>
          <a:bodyPr wrap="square" rtlCol="0">
            <a:spAutoFit/>
          </a:bodyPr>
          <a:lstStyle/>
          <a:p>
            <a:r>
              <a:rPr lang="en-US" sz="1400" b="1" dirty="0"/>
              <a:t>2026F-CS1910-01</a:t>
            </a:r>
            <a:endParaRPr lang="en-CA" sz="1400" b="1" dirty="0"/>
          </a:p>
          <a:p>
            <a:r>
              <a:rPr lang="en-US" sz="1400" b="1" dirty="0"/>
              <a:t>Instructor:</a:t>
            </a:r>
            <a:r>
              <a:rPr lang="en-US" sz="1400" dirty="0"/>
              <a:t> Christopher Power</a:t>
            </a:r>
            <a:endParaRPr lang="en-CA" sz="1400" dirty="0"/>
          </a:p>
          <a:p>
            <a:r>
              <a:rPr lang="en-US" sz="1400" b="1" dirty="0"/>
              <a:t>Office:</a:t>
            </a:r>
            <a:r>
              <a:rPr lang="en-US" sz="1400" dirty="0"/>
              <a:t> Cass Science Hall 208 (Just inside the main SMCS Office)</a:t>
            </a:r>
            <a:endParaRPr lang="en-CA" sz="1400" dirty="0"/>
          </a:p>
          <a:p>
            <a:r>
              <a:rPr lang="en-US" sz="1400" b="1" dirty="0"/>
              <a:t>Email:</a:t>
            </a:r>
            <a:r>
              <a:rPr lang="en-US" sz="1400" dirty="0"/>
              <a:t> cdspower@upei.ca</a:t>
            </a:r>
            <a:endParaRPr lang="en-CA" sz="1400" dirty="0"/>
          </a:p>
          <a:p>
            <a:r>
              <a:rPr lang="en-US" sz="1400" b="1" dirty="0"/>
              <a:t>Lectures:</a:t>
            </a:r>
            <a:r>
              <a:rPr lang="en-US" sz="1400" dirty="0"/>
              <a:t> T/Th 8:30 AM - 9:45 PM</a:t>
            </a:r>
            <a:endParaRPr lang="en-CA" sz="1400" dirty="0"/>
          </a:p>
          <a:p>
            <a:r>
              <a:rPr lang="en-US" sz="1400" b="1" dirty="0"/>
              <a:t>Office Hours:</a:t>
            </a:r>
            <a:r>
              <a:rPr lang="en-US" sz="1400" dirty="0"/>
              <a:t> Wednesdays 10:30 AM-11:30 AM or email to schedule a meeting</a:t>
            </a:r>
            <a:endParaRPr lang="en-CA" sz="1400" dirty="0"/>
          </a:p>
          <a:p>
            <a:r>
              <a:rPr lang="en-US" sz="1400" dirty="0"/>
              <a:t> </a:t>
            </a:r>
            <a:endParaRPr lang="en-CA" sz="1400" dirty="0"/>
          </a:p>
          <a:p>
            <a:r>
              <a:rPr lang="en-US" sz="1400" b="1" dirty="0"/>
              <a:t>2026F-CS1910-02</a:t>
            </a:r>
            <a:endParaRPr lang="en-CA" sz="1400" b="1" dirty="0"/>
          </a:p>
          <a:p>
            <a:r>
              <a:rPr lang="en-US" sz="1400" b="1" dirty="0"/>
              <a:t>Instructor:</a:t>
            </a:r>
            <a:r>
              <a:rPr lang="en-US" sz="1400" dirty="0"/>
              <a:t> Dania Tamayo-Vera</a:t>
            </a:r>
            <a:endParaRPr lang="en-CA" sz="1400" dirty="0"/>
          </a:p>
          <a:p>
            <a:r>
              <a:rPr lang="en-US" sz="1400" b="1" dirty="0"/>
              <a:t>Office:</a:t>
            </a:r>
            <a:r>
              <a:rPr lang="en-US" sz="1400" dirty="0"/>
              <a:t> Cass Science Hall 203F </a:t>
            </a:r>
            <a:endParaRPr lang="en-CA" sz="1400" dirty="0"/>
          </a:p>
          <a:p>
            <a:r>
              <a:rPr lang="en-US" sz="1400" b="1" dirty="0"/>
              <a:t>Email:</a:t>
            </a:r>
            <a:r>
              <a:rPr lang="en-US" sz="1400" dirty="0"/>
              <a:t> dtamayovera@upei.ca</a:t>
            </a:r>
            <a:endParaRPr lang="en-CA" sz="1400" dirty="0"/>
          </a:p>
          <a:p>
            <a:r>
              <a:rPr lang="en-US" sz="1400" b="1" dirty="0"/>
              <a:t>Lectures:</a:t>
            </a:r>
            <a:r>
              <a:rPr lang="en-US" sz="1400" dirty="0"/>
              <a:t> T/Th 8:30 AM - 9:45 PM</a:t>
            </a:r>
            <a:endParaRPr lang="en-CA" sz="1400" dirty="0"/>
          </a:p>
          <a:p>
            <a:r>
              <a:rPr lang="en-US" sz="1400" b="1" dirty="0"/>
              <a:t>Office Hours:</a:t>
            </a:r>
            <a:r>
              <a:rPr lang="en-US" sz="1400" dirty="0"/>
              <a:t> Wednesdays 12:45 PM -2:15 PM or email to schedule a meeting</a:t>
            </a:r>
          </a:p>
          <a:p>
            <a:endParaRPr lang="en-US" sz="1400" dirty="0"/>
          </a:p>
          <a:p>
            <a:r>
              <a:rPr lang="en-CA" sz="1400" b="1" dirty="0"/>
              <a:t>Labs:</a:t>
            </a:r>
          </a:p>
          <a:p>
            <a:r>
              <a:rPr lang="en-US" sz="1400" b="1" dirty="0"/>
              <a:t>Instructor:</a:t>
            </a:r>
            <a:r>
              <a:rPr lang="en-US" sz="1400" dirty="0"/>
              <a:t> Chris Vessey</a:t>
            </a:r>
            <a:endParaRPr lang="en-CA" sz="1400" dirty="0"/>
          </a:p>
          <a:p>
            <a:r>
              <a:rPr lang="en-US" sz="1400" b="1" dirty="0"/>
              <a:t>Office:</a:t>
            </a:r>
            <a:r>
              <a:rPr lang="en-US" sz="1400" dirty="0"/>
              <a:t> Cass Science Hall 308</a:t>
            </a:r>
            <a:endParaRPr lang="en-CA" sz="1400" dirty="0"/>
          </a:p>
          <a:p>
            <a:r>
              <a:rPr lang="en-US" sz="1400" b="1" dirty="0"/>
              <a:t>Email:</a:t>
            </a:r>
            <a:r>
              <a:rPr lang="en-US" sz="1400" dirty="0"/>
              <a:t> cvessey@upei.ca</a:t>
            </a:r>
            <a:endParaRPr lang="en-CA" sz="1400" dirty="0"/>
          </a:p>
          <a:p>
            <a:r>
              <a:rPr lang="en-US" sz="1400" b="1" dirty="0"/>
              <a:t>Lab Times:</a:t>
            </a:r>
            <a:r>
              <a:rPr lang="en-US" sz="1400" dirty="0"/>
              <a:t> 3 sections </a:t>
            </a:r>
            <a:r>
              <a:rPr lang="en-CA" sz="1400" b="1" dirty="0"/>
              <a:t>Most weeks starting in week 2; CSH 104</a:t>
            </a:r>
            <a:endParaRPr lang="en-CA" sz="1400" dirty="0"/>
          </a:p>
        </p:txBody>
      </p:sp>
    </p:spTree>
    <p:extLst>
      <p:ext uri="{BB962C8B-B14F-4D97-AF65-F5344CB8AC3E}">
        <p14:creationId xmlns:p14="http://schemas.microsoft.com/office/powerpoint/2010/main" val="3869190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C4E3-91E1-D318-C9FD-C51C7FA7FDBA}"/>
              </a:ext>
            </a:extLst>
          </p:cNvPr>
          <p:cNvSpPr>
            <a:spLocks noGrp="1"/>
          </p:cNvSpPr>
          <p:nvPr>
            <p:ph type="title"/>
          </p:nvPr>
        </p:nvSpPr>
        <p:spPr/>
        <p:txBody>
          <a:bodyPr/>
          <a:lstStyle/>
          <a:p>
            <a:r>
              <a:rPr lang="en-US" dirty="0"/>
              <a:t>Course Description</a:t>
            </a:r>
          </a:p>
        </p:txBody>
      </p:sp>
      <p:sp>
        <p:nvSpPr>
          <p:cNvPr id="3" name="Content Placeholder 2">
            <a:extLst>
              <a:ext uri="{FF2B5EF4-FFF2-40B4-BE49-F238E27FC236}">
                <a16:creationId xmlns:a16="http://schemas.microsoft.com/office/drawing/2014/main" id="{E35AAE5B-1BEF-5BC6-978A-C5FB4386EA1F}"/>
              </a:ext>
            </a:extLst>
          </p:cNvPr>
          <p:cNvSpPr>
            <a:spLocks noGrp="1"/>
          </p:cNvSpPr>
          <p:nvPr>
            <p:ph idx="1"/>
          </p:nvPr>
        </p:nvSpPr>
        <p:spPr>
          <a:xfrm>
            <a:off x="2231136" y="2638044"/>
            <a:ext cx="7729728" cy="3725434"/>
          </a:xfrm>
        </p:spPr>
        <p:txBody>
          <a:bodyPr>
            <a:normAutofit fontScale="92500" lnSpcReduction="20000"/>
          </a:bodyPr>
          <a:lstStyle/>
          <a:p>
            <a:r>
              <a:rPr lang="en-US" dirty="0"/>
              <a:t>From the Academic Calendar:</a:t>
            </a:r>
          </a:p>
          <a:p>
            <a:pPr lvl="1"/>
            <a:r>
              <a:rPr lang="en-CA" dirty="0">
                <a:cs typeface="Courier New" panose="02070309020205020404" pitchFamily="49" charset="0"/>
              </a:rPr>
              <a:t>Students will be introduced to </a:t>
            </a:r>
            <a:r>
              <a:rPr lang="en-CA" b="1" dirty="0">
                <a:cs typeface="Courier New" panose="02070309020205020404" pitchFamily="49" charset="0"/>
              </a:rPr>
              <a:t>computational thinking</a:t>
            </a:r>
            <a:r>
              <a:rPr lang="en-CA" dirty="0">
                <a:cs typeface="Courier New" panose="02070309020205020404" pitchFamily="49" charset="0"/>
              </a:rPr>
              <a:t>.  They will learn how abstraction and decomposition can be used to solve problems and how to create, analyse and trace their own algorithmic solutions.  They will iterate and improve their solutions through pseudocode and through implementation in a procedural programming paradigm. </a:t>
            </a:r>
          </a:p>
          <a:p>
            <a:pPr lvl="1"/>
            <a:r>
              <a:rPr lang="en-CA" dirty="0">
                <a:cs typeface="Courier New" panose="02070309020205020404" pitchFamily="49" charset="0"/>
              </a:rPr>
              <a:t>They will learn the following programming constructs: </a:t>
            </a:r>
          </a:p>
          <a:p>
            <a:pPr marL="742950" lvl="2" indent="-285750"/>
            <a:r>
              <a:rPr lang="en-CA" dirty="0">
                <a:cs typeface="Courier New" panose="02070309020205020404" pitchFamily="49" charset="0"/>
              </a:rPr>
              <a:t>built-in types and user defined types, </a:t>
            </a:r>
          </a:p>
          <a:p>
            <a:pPr marL="742950" lvl="2" indent="-285750"/>
            <a:r>
              <a:rPr lang="en-CA" dirty="0">
                <a:cs typeface="Courier New" panose="02070309020205020404" pitchFamily="49" charset="0"/>
              </a:rPr>
              <a:t>decision structures, </a:t>
            </a:r>
          </a:p>
          <a:p>
            <a:pPr marL="742950" lvl="2" indent="-285750"/>
            <a:r>
              <a:rPr lang="en-CA" dirty="0">
                <a:cs typeface="Courier New" panose="02070309020205020404" pitchFamily="49" charset="0"/>
              </a:rPr>
              <a:t>repetition structures, </a:t>
            </a:r>
          </a:p>
          <a:p>
            <a:pPr marL="742950" lvl="2" indent="-285750"/>
            <a:r>
              <a:rPr lang="en-CA" dirty="0">
                <a:cs typeface="Courier New" panose="02070309020205020404" pitchFamily="49" charset="0"/>
              </a:rPr>
              <a:t>functions, and </a:t>
            </a:r>
          </a:p>
          <a:p>
            <a:pPr marL="742950" lvl="2" indent="-285750"/>
            <a:r>
              <a:rPr lang="en-CA" dirty="0">
                <a:cs typeface="Courier New" panose="02070309020205020404" pitchFamily="49" charset="0"/>
              </a:rPr>
              <a:t>ways to represent data. </a:t>
            </a:r>
          </a:p>
          <a:p>
            <a:pPr lvl="1"/>
            <a:r>
              <a:rPr lang="en-CA" dirty="0">
                <a:cs typeface="Courier New" panose="02070309020205020404" pitchFamily="49" charset="0"/>
              </a:rPr>
              <a:t>They will learn to test their code through unit testing to ensure correctness of their programs.</a:t>
            </a:r>
            <a:endParaRPr lang="en-US" dirty="0">
              <a:cs typeface="Courier New" panose="02070309020205020404" pitchFamily="49" charset="0"/>
            </a:endParaRPr>
          </a:p>
        </p:txBody>
      </p:sp>
    </p:spTree>
    <p:extLst>
      <p:ext uri="{BB962C8B-B14F-4D97-AF65-F5344CB8AC3E}">
        <p14:creationId xmlns:p14="http://schemas.microsoft.com/office/powerpoint/2010/main" val="3627727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DDA4C-DEAF-CC70-459E-A908659C9DB4}"/>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975CDDF0-09DB-FAA8-2BA2-DD9B6D2F9622}"/>
              </a:ext>
            </a:extLst>
          </p:cNvPr>
          <p:cNvSpPr>
            <a:spLocks noGrp="1"/>
          </p:cNvSpPr>
          <p:nvPr>
            <p:ph idx="1"/>
          </p:nvPr>
        </p:nvSpPr>
        <p:spPr/>
        <p:txBody>
          <a:bodyPr>
            <a:normAutofit fontScale="92500" lnSpcReduction="10000"/>
          </a:bodyPr>
          <a:lstStyle/>
          <a:p>
            <a:r>
              <a:rPr lang="en-US" dirty="0"/>
              <a:t>Solve problems using computational thinking</a:t>
            </a:r>
          </a:p>
          <a:p>
            <a:pPr lvl="1"/>
            <a:r>
              <a:rPr lang="en-US" dirty="0"/>
              <a:t>Decomposing problems into smaller tasks</a:t>
            </a:r>
          </a:p>
          <a:p>
            <a:pPr lvl="1"/>
            <a:r>
              <a:rPr lang="en-US" dirty="0"/>
              <a:t>Recognizing patterns </a:t>
            </a:r>
          </a:p>
          <a:p>
            <a:pPr lvl="1"/>
            <a:r>
              <a:rPr lang="en-US" dirty="0"/>
              <a:t>Forming pseudo-code to outline solutions</a:t>
            </a:r>
          </a:p>
          <a:p>
            <a:r>
              <a:rPr lang="en-US" dirty="0"/>
              <a:t>Ability to create procedural programs in python</a:t>
            </a:r>
          </a:p>
          <a:p>
            <a:pPr lvl="1"/>
            <a:r>
              <a:rPr lang="en-US" dirty="0"/>
              <a:t>Competency using repetition, decisions, functions and data types in python </a:t>
            </a:r>
          </a:p>
          <a:p>
            <a:r>
              <a:rPr lang="en-US" dirty="0"/>
              <a:t>Ability to interpret and read procedural programs in python</a:t>
            </a:r>
          </a:p>
          <a:p>
            <a:r>
              <a:rPr lang="en-US" dirty="0"/>
              <a:t>Validating and debugging programs</a:t>
            </a:r>
          </a:p>
          <a:p>
            <a:r>
              <a:rPr lang="en-US" dirty="0"/>
              <a:t>Familiarity with computational thinking and programming terminology </a:t>
            </a:r>
          </a:p>
        </p:txBody>
      </p:sp>
    </p:spTree>
    <p:extLst>
      <p:ext uri="{BB962C8B-B14F-4D97-AF65-F5344CB8AC3E}">
        <p14:creationId xmlns:p14="http://schemas.microsoft.com/office/powerpoint/2010/main" val="976417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5C537-3713-A173-CE64-94A62B3D6804}"/>
              </a:ext>
            </a:extLst>
          </p:cNvPr>
          <p:cNvSpPr>
            <a:spLocks noGrp="1"/>
          </p:cNvSpPr>
          <p:nvPr>
            <p:ph type="title"/>
          </p:nvPr>
        </p:nvSpPr>
        <p:spPr/>
        <p:txBody>
          <a:bodyPr/>
          <a:lstStyle/>
          <a:p>
            <a:r>
              <a:rPr lang="en-US" dirty="0"/>
              <a:t>Moodle</a:t>
            </a:r>
          </a:p>
        </p:txBody>
      </p:sp>
      <p:sp>
        <p:nvSpPr>
          <p:cNvPr id="3" name="Content Placeholder 2">
            <a:extLst>
              <a:ext uri="{FF2B5EF4-FFF2-40B4-BE49-F238E27FC236}">
                <a16:creationId xmlns:a16="http://schemas.microsoft.com/office/drawing/2014/main" id="{A2429A4E-80C5-D5E1-AA71-D46F59AA320A}"/>
              </a:ext>
            </a:extLst>
          </p:cNvPr>
          <p:cNvSpPr>
            <a:spLocks noGrp="1"/>
          </p:cNvSpPr>
          <p:nvPr>
            <p:ph idx="1"/>
          </p:nvPr>
        </p:nvSpPr>
        <p:spPr/>
        <p:txBody>
          <a:bodyPr/>
          <a:lstStyle/>
          <a:p>
            <a:r>
              <a:rPr lang="en-US" dirty="0"/>
              <a:t>Course Notes Posted to Moodle</a:t>
            </a:r>
          </a:p>
          <a:p>
            <a:r>
              <a:rPr lang="en-US" dirty="0"/>
              <a:t>Announcements made via Moodle</a:t>
            </a:r>
          </a:p>
          <a:p>
            <a:r>
              <a:rPr lang="en-US" dirty="0"/>
              <a:t>Homework submitted via Moodle</a:t>
            </a:r>
          </a:p>
          <a:p>
            <a:r>
              <a:rPr lang="en-US" dirty="0"/>
              <a:t>Class participation facilitated via Moodle</a:t>
            </a:r>
          </a:p>
          <a:p>
            <a:r>
              <a:rPr lang="en-US" dirty="0"/>
              <a:t>Grades posted to Moodle</a:t>
            </a:r>
          </a:p>
        </p:txBody>
      </p:sp>
      <p:sp>
        <p:nvSpPr>
          <p:cNvPr id="4" name="TextBox 3">
            <a:extLst>
              <a:ext uri="{FF2B5EF4-FFF2-40B4-BE49-F238E27FC236}">
                <a16:creationId xmlns:a16="http://schemas.microsoft.com/office/drawing/2014/main" id="{E7CBFD0A-BA31-986B-55F6-5053407B0B94}"/>
              </a:ext>
            </a:extLst>
          </p:cNvPr>
          <p:cNvSpPr txBox="1"/>
          <p:nvPr/>
        </p:nvSpPr>
        <p:spPr>
          <a:xfrm>
            <a:off x="2464401" y="4722989"/>
            <a:ext cx="6968895" cy="369332"/>
          </a:xfrm>
          <a:prstGeom prst="rect">
            <a:avLst/>
          </a:prstGeom>
          <a:noFill/>
          <a:ln>
            <a:solidFill>
              <a:schemeClr val="accent1"/>
            </a:solidFill>
          </a:ln>
        </p:spPr>
        <p:txBody>
          <a:bodyPr wrap="none" rtlCol="0">
            <a:spAutoFit/>
          </a:bodyPr>
          <a:lstStyle/>
          <a:p>
            <a:r>
              <a:rPr lang="en-US" dirty="0"/>
              <a:t>Class Participation is currently open at moodle31.upei.ca under CS 1910</a:t>
            </a:r>
          </a:p>
        </p:txBody>
      </p:sp>
      <p:sp>
        <p:nvSpPr>
          <p:cNvPr id="5" name="TextBox 4">
            <a:extLst>
              <a:ext uri="{FF2B5EF4-FFF2-40B4-BE49-F238E27FC236}">
                <a16:creationId xmlns:a16="http://schemas.microsoft.com/office/drawing/2014/main" id="{05F1B796-D673-9F46-716A-2DE67742298E}"/>
              </a:ext>
            </a:extLst>
          </p:cNvPr>
          <p:cNvSpPr txBox="1"/>
          <p:nvPr/>
        </p:nvSpPr>
        <p:spPr>
          <a:xfrm>
            <a:off x="2464401" y="5207621"/>
            <a:ext cx="7650877" cy="369332"/>
          </a:xfrm>
          <a:prstGeom prst="rect">
            <a:avLst/>
          </a:prstGeom>
          <a:noFill/>
          <a:ln>
            <a:solidFill>
              <a:schemeClr val="accent1"/>
            </a:solidFill>
          </a:ln>
        </p:spPr>
        <p:txBody>
          <a:bodyPr wrap="none" rtlCol="0">
            <a:spAutoFit/>
          </a:bodyPr>
          <a:lstStyle/>
          <a:p>
            <a:r>
              <a:rPr lang="en-US" dirty="0"/>
              <a:t>2 minute break to participate in today’s class by answering a couple of questions</a:t>
            </a:r>
          </a:p>
        </p:txBody>
      </p:sp>
    </p:spTree>
    <p:extLst>
      <p:ext uri="{BB962C8B-B14F-4D97-AF65-F5344CB8AC3E}">
        <p14:creationId xmlns:p14="http://schemas.microsoft.com/office/powerpoint/2010/main" val="3312545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4699-05B7-4ADC-E52A-2767B61709E9}"/>
              </a:ext>
            </a:extLst>
          </p:cNvPr>
          <p:cNvSpPr>
            <a:spLocks noGrp="1"/>
          </p:cNvSpPr>
          <p:nvPr>
            <p:ph type="title"/>
          </p:nvPr>
        </p:nvSpPr>
        <p:spPr/>
        <p:txBody>
          <a:bodyPr/>
          <a:lstStyle/>
          <a:p>
            <a:r>
              <a:rPr lang="en-US" dirty="0"/>
              <a:t>Syllabus Overview</a:t>
            </a:r>
          </a:p>
        </p:txBody>
      </p:sp>
      <p:sp>
        <p:nvSpPr>
          <p:cNvPr id="3" name="Content Placeholder 2">
            <a:extLst>
              <a:ext uri="{FF2B5EF4-FFF2-40B4-BE49-F238E27FC236}">
                <a16:creationId xmlns:a16="http://schemas.microsoft.com/office/drawing/2014/main" id="{9C3D6472-715C-B838-2980-B0A453ECDDAB}"/>
              </a:ext>
            </a:extLst>
          </p:cNvPr>
          <p:cNvSpPr>
            <a:spLocks noGrp="1"/>
          </p:cNvSpPr>
          <p:nvPr>
            <p:ph idx="1"/>
          </p:nvPr>
        </p:nvSpPr>
        <p:spPr>
          <a:xfrm>
            <a:off x="2231136" y="2638044"/>
            <a:ext cx="7729728" cy="3881509"/>
          </a:xfrm>
        </p:spPr>
        <p:txBody>
          <a:bodyPr>
            <a:normAutofit/>
          </a:bodyPr>
          <a:lstStyle/>
          <a:p>
            <a:r>
              <a:rPr lang="en-US" dirty="0"/>
              <a:t>Grading</a:t>
            </a:r>
          </a:p>
          <a:p>
            <a:r>
              <a:rPr lang="en-US" dirty="0"/>
              <a:t>Lectures</a:t>
            </a:r>
          </a:p>
          <a:p>
            <a:r>
              <a:rPr lang="en-US" dirty="0"/>
              <a:t>Homework</a:t>
            </a:r>
          </a:p>
          <a:p>
            <a:r>
              <a:rPr lang="en-US" dirty="0"/>
              <a:t>Environment</a:t>
            </a:r>
          </a:p>
          <a:p>
            <a:pPr lvl="1"/>
            <a:r>
              <a:rPr lang="en-US" dirty="0"/>
              <a:t>Google </a:t>
            </a:r>
            <a:r>
              <a:rPr lang="en-US" dirty="0" err="1"/>
              <a:t>Colab</a:t>
            </a:r>
            <a:r>
              <a:rPr lang="en-US" dirty="0"/>
              <a:t> / </a:t>
            </a:r>
            <a:r>
              <a:rPr lang="en-US" dirty="0" err="1"/>
              <a:t>Jupyter</a:t>
            </a:r>
            <a:r>
              <a:rPr lang="en-US" dirty="0"/>
              <a:t> Notebook / Textbook / Moodle</a:t>
            </a:r>
          </a:p>
          <a:p>
            <a:r>
              <a:rPr lang="en-US" dirty="0"/>
              <a:t>Tests / Final Exam</a:t>
            </a:r>
          </a:p>
          <a:p>
            <a:r>
              <a:rPr lang="en-US" dirty="0"/>
              <a:t>Academic Honesty</a:t>
            </a:r>
          </a:p>
          <a:p>
            <a:r>
              <a:rPr lang="en-US" dirty="0"/>
              <a:t>Accessibility</a:t>
            </a:r>
          </a:p>
          <a:p>
            <a:r>
              <a:rPr lang="en-US" dirty="0"/>
              <a:t>How to be successful</a:t>
            </a:r>
          </a:p>
          <a:p>
            <a:endParaRPr lang="en-US" dirty="0"/>
          </a:p>
          <a:p>
            <a:endParaRPr lang="en-US" dirty="0"/>
          </a:p>
        </p:txBody>
      </p:sp>
    </p:spTree>
    <p:extLst>
      <p:ext uri="{BB962C8B-B14F-4D97-AF65-F5344CB8AC3E}">
        <p14:creationId xmlns:p14="http://schemas.microsoft.com/office/powerpoint/2010/main" val="2192142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60BB-C342-EC10-C5A2-44627F24B13A}"/>
              </a:ext>
            </a:extLst>
          </p:cNvPr>
          <p:cNvSpPr>
            <a:spLocks noGrp="1"/>
          </p:cNvSpPr>
          <p:nvPr>
            <p:ph type="title"/>
          </p:nvPr>
        </p:nvSpPr>
        <p:spPr/>
        <p:txBody>
          <a:bodyPr/>
          <a:lstStyle/>
          <a:p>
            <a:r>
              <a:rPr lang="en-US" dirty="0"/>
              <a:t>Grading</a:t>
            </a:r>
          </a:p>
        </p:txBody>
      </p:sp>
      <p:graphicFrame>
        <p:nvGraphicFramePr>
          <p:cNvPr id="4" name="Table 3">
            <a:extLst>
              <a:ext uri="{FF2B5EF4-FFF2-40B4-BE49-F238E27FC236}">
                <a16:creationId xmlns:a16="http://schemas.microsoft.com/office/drawing/2014/main" id="{024CF10F-4DA2-2A77-A2DC-AD3FD124B2BD}"/>
              </a:ext>
            </a:extLst>
          </p:cNvPr>
          <p:cNvGraphicFramePr>
            <a:graphicFrameLocks noGrp="1"/>
          </p:cNvGraphicFramePr>
          <p:nvPr>
            <p:extLst>
              <p:ext uri="{D42A27DB-BD31-4B8C-83A1-F6EECF244321}">
                <p14:modId xmlns:p14="http://schemas.microsoft.com/office/powerpoint/2010/main" val="1459279698"/>
              </p:ext>
            </p:extLst>
          </p:nvPr>
        </p:nvGraphicFramePr>
        <p:xfrm>
          <a:off x="2231136" y="2427612"/>
          <a:ext cx="3567442" cy="2798737"/>
        </p:xfrm>
        <a:graphic>
          <a:graphicData uri="http://schemas.openxmlformats.org/drawingml/2006/table">
            <a:tbl>
              <a:tblPr firstRow="1" bandRow="1">
                <a:tableStyleId>{5C22544A-7EE6-4342-B048-85BDC9FD1C3A}</a:tableStyleId>
              </a:tblPr>
              <a:tblGrid>
                <a:gridCol w="2507568">
                  <a:extLst>
                    <a:ext uri="{9D8B030D-6E8A-4147-A177-3AD203B41FA5}">
                      <a16:colId xmlns:a16="http://schemas.microsoft.com/office/drawing/2014/main" val="1938336421"/>
                    </a:ext>
                  </a:extLst>
                </a:gridCol>
                <a:gridCol w="1059874">
                  <a:extLst>
                    <a:ext uri="{9D8B030D-6E8A-4147-A177-3AD203B41FA5}">
                      <a16:colId xmlns:a16="http://schemas.microsoft.com/office/drawing/2014/main" val="1890330783"/>
                    </a:ext>
                  </a:extLst>
                </a:gridCol>
              </a:tblGrid>
              <a:tr h="442183">
                <a:tc>
                  <a:txBody>
                    <a:bodyPr/>
                    <a:lstStyle/>
                    <a:p>
                      <a:r>
                        <a:rPr lang="en-US" dirty="0"/>
                        <a:t>Assessment</a:t>
                      </a:r>
                    </a:p>
                  </a:txBody>
                  <a:tcPr/>
                </a:tc>
                <a:tc>
                  <a:txBody>
                    <a:bodyPr/>
                    <a:lstStyle/>
                    <a:p>
                      <a:r>
                        <a:rPr lang="en-US" dirty="0"/>
                        <a:t>Value</a:t>
                      </a:r>
                    </a:p>
                  </a:txBody>
                  <a:tcPr/>
                </a:tc>
                <a:extLst>
                  <a:ext uri="{0D108BD9-81ED-4DB2-BD59-A6C34878D82A}">
                    <a16:rowId xmlns:a16="http://schemas.microsoft.com/office/drawing/2014/main" val="1561078793"/>
                  </a:ext>
                </a:extLst>
              </a:tr>
              <a:tr h="392759">
                <a:tc>
                  <a:txBody>
                    <a:bodyPr/>
                    <a:lstStyle/>
                    <a:p>
                      <a:r>
                        <a:rPr lang="en-US" dirty="0"/>
                        <a:t>Class Participation</a:t>
                      </a:r>
                    </a:p>
                  </a:txBody>
                  <a:tcPr/>
                </a:tc>
                <a:tc>
                  <a:txBody>
                    <a:bodyPr/>
                    <a:lstStyle/>
                    <a:p>
                      <a:pPr algn="r"/>
                      <a:r>
                        <a:rPr lang="en-US" dirty="0"/>
                        <a:t>5%</a:t>
                      </a:r>
                    </a:p>
                  </a:txBody>
                  <a:tcPr/>
                </a:tc>
                <a:extLst>
                  <a:ext uri="{0D108BD9-81ED-4DB2-BD59-A6C34878D82A}">
                    <a16:rowId xmlns:a16="http://schemas.microsoft.com/office/drawing/2014/main" val="1395432565"/>
                  </a:ext>
                </a:extLst>
              </a:tr>
              <a:tr h="392759">
                <a:tc>
                  <a:txBody>
                    <a:bodyPr/>
                    <a:lstStyle/>
                    <a:p>
                      <a:r>
                        <a:rPr lang="en-US" dirty="0"/>
                        <a:t>Homework</a:t>
                      </a:r>
                    </a:p>
                  </a:txBody>
                  <a:tcPr/>
                </a:tc>
                <a:tc>
                  <a:txBody>
                    <a:bodyPr/>
                    <a:lstStyle/>
                    <a:p>
                      <a:pPr algn="r"/>
                      <a:r>
                        <a:rPr lang="en-US" dirty="0"/>
                        <a:t>18%</a:t>
                      </a:r>
                    </a:p>
                  </a:txBody>
                  <a:tcPr/>
                </a:tc>
                <a:extLst>
                  <a:ext uri="{0D108BD9-81ED-4DB2-BD59-A6C34878D82A}">
                    <a16:rowId xmlns:a16="http://schemas.microsoft.com/office/drawing/2014/main" val="1539385009"/>
                  </a:ext>
                </a:extLst>
              </a:tr>
              <a:tr h="392759">
                <a:tc>
                  <a:txBody>
                    <a:bodyPr/>
                    <a:lstStyle/>
                    <a:p>
                      <a:r>
                        <a:rPr lang="en-US" dirty="0"/>
                        <a:t>Labs</a:t>
                      </a:r>
                    </a:p>
                  </a:txBody>
                  <a:tcPr/>
                </a:tc>
                <a:tc>
                  <a:txBody>
                    <a:bodyPr/>
                    <a:lstStyle/>
                    <a:p>
                      <a:pPr algn="r"/>
                      <a:r>
                        <a:rPr lang="en-US" dirty="0"/>
                        <a:t>12%</a:t>
                      </a:r>
                    </a:p>
                  </a:txBody>
                  <a:tcPr/>
                </a:tc>
                <a:extLst>
                  <a:ext uri="{0D108BD9-81ED-4DB2-BD59-A6C34878D82A}">
                    <a16:rowId xmlns:a16="http://schemas.microsoft.com/office/drawing/2014/main" val="3979907748"/>
                  </a:ext>
                </a:extLst>
              </a:tr>
              <a:tr h="392759">
                <a:tc>
                  <a:txBody>
                    <a:bodyPr/>
                    <a:lstStyle/>
                    <a:p>
                      <a:r>
                        <a:rPr lang="en-US" dirty="0"/>
                        <a:t>Midterm Test 1</a:t>
                      </a:r>
                    </a:p>
                  </a:txBody>
                  <a:tcPr/>
                </a:tc>
                <a:tc>
                  <a:txBody>
                    <a:bodyPr/>
                    <a:lstStyle/>
                    <a:p>
                      <a:pPr algn="r"/>
                      <a:r>
                        <a:rPr lang="en-US" dirty="0"/>
                        <a:t>15%</a:t>
                      </a:r>
                    </a:p>
                  </a:txBody>
                  <a:tcPr/>
                </a:tc>
                <a:extLst>
                  <a:ext uri="{0D108BD9-81ED-4DB2-BD59-A6C34878D82A}">
                    <a16:rowId xmlns:a16="http://schemas.microsoft.com/office/drawing/2014/main" val="113060121"/>
                  </a:ext>
                </a:extLst>
              </a:tr>
              <a:tr h="392759">
                <a:tc>
                  <a:txBody>
                    <a:bodyPr/>
                    <a:lstStyle/>
                    <a:p>
                      <a:r>
                        <a:rPr lang="en-US" dirty="0"/>
                        <a:t>Midterm Test 2</a:t>
                      </a:r>
                    </a:p>
                  </a:txBody>
                  <a:tcPr/>
                </a:tc>
                <a:tc>
                  <a:txBody>
                    <a:bodyPr/>
                    <a:lstStyle/>
                    <a:p>
                      <a:pPr algn="r"/>
                      <a:r>
                        <a:rPr lang="en-US" dirty="0"/>
                        <a:t>15%</a:t>
                      </a:r>
                    </a:p>
                  </a:txBody>
                  <a:tcPr/>
                </a:tc>
                <a:extLst>
                  <a:ext uri="{0D108BD9-81ED-4DB2-BD59-A6C34878D82A}">
                    <a16:rowId xmlns:a16="http://schemas.microsoft.com/office/drawing/2014/main" val="1098907771"/>
                  </a:ext>
                </a:extLst>
              </a:tr>
              <a:tr h="3927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 Exam</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35%</a:t>
                      </a:r>
                    </a:p>
                  </a:txBody>
                  <a:tcPr/>
                </a:tc>
                <a:extLst>
                  <a:ext uri="{0D108BD9-81ED-4DB2-BD59-A6C34878D82A}">
                    <a16:rowId xmlns:a16="http://schemas.microsoft.com/office/drawing/2014/main" val="3309261909"/>
                  </a:ext>
                </a:extLst>
              </a:tr>
            </a:tbl>
          </a:graphicData>
        </a:graphic>
      </p:graphicFrame>
      <p:sp>
        <p:nvSpPr>
          <p:cNvPr id="7" name="TextBox 6">
            <a:extLst>
              <a:ext uri="{FF2B5EF4-FFF2-40B4-BE49-F238E27FC236}">
                <a16:creationId xmlns:a16="http://schemas.microsoft.com/office/drawing/2014/main" id="{A7C18B57-8B72-5E6B-BF5A-32186B434DCF}"/>
              </a:ext>
            </a:extLst>
          </p:cNvPr>
          <p:cNvSpPr txBox="1"/>
          <p:nvPr/>
        </p:nvSpPr>
        <p:spPr>
          <a:xfrm>
            <a:off x="2231137" y="5393941"/>
            <a:ext cx="7914088" cy="1200329"/>
          </a:xfrm>
          <a:prstGeom prst="rect">
            <a:avLst/>
          </a:prstGeom>
          <a:noFill/>
        </p:spPr>
        <p:txBody>
          <a:bodyPr wrap="square" rtlCol="0">
            <a:spAutoFit/>
          </a:bodyPr>
          <a:lstStyle/>
          <a:p>
            <a:r>
              <a:rPr lang="en-US" dirty="0"/>
              <a:t>You must pass the combined Tests (midterm 1, midterm 2 and final exam) to pass the course. 50% of your final grade is Tests, you must achieve at least 30% of your final grade from tests to pass the course. Otherwise your final grade is at most 45%.</a:t>
            </a:r>
          </a:p>
        </p:txBody>
      </p:sp>
      <p:cxnSp>
        <p:nvCxnSpPr>
          <p:cNvPr id="9" name="Straight Arrow Connector 8">
            <a:extLst>
              <a:ext uri="{FF2B5EF4-FFF2-40B4-BE49-F238E27FC236}">
                <a16:creationId xmlns:a16="http://schemas.microsoft.com/office/drawing/2014/main" id="{07FE936D-578C-3B4C-2511-B7B44B9A7995}"/>
              </a:ext>
            </a:extLst>
          </p:cNvPr>
          <p:cNvCxnSpPr/>
          <p:nvPr/>
        </p:nvCxnSpPr>
        <p:spPr>
          <a:xfrm flipH="1">
            <a:off x="5916706" y="4304729"/>
            <a:ext cx="1635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52E1AC1-4325-7866-1921-541A41E49D42}"/>
              </a:ext>
            </a:extLst>
          </p:cNvPr>
          <p:cNvSpPr txBox="1"/>
          <p:nvPr/>
        </p:nvSpPr>
        <p:spPr>
          <a:xfrm>
            <a:off x="7669996" y="4020555"/>
            <a:ext cx="2281715" cy="369332"/>
          </a:xfrm>
          <a:prstGeom prst="rect">
            <a:avLst/>
          </a:prstGeom>
          <a:noFill/>
        </p:spPr>
        <p:txBody>
          <a:bodyPr wrap="none" rtlCol="0">
            <a:spAutoFit/>
          </a:bodyPr>
          <a:lstStyle/>
          <a:p>
            <a:r>
              <a:rPr lang="en-US" dirty="0"/>
              <a:t>Date: October 6, 2026</a:t>
            </a:r>
          </a:p>
        </p:txBody>
      </p:sp>
      <p:cxnSp>
        <p:nvCxnSpPr>
          <p:cNvPr id="11" name="Straight Arrow Connector 10">
            <a:extLst>
              <a:ext uri="{FF2B5EF4-FFF2-40B4-BE49-F238E27FC236}">
                <a16:creationId xmlns:a16="http://schemas.microsoft.com/office/drawing/2014/main" id="{507B8169-42B9-CC02-E3CE-5867901C7B36}"/>
              </a:ext>
            </a:extLst>
          </p:cNvPr>
          <p:cNvCxnSpPr/>
          <p:nvPr/>
        </p:nvCxnSpPr>
        <p:spPr>
          <a:xfrm flipH="1">
            <a:off x="5916706" y="4661524"/>
            <a:ext cx="1635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3EC712F-58E3-764E-32D3-0BB92E216FC3}"/>
              </a:ext>
            </a:extLst>
          </p:cNvPr>
          <p:cNvSpPr txBox="1"/>
          <p:nvPr/>
        </p:nvSpPr>
        <p:spPr>
          <a:xfrm>
            <a:off x="7669995" y="4430249"/>
            <a:ext cx="2475229" cy="369332"/>
          </a:xfrm>
          <a:prstGeom prst="rect">
            <a:avLst/>
          </a:prstGeom>
          <a:noFill/>
        </p:spPr>
        <p:txBody>
          <a:bodyPr wrap="none" rtlCol="0">
            <a:spAutoFit/>
          </a:bodyPr>
          <a:lstStyle/>
          <a:p>
            <a:r>
              <a:rPr lang="en-US" dirty="0"/>
              <a:t>Date: November 3, 2026</a:t>
            </a:r>
          </a:p>
        </p:txBody>
      </p:sp>
      <p:cxnSp>
        <p:nvCxnSpPr>
          <p:cNvPr id="3" name="Straight Arrow Connector 2">
            <a:extLst>
              <a:ext uri="{FF2B5EF4-FFF2-40B4-BE49-F238E27FC236}">
                <a16:creationId xmlns:a16="http://schemas.microsoft.com/office/drawing/2014/main" id="{3A0A1E92-17C6-9156-053C-1DA2BC43C7F4}"/>
              </a:ext>
            </a:extLst>
          </p:cNvPr>
          <p:cNvCxnSpPr/>
          <p:nvPr/>
        </p:nvCxnSpPr>
        <p:spPr>
          <a:xfrm flipH="1">
            <a:off x="5916706" y="5030856"/>
            <a:ext cx="1635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194582F-8CBE-B3F5-8346-7A4D5AD6F5B1}"/>
              </a:ext>
            </a:extLst>
          </p:cNvPr>
          <p:cNvSpPr txBox="1"/>
          <p:nvPr/>
        </p:nvSpPr>
        <p:spPr>
          <a:xfrm>
            <a:off x="7669995" y="4799581"/>
            <a:ext cx="3059812" cy="646331"/>
          </a:xfrm>
          <a:prstGeom prst="rect">
            <a:avLst/>
          </a:prstGeom>
          <a:noFill/>
        </p:spPr>
        <p:txBody>
          <a:bodyPr wrap="none" rtlCol="0">
            <a:spAutoFit/>
          </a:bodyPr>
          <a:lstStyle/>
          <a:p>
            <a:r>
              <a:rPr lang="en-US" dirty="0"/>
              <a:t>Date: During final exam period</a:t>
            </a:r>
          </a:p>
          <a:p>
            <a:r>
              <a:rPr lang="en-US" dirty="0"/>
              <a:t>Dec 11-23, 2026</a:t>
            </a:r>
          </a:p>
        </p:txBody>
      </p:sp>
    </p:spTree>
    <p:extLst>
      <p:ext uri="{BB962C8B-B14F-4D97-AF65-F5344CB8AC3E}">
        <p14:creationId xmlns:p14="http://schemas.microsoft.com/office/powerpoint/2010/main" val="122268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9EFB-A320-6F43-EFE2-0FCEF4CE506E}"/>
              </a:ext>
            </a:extLst>
          </p:cNvPr>
          <p:cNvSpPr>
            <a:spLocks noGrp="1"/>
          </p:cNvSpPr>
          <p:nvPr>
            <p:ph type="title"/>
          </p:nvPr>
        </p:nvSpPr>
        <p:spPr>
          <a:xfrm>
            <a:off x="2231136" y="281028"/>
            <a:ext cx="7729728" cy="1188720"/>
          </a:xfrm>
        </p:spPr>
        <p:txBody>
          <a:bodyPr/>
          <a:lstStyle/>
          <a:p>
            <a:r>
              <a:rPr lang="en-US" dirty="0"/>
              <a:t>Pass the Tests</a:t>
            </a:r>
          </a:p>
        </p:txBody>
      </p:sp>
      <p:sp>
        <p:nvSpPr>
          <p:cNvPr id="3" name="Content Placeholder 2">
            <a:extLst>
              <a:ext uri="{FF2B5EF4-FFF2-40B4-BE49-F238E27FC236}">
                <a16:creationId xmlns:a16="http://schemas.microsoft.com/office/drawing/2014/main" id="{4D55D105-EFDE-539C-869F-B909057F0592}"/>
              </a:ext>
            </a:extLst>
          </p:cNvPr>
          <p:cNvSpPr>
            <a:spLocks noGrp="1"/>
          </p:cNvSpPr>
          <p:nvPr>
            <p:ph idx="1"/>
          </p:nvPr>
        </p:nvSpPr>
        <p:spPr>
          <a:xfrm>
            <a:off x="2231136" y="1774919"/>
            <a:ext cx="7729728" cy="4728431"/>
          </a:xfrm>
        </p:spPr>
        <p:txBody>
          <a:bodyPr>
            <a:normAutofit/>
          </a:bodyPr>
          <a:lstStyle/>
          <a:p>
            <a:r>
              <a:rPr lang="en-US" dirty="0"/>
              <a:t>The pass the tests stipulation exists to ensure students moving beyond CS 1910 have demonstrated a basic level of understanding in the course content.</a:t>
            </a:r>
          </a:p>
          <a:p>
            <a:r>
              <a:rPr lang="en-US" dirty="0"/>
              <a:t>It also allows us to allocate a large number of points (35%) towards non-test grades so that students who struggle in testing environments can significantly boost their grade by performing well in other areas.</a:t>
            </a:r>
          </a:p>
          <a:p>
            <a:r>
              <a:rPr lang="en-US" dirty="0"/>
              <a:t>Example:</a:t>
            </a:r>
          </a:p>
          <a:p>
            <a:pPr lvl="1"/>
            <a:r>
              <a:rPr lang="en-US" dirty="0"/>
              <a:t>Student A : Midterm 1 (40%), Midterm 2 (50%), Final Exam (55%), Labs (80%), Homework (80%), Participation (80%) </a:t>
            </a:r>
          </a:p>
          <a:p>
            <a:pPr lvl="2"/>
            <a:r>
              <a:rPr lang="en-US" dirty="0"/>
              <a:t>Final Grade: 65% </a:t>
            </a:r>
          </a:p>
          <a:p>
            <a:pPr lvl="1"/>
            <a:r>
              <a:rPr lang="en-US" dirty="0"/>
              <a:t>Student B: Midterm 1 (40%), Midterm 2 (60%), Final Exam (40%), Labs(100%), Homework (100%), Participation (100%)</a:t>
            </a:r>
          </a:p>
          <a:p>
            <a:pPr lvl="2"/>
            <a:r>
              <a:rPr lang="en-US" dirty="0"/>
              <a:t>Final Grade 45% (student did not pass the tests portion of the course)</a:t>
            </a:r>
          </a:p>
          <a:p>
            <a:endParaRPr lang="en-US" dirty="0"/>
          </a:p>
        </p:txBody>
      </p:sp>
    </p:spTree>
    <p:extLst>
      <p:ext uri="{BB962C8B-B14F-4D97-AF65-F5344CB8AC3E}">
        <p14:creationId xmlns:p14="http://schemas.microsoft.com/office/powerpoint/2010/main" val="1217478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AF9DE-3391-21AE-310C-B7D183DD7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8CD69-D4EB-0E17-C0F0-EB49A6ACE726}"/>
              </a:ext>
            </a:extLst>
          </p:cNvPr>
          <p:cNvSpPr>
            <a:spLocks noGrp="1"/>
          </p:cNvSpPr>
          <p:nvPr>
            <p:ph type="title"/>
          </p:nvPr>
        </p:nvSpPr>
        <p:spPr>
          <a:xfrm>
            <a:off x="2231136" y="333321"/>
            <a:ext cx="7729728" cy="1188720"/>
          </a:xfrm>
        </p:spPr>
        <p:txBody>
          <a:bodyPr/>
          <a:lstStyle/>
          <a:p>
            <a:r>
              <a:rPr lang="en-US" dirty="0"/>
              <a:t>FAQ</a:t>
            </a:r>
          </a:p>
        </p:txBody>
      </p:sp>
      <p:sp>
        <p:nvSpPr>
          <p:cNvPr id="3" name="Content Placeholder 2">
            <a:extLst>
              <a:ext uri="{FF2B5EF4-FFF2-40B4-BE49-F238E27FC236}">
                <a16:creationId xmlns:a16="http://schemas.microsoft.com/office/drawing/2014/main" id="{73D8FF82-D0F3-6169-4800-9CD7C67E6D3A}"/>
              </a:ext>
            </a:extLst>
          </p:cNvPr>
          <p:cNvSpPr>
            <a:spLocks noGrp="1"/>
          </p:cNvSpPr>
          <p:nvPr>
            <p:ph idx="1"/>
          </p:nvPr>
        </p:nvSpPr>
        <p:spPr>
          <a:xfrm>
            <a:off x="2231136" y="1861457"/>
            <a:ext cx="7729728" cy="4778829"/>
          </a:xfrm>
        </p:spPr>
        <p:txBody>
          <a:bodyPr>
            <a:normAutofit lnSpcReduction="10000"/>
          </a:bodyPr>
          <a:lstStyle/>
          <a:p>
            <a:r>
              <a:rPr lang="en-US" dirty="0"/>
              <a:t>I did not pass Test 2, does that mean I have failed the course?</a:t>
            </a:r>
          </a:p>
          <a:p>
            <a:pPr lvl="1"/>
            <a:r>
              <a:rPr lang="en-US" dirty="0">
                <a:solidFill>
                  <a:srgbClr val="0070C0"/>
                </a:solidFill>
              </a:rPr>
              <a:t>The Pass the tests stipulation considers the tests on aggregate; you must achieve 32.5% (or more) of your final grade from tests.</a:t>
            </a:r>
          </a:p>
          <a:p>
            <a:r>
              <a:rPr lang="en-US" dirty="0"/>
              <a:t>I did not </a:t>
            </a:r>
            <a:r>
              <a:rPr lang="en-US"/>
              <a:t>get 32.5% </a:t>
            </a:r>
            <a:r>
              <a:rPr lang="en-US" dirty="0"/>
              <a:t>or more of my final grade points from tests, but if I add up all of my other grades it averages out to 60%, therefore I pass the course, right?</a:t>
            </a:r>
          </a:p>
          <a:p>
            <a:pPr lvl="1"/>
            <a:r>
              <a:rPr lang="en-US" dirty="0">
                <a:solidFill>
                  <a:srgbClr val="0070C0"/>
                </a:solidFill>
              </a:rPr>
              <a:t>Regardless of your other grades, if you do not “pass the tests”, you receive a maximum grade of 45.</a:t>
            </a:r>
          </a:p>
          <a:p>
            <a:r>
              <a:rPr lang="en-US" dirty="0"/>
              <a:t>Can I do a make-up test?</a:t>
            </a:r>
          </a:p>
          <a:p>
            <a:pPr lvl="1"/>
            <a:r>
              <a:rPr lang="en-US" dirty="0">
                <a:solidFill>
                  <a:srgbClr val="0070C0"/>
                </a:solidFill>
              </a:rPr>
              <a:t>There are no make-up tests.  Once a test is complete it is complete. </a:t>
            </a:r>
          </a:p>
          <a:p>
            <a:r>
              <a:rPr lang="en-US" dirty="0"/>
              <a:t>What happens if I miss a test?</a:t>
            </a:r>
          </a:p>
          <a:p>
            <a:pPr lvl="1"/>
            <a:r>
              <a:rPr lang="en-US" dirty="0">
                <a:solidFill>
                  <a:srgbClr val="0070C0"/>
                </a:solidFill>
              </a:rPr>
              <a:t>The points for that assessment are rolled equally onto other as yet unwritten tests.</a:t>
            </a:r>
          </a:p>
          <a:p>
            <a:pPr lvl="1"/>
            <a:r>
              <a:rPr lang="en-US" dirty="0">
                <a:solidFill>
                  <a:srgbClr val="0070C0"/>
                </a:solidFill>
              </a:rPr>
              <a:t>If you miss the final exam you should notify the Registrar’s Office immediately</a:t>
            </a:r>
          </a:p>
          <a:p>
            <a:pPr lvl="1"/>
            <a:r>
              <a:rPr lang="en-US" dirty="0">
                <a:solidFill>
                  <a:srgbClr val="0070C0"/>
                </a:solidFill>
              </a:rPr>
              <a:t>Please do not plan to travel during the exam period in case there are cancellations</a:t>
            </a:r>
          </a:p>
        </p:txBody>
      </p:sp>
    </p:spTree>
    <p:extLst>
      <p:ext uri="{BB962C8B-B14F-4D97-AF65-F5344CB8AC3E}">
        <p14:creationId xmlns:p14="http://schemas.microsoft.com/office/powerpoint/2010/main" val="139064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6119-F120-305F-ECB3-EBA73CE17D4C}"/>
              </a:ext>
            </a:extLst>
          </p:cNvPr>
          <p:cNvSpPr>
            <a:spLocks noGrp="1"/>
          </p:cNvSpPr>
          <p:nvPr>
            <p:ph type="title"/>
          </p:nvPr>
        </p:nvSpPr>
        <p:spPr/>
        <p:txBody>
          <a:bodyPr/>
          <a:lstStyle/>
          <a:p>
            <a:r>
              <a:rPr lang="en-US" dirty="0"/>
              <a:t>Midterm Tests</a:t>
            </a:r>
          </a:p>
        </p:txBody>
      </p:sp>
      <p:sp>
        <p:nvSpPr>
          <p:cNvPr id="3" name="Content Placeholder 2">
            <a:extLst>
              <a:ext uri="{FF2B5EF4-FFF2-40B4-BE49-F238E27FC236}">
                <a16:creationId xmlns:a16="http://schemas.microsoft.com/office/drawing/2014/main" id="{ABA4AC3A-BB9D-324C-CE24-4D014370D9F4}"/>
              </a:ext>
            </a:extLst>
          </p:cNvPr>
          <p:cNvSpPr>
            <a:spLocks noGrp="1"/>
          </p:cNvSpPr>
          <p:nvPr>
            <p:ph idx="1"/>
          </p:nvPr>
        </p:nvSpPr>
        <p:spPr/>
        <p:txBody>
          <a:bodyPr/>
          <a:lstStyle/>
          <a:p>
            <a:r>
              <a:rPr lang="en-US" dirty="0"/>
              <a:t>Written on paper during regular class time</a:t>
            </a:r>
          </a:p>
          <a:p>
            <a:r>
              <a:rPr lang="en-US" dirty="0"/>
              <a:t>Dates are posted in the syllabus</a:t>
            </a:r>
          </a:p>
          <a:p>
            <a:r>
              <a:rPr lang="en-US" dirty="0"/>
              <a:t>May consist of multiple choice, short answer, long answer or coding </a:t>
            </a:r>
          </a:p>
          <a:p>
            <a:r>
              <a:rPr lang="en-US" dirty="0"/>
              <a:t>Try at home questions, homework, labs, lectures and textbook materials are all considered as potential question materials</a:t>
            </a:r>
          </a:p>
          <a:p>
            <a:endParaRPr lang="en-US" dirty="0"/>
          </a:p>
          <a:p>
            <a:endParaRPr lang="en-US" dirty="0"/>
          </a:p>
        </p:txBody>
      </p:sp>
    </p:spTree>
    <p:extLst>
      <p:ext uri="{BB962C8B-B14F-4D97-AF65-F5344CB8AC3E}">
        <p14:creationId xmlns:p14="http://schemas.microsoft.com/office/powerpoint/2010/main" val="4006704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C0CB-A99E-CBB4-74BB-52142F0F51C3}"/>
              </a:ext>
            </a:extLst>
          </p:cNvPr>
          <p:cNvSpPr>
            <a:spLocks noGrp="1"/>
          </p:cNvSpPr>
          <p:nvPr>
            <p:ph type="title"/>
          </p:nvPr>
        </p:nvSpPr>
        <p:spPr/>
        <p:txBody>
          <a:bodyPr/>
          <a:lstStyle/>
          <a:p>
            <a:r>
              <a:rPr lang="en-US" dirty="0"/>
              <a:t>Academic </a:t>
            </a:r>
            <a:r>
              <a:rPr lang="en-US" dirty="0" err="1"/>
              <a:t>DISHonesty</a:t>
            </a:r>
            <a:endParaRPr lang="en-US" dirty="0"/>
          </a:p>
        </p:txBody>
      </p:sp>
      <p:sp>
        <p:nvSpPr>
          <p:cNvPr id="3" name="Content Placeholder 2">
            <a:extLst>
              <a:ext uri="{FF2B5EF4-FFF2-40B4-BE49-F238E27FC236}">
                <a16:creationId xmlns:a16="http://schemas.microsoft.com/office/drawing/2014/main" id="{D92DE33F-324D-AF1B-882E-65A57EAC2670}"/>
              </a:ext>
            </a:extLst>
          </p:cNvPr>
          <p:cNvSpPr>
            <a:spLocks noGrp="1"/>
          </p:cNvSpPr>
          <p:nvPr>
            <p:ph idx="1"/>
          </p:nvPr>
        </p:nvSpPr>
        <p:spPr/>
        <p:txBody>
          <a:bodyPr>
            <a:normAutofit fontScale="92500" lnSpcReduction="20000"/>
          </a:bodyPr>
          <a:lstStyle/>
          <a:p>
            <a:r>
              <a:rPr lang="en-US" sz="2000" dirty="0"/>
              <a:t>This course adheres to section 20 of the UPEI Academic Calendar section 13: Undergraduate Academic Regulations regarding Academic Integrity </a:t>
            </a:r>
          </a:p>
          <a:p>
            <a:pPr lvl="1"/>
            <a:r>
              <a:rPr lang="en-US" sz="1800" dirty="0">
                <a:hlinkClick r:id="rId2"/>
              </a:rPr>
              <a:t>https://calendar.upei.ca/current/chapter/undergraduate-and-professional-programs-academic-regulations/</a:t>
            </a:r>
            <a:endParaRPr lang="en-US" sz="1800" dirty="0"/>
          </a:p>
          <a:p>
            <a:r>
              <a:rPr lang="en-US" sz="2000" dirty="0"/>
              <a:t>You should read and be familiar with this regulation (and all other undergraduate regulations!)</a:t>
            </a:r>
          </a:p>
          <a:p>
            <a:r>
              <a:rPr lang="en-US" sz="2000" dirty="0"/>
              <a:t>Penalties for Academic Dishonesty</a:t>
            </a:r>
          </a:p>
          <a:p>
            <a:pPr lvl="1"/>
            <a:r>
              <a:rPr lang="en-US" sz="1800" dirty="0"/>
              <a:t>All penalties will be determined on a case-by-case basis </a:t>
            </a:r>
          </a:p>
          <a:p>
            <a:pPr lvl="1"/>
            <a:r>
              <a:rPr lang="en-US" sz="1800" dirty="0"/>
              <a:t>Normally, a first violation is loss of all marks on the component.</a:t>
            </a:r>
          </a:p>
          <a:p>
            <a:pPr lvl="1"/>
            <a:r>
              <a:rPr lang="en-US" sz="1800" dirty="0"/>
              <a:t>Normally, a second violation can lead to a 0 in the course.</a:t>
            </a:r>
          </a:p>
        </p:txBody>
      </p:sp>
    </p:spTree>
    <p:extLst>
      <p:ext uri="{BB962C8B-B14F-4D97-AF65-F5344CB8AC3E}">
        <p14:creationId xmlns:p14="http://schemas.microsoft.com/office/powerpoint/2010/main" val="2323063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D4D6AD-2232-A2C3-450A-3CC853EEF1FB}"/>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Academic Dishonesty</a:t>
            </a:r>
          </a:p>
        </p:txBody>
      </p:sp>
      <p:sp>
        <p:nvSpPr>
          <p:cNvPr id="3" name="Content Placeholder 2">
            <a:extLst>
              <a:ext uri="{FF2B5EF4-FFF2-40B4-BE49-F238E27FC236}">
                <a16:creationId xmlns:a16="http://schemas.microsoft.com/office/drawing/2014/main" id="{59939830-C84C-C998-0BA6-EBC4B658E083}"/>
              </a:ext>
            </a:extLst>
          </p:cNvPr>
          <p:cNvSpPr>
            <a:spLocks noGrp="1"/>
          </p:cNvSpPr>
          <p:nvPr>
            <p:ph idx="1"/>
          </p:nvPr>
        </p:nvSpPr>
        <p:spPr>
          <a:xfrm>
            <a:off x="5591695" y="1402080"/>
            <a:ext cx="5320696" cy="4053840"/>
          </a:xfrm>
        </p:spPr>
        <p:txBody>
          <a:bodyPr anchor="ctr">
            <a:normAutofit lnSpcReduction="10000"/>
          </a:bodyPr>
          <a:lstStyle/>
          <a:p>
            <a:r>
              <a:rPr lang="en-US" sz="2400" dirty="0"/>
              <a:t>Examples of academic dishonesty (a non-exhaustive list)</a:t>
            </a:r>
          </a:p>
          <a:p>
            <a:pPr lvl="1"/>
            <a:r>
              <a:rPr lang="en-US" sz="2000" dirty="0"/>
              <a:t>Copying the work of others on individual assessments (homework or test for example)</a:t>
            </a:r>
          </a:p>
          <a:p>
            <a:pPr lvl="1"/>
            <a:r>
              <a:rPr lang="en-US" sz="2000" dirty="0"/>
              <a:t>Use of Generative AI to answer exam questions</a:t>
            </a:r>
          </a:p>
          <a:p>
            <a:pPr lvl="1"/>
            <a:r>
              <a:rPr lang="en-US" sz="2000" dirty="0"/>
              <a:t>Sharing your solutions to individual assessment questions with others </a:t>
            </a:r>
          </a:p>
          <a:p>
            <a:pPr lvl="1"/>
            <a:r>
              <a:rPr lang="en-US" sz="2000" dirty="0"/>
              <a:t>Impersonating others  </a:t>
            </a:r>
          </a:p>
          <a:p>
            <a:pPr lvl="1"/>
            <a:r>
              <a:rPr lang="en-US" sz="2000" dirty="0"/>
              <a:t>Unauthorized use of electronic or smart devices</a:t>
            </a:r>
          </a:p>
        </p:txBody>
      </p:sp>
    </p:spTree>
    <p:extLst>
      <p:ext uri="{BB962C8B-B14F-4D97-AF65-F5344CB8AC3E}">
        <p14:creationId xmlns:p14="http://schemas.microsoft.com/office/powerpoint/2010/main" val="8773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B17B-643D-0FE6-D145-F8F7D5FFC8CD}"/>
              </a:ext>
            </a:extLst>
          </p:cNvPr>
          <p:cNvSpPr>
            <a:spLocks noGrp="1"/>
          </p:cNvSpPr>
          <p:nvPr>
            <p:ph type="title"/>
          </p:nvPr>
        </p:nvSpPr>
        <p:spPr/>
        <p:txBody>
          <a:bodyPr/>
          <a:lstStyle/>
          <a:p>
            <a:r>
              <a:rPr lang="en-US" dirty="0"/>
              <a:t>Accessibility</a:t>
            </a:r>
          </a:p>
        </p:txBody>
      </p:sp>
      <p:sp>
        <p:nvSpPr>
          <p:cNvPr id="3" name="Content Placeholder 2">
            <a:extLst>
              <a:ext uri="{FF2B5EF4-FFF2-40B4-BE49-F238E27FC236}">
                <a16:creationId xmlns:a16="http://schemas.microsoft.com/office/drawing/2014/main" id="{C4CC7416-BD23-B305-0133-20145A8FEAFA}"/>
              </a:ext>
            </a:extLst>
          </p:cNvPr>
          <p:cNvSpPr>
            <a:spLocks noGrp="1"/>
          </p:cNvSpPr>
          <p:nvPr>
            <p:ph idx="1"/>
          </p:nvPr>
        </p:nvSpPr>
        <p:spPr/>
        <p:txBody>
          <a:bodyPr>
            <a:normAutofit lnSpcReduction="10000"/>
          </a:bodyPr>
          <a:lstStyle/>
          <a:p>
            <a:r>
              <a:rPr lang="en-US" dirty="0"/>
              <a:t>For those students who may require accommodations for portions of the course, it is your responsibility to register with student services </a:t>
            </a:r>
          </a:p>
          <a:p>
            <a:pPr lvl="1"/>
            <a:r>
              <a:rPr lang="en-US" dirty="0"/>
              <a:t>Accessibility services will contact the professor to communicate appropriate accommodations </a:t>
            </a:r>
          </a:p>
          <a:p>
            <a:pPr lvl="1"/>
            <a:r>
              <a:rPr lang="en-US" dirty="0">
                <a:hlinkClick r:id="rId2"/>
              </a:rPr>
              <a:t>https://www.upei.ca/accessibility</a:t>
            </a:r>
            <a:endParaRPr lang="en-US" dirty="0"/>
          </a:p>
          <a:p>
            <a:r>
              <a:rPr lang="en-US" dirty="0"/>
              <a:t>For any aspects of the course – lecture, labs, assignments and tests - please come have a discussion accommodations with us to identify what alternatives will work best for you</a:t>
            </a:r>
          </a:p>
          <a:p>
            <a:r>
              <a:rPr lang="en-US" dirty="0"/>
              <a:t>Both midterms are already in the accommodate system already, and you can register for them right now!</a:t>
            </a:r>
          </a:p>
        </p:txBody>
      </p:sp>
    </p:spTree>
    <p:extLst>
      <p:ext uri="{BB962C8B-B14F-4D97-AF65-F5344CB8AC3E}">
        <p14:creationId xmlns:p14="http://schemas.microsoft.com/office/powerpoint/2010/main" val="2350308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105C-76A1-37BF-4528-D50CD3BA3F59}"/>
              </a:ext>
            </a:extLst>
          </p:cNvPr>
          <p:cNvSpPr>
            <a:spLocks noGrp="1"/>
          </p:cNvSpPr>
          <p:nvPr>
            <p:ph type="title"/>
          </p:nvPr>
        </p:nvSpPr>
        <p:spPr>
          <a:xfrm>
            <a:off x="2231136" y="461109"/>
            <a:ext cx="7729728" cy="1188720"/>
          </a:xfrm>
        </p:spPr>
        <p:txBody>
          <a:bodyPr/>
          <a:lstStyle/>
          <a:p>
            <a:r>
              <a:rPr lang="en-US" dirty="0"/>
              <a:t>Lectures</a:t>
            </a:r>
          </a:p>
        </p:txBody>
      </p:sp>
      <p:sp>
        <p:nvSpPr>
          <p:cNvPr id="3" name="Content Placeholder 2">
            <a:extLst>
              <a:ext uri="{FF2B5EF4-FFF2-40B4-BE49-F238E27FC236}">
                <a16:creationId xmlns:a16="http://schemas.microsoft.com/office/drawing/2014/main" id="{A417A8D7-6C6A-2333-A0E1-E0BC0AE05BE7}"/>
              </a:ext>
            </a:extLst>
          </p:cNvPr>
          <p:cNvSpPr>
            <a:spLocks noGrp="1"/>
          </p:cNvSpPr>
          <p:nvPr>
            <p:ph idx="1"/>
          </p:nvPr>
        </p:nvSpPr>
        <p:spPr>
          <a:xfrm>
            <a:off x="2231136" y="2054948"/>
            <a:ext cx="7729728" cy="4049835"/>
          </a:xfrm>
        </p:spPr>
        <p:txBody>
          <a:bodyPr>
            <a:normAutofit/>
          </a:bodyPr>
          <a:lstStyle/>
          <a:p>
            <a:r>
              <a:rPr lang="en-US" sz="2000" dirty="0"/>
              <a:t>Attendance and Participation are expected</a:t>
            </a:r>
          </a:p>
          <a:p>
            <a:pPr lvl="1"/>
            <a:r>
              <a:rPr lang="en-US" sz="1800" dirty="0"/>
              <a:t>Participation is part of final grade</a:t>
            </a:r>
          </a:p>
          <a:p>
            <a:r>
              <a:rPr lang="en-US" sz="2000" dirty="0"/>
              <a:t>Slides posted to Moodle</a:t>
            </a:r>
          </a:p>
          <a:p>
            <a:r>
              <a:rPr lang="en-US" sz="2000" dirty="0"/>
              <a:t>Even if you miss a lecture you are expected to learn the material by consulting colleagues and reading slides</a:t>
            </a:r>
          </a:p>
          <a:p>
            <a:r>
              <a:rPr lang="en-US" sz="2000" dirty="0"/>
              <a:t>Last slides typically contain try at home suggestions </a:t>
            </a:r>
          </a:p>
          <a:p>
            <a:pPr lvl="1"/>
            <a:r>
              <a:rPr lang="en-US" sz="1800" dirty="0"/>
              <a:t>Not graded but often similar to exam questions</a:t>
            </a:r>
          </a:p>
          <a:p>
            <a:pPr lvl="1"/>
            <a:r>
              <a:rPr lang="en-US" sz="1800" dirty="0"/>
              <a:t>Come prepared to ask about them during the next class </a:t>
            </a:r>
          </a:p>
          <a:p>
            <a:pPr lvl="1"/>
            <a:r>
              <a:rPr lang="en-US" sz="1800" b="1" dirty="0"/>
              <a:t>Solutions are not pre-emptively posted</a:t>
            </a:r>
          </a:p>
          <a:p>
            <a:pPr lvl="2"/>
            <a:r>
              <a:rPr lang="en-US" sz="1800" dirty="0"/>
              <a:t>Designed to help you keep pace not as a cram session for midterms</a:t>
            </a:r>
          </a:p>
        </p:txBody>
      </p:sp>
    </p:spTree>
    <p:extLst>
      <p:ext uri="{BB962C8B-B14F-4D97-AF65-F5344CB8AC3E}">
        <p14:creationId xmlns:p14="http://schemas.microsoft.com/office/powerpoint/2010/main" val="32573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DD87FE-2D3A-86AE-D726-27AA4CC18B2C}"/>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100">
                <a:solidFill>
                  <a:srgbClr val="FFFFFF"/>
                </a:solidFill>
              </a:rPr>
              <a:t>Participation</a:t>
            </a:r>
          </a:p>
        </p:txBody>
      </p:sp>
      <p:sp>
        <p:nvSpPr>
          <p:cNvPr id="3" name="Content Placeholder 2">
            <a:extLst>
              <a:ext uri="{FF2B5EF4-FFF2-40B4-BE49-F238E27FC236}">
                <a16:creationId xmlns:a16="http://schemas.microsoft.com/office/drawing/2014/main" id="{00E17D8D-C162-C1A0-E345-86231FD6D889}"/>
              </a:ext>
            </a:extLst>
          </p:cNvPr>
          <p:cNvSpPr>
            <a:spLocks noGrp="1"/>
          </p:cNvSpPr>
          <p:nvPr>
            <p:ph idx="1"/>
          </p:nvPr>
        </p:nvSpPr>
        <p:spPr>
          <a:xfrm>
            <a:off x="5232805" y="485078"/>
            <a:ext cx="5320696" cy="5887844"/>
          </a:xfrm>
        </p:spPr>
        <p:txBody>
          <a:bodyPr anchor="ctr">
            <a:normAutofit/>
          </a:bodyPr>
          <a:lstStyle/>
          <a:p>
            <a:pPr>
              <a:lnSpc>
                <a:spcPct val="90000"/>
              </a:lnSpc>
            </a:pPr>
            <a:r>
              <a:rPr lang="en-US" dirty="0"/>
              <a:t>Most classes will have a brief pause to fill out a participation link.  Please ensure you have an internet capable device in class.</a:t>
            </a:r>
            <a:endParaRPr lang="en-US" sz="1800" dirty="0"/>
          </a:p>
          <a:p>
            <a:pPr>
              <a:lnSpc>
                <a:spcPct val="90000"/>
              </a:lnSpc>
            </a:pPr>
            <a:r>
              <a:rPr lang="en-US" sz="2000" dirty="0"/>
              <a:t>These are as much about you checking your own knowledge as me knowing where the class is in their knowledge of a topic</a:t>
            </a:r>
          </a:p>
          <a:p>
            <a:pPr lvl="1">
              <a:lnSpc>
                <a:spcPct val="90000"/>
              </a:lnSpc>
            </a:pPr>
            <a:r>
              <a:rPr lang="en-US" sz="1800" dirty="0"/>
              <a:t>5% of final grade is in-class participation</a:t>
            </a:r>
          </a:p>
          <a:p>
            <a:pPr lvl="1">
              <a:lnSpc>
                <a:spcPct val="90000"/>
              </a:lnSpc>
            </a:pPr>
            <a:r>
              <a:rPr lang="en-US" sz="1800" dirty="0"/>
              <a:t>If you participate in 75% of the opportunities you receive full marks for participation, otherwise your grade is the amount you participated in divided by 75% of the total opportunities (then scaled out of 4)</a:t>
            </a:r>
          </a:p>
          <a:p>
            <a:pPr lvl="1">
              <a:lnSpc>
                <a:spcPct val="90000"/>
              </a:lnSpc>
            </a:pPr>
            <a:r>
              <a:rPr lang="en-US" sz="1800" dirty="0"/>
              <a:t>Example: There are 20 opportunities, 15 would mean full marks. If you participated in 12 of those opportunities. your participation grade would be 3.2/4.</a:t>
            </a:r>
          </a:p>
        </p:txBody>
      </p:sp>
    </p:spTree>
    <p:extLst>
      <p:ext uri="{BB962C8B-B14F-4D97-AF65-F5344CB8AC3E}">
        <p14:creationId xmlns:p14="http://schemas.microsoft.com/office/powerpoint/2010/main" val="161095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530D2-4A22-E765-C4B5-02702962B6D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100">
                <a:solidFill>
                  <a:srgbClr val="FFFFFF"/>
                </a:solidFill>
              </a:rPr>
              <a:t>Participation FAQ</a:t>
            </a:r>
          </a:p>
        </p:txBody>
      </p:sp>
      <p:sp>
        <p:nvSpPr>
          <p:cNvPr id="3" name="Content Placeholder 2">
            <a:extLst>
              <a:ext uri="{FF2B5EF4-FFF2-40B4-BE49-F238E27FC236}">
                <a16:creationId xmlns:a16="http://schemas.microsoft.com/office/drawing/2014/main" id="{E4A3EA21-119E-714F-295E-AEB2DA532917}"/>
              </a:ext>
            </a:extLst>
          </p:cNvPr>
          <p:cNvSpPr>
            <a:spLocks noGrp="1"/>
          </p:cNvSpPr>
          <p:nvPr>
            <p:ph idx="1"/>
          </p:nvPr>
        </p:nvSpPr>
        <p:spPr>
          <a:xfrm>
            <a:off x="5591694" y="0"/>
            <a:ext cx="6600305" cy="6858000"/>
          </a:xfrm>
        </p:spPr>
        <p:txBody>
          <a:bodyPr anchor="ctr">
            <a:normAutofit/>
          </a:bodyPr>
          <a:lstStyle/>
          <a:p>
            <a:pPr>
              <a:lnSpc>
                <a:spcPct val="90000"/>
              </a:lnSpc>
            </a:pPr>
            <a:r>
              <a:rPr lang="en-US" dirty="0"/>
              <a:t>Do I have to be present in the classroom to participate? </a:t>
            </a:r>
          </a:p>
          <a:p>
            <a:pPr lvl="1">
              <a:lnSpc>
                <a:spcPct val="90000"/>
              </a:lnSpc>
            </a:pPr>
            <a:r>
              <a:rPr lang="en-US" sz="1800" dirty="0">
                <a:solidFill>
                  <a:srgbClr val="0070C0"/>
                </a:solidFill>
              </a:rPr>
              <a:t>No, anyone completing the interaction from their Moodle account will receive credit</a:t>
            </a:r>
          </a:p>
          <a:p>
            <a:pPr>
              <a:lnSpc>
                <a:spcPct val="90000"/>
              </a:lnSpc>
            </a:pPr>
            <a:r>
              <a:rPr lang="en-US" dirty="0"/>
              <a:t>Can I participate multiple times for a single interaction opportunity</a:t>
            </a:r>
          </a:p>
          <a:p>
            <a:pPr lvl="1">
              <a:lnSpc>
                <a:spcPct val="90000"/>
              </a:lnSpc>
            </a:pPr>
            <a:r>
              <a:rPr lang="en-US" sz="1800" dirty="0">
                <a:solidFill>
                  <a:srgbClr val="0070C0"/>
                </a:solidFill>
              </a:rPr>
              <a:t>It will only count as participating in one class</a:t>
            </a:r>
          </a:p>
          <a:p>
            <a:pPr>
              <a:lnSpc>
                <a:spcPct val="90000"/>
              </a:lnSpc>
            </a:pPr>
            <a:r>
              <a:rPr lang="en-US" dirty="0"/>
              <a:t>Why have class participation if I can sit at home and refresh my browser for hours waiting for the link to become live and never actually be present in class thus winning the course?</a:t>
            </a:r>
          </a:p>
          <a:p>
            <a:pPr lvl="1">
              <a:lnSpc>
                <a:spcPct val="90000"/>
              </a:lnSpc>
            </a:pPr>
            <a:r>
              <a:rPr lang="en-US" sz="1800" dirty="0">
                <a:solidFill>
                  <a:srgbClr val="0070C0"/>
                </a:solidFill>
              </a:rPr>
              <a:t>One of the goals of the course is to help build a network of colleagues, and have engaging lectures, most people will show up and participate thus contributing to everyone’s experience</a:t>
            </a:r>
          </a:p>
          <a:p>
            <a:pPr lvl="1">
              <a:lnSpc>
                <a:spcPct val="90000"/>
              </a:lnSpc>
            </a:pPr>
            <a:r>
              <a:rPr lang="en-US" sz="1800" dirty="0">
                <a:solidFill>
                  <a:srgbClr val="0070C0"/>
                </a:solidFill>
              </a:rPr>
              <a:t>It helps me know what content needs more explanation or examples to help the class fill in the gaps.</a:t>
            </a:r>
          </a:p>
          <a:p>
            <a:pPr>
              <a:lnSpc>
                <a:spcPct val="90000"/>
              </a:lnSpc>
            </a:pPr>
            <a:r>
              <a:rPr lang="en-US" dirty="0"/>
              <a:t>What if I miss a class, can I be excused from participation? </a:t>
            </a:r>
          </a:p>
          <a:p>
            <a:pPr lvl="1">
              <a:lnSpc>
                <a:spcPct val="90000"/>
              </a:lnSpc>
            </a:pPr>
            <a:r>
              <a:rPr lang="en-US" sz="1800" dirty="0">
                <a:solidFill>
                  <a:srgbClr val="0070C0"/>
                </a:solidFill>
              </a:rPr>
              <a:t>Everyone is excused from 25% of the participation grades, if you miss more than 25% of the participation opportunities you will not receive a100% grade for participating</a:t>
            </a:r>
          </a:p>
          <a:p>
            <a:pPr lvl="1">
              <a:lnSpc>
                <a:spcPct val="90000"/>
              </a:lnSpc>
            </a:pPr>
            <a:r>
              <a:rPr lang="en-US" sz="1800" dirty="0">
                <a:solidFill>
                  <a:srgbClr val="0070C0"/>
                </a:solidFill>
              </a:rPr>
              <a:t>If you have an issue that precludes you from more than 25% of the course please speak to the me</a:t>
            </a:r>
          </a:p>
        </p:txBody>
      </p:sp>
    </p:spTree>
    <p:extLst>
      <p:ext uri="{BB962C8B-B14F-4D97-AF65-F5344CB8AC3E}">
        <p14:creationId xmlns:p14="http://schemas.microsoft.com/office/powerpoint/2010/main" val="270349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08A1-7D49-AD71-83F0-33A9CF74BAD7}"/>
              </a:ext>
            </a:extLst>
          </p:cNvPr>
          <p:cNvSpPr>
            <a:spLocks noGrp="1"/>
          </p:cNvSpPr>
          <p:nvPr>
            <p:ph type="title"/>
          </p:nvPr>
        </p:nvSpPr>
        <p:spPr/>
        <p:txBody>
          <a:bodyPr/>
          <a:lstStyle/>
          <a:p>
            <a:r>
              <a:rPr lang="en-US" dirty="0"/>
              <a:t>Labs</a:t>
            </a:r>
          </a:p>
        </p:txBody>
      </p:sp>
      <p:sp>
        <p:nvSpPr>
          <p:cNvPr id="3" name="Content Placeholder 2">
            <a:extLst>
              <a:ext uri="{FF2B5EF4-FFF2-40B4-BE49-F238E27FC236}">
                <a16:creationId xmlns:a16="http://schemas.microsoft.com/office/drawing/2014/main" id="{FD7D5F8A-DD3A-959F-90B5-E87FD1DDA2D5}"/>
              </a:ext>
            </a:extLst>
          </p:cNvPr>
          <p:cNvSpPr>
            <a:spLocks noGrp="1"/>
          </p:cNvSpPr>
          <p:nvPr>
            <p:ph idx="1"/>
          </p:nvPr>
        </p:nvSpPr>
        <p:spPr>
          <a:xfrm>
            <a:off x="2231136" y="2638044"/>
            <a:ext cx="7729728" cy="3688111"/>
          </a:xfrm>
        </p:spPr>
        <p:txBody>
          <a:bodyPr>
            <a:normAutofit fontScale="85000" lnSpcReduction="20000"/>
          </a:bodyPr>
          <a:lstStyle/>
          <a:p>
            <a:r>
              <a:rPr lang="en-US" dirty="0"/>
              <a:t>Mandatory Attendance starting the week of September 14, 2026</a:t>
            </a:r>
          </a:p>
          <a:p>
            <a:r>
              <a:rPr lang="en-US" dirty="0"/>
              <a:t>Google </a:t>
            </a:r>
            <a:r>
              <a:rPr lang="en-US" dirty="0" err="1"/>
              <a:t>Colab</a:t>
            </a:r>
            <a:r>
              <a:rPr lang="en-US" dirty="0"/>
              <a:t> notebook – workbook style</a:t>
            </a:r>
          </a:p>
          <a:p>
            <a:pPr lvl="1"/>
            <a:r>
              <a:rPr lang="en-US" dirty="0"/>
              <a:t>Bottom up learning of coding practices</a:t>
            </a:r>
          </a:p>
          <a:p>
            <a:pPr lvl="1"/>
            <a:r>
              <a:rPr lang="en-US" dirty="0"/>
              <a:t>Answer questions together with a partner</a:t>
            </a:r>
          </a:p>
          <a:p>
            <a:pPr lvl="1"/>
            <a:r>
              <a:rPr lang="en-US" dirty="0"/>
              <a:t>Pair coding to develop skills and help each other out</a:t>
            </a:r>
          </a:p>
          <a:p>
            <a:pPr lvl="1"/>
            <a:r>
              <a:rPr lang="en-US" dirty="0"/>
              <a:t>Practice our skills in a safe environment that has low risk</a:t>
            </a:r>
          </a:p>
          <a:p>
            <a:r>
              <a:rPr lang="en-US" dirty="0"/>
              <a:t>Labs are worth 12% of total grade</a:t>
            </a:r>
          </a:p>
          <a:p>
            <a:pPr lvl="1"/>
            <a:r>
              <a:rPr lang="en-US" dirty="0"/>
              <a:t>8-9 Labs starting in Week 2</a:t>
            </a:r>
          </a:p>
          <a:p>
            <a:pPr lvl="1"/>
            <a:r>
              <a:rPr lang="en-US" dirty="0"/>
              <a:t>Attend and participate in the lab = 2 point</a:t>
            </a:r>
          </a:p>
          <a:p>
            <a:pPr lvl="1"/>
            <a:r>
              <a:rPr lang="en-US" dirty="0"/>
              <a:t>Lab grade is out of 12 </a:t>
            </a:r>
          </a:p>
          <a:p>
            <a:pPr lvl="1"/>
            <a:r>
              <a:rPr lang="en-US" dirty="0"/>
              <a:t>Grading is based on participation</a:t>
            </a:r>
          </a:p>
          <a:p>
            <a:pPr lvl="1"/>
            <a:r>
              <a:rPr lang="en-US" dirty="0"/>
              <a:t>Attend and participate in 6 labs = earn 12/12 = 12% of final grade</a:t>
            </a:r>
          </a:p>
          <a:p>
            <a:pPr lvl="1"/>
            <a:endParaRPr lang="en-US" dirty="0"/>
          </a:p>
        </p:txBody>
      </p:sp>
    </p:spTree>
    <p:extLst>
      <p:ext uri="{BB962C8B-B14F-4D97-AF65-F5344CB8AC3E}">
        <p14:creationId xmlns:p14="http://schemas.microsoft.com/office/powerpoint/2010/main" val="1199974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3A7D-E92A-3FB7-68FF-EFA92EF5A78C}"/>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F7AB469B-3607-8B18-0F17-07550545EF02}"/>
              </a:ext>
            </a:extLst>
          </p:cNvPr>
          <p:cNvSpPr>
            <a:spLocks noGrp="1"/>
          </p:cNvSpPr>
          <p:nvPr>
            <p:ph idx="1"/>
          </p:nvPr>
        </p:nvSpPr>
        <p:spPr/>
        <p:txBody>
          <a:bodyPr>
            <a:normAutofit fontScale="92500" lnSpcReduction="20000"/>
          </a:bodyPr>
          <a:lstStyle/>
          <a:p>
            <a:r>
              <a:rPr lang="en-US" dirty="0"/>
              <a:t>Many weeks there will be a homework assignment that is intended to be independent work</a:t>
            </a:r>
          </a:p>
          <a:p>
            <a:r>
              <a:rPr lang="en-US" dirty="0"/>
              <a:t>Completed through Google </a:t>
            </a:r>
            <a:r>
              <a:rPr lang="en-US" dirty="0" err="1"/>
              <a:t>Colab</a:t>
            </a:r>
            <a:r>
              <a:rPr lang="en-US" dirty="0"/>
              <a:t> </a:t>
            </a:r>
          </a:p>
          <a:p>
            <a:r>
              <a:rPr lang="en-US" dirty="0"/>
              <a:t>Submitted on Moodle</a:t>
            </a:r>
          </a:p>
          <a:p>
            <a:pPr lvl="1"/>
            <a:r>
              <a:rPr lang="en-US" dirty="0"/>
              <a:t>Save your completed notebook to drive and then upload to Moodle</a:t>
            </a:r>
          </a:p>
          <a:p>
            <a:r>
              <a:rPr lang="en-US" dirty="0"/>
              <a:t>Due before Friday of the next week before 5pm</a:t>
            </a:r>
          </a:p>
          <a:p>
            <a:r>
              <a:rPr lang="en-US" dirty="0"/>
              <a:t>These assignments help you integrate the top-down knowledge you are gaining in lecture with the bottom-up skills you gain in your lab and personal practice.</a:t>
            </a:r>
          </a:p>
          <a:p>
            <a:r>
              <a:rPr lang="en-US" dirty="0"/>
              <a:t>A first homework will be released this week to help you get used to the way we do these assignments and help you through any issues.</a:t>
            </a:r>
          </a:p>
        </p:txBody>
      </p:sp>
    </p:spTree>
    <p:extLst>
      <p:ext uri="{BB962C8B-B14F-4D97-AF65-F5344CB8AC3E}">
        <p14:creationId xmlns:p14="http://schemas.microsoft.com/office/powerpoint/2010/main" val="3254469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A232-EE02-AD51-FC45-40209A9689FF}"/>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8CA2D9C7-3DF5-AF96-6EF4-B9E04A803ABD}"/>
              </a:ext>
            </a:extLst>
          </p:cNvPr>
          <p:cNvSpPr>
            <a:spLocks noGrp="1"/>
          </p:cNvSpPr>
          <p:nvPr>
            <p:ph idx="1"/>
          </p:nvPr>
        </p:nvSpPr>
        <p:spPr>
          <a:xfrm>
            <a:off x="2231136" y="2638044"/>
            <a:ext cx="4588117" cy="3101983"/>
          </a:xfrm>
        </p:spPr>
        <p:txBody>
          <a:bodyPr>
            <a:normAutofit fontScale="92500" lnSpcReduction="10000"/>
          </a:bodyPr>
          <a:lstStyle/>
          <a:p>
            <a:pPr marL="0" indent="0">
              <a:buNone/>
            </a:pPr>
            <a:r>
              <a:rPr lang="en-US" u="sng" dirty="0"/>
              <a:t>Programming Tools</a:t>
            </a:r>
          </a:p>
          <a:p>
            <a:r>
              <a:rPr lang="en-US" dirty="0"/>
              <a:t>Google </a:t>
            </a:r>
            <a:r>
              <a:rPr lang="en-US" dirty="0" err="1"/>
              <a:t>Colab</a:t>
            </a:r>
            <a:r>
              <a:rPr lang="en-US" dirty="0"/>
              <a:t> / </a:t>
            </a:r>
            <a:r>
              <a:rPr lang="en-US" dirty="0" err="1"/>
              <a:t>Jupyter</a:t>
            </a:r>
            <a:r>
              <a:rPr lang="en-US" dirty="0"/>
              <a:t> Notebook</a:t>
            </a:r>
          </a:p>
          <a:p>
            <a:pPr lvl="1"/>
            <a:r>
              <a:rPr lang="en-US" dirty="0"/>
              <a:t>Browser based coding environment</a:t>
            </a:r>
          </a:p>
          <a:p>
            <a:r>
              <a:rPr lang="en-US" dirty="0"/>
              <a:t>Python 3</a:t>
            </a:r>
          </a:p>
          <a:p>
            <a:r>
              <a:rPr lang="en-US" dirty="0"/>
              <a:t>Google Drive</a:t>
            </a:r>
          </a:p>
          <a:p>
            <a:r>
              <a:rPr lang="en-US" dirty="0"/>
              <a:t>Moodle</a:t>
            </a:r>
          </a:p>
          <a:p>
            <a:r>
              <a:rPr lang="en-US" dirty="0"/>
              <a:t>Please bring an internet capable device to class</a:t>
            </a:r>
          </a:p>
          <a:p>
            <a:r>
              <a:rPr lang="en-US" dirty="0"/>
              <a:t>No installs or special computer equipment required</a:t>
            </a:r>
          </a:p>
          <a:p>
            <a:endParaRPr lang="en-US" dirty="0"/>
          </a:p>
          <a:p>
            <a:endParaRPr lang="en-US" dirty="0"/>
          </a:p>
        </p:txBody>
      </p:sp>
      <p:sp>
        <p:nvSpPr>
          <p:cNvPr id="4" name="TextBox 3">
            <a:extLst>
              <a:ext uri="{FF2B5EF4-FFF2-40B4-BE49-F238E27FC236}">
                <a16:creationId xmlns:a16="http://schemas.microsoft.com/office/drawing/2014/main" id="{554063F2-FF0F-C635-8B1A-4D43EDBC2D26}"/>
              </a:ext>
            </a:extLst>
          </p:cNvPr>
          <p:cNvSpPr txBox="1"/>
          <p:nvPr/>
        </p:nvSpPr>
        <p:spPr>
          <a:xfrm>
            <a:off x="6819253" y="2625878"/>
            <a:ext cx="5005953" cy="2031325"/>
          </a:xfrm>
          <a:prstGeom prst="rect">
            <a:avLst/>
          </a:prstGeom>
          <a:noFill/>
        </p:spPr>
        <p:txBody>
          <a:bodyPr wrap="square" rtlCol="0">
            <a:spAutoFit/>
          </a:bodyPr>
          <a:lstStyle/>
          <a:p>
            <a:r>
              <a:rPr lang="en-US" u="sng" dirty="0"/>
              <a:t>Textbook</a:t>
            </a:r>
          </a:p>
          <a:p>
            <a:endParaRPr lang="en-US" u="sng" dirty="0"/>
          </a:p>
          <a:p>
            <a:r>
              <a:rPr lang="en-CA" dirty="0"/>
              <a:t>CS1910 — Computer Science 1 2nd Edition</a:t>
            </a:r>
          </a:p>
          <a:p>
            <a:pPr marL="285750" indent="-285750">
              <a:buFont typeface="Arial" panose="020B0604020202020204" pitchFamily="34" charset="0"/>
              <a:buChar char="•"/>
            </a:pPr>
            <a:r>
              <a:rPr lang="en-CA" dirty="0"/>
              <a:t>Course topics roughly align with the textbook</a:t>
            </a:r>
          </a:p>
          <a:p>
            <a:pPr marL="285750" indent="-285750">
              <a:buFont typeface="Arial" panose="020B0604020202020204" pitchFamily="34" charset="0"/>
              <a:buChar char="•"/>
            </a:pPr>
            <a:r>
              <a:rPr lang="en-CA" dirty="0"/>
              <a:t>Course has evolved since the book was written and so we will not go entirely in the same order</a:t>
            </a:r>
          </a:p>
          <a:p>
            <a:endParaRPr lang="en-US" u="sng" dirty="0"/>
          </a:p>
        </p:txBody>
      </p:sp>
    </p:spTree>
    <p:extLst>
      <p:ext uri="{BB962C8B-B14F-4D97-AF65-F5344CB8AC3E}">
        <p14:creationId xmlns:p14="http://schemas.microsoft.com/office/powerpoint/2010/main" val="1594077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4285E1-2267-8374-E851-03A5C230F633}"/>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How to be successful</a:t>
            </a:r>
          </a:p>
        </p:txBody>
      </p:sp>
      <p:sp>
        <p:nvSpPr>
          <p:cNvPr id="3" name="Content Placeholder 2">
            <a:extLst>
              <a:ext uri="{FF2B5EF4-FFF2-40B4-BE49-F238E27FC236}">
                <a16:creationId xmlns:a16="http://schemas.microsoft.com/office/drawing/2014/main" id="{97620C49-AAB1-71E2-AE8D-1EEBBBFE9DB3}"/>
              </a:ext>
            </a:extLst>
          </p:cNvPr>
          <p:cNvSpPr>
            <a:spLocks noGrp="1"/>
          </p:cNvSpPr>
          <p:nvPr>
            <p:ph idx="1"/>
          </p:nvPr>
        </p:nvSpPr>
        <p:spPr>
          <a:xfrm>
            <a:off x="5232805" y="409074"/>
            <a:ext cx="6341574" cy="6051884"/>
          </a:xfrm>
        </p:spPr>
        <p:txBody>
          <a:bodyPr anchor="ctr">
            <a:normAutofit lnSpcReduction="10000"/>
          </a:bodyPr>
          <a:lstStyle/>
          <a:p>
            <a:pPr>
              <a:lnSpc>
                <a:spcPct val="90000"/>
              </a:lnSpc>
            </a:pPr>
            <a:r>
              <a:rPr lang="en-US" sz="2000" dirty="0"/>
              <a:t>A portion of the assessment for the course will involve programming</a:t>
            </a:r>
          </a:p>
          <a:p>
            <a:pPr lvl="1">
              <a:lnSpc>
                <a:spcPct val="90000"/>
              </a:lnSpc>
            </a:pPr>
            <a:r>
              <a:rPr lang="en-US" sz="2000" dirty="0"/>
              <a:t>You will be asked to implement solutions to questions you have never seen before</a:t>
            </a:r>
          </a:p>
          <a:p>
            <a:pPr>
              <a:lnSpc>
                <a:spcPct val="90000"/>
              </a:lnSpc>
            </a:pPr>
            <a:r>
              <a:rPr lang="en-US" sz="2000" dirty="0"/>
              <a:t>Start today – keep pace with the course</a:t>
            </a:r>
          </a:p>
          <a:p>
            <a:pPr lvl="1">
              <a:lnSpc>
                <a:spcPct val="90000"/>
              </a:lnSpc>
            </a:pPr>
            <a:r>
              <a:rPr lang="en-US" sz="2000" dirty="0"/>
              <a:t>Decompose a problem, write some code, recognize patterns in problem solving, abstract details</a:t>
            </a:r>
          </a:p>
          <a:p>
            <a:pPr>
              <a:lnSpc>
                <a:spcPct val="90000"/>
              </a:lnSpc>
            </a:pPr>
            <a:r>
              <a:rPr lang="en-US" sz="2000" dirty="0"/>
              <a:t>Practice daily ~ 20 minutes of coding </a:t>
            </a:r>
          </a:p>
          <a:p>
            <a:pPr>
              <a:lnSpc>
                <a:spcPct val="90000"/>
              </a:lnSpc>
            </a:pPr>
            <a:r>
              <a:rPr lang="en-US" sz="2400" b="1" dirty="0">
                <a:solidFill>
                  <a:srgbClr val="0070C0"/>
                </a:solidFill>
              </a:rPr>
              <a:t>Don’t bypass the learning</a:t>
            </a:r>
          </a:p>
          <a:p>
            <a:pPr lvl="2">
              <a:lnSpc>
                <a:spcPct val="90000"/>
              </a:lnSpc>
            </a:pPr>
            <a:r>
              <a:rPr lang="en-US" sz="2000" dirty="0"/>
              <a:t>GenAI can assist with many aspects of the course (or help you bypass the learning)</a:t>
            </a:r>
          </a:p>
          <a:p>
            <a:pPr lvl="2">
              <a:lnSpc>
                <a:spcPct val="90000"/>
              </a:lnSpc>
            </a:pPr>
            <a:r>
              <a:rPr lang="en-US" sz="2000" dirty="0"/>
              <a:t>Don’t put yourself on the stress treadmill by bypassing learning </a:t>
            </a:r>
          </a:p>
          <a:p>
            <a:pPr lvl="2">
              <a:lnSpc>
                <a:spcPct val="90000"/>
              </a:lnSpc>
            </a:pPr>
            <a:r>
              <a:rPr lang="en-US" sz="2000" dirty="0"/>
              <a:t>Very hard to unsee solutions and subsequently focus on the process</a:t>
            </a:r>
          </a:p>
          <a:p>
            <a:pPr>
              <a:lnSpc>
                <a:spcPct val="90000"/>
              </a:lnSpc>
            </a:pPr>
            <a:r>
              <a:rPr lang="en-US" sz="2400" dirty="0"/>
              <a:t>Everyone can score a high mark in CS 1910</a:t>
            </a:r>
          </a:p>
          <a:p>
            <a:pPr lvl="1">
              <a:lnSpc>
                <a:spcPct val="90000"/>
              </a:lnSpc>
            </a:pPr>
            <a:r>
              <a:rPr lang="en-US" sz="2000" dirty="0"/>
              <a:t>It comes down to approach, attitude and practice</a:t>
            </a:r>
          </a:p>
        </p:txBody>
      </p:sp>
    </p:spTree>
    <p:extLst>
      <p:ext uri="{BB962C8B-B14F-4D97-AF65-F5344CB8AC3E}">
        <p14:creationId xmlns:p14="http://schemas.microsoft.com/office/powerpoint/2010/main" val="137498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525E-7143-75C7-C0F3-95618C8DF546}"/>
              </a:ext>
            </a:extLst>
          </p:cNvPr>
          <p:cNvSpPr>
            <a:spLocks noGrp="1"/>
          </p:cNvSpPr>
          <p:nvPr>
            <p:ph type="title"/>
          </p:nvPr>
        </p:nvSpPr>
        <p:spPr>
          <a:xfrm>
            <a:off x="2231136" y="218455"/>
            <a:ext cx="7729728" cy="1188720"/>
          </a:xfrm>
        </p:spPr>
        <p:txBody>
          <a:bodyPr/>
          <a:lstStyle/>
          <a:p>
            <a:r>
              <a:rPr lang="en-US" dirty="0"/>
              <a:t>IS CS 1910 Easy or Hard?</a:t>
            </a:r>
          </a:p>
        </p:txBody>
      </p:sp>
      <p:sp>
        <p:nvSpPr>
          <p:cNvPr id="3" name="Content Placeholder 2">
            <a:extLst>
              <a:ext uri="{FF2B5EF4-FFF2-40B4-BE49-F238E27FC236}">
                <a16:creationId xmlns:a16="http://schemas.microsoft.com/office/drawing/2014/main" id="{20D9B00B-019B-C95E-7DEA-A9A8485A4955}"/>
              </a:ext>
            </a:extLst>
          </p:cNvPr>
          <p:cNvSpPr>
            <a:spLocks noGrp="1"/>
          </p:cNvSpPr>
          <p:nvPr>
            <p:ph idx="1"/>
          </p:nvPr>
        </p:nvSpPr>
        <p:spPr>
          <a:xfrm>
            <a:off x="1481015" y="1828896"/>
            <a:ext cx="8479849" cy="4810649"/>
          </a:xfrm>
        </p:spPr>
        <p:txBody>
          <a:bodyPr/>
          <a:lstStyle/>
          <a:p>
            <a:r>
              <a:rPr lang="en-US" dirty="0"/>
              <a:t>Neither?!?!</a:t>
            </a:r>
          </a:p>
          <a:p>
            <a:r>
              <a:rPr lang="en-US" dirty="0"/>
              <a:t>Computer Programming has several hurdles </a:t>
            </a:r>
          </a:p>
          <a:p>
            <a:pPr lvl="1"/>
            <a:r>
              <a:rPr lang="en-US" dirty="0"/>
              <a:t>This can de-motivate students</a:t>
            </a:r>
          </a:p>
          <a:p>
            <a:r>
              <a:rPr lang="en-US" dirty="0"/>
              <a:t>Students in upper years point out “how easy” the 1910 work is</a:t>
            </a:r>
          </a:p>
          <a:p>
            <a:pPr lvl="1"/>
            <a:r>
              <a:rPr lang="en-US" dirty="0"/>
              <a:t>Towards the end of the term you too will look back at the early topics and believe them to be simple</a:t>
            </a:r>
          </a:p>
          <a:p>
            <a:pPr lvl="1"/>
            <a:r>
              <a:rPr lang="en-US" dirty="0"/>
              <a:t>All of us have faced similar challenges when we first encountered computer programming</a:t>
            </a:r>
          </a:p>
          <a:p>
            <a:r>
              <a:rPr lang="en-US" dirty="0"/>
              <a:t>Practice makes progress</a:t>
            </a:r>
          </a:p>
          <a:p>
            <a:pPr lvl="1"/>
            <a:r>
              <a:rPr lang="en-US" dirty="0"/>
              <a:t>Focus on the journey </a:t>
            </a:r>
          </a:p>
          <a:p>
            <a:pPr lvl="1"/>
            <a:r>
              <a:rPr lang="en-US" dirty="0"/>
              <a:t>If you practice your skills regularly you should find success in this course</a:t>
            </a:r>
          </a:p>
          <a:p>
            <a:r>
              <a:rPr lang="en-US" dirty="0"/>
              <a:t>Hard to make up time in CS 1910 – cramming isn’t as effective as in courses where memorization or common sense make up large portions of the grade</a:t>
            </a:r>
          </a:p>
          <a:p>
            <a:pPr lvl="1"/>
            <a:r>
              <a:rPr lang="en-US" dirty="0"/>
              <a:t>Time management and consistency are challenges </a:t>
            </a:r>
          </a:p>
        </p:txBody>
      </p:sp>
      <p:cxnSp>
        <p:nvCxnSpPr>
          <p:cNvPr id="5" name="Straight Arrow Connector 4">
            <a:extLst>
              <a:ext uri="{FF2B5EF4-FFF2-40B4-BE49-F238E27FC236}">
                <a16:creationId xmlns:a16="http://schemas.microsoft.com/office/drawing/2014/main" id="{3EE4FB30-B25D-9F20-5B87-2C955FC70903}"/>
              </a:ext>
            </a:extLst>
          </p:cNvPr>
          <p:cNvCxnSpPr>
            <a:cxnSpLocks/>
          </p:cNvCxnSpPr>
          <p:nvPr/>
        </p:nvCxnSpPr>
        <p:spPr>
          <a:xfrm flipH="1">
            <a:off x="6096000" y="2171881"/>
            <a:ext cx="1616149" cy="180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987BD7F-D611-094A-BF00-DF787A279247}"/>
              </a:ext>
            </a:extLst>
          </p:cNvPr>
          <p:cNvSpPr txBox="1"/>
          <p:nvPr/>
        </p:nvSpPr>
        <p:spPr>
          <a:xfrm>
            <a:off x="8029247" y="1684731"/>
            <a:ext cx="3863234" cy="1754326"/>
          </a:xfrm>
          <a:prstGeom prst="rect">
            <a:avLst/>
          </a:prstGeom>
          <a:noFill/>
          <a:ln>
            <a:solidFill>
              <a:schemeClr val="accent1"/>
            </a:solidFill>
          </a:ln>
        </p:spPr>
        <p:txBody>
          <a:bodyPr wrap="square" rtlCol="0">
            <a:spAutoFit/>
          </a:bodyPr>
          <a:lstStyle/>
          <a:p>
            <a:r>
              <a:rPr lang="en-US" dirty="0"/>
              <a:t>- Communicating with a computer</a:t>
            </a:r>
          </a:p>
          <a:p>
            <a:r>
              <a:rPr lang="en-US" dirty="0"/>
              <a:t>- Interpreting error messages</a:t>
            </a:r>
          </a:p>
          <a:p>
            <a:r>
              <a:rPr lang="en-US" dirty="0"/>
              <a:t>- Analyzing/creating programs with strange tools</a:t>
            </a:r>
          </a:p>
          <a:p>
            <a:pPr marL="285750" indent="-285750">
              <a:buFontTx/>
              <a:buChar char="-"/>
            </a:pPr>
            <a:r>
              <a:rPr lang="en-US" dirty="0"/>
              <a:t>(so) Many ways to solve a problem</a:t>
            </a:r>
          </a:p>
          <a:p>
            <a:pPr marL="285750" indent="-285750">
              <a:buFontTx/>
              <a:buChar char="-"/>
            </a:pPr>
            <a:r>
              <a:rPr lang="en-US" dirty="0"/>
              <a:t>Operating System environment</a:t>
            </a:r>
          </a:p>
        </p:txBody>
      </p:sp>
      <p:cxnSp>
        <p:nvCxnSpPr>
          <p:cNvPr id="11" name="Straight Arrow Connector 10">
            <a:extLst>
              <a:ext uri="{FF2B5EF4-FFF2-40B4-BE49-F238E27FC236}">
                <a16:creationId xmlns:a16="http://schemas.microsoft.com/office/drawing/2014/main" id="{DFC0E714-CD4A-1ED8-EB6B-B8C8F9F218FD}"/>
              </a:ext>
            </a:extLst>
          </p:cNvPr>
          <p:cNvCxnSpPr>
            <a:cxnSpLocks/>
            <a:stCxn id="13" idx="1"/>
          </p:cNvCxnSpPr>
          <p:nvPr/>
        </p:nvCxnSpPr>
        <p:spPr>
          <a:xfrm flipH="1" flipV="1">
            <a:off x="7292315" y="3282526"/>
            <a:ext cx="1605329" cy="145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BC585B5-80FF-2E6E-6C49-313E11039407}"/>
              </a:ext>
            </a:extLst>
          </p:cNvPr>
          <p:cNvSpPr txBox="1"/>
          <p:nvPr/>
        </p:nvSpPr>
        <p:spPr>
          <a:xfrm>
            <a:off x="8897644" y="4415741"/>
            <a:ext cx="2994837" cy="646331"/>
          </a:xfrm>
          <a:prstGeom prst="rect">
            <a:avLst/>
          </a:prstGeom>
          <a:solidFill>
            <a:schemeClr val="bg1">
              <a:lumMod val="95000"/>
            </a:schemeClr>
          </a:solidFill>
          <a:ln>
            <a:solidFill>
              <a:schemeClr val="accent1"/>
            </a:solidFill>
          </a:ln>
        </p:spPr>
        <p:txBody>
          <a:bodyPr wrap="square" rtlCol="0">
            <a:spAutoFit/>
          </a:bodyPr>
          <a:lstStyle/>
          <a:p>
            <a:r>
              <a:rPr lang="en-US" dirty="0"/>
              <a:t>Ignoring the effort, they put forth to master the subject </a:t>
            </a:r>
          </a:p>
        </p:txBody>
      </p:sp>
    </p:spTree>
    <p:extLst>
      <p:ext uri="{BB962C8B-B14F-4D97-AF65-F5344CB8AC3E}">
        <p14:creationId xmlns:p14="http://schemas.microsoft.com/office/powerpoint/2010/main" val="1358891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FAB7900-C17A-3594-0C30-AC668DB35328}"/>
              </a:ext>
            </a:extLst>
          </p:cNvPr>
          <p:cNvSpPr txBox="1">
            <a:spLocks/>
          </p:cNvSpPr>
          <p:nvPr/>
        </p:nvSpPr>
        <p:spPr bwMode="black">
          <a:xfrm>
            <a:off x="1660750" y="590969"/>
            <a:ext cx="8399958" cy="1246622"/>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a:t>Being a ”Good” Programmer</a:t>
            </a:r>
          </a:p>
        </p:txBody>
      </p:sp>
      <p:sp>
        <p:nvSpPr>
          <p:cNvPr id="7" name="TextBox 6">
            <a:extLst>
              <a:ext uri="{FF2B5EF4-FFF2-40B4-BE49-F238E27FC236}">
                <a16:creationId xmlns:a16="http://schemas.microsoft.com/office/drawing/2014/main" id="{02C2D701-2443-D8B5-9A4D-D9A45D8E45F8}"/>
              </a:ext>
            </a:extLst>
          </p:cNvPr>
          <p:cNvSpPr txBox="1"/>
          <p:nvPr/>
        </p:nvSpPr>
        <p:spPr>
          <a:xfrm>
            <a:off x="1912779" y="3104753"/>
            <a:ext cx="5885172"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t>Problem solving</a:t>
            </a:r>
          </a:p>
          <a:p>
            <a:pPr marL="285750" indent="-285750">
              <a:buFont typeface="Arial" panose="020B0604020202020204" pitchFamily="34" charset="0"/>
              <a:buChar char="•"/>
            </a:pPr>
            <a:r>
              <a:rPr lang="en-US" sz="2000" dirty="0"/>
              <a:t>Ability to abstract and decompose</a:t>
            </a:r>
          </a:p>
          <a:p>
            <a:pPr marL="285750" indent="-285750">
              <a:buFont typeface="Arial" panose="020B0604020202020204" pitchFamily="34" charset="0"/>
              <a:buChar char="•"/>
            </a:pPr>
            <a:r>
              <a:rPr lang="en-US" sz="2000" dirty="0"/>
              <a:t>Structure and create readable code</a:t>
            </a:r>
          </a:p>
          <a:p>
            <a:pPr marL="285750" indent="-285750">
              <a:buFont typeface="Arial" panose="020B0604020202020204" pitchFamily="34" charset="0"/>
              <a:buChar char="•"/>
            </a:pPr>
            <a:r>
              <a:rPr lang="en-US" sz="2000" dirty="0"/>
              <a:t>Reason and work logically</a:t>
            </a:r>
          </a:p>
          <a:p>
            <a:pPr marL="285750" indent="-285750">
              <a:buFont typeface="Arial" panose="020B0604020202020204" pitchFamily="34" charset="0"/>
              <a:buChar char="•"/>
            </a:pPr>
            <a:r>
              <a:rPr lang="en-US" sz="2000" dirty="0"/>
              <a:t>Creativity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u="sng" dirty="0"/>
              <a:t>No mention of writing instructions for computers!</a:t>
            </a:r>
          </a:p>
        </p:txBody>
      </p:sp>
      <p:sp>
        <p:nvSpPr>
          <p:cNvPr id="8" name="TextBox 7">
            <a:extLst>
              <a:ext uri="{FF2B5EF4-FFF2-40B4-BE49-F238E27FC236}">
                <a16:creationId xmlns:a16="http://schemas.microsoft.com/office/drawing/2014/main" id="{FB6552E1-D39C-F6EA-2A47-5917229AF5E8}"/>
              </a:ext>
            </a:extLst>
          </p:cNvPr>
          <p:cNvSpPr txBox="1"/>
          <p:nvPr/>
        </p:nvSpPr>
        <p:spPr>
          <a:xfrm>
            <a:off x="2554373" y="6267031"/>
            <a:ext cx="5082482" cy="369332"/>
          </a:xfrm>
          <a:prstGeom prst="rect">
            <a:avLst/>
          </a:prstGeom>
          <a:noFill/>
        </p:spPr>
        <p:txBody>
          <a:bodyPr wrap="none" rtlCol="0">
            <a:spAutoFit/>
          </a:bodyPr>
          <a:lstStyle/>
          <a:p>
            <a:r>
              <a:rPr lang="en-US" dirty="0"/>
              <a:t>https://cacm.acm.org/opinion/what-is-programming/</a:t>
            </a:r>
          </a:p>
        </p:txBody>
      </p:sp>
      <p:sp>
        <p:nvSpPr>
          <p:cNvPr id="13" name="TextBox 12">
            <a:extLst>
              <a:ext uri="{FF2B5EF4-FFF2-40B4-BE49-F238E27FC236}">
                <a16:creationId xmlns:a16="http://schemas.microsoft.com/office/drawing/2014/main" id="{37214986-E6E5-C8CB-DE91-CA868D156BE2}"/>
              </a:ext>
            </a:extLst>
          </p:cNvPr>
          <p:cNvSpPr txBox="1"/>
          <p:nvPr/>
        </p:nvSpPr>
        <p:spPr>
          <a:xfrm>
            <a:off x="1660751" y="2211134"/>
            <a:ext cx="9662924" cy="707886"/>
          </a:xfrm>
          <a:prstGeom prst="rect">
            <a:avLst/>
          </a:prstGeom>
          <a:noFill/>
        </p:spPr>
        <p:txBody>
          <a:bodyPr wrap="square" rtlCol="0">
            <a:spAutoFit/>
          </a:bodyPr>
          <a:lstStyle/>
          <a:p>
            <a:r>
              <a:rPr lang="en-US" sz="2000" dirty="0"/>
              <a:t>The same Computer Science Educators were asked skills and qualities are consistent with a “</a:t>
            </a:r>
            <a:r>
              <a:rPr lang="en-US" sz="2000" b="1" dirty="0"/>
              <a:t>Good” Programmer</a:t>
            </a:r>
            <a:r>
              <a:rPr lang="en-US" sz="2000" dirty="0"/>
              <a:t>:</a:t>
            </a:r>
          </a:p>
        </p:txBody>
      </p:sp>
      <p:sp>
        <p:nvSpPr>
          <p:cNvPr id="15" name="Right Brace 14">
            <a:extLst>
              <a:ext uri="{FF2B5EF4-FFF2-40B4-BE49-F238E27FC236}">
                <a16:creationId xmlns:a16="http://schemas.microsoft.com/office/drawing/2014/main" id="{71EE2368-F1B0-13B3-E9C0-91E3A0C37A30}"/>
              </a:ext>
            </a:extLst>
          </p:cNvPr>
          <p:cNvSpPr/>
          <p:nvPr/>
        </p:nvSpPr>
        <p:spPr>
          <a:xfrm>
            <a:off x="7636855" y="3008243"/>
            <a:ext cx="765023" cy="212783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EA846CC1-939B-0F54-D981-CA6A962B5E47}"/>
              </a:ext>
            </a:extLst>
          </p:cNvPr>
          <p:cNvSpPr txBox="1"/>
          <p:nvPr/>
        </p:nvSpPr>
        <p:spPr>
          <a:xfrm>
            <a:off x="8401878" y="3429000"/>
            <a:ext cx="2921797" cy="1754326"/>
          </a:xfrm>
          <a:prstGeom prst="rect">
            <a:avLst/>
          </a:prstGeom>
          <a:noFill/>
        </p:spPr>
        <p:txBody>
          <a:bodyPr wrap="square" rtlCol="0">
            <a:spAutoFit/>
          </a:bodyPr>
          <a:lstStyle/>
          <a:p>
            <a:r>
              <a:rPr lang="en-US" dirty="0"/>
              <a:t>Less tangible skills are most important in being a “good” programmer</a:t>
            </a:r>
          </a:p>
          <a:p>
            <a:endParaRPr lang="en-US" dirty="0"/>
          </a:p>
          <a:p>
            <a:r>
              <a:rPr lang="en-US" dirty="0"/>
              <a:t>Added benefit: more impervious to AI</a:t>
            </a:r>
          </a:p>
        </p:txBody>
      </p:sp>
      <p:cxnSp>
        <p:nvCxnSpPr>
          <p:cNvPr id="18" name="Straight Arrow Connector 17">
            <a:extLst>
              <a:ext uri="{FF2B5EF4-FFF2-40B4-BE49-F238E27FC236}">
                <a16:creationId xmlns:a16="http://schemas.microsoft.com/office/drawing/2014/main" id="{035E4E2A-1AF1-310E-9D8E-D6C5C82A83AC}"/>
              </a:ext>
            </a:extLst>
          </p:cNvPr>
          <p:cNvCxnSpPr/>
          <p:nvPr/>
        </p:nvCxnSpPr>
        <p:spPr>
          <a:xfrm flipV="1">
            <a:off x="918629" y="2565077"/>
            <a:ext cx="587324" cy="725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EEF69F2-AF34-496A-3740-195D28C33794}"/>
              </a:ext>
            </a:extLst>
          </p:cNvPr>
          <p:cNvSpPr txBox="1"/>
          <p:nvPr/>
        </p:nvSpPr>
        <p:spPr>
          <a:xfrm>
            <a:off x="297936" y="3429000"/>
            <a:ext cx="1046921" cy="1200329"/>
          </a:xfrm>
          <a:prstGeom prst="rect">
            <a:avLst/>
          </a:prstGeom>
          <a:noFill/>
          <a:ln>
            <a:solidFill>
              <a:schemeClr val="accent1"/>
            </a:solidFill>
          </a:ln>
        </p:spPr>
        <p:txBody>
          <a:bodyPr wrap="square" rtlCol="0">
            <a:spAutoFit/>
          </a:bodyPr>
          <a:lstStyle/>
          <a:p>
            <a:r>
              <a:rPr lang="en-US" dirty="0"/>
              <a:t>Same group as prior slide</a:t>
            </a:r>
          </a:p>
        </p:txBody>
      </p:sp>
    </p:spTree>
    <p:extLst>
      <p:ext uri="{BB962C8B-B14F-4D97-AF65-F5344CB8AC3E}">
        <p14:creationId xmlns:p14="http://schemas.microsoft.com/office/powerpoint/2010/main" val="1101733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07222-C1DB-5422-0511-32BBEB3F6A5A}"/>
              </a:ext>
            </a:extLst>
          </p:cNvPr>
          <p:cNvSpPr>
            <a:spLocks noGrp="1"/>
          </p:cNvSpPr>
          <p:nvPr>
            <p:ph type="title"/>
          </p:nvPr>
        </p:nvSpPr>
        <p:spPr/>
        <p:txBody>
          <a:bodyPr/>
          <a:lstStyle/>
          <a:p>
            <a:r>
              <a:rPr lang="en-US" dirty="0"/>
              <a:t>Course Goals</a:t>
            </a:r>
          </a:p>
        </p:txBody>
      </p:sp>
      <p:sp>
        <p:nvSpPr>
          <p:cNvPr id="3" name="Content Placeholder 2">
            <a:extLst>
              <a:ext uri="{FF2B5EF4-FFF2-40B4-BE49-F238E27FC236}">
                <a16:creationId xmlns:a16="http://schemas.microsoft.com/office/drawing/2014/main" id="{781A48E2-618F-2228-5380-97715DA921F5}"/>
              </a:ext>
            </a:extLst>
          </p:cNvPr>
          <p:cNvSpPr>
            <a:spLocks noGrp="1"/>
          </p:cNvSpPr>
          <p:nvPr>
            <p:ph idx="1"/>
          </p:nvPr>
        </p:nvSpPr>
        <p:spPr>
          <a:xfrm>
            <a:off x="2231136" y="2346497"/>
            <a:ext cx="8980203" cy="4219956"/>
          </a:xfrm>
        </p:spPr>
        <p:txBody>
          <a:bodyPr>
            <a:normAutofit/>
          </a:bodyPr>
          <a:lstStyle/>
          <a:p>
            <a:r>
              <a:rPr lang="en-US" sz="2000" dirty="0"/>
              <a:t>Develop computational thinking skills as problem solvers to become “good” programmers</a:t>
            </a:r>
          </a:p>
          <a:p>
            <a:pPr lvl="1"/>
            <a:r>
              <a:rPr lang="en-US" sz="1800" dirty="0"/>
              <a:t>Abstraction and decomposition</a:t>
            </a:r>
          </a:p>
          <a:p>
            <a:pPr lvl="1"/>
            <a:r>
              <a:rPr lang="en-US" sz="1800" dirty="0"/>
              <a:t>Problem solving</a:t>
            </a:r>
          </a:p>
          <a:p>
            <a:pPr lvl="1"/>
            <a:r>
              <a:rPr lang="en-US" sz="1800" dirty="0"/>
              <a:t>Logical thinking</a:t>
            </a:r>
          </a:p>
          <a:p>
            <a:pPr lvl="1"/>
            <a:r>
              <a:rPr lang="en-US" sz="1800" dirty="0"/>
              <a:t>Creativity</a:t>
            </a:r>
          </a:p>
          <a:p>
            <a:r>
              <a:rPr lang="en-US" sz="2000" dirty="0"/>
              <a:t>Learn the basic programming skills</a:t>
            </a:r>
          </a:p>
          <a:p>
            <a:pPr lvl="1"/>
            <a:r>
              <a:rPr lang="en-US" sz="1800" dirty="0"/>
              <a:t>Reading and writing python instructions</a:t>
            </a:r>
          </a:p>
          <a:p>
            <a:pPr lvl="1"/>
            <a:r>
              <a:rPr lang="en-US" sz="1800" dirty="0"/>
              <a:t>Planning programs</a:t>
            </a:r>
          </a:p>
          <a:p>
            <a:pPr lvl="1"/>
            <a:r>
              <a:rPr lang="en-US" sz="1800" dirty="0"/>
              <a:t>Validating solutions</a:t>
            </a:r>
          </a:p>
        </p:txBody>
      </p:sp>
      <p:sp>
        <p:nvSpPr>
          <p:cNvPr id="4" name="Right Brace 3">
            <a:extLst>
              <a:ext uri="{FF2B5EF4-FFF2-40B4-BE49-F238E27FC236}">
                <a16:creationId xmlns:a16="http://schemas.microsoft.com/office/drawing/2014/main" id="{8891558E-8455-C9B4-1D12-3C986740DC71}"/>
              </a:ext>
            </a:extLst>
          </p:cNvPr>
          <p:cNvSpPr/>
          <p:nvPr/>
        </p:nvSpPr>
        <p:spPr>
          <a:xfrm>
            <a:off x="6485913" y="4788704"/>
            <a:ext cx="265044" cy="1483381"/>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5BD72CDD-53D5-6A1F-D778-CFFA69EC151C}"/>
              </a:ext>
            </a:extLst>
          </p:cNvPr>
          <p:cNvSpPr txBox="1"/>
          <p:nvPr/>
        </p:nvSpPr>
        <p:spPr>
          <a:xfrm>
            <a:off x="6894307" y="5057143"/>
            <a:ext cx="3078924" cy="923330"/>
          </a:xfrm>
          <a:prstGeom prst="rect">
            <a:avLst/>
          </a:prstGeom>
          <a:noFill/>
          <a:ln>
            <a:solidFill>
              <a:schemeClr val="accent1"/>
            </a:solidFill>
          </a:ln>
        </p:spPr>
        <p:txBody>
          <a:bodyPr wrap="square" rtlCol="0">
            <a:spAutoFit/>
          </a:bodyPr>
          <a:lstStyle/>
          <a:p>
            <a:r>
              <a:rPr lang="en-US" dirty="0"/>
              <a:t>Be mindful not to bypass the learning by having someone else do the work (AI or other)</a:t>
            </a:r>
          </a:p>
        </p:txBody>
      </p:sp>
      <p:sp>
        <p:nvSpPr>
          <p:cNvPr id="6" name="Right Brace 5">
            <a:extLst>
              <a:ext uri="{FF2B5EF4-FFF2-40B4-BE49-F238E27FC236}">
                <a16:creationId xmlns:a16="http://schemas.microsoft.com/office/drawing/2014/main" id="{32BDFF5C-4E83-C76C-D939-B882F5A011B3}"/>
              </a:ext>
            </a:extLst>
          </p:cNvPr>
          <p:cNvSpPr/>
          <p:nvPr/>
        </p:nvSpPr>
        <p:spPr>
          <a:xfrm>
            <a:off x="6525669" y="3135291"/>
            <a:ext cx="185531" cy="151074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7BCA1B51-8C55-2C3E-21E8-55D36F42CDE9}"/>
              </a:ext>
            </a:extLst>
          </p:cNvPr>
          <p:cNvSpPr txBox="1"/>
          <p:nvPr/>
        </p:nvSpPr>
        <p:spPr>
          <a:xfrm>
            <a:off x="6881940" y="3567499"/>
            <a:ext cx="3091291" cy="646331"/>
          </a:xfrm>
          <a:prstGeom prst="rect">
            <a:avLst/>
          </a:prstGeom>
          <a:noFill/>
          <a:ln>
            <a:solidFill>
              <a:schemeClr val="accent1"/>
            </a:solidFill>
          </a:ln>
        </p:spPr>
        <p:txBody>
          <a:bodyPr wrap="square" rtlCol="0">
            <a:spAutoFit/>
          </a:bodyPr>
          <a:lstStyle/>
          <a:p>
            <a:r>
              <a:rPr lang="en-US" dirty="0"/>
              <a:t>A little more challenging to test and assess</a:t>
            </a:r>
          </a:p>
        </p:txBody>
      </p:sp>
    </p:spTree>
    <p:extLst>
      <p:ext uri="{BB962C8B-B14F-4D97-AF65-F5344CB8AC3E}">
        <p14:creationId xmlns:p14="http://schemas.microsoft.com/office/powerpoint/2010/main" val="3811803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847C7-2CCD-8A44-68E5-CBC55ED5DF9D}"/>
              </a:ext>
            </a:extLst>
          </p:cNvPr>
          <p:cNvSpPr>
            <a:spLocks noGrp="1"/>
          </p:cNvSpPr>
          <p:nvPr>
            <p:ph type="title"/>
          </p:nvPr>
        </p:nvSpPr>
        <p:spPr/>
        <p:txBody>
          <a:bodyPr/>
          <a:lstStyle/>
          <a:p>
            <a:r>
              <a:rPr lang="en-US" dirty="0"/>
              <a:t>Extra Comment on AI</a:t>
            </a:r>
          </a:p>
        </p:txBody>
      </p:sp>
      <p:sp>
        <p:nvSpPr>
          <p:cNvPr id="3" name="Content Placeholder 2">
            <a:extLst>
              <a:ext uri="{FF2B5EF4-FFF2-40B4-BE49-F238E27FC236}">
                <a16:creationId xmlns:a16="http://schemas.microsoft.com/office/drawing/2014/main" id="{5461A854-E130-8772-CC39-AE570A5BA734}"/>
              </a:ext>
            </a:extLst>
          </p:cNvPr>
          <p:cNvSpPr>
            <a:spLocks noGrp="1"/>
          </p:cNvSpPr>
          <p:nvPr>
            <p:ph idx="1"/>
          </p:nvPr>
        </p:nvSpPr>
        <p:spPr>
          <a:xfrm>
            <a:off x="2156490" y="2264819"/>
            <a:ext cx="7892579" cy="3908530"/>
          </a:xfrm>
        </p:spPr>
        <p:txBody>
          <a:bodyPr>
            <a:normAutofit fontScale="85000" lnSpcReduction="10000"/>
          </a:bodyPr>
          <a:lstStyle/>
          <a:p>
            <a:r>
              <a:rPr lang="en-US" sz="2000" dirty="0"/>
              <a:t>While we do not know exactly what the future of programming holds we do know that AI is currently capable of solving most basic programming tasks</a:t>
            </a:r>
          </a:p>
          <a:p>
            <a:r>
              <a:rPr lang="en-US" sz="2000" dirty="0"/>
              <a:t>In some instances, in the course (e.g., next lecture) we will be asked to use AI to help solve a task, but in most instances </a:t>
            </a:r>
            <a:r>
              <a:rPr lang="en-US" sz="2000" b="1" dirty="0"/>
              <a:t>the default for this course is to do the work and learning without AI assistance. </a:t>
            </a:r>
          </a:p>
          <a:p>
            <a:pPr lvl="1"/>
            <a:r>
              <a:rPr lang="en-US" sz="1800" dirty="0"/>
              <a:t>If you use AI to provide an answer you lose out on the opportunity to learn the skills (you bypass the learning opportunity)</a:t>
            </a:r>
          </a:p>
          <a:p>
            <a:pPr lvl="1"/>
            <a:r>
              <a:rPr lang="en-US" sz="1800" dirty="0"/>
              <a:t>It is very difficult to un-see a solution once you have seen it</a:t>
            </a:r>
          </a:p>
          <a:p>
            <a:r>
              <a:rPr lang="en-US" sz="2000" dirty="0"/>
              <a:t>If you trust the process, you should be successful in the course, if you bypass the learning and focus on the solution you may have trouble with aspects of the course</a:t>
            </a:r>
          </a:p>
          <a:p>
            <a:r>
              <a:rPr lang="en-US" sz="2000" dirty="0"/>
              <a:t>When we look to the future, very likely the computational thinking skills you will learn through the process is more important than the specific programming language</a:t>
            </a:r>
          </a:p>
        </p:txBody>
      </p:sp>
    </p:spTree>
    <p:extLst>
      <p:ext uri="{BB962C8B-B14F-4D97-AF65-F5344CB8AC3E}">
        <p14:creationId xmlns:p14="http://schemas.microsoft.com/office/powerpoint/2010/main" val="792458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6F5AB-2527-EF59-8579-071984DA0ACA}"/>
              </a:ext>
            </a:extLst>
          </p:cNvPr>
          <p:cNvSpPr>
            <a:spLocks noGrp="1"/>
          </p:cNvSpPr>
          <p:nvPr>
            <p:ph type="title"/>
          </p:nvPr>
        </p:nvSpPr>
        <p:spPr/>
        <p:txBody>
          <a:bodyPr/>
          <a:lstStyle/>
          <a:p>
            <a:r>
              <a:rPr lang="en-US" dirty="0"/>
              <a:t>Expectations</a:t>
            </a:r>
          </a:p>
        </p:txBody>
      </p:sp>
      <p:sp>
        <p:nvSpPr>
          <p:cNvPr id="3" name="Content Placeholder 2">
            <a:extLst>
              <a:ext uri="{FF2B5EF4-FFF2-40B4-BE49-F238E27FC236}">
                <a16:creationId xmlns:a16="http://schemas.microsoft.com/office/drawing/2014/main" id="{BED42C54-3ADD-1FA4-FDE0-E4C4D753F22C}"/>
              </a:ext>
            </a:extLst>
          </p:cNvPr>
          <p:cNvSpPr>
            <a:spLocks noGrp="1"/>
          </p:cNvSpPr>
          <p:nvPr>
            <p:ph idx="1"/>
          </p:nvPr>
        </p:nvSpPr>
        <p:spPr/>
        <p:txBody>
          <a:bodyPr>
            <a:normAutofit lnSpcReduction="10000"/>
          </a:bodyPr>
          <a:lstStyle/>
          <a:p>
            <a:r>
              <a:rPr lang="en-US" dirty="0"/>
              <a:t>Attend 2 Lectures per week (2.5 hours)</a:t>
            </a:r>
          </a:p>
          <a:p>
            <a:r>
              <a:rPr lang="en-US" dirty="0"/>
              <a:t>Attend 1 Lab per week (1.25 hours)</a:t>
            </a:r>
          </a:p>
          <a:p>
            <a:r>
              <a:rPr lang="en-US" dirty="0"/>
              <a:t>Complete 1 Homework each week (1 hour)</a:t>
            </a:r>
          </a:p>
          <a:p>
            <a:r>
              <a:rPr lang="en-US" dirty="0"/>
              <a:t>Try at Home practice problems (1 hour + 1 hour = 2 hours)</a:t>
            </a:r>
          </a:p>
          <a:p>
            <a:r>
              <a:rPr lang="en-US" dirty="0"/>
              <a:t>Study / Reading (1 hour)</a:t>
            </a:r>
          </a:p>
          <a:p>
            <a:r>
              <a:rPr lang="en-US" b="1" dirty="0"/>
              <a:t>Total expectation is approximately 8+ hours per week</a:t>
            </a:r>
          </a:p>
          <a:p>
            <a:pPr marL="0" indent="0">
              <a:buNone/>
            </a:pPr>
            <a:endParaRPr lang="en-US" b="1" dirty="0"/>
          </a:p>
          <a:p>
            <a:r>
              <a:rPr lang="en-US" dirty="0"/>
              <a:t>If you are taking 5 courses you should expect 40 hours of work per week</a:t>
            </a:r>
          </a:p>
        </p:txBody>
      </p:sp>
    </p:spTree>
    <p:extLst>
      <p:ext uri="{BB962C8B-B14F-4D97-AF65-F5344CB8AC3E}">
        <p14:creationId xmlns:p14="http://schemas.microsoft.com/office/powerpoint/2010/main" val="3966928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8AC1-3EBD-7C1A-3FE0-0F711E90B132}"/>
              </a:ext>
            </a:extLst>
          </p:cNvPr>
          <p:cNvSpPr>
            <a:spLocks noGrp="1"/>
          </p:cNvSpPr>
          <p:nvPr>
            <p:ph type="title"/>
          </p:nvPr>
        </p:nvSpPr>
        <p:spPr/>
        <p:txBody>
          <a:bodyPr/>
          <a:lstStyle/>
          <a:p>
            <a:r>
              <a:rPr lang="en-US" dirty="0"/>
              <a:t>Big Picture Course Assessment</a:t>
            </a:r>
          </a:p>
        </p:txBody>
      </p:sp>
      <p:sp>
        <p:nvSpPr>
          <p:cNvPr id="3" name="Content Placeholder 2">
            <a:extLst>
              <a:ext uri="{FF2B5EF4-FFF2-40B4-BE49-F238E27FC236}">
                <a16:creationId xmlns:a16="http://schemas.microsoft.com/office/drawing/2014/main" id="{3805030E-52CC-B383-06C2-64ED62CB9079}"/>
              </a:ext>
            </a:extLst>
          </p:cNvPr>
          <p:cNvSpPr>
            <a:spLocks noGrp="1"/>
          </p:cNvSpPr>
          <p:nvPr>
            <p:ph idx="1"/>
          </p:nvPr>
        </p:nvSpPr>
        <p:spPr>
          <a:xfrm>
            <a:off x="2231136" y="2452514"/>
            <a:ext cx="8397107" cy="3855521"/>
          </a:xfrm>
        </p:spPr>
        <p:txBody>
          <a:bodyPr>
            <a:normAutofit fontScale="92500" lnSpcReduction="20000"/>
          </a:bodyPr>
          <a:lstStyle/>
          <a:p>
            <a:r>
              <a:rPr lang="en-US" sz="2400" dirty="0">
                <a:solidFill>
                  <a:schemeClr val="tx1"/>
                </a:solidFill>
              </a:rPr>
              <a:t>35% of grading is Labs, Participation and Homework</a:t>
            </a:r>
          </a:p>
          <a:p>
            <a:pPr lvl="1"/>
            <a:r>
              <a:rPr lang="en-US" sz="1800" dirty="0">
                <a:solidFill>
                  <a:schemeClr val="tx1"/>
                </a:solidFill>
              </a:rPr>
              <a:t>Take advantage of this learning opportunity</a:t>
            </a:r>
          </a:p>
          <a:p>
            <a:pPr lvl="1"/>
            <a:r>
              <a:rPr lang="en-US" sz="1800" dirty="0">
                <a:solidFill>
                  <a:schemeClr val="tx1"/>
                </a:solidFill>
              </a:rPr>
              <a:t>Time management is critical to ensuring the learning happens in this 40%</a:t>
            </a:r>
          </a:p>
          <a:p>
            <a:r>
              <a:rPr lang="en-US" sz="2400" dirty="0">
                <a:solidFill>
                  <a:schemeClr val="tx1"/>
                </a:solidFill>
              </a:rPr>
              <a:t>65% of grading is traditional tests </a:t>
            </a:r>
          </a:p>
          <a:p>
            <a:pPr lvl="1"/>
            <a:r>
              <a:rPr lang="en-US" sz="1800" dirty="0">
                <a:solidFill>
                  <a:schemeClr val="tx1"/>
                </a:solidFill>
              </a:rPr>
              <a:t>Written on paper </a:t>
            </a:r>
          </a:p>
          <a:p>
            <a:pPr lvl="1"/>
            <a:r>
              <a:rPr lang="en-US" sz="1800" dirty="0">
                <a:solidFill>
                  <a:schemeClr val="tx1"/>
                </a:solidFill>
              </a:rPr>
              <a:t>Tests will be made up of theory, practical, problem solving and coding questions</a:t>
            </a:r>
          </a:p>
          <a:p>
            <a:pPr lvl="1"/>
            <a:r>
              <a:rPr lang="en-US" sz="1800" dirty="0">
                <a:solidFill>
                  <a:schemeClr val="tx1"/>
                </a:solidFill>
              </a:rPr>
              <a:t>Expected to be able to read and write code</a:t>
            </a:r>
          </a:p>
          <a:p>
            <a:pPr lvl="1"/>
            <a:r>
              <a:rPr lang="en-US" sz="1800" dirty="0">
                <a:solidFill>
                  <a:schemeClr val="tx1"/>
                </a:solidFill>
              </a:rPr>
              <a:t>Expected to be able to build solutions to new problems </a:t>
            </a:r>
          </a:p>
          <a:p>
            <a:pPr lvl="1"/>
            <a:endParaRPr lang="en-US" sz="1800" dirty="0">
              <a:solidFill>
                <a:schemeClr val="tx1"/>
              </a:solidFill>
            </a:endParaRPr>
          </a:p>
          <a:p>
            <a:r>
              <a:rPr lang="en-US" sz="2000" dirty="0">
                <a:solidFill>
                  <a:schemeClr val="tx1"/>
                </a:solidFill>
              </a:rPr>
              <a:t>But if you do the first part, you will succeed on the tests – the first prepares you for the second</a:t>
            </a:r>
          </a:p>
        </p:txBody>
      </p:sp>
    </p:spTree>
    <p:extLst>
      <p:ext uri="{BB962C8B-B14F-4D97-AF65-F5344CB8AC3E}">
        <p14:creationId xmlns:p14="http://schemas.microsoft.com/office/powerpoint/2010/main" val="1662518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FA55B-4F0B-9A5C-5CCE-5E72D5C87BAD}"/>
              </a:ext>
            </a:extLst>
          </p:cNvPr>
          <p:cNvSpPr>
            <a:spLocks noGrp="1"/>
          </p:cNvSpPr>
          <p:nvPr>
            <p:ph type="title"/>
          </p:nvPr>
        </p:nvSpPr>
        <p:spPr>
          <a:xfrm>
            <a:off x="2231136" y="467418"/>
            <a:ext cx="7729728" cy="1188720"/>
          </a:xfrm>
          <a:solidFill>
            <a:srgbClr val="FFFFFF"/>
          </a:solidFill>
        </p:spPr>
        <p:txBody>
          <a:bodyPr>
            <a:normAutofit/>
          </a:bodyPr>
          <a:lstStyle/>
          <a:p>
            <a:r>
              <a:rPr lang="en-US" dirty="0"/>
              <a:t>Success Anecdotes</a:t>
            </a:r>
          </a:p>
        </p:txBody>
      </p:sp>
      <p:sp>
        <p:nvSpPr>
          <p:cNvPr id="3" name="Content Placeholder 2">
            <a:extLst>
              <a:ext uri="{FF2B5EF4-FFF2-40B4-BE49-F238E27FC236}">
                <a16:creationId xmlns:a16="http://schemas.microsoft.com/office/drawing/2014/main" id="{73DA2CFE-FA15-4F7A-A2C3-D9BCC78B600E}"/>
              </a:ext>
            </a:extLst>
          </p:cNvPr>
          <p:cNvSpPr>
            <a:spLocks noGrp="1"/>
          </p:cNvSpPr>
          <p:nvPr>
            <p:ph idx="1"/>
          </p:nvPr>
        </p:nvSpPr>
        <p:spPr>
          <a:xfrm>
            <a:off x="1706061" y="1843590"/>
            <a:ext cx="9134391" cy="3326928"/>
          </a:xfrm>
        </p:spPr>
        <p:txBody>
          <a:bodyPr>
            <a:normAutofit lnSpcReduction="10000"/>
          </a:bodyPr>
          <a:lstStyle/>
          <a:p>
            <a:pPr>
              <a:lnSpc>
                <a:spcPct val="90000"/>
              </a:lnSpc>
            </a:pPr>
            <a:r>
              <a:rPr lang="en-US" sz="2000" dirty="0">
                <a:solidFill>
                  <a:srgbClr val="404040"/>
                </a:solidFill>
              </a:rPr>
              <a:t>Student who hated CS and then changed their approach</a:t>
            </a:r>
          </a:p>
          <a:p>
            <a:pPr lvl="1">
              <a:lnSpc>
                <a:spcPct val="90000"/>
              </a:lnSpc>
            </a:pPr>
            <a:r>
              <a:rPr lang="en-US" sz="2000" dirty="0">
                <a:solidFill>
                  <a:srgbClr val="404040"/>
                </a:solidFill>
              </a:rPr>
              <a:t>Studied the textbook inside and out … barely passed CS 1910</a:t>
            </a:r>
          </a:p>
          <a:p>
            <a:pPr lvl="1">
              <a:lnSpc>
                <a:spcPct val="90000"/>
              </a:lnSpc>
            </a:pPr>
            <a:r>
              <a:rPr lang="en-US" sz="2000" dirty="0">
                <a:solidFill>
                  <a:srgbClr val="404040"/>
                </a:solidFill>
              </a:rPr>
              <a:t>Changed to a practice makes progress approach (20 mins per day) scored A+ in CS 1920, went to graduate school </a:t>
            </a:r>
          </a:p>
          <a:p>
            <a:pPr>
              <a:lnSpc>
                <a:spcPct val="90000"/>
              </a:lnSpc>
            </a:pPr>
            <a:r>
              <a:rPr lang="en-US" sz="2000" dirty="0">
                <a:solidFill>
                  <a:srgbClr val="404040"/>
                </a:solidFill>
              </a:rPr>
              <a:t>“If you know what you are being asked to do, then you have already solved the problem” </a:t>
            </a:r>
          </a:p>
          <a:p>
            <a:pPr lvl="1">
              <a:lnSpc>
                <a:spcPct val="90000"/>
              </a:lnSpc>
            </a:pPr>
            <a:r>
              <a:rPr lang="en-US" sz="2000" dirty="0">
                <a:solidFill>
                  <a:srgbClr val="404040"/>
                </a:solidFill>
              </a:rPr>
              <a:t>Student focused on memorizing solutions – took photos of code written on the board – failed 2 midterms </a:t>
            </a:r>
          </a:p>
          <a:p>
            <a:pPr lvl="1">
              <a:lnSpc>
                <a:spcPct val="90000"/>
              </a:lnSpc>
            </a:pPr>
            <a:r>
              <a:rPr lang="en-US" sz="2000" dirty="0">
                <a:solidFill>
                  <a:srgbClr val="404040"/>
                </a:solidFill>
              </a:rPr>
              <a:t>Changed approach to focusing on the process – What am I being asked to do?</a:t>
            </a:r>
          </a:p>
          <a:p>
            <a:pPr lvl="2">
              <a:lnSpc>
                <a:spcPct val="90000"/>
              </a:lnSpc>
            </a:pPr>
            <a:r>
              <a:rPr lang="en-US" sz="2000" dirty="0">
                <a:solidFill>
                  <a:srgbClr val="404040"/>
                </a:solidFill>
              </a:rPr>
              <a:t>One of highest marks on final exam (A) (4 weeks after failing midterm 2)</a:t>
            </a:r>
          </a:p>
        </p:txBody>
      </p:sp>
    </p:spTree>
    <p:extLst>
      <p:ext uri="{BB962C8B-B14F-4D97-AF65-F5344CB8AC3E}">
        <p14:creationId xmlns:p14="http://schemas.microsoft.com/office/powerpoint/2010/main" val="1838733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AD85578-1E4B-4014-9D52-E7689475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2">
              <a:alpha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9" name="Rectangle 18">
            <a:extLst>
              <a:ext uri="{FF2B5EF4-FFF2-40B4-BE49-F238E27FC236}">
                <a16:creationId xmlns:a16="http://schemas.microsoft.com/office/drawing/2014/main" id="{48550B3F-9390-4CA1-B3C8-91529289D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46537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6F657A-57C3-AED1-AF85-C8CF5AF8654E}"/>
              </a:ext>
            </a:extLst>
          </p:cNvPr>
          <p:cNvSpPr>
            <a:spLocks noGrp="1"/>
          </p:cNvSpPr>
          <p:nvPr>
            <p:ph type="title"/>
          </p:nvPr>
        </p:nvSpPr>
        <p:spPr>
          <a:xfrm>
            <a:off x="1949518" y="1059838"/>
            <a:ext cx="3632052" cy="4738324"/>
          </a:xfrm>
          <a:noFill/>
          <a:ln>
            <a:noFill/>
          </a:ln>
        </p:spPr>
        <p:txBody>
          <a:bodyPr>
            <a:normAutofit/>
          </a:bodyPr>
          <a:lstStyle/>
          <a:p>
            <a:r>
              <a:rPr lang="en-US" sz="3600" dirty="0">
                <a:solidFill>
                  <a:schemeClr val="bg1"/>
                </a:solidFill>
              </a:rPr>
              <a:t>FAQ: What should I practice?</a:t>
            </a:r>
          </a:p>
        </p:txBody>
      </p:sp>
      <p:sp>
        <p:nvSpPr>
          <p:cNvPr id="3" name="Content Placeholder 2">
            <a:extLst>
              <a:ext uri="{FF2B5EF4-FFF2-40B4-BE49-F238E27FC236}">
                <a16:creationId xmlns:a16="http://schemas.microsoft.com/office/drawing/2014/main" id="{B769C950-A80A-1A7E-F2F3-E871F3A55EA8}"/>
              </a:ext>
            </a:extLst>
          </p:cNvPr>
          <p:cNvSpPr>
            <a:spLocks noGrp="1"/>
          </p:cNvSpPr>
          <p:nvPr>
            <p:ph idx="1"/>
          </p:nvPr>
        </p:nvSpPr>
        <p:spPr>
          <a:xfrm>
            <a:off x="6177793" y="867332"/>
            <a:ext cx="6014207" cy="5437215"/>
          </a:xfrm>
        </p:spPr>
        <p:txBody>
          <a:bodyPr anchor="ctr">
            <a:normAutofit/>
          </a:bodyPr>
          <a:lstStyle/>
          <a:p>
            <a:r>
              <a:rPr lang="en-US" sz="2200" dirty="0"/>
              <a:t>Each lecture has some practice suggestions near the last slides</a:t>
            </a:r>
          </a:p>
          <a:p>
            <a:r>
              <a:rPr lang="en-US" sz="2200" dirty="0"/>
              <a:t>If examples were done in class, see if you can remember the plain English description of what was done</a:t>
            </a:r>
          </a:p>
          <a:p>
            <a:pPr lvl="1"/>
            <a:r>
              <a:rPr lang="en-US" sz="2000" dirty="0"/>
              <a:t>Can you reproduce a solution from the description</a:t>
            </a:r>
          </a:p>
          <a:p>
            <a:pPr lvl="1"/>
            <a:r>
              <a:rPr lang="en-US" sz="2000" dirty="0"/>
              <a:t>Focus on the process – what did we try to accomplish in class as opposed to what syntax did the professor write on the board</a:t>
            </a:r>
          </a:p>
          <a:p>
            <a:pPr lvl="1"/>
            <a:r>
              <a:rPr lang="en-US" sz="2000" dirty="0"/>
              <a:t>Generally, students who take photos of code on the board </a:t>
            </a:r>
            <a:r>
              <a:rPr lang="en-US" sz="2000" b="1" dirty="0"/>
              <a:t>do not </a:t>
            </a:r>
            <a:r>
              <a:rPr lang="en-US" sz="2000" dirty="0"/>
              <a:t>do well in the course </a:t>
            </a:r>
          </a:p>
          <a:p>
            <a:r>
              <a:rPr lang="en-US" sz="2200" dirty="0"/>
              <a:t>Ask GenAI to give you some sample problems</a:t>
            </a:r>
          </a:p>
          <a:p>
            <a:r>
              <a:rPr lang="en-US" sz="2200" dirty="0"/>
              <a:t>Visit Office hours</a:t>
            </a:r>
          </a:p>
        </p:txBody>
      </p:sp>
    </p:spTree>
    <p:extLst>
      <p:ext uri="{BB962C8B-B14F-4D97-AF65-F5344CB8AC3E}">
        <p14:creationId xmlns:p14="http://schemas.microsoft.com/office/powerpoint/2010/main" val="875819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46DE-AF14-570C-90A9-DED34721B2A3}"/>
              </a:ext>
            </a:extLst>
          </p:cNvPr>
          <p:cNvSpPr>
            <a:spLocks noGrp="1"/>
          </p:cNvSpPr>
          <p:nvPr>
            <p:ph type="title"/>
          </p:nvPr>
        </p:nvSpPr>
        <p:spPr>
          <a:xfrm>
            <a:off x="2246601" y="139503"/>
            <a:ext cx="7729728" cy="1188720"/>
          </a:xfrm>
        </p:spPr>
        <p:txBody>
          <a:bodyPr/>
          <a:lstStyle/>
          <a:p>
            <a:r>
              <a:rPr lang="en-US" dirty="0"/>
              <a:t>Programming</a:t>
            </a:r>
          </a:p>
        </p:txBody>
      </p:sp>
      <p:sp>
        <p:nvSpPr>
          <p:cNvPr id="3" name="Content Placeholder 2">
            <a:extLst>
              <a:ext uri="{FF2B5EF4-FFF2-40B4-BE49-F238E27FC236}">
                <a16:creationId xmlns:a16="http://schemas.microsoft.com/office/drawing/2014/main" id="{04B34999-DF16-77E1-3F97-6B6CC0B223B3}"/>
              </a:ext>
            </a:extLst>
          </p:cNvPr>
          <p:cNvSpPr>
            <a:spLocks noGrp="1"/>
          </p:cNvSpPr>
          <p:nvPr>
            <p:ph idx="1"/>
          </p:nvPr>
        </p:nvSpPr>
        <p:spPr>
          <a:xfrm>
            <a:off x="2246601" y="2427793"/>
            <a:ext cx="7729728" cy="3101983"/>
          </a:xfrm>
        </p:spPr>
        <p:txBody>
          <a:bodyPr/>
          <a:lstStyle/>
          <a:p>
            <a:r>
              <a:rPr lang="en-US" dirty="0"/>
              <a:t>Reading Code</a:t>
            </a:r>
          </a:p>
          <a:p>
            <a:r>
              <a:rPr lang="en-US" dirty="0"/>
              <a:t>Composing Code</a:t>
            </a:r>
          </a:p>
          <a:p>
            <a:r>
              <a:rPr lang="en-US" dirty="0"/>
              <a:t>Planning Structure</a:t>
            </a:r>
          </a:p>
          <a:p>
            <a:r>
              <a:rPr lang="en-US" dirty="0"/>
              <a:t>Solving Problems </a:t>
            </a:r>
          </a:p>
          <a:p>
            <a:r>
              <a:rPr lang="en-US" dirty="0"/>
              <a:t>Validating Solutions</a:t>
            </a:r>
          </a:p>
        </p:txBody>
      </p:sp>
      <p:sp>
        <p:nvSpPr>
          <p:cNvPr id="4" name="TextBox 3">
            <a:extLst>
              <a:ext uri="{FF2B5EF4-FFF2-40B4-BE49-F238E27FC236}">
                <a16:creationId xmlns:a16="http://schemas.microsoft.com/office/drawing/2014/main" id="{476A3373-32BB-D206-6AF7-3D06390EBDFB}"/>
              </a:ext>
            </a:extLst>
          </p:cNvPr>
          <p:cNvSpPr txBox="1"/>
          <p:nvPr/>
        </p:nvSpPr>
        <p:spPr>
          <a:xfrm>
            <a:off x="211418" y="6444680"/>
            <a:ext cx="6506653" cy="369332"/>
          </a:xfrm>
          <a:prstGeom prst="rect">
            <a:avLst/>
          </a:prstGeom>
          <a:noFill/>
        </p:spPr>
        <p:txBody>
          <a:bodyPr wrap="none" rtlCol="0">
            <a:spAutoFit/>
          </a:bodyPr>
          <a:lstStyle/>
          <a:p>
            <a:r>
              <a:rPr lang="en-US" dirty="0"/>
              <a:t> https://www.tandfonline.com/doi/pdf/10.1076/csed.13.2.137.14200</a:t>
            </a:r>
          </a:p>
        </p:txBody>
      </p:sp>
      <p:sp>
        <p:nvSpPr>
          <p:cNvPr id="5" name="Right Brace 4">
            <a:extLst>
              <a:ext uri="{FF2B5EF4-FFF2-40B4-BE49-F238E27FC236}">
                <a16:creationId xmlns:a16="http://schemas.microsoft.com/office/drawing/2014/main" id="{A5858E0C-7B8B-B563-8838-EB3F85750CC9}"/>
              </a:ext>
            </a:extLst>
          </p:cNvPr>
          <p:cNvSpPr/>
          <p:nvPr/>
        </p:nvSpPr>
        <p:spPr>
          <a:xfrm>
            <a:off x="4974805" y="2438035"/>
            <a:ext cx="350874" cy="1981929"/>
          </a:xfrm>
          <a:prstGeom prst="righ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ADF65F03-8120-C2C4-E465-628BA862CAA0}"/>
              </a:ext>
            </a:extLst>
          </p:cNvPr>
          <p:cNvSpPr txBox="1"/>
          <p:nvPr/>
        </p:nvSpPr>
        <p:spPr>
          <a:xfrm>
            <a:off x="5466128" y="3059667"/>
            <a:ext cx="4557017" cy="369332"/>
          </a:xfrm>
          <a:prstGeom prst="rect">
            <a:avLst/>
          </a:prstGeom>
          <a:noFill/>
        </p:spPr>
        <p:txBody>
          <a:bodyPr wrap="none" rtlCol="0">
            <a:spAutoFit/>
          </a:bodyPr>
          <a:lstStyle/>
          <a:p>
            <a:r>
              <a:rPr lang="en-US" u="sng" dirty="0"/>
              <a:t>Large focus on ability to instruct the computer</a:t>
            </a:r>
          </a:p>
        </p:txBody>
      </p:sp>
      <p:sp>
        <p:nvSpPr>
          <p:cNvPr id="7" name="TextBox 6">
            <a:extLst>
              <a:ext uri="{FF2B5EF4-FFF2-40B4-BE49-F238E27FC236}">
                <a16:creationId xmlns:a16="http://schemas.microsoft.com/office/drawing/2014/main" id="{68391997-E6EF-E8EE-0CE8-9CBE09E326E8}"/>
              </a:ext>
            </a:extLst>
          </p:cNvPr>
          <p:cNvSpPr txBox="1"/>
          <p:nvPr/>
        </p:nvSpPr>
        <p:spPr>
          <a:xfrm>
            <a:off x="8517860" y="4294721"/>
            <a:ext cx="2855077" cy="369332"/>
          </a:xfrm>
          <a:prstGeom prst="rect">
            <a:avLst/>
          </a:prstGeom>
          <a:noFill/>
          <a:ln>
            <a:solidFill>
              <a:schemeClr val="accent1"/>
            </a:solidFill>
          </a:ln>
        </p:spPr>
        <p:txBody>
          <a:bodyPr wrap="none" rtlCol="0">
            <a:spAutoFit/>
          </a:bodyPr>
          <a:lstStyle/>
          <a:p>
            <a:r>
              <a:rPr lang="en-US" dirty="0"/>
              <a:t>importance of the computer</a:t>
            </a:r>
          </a:p>
        </p:txBody>
      </p:sp>
      <p:sp>
        <p:nvSpPr>
          <p:cNvPr id="8" name="TextBox 7">
            <a:extLst>
              <a:ext uri="{FF2B5EF4-FFF2-40B4-BE49-F238E27FC236}">
                <a16:creationId xmlns:a16="http://schemas.microsoft.com/office/drawing/2014/main" id="{E417EA10-257F-CD6B-6D64-7548AE186F18}"/>
              </a:ext>
            </a:extLst>
          </p:cNvPr>
          <p:cNvSpPr txBox="1"/>
          <p:nvPr/>
        </p:nvSpPr>
        <p:spPr>
          <a:xfrm>
            <a:off x="6430974" y="4281458"/>
            <a:ext cx="1157048" cy="369332"/>
          </a:xfrm>
          <a:prstGeom prst="rect">
            <a:avLst/>
          </a:prstGeom>
          <a:noFill/>
          <a:ln>
            <a:solidFill>
              <a:schemeClr val="accent1"/>
            </a:solidFill>
          </a:ln>
        </p:spPr>
        <p:txBody>
          <a:bodyPr wrap="none" rtlCol="0">
            <a:spAutoFit/>
          </a:bodyPr>
          <a:lstStyle/>
          <a:p>
            <a:r>
              <a:rPr lang="en-US" dirty="0"/>
              <a:t>algorithms</a:t>
            </a:r>
          </a:p>
        </p:txBody>
      </p:sp>
      <p:sp>
        <p:nvSpPr>
          <p:cNvPr id="9" name="TextBox 8">
            <a:extLst>
              <a:ext uri="{FF2B5EF4-FFF2-40B4-BE49-F238E27FC236}">
                <a16:creationId xmlns:a16="http://schemas.microsoft.com/office/drawing/2014/main" id="{3B0AD496-2084-A956-2654-6B2356B2DE75}"/>
              </a:ext>
            </a:extLst>
          </p:cNvPr>
          <p:cNvSpPr txBox="1"/>
          <p:nvPr/>
        </p:nvSpPr>
        <p:spPr>
          <a:xfrm>
            <a:off x="8498379" y="5038154"/>
            <a:ext cx="2355773" cy="369332"/>
          </a:xfrm>
          <a:prstGeom prst="rect">
            <a:avLst/>
          </a:prstGeom>
          <a:noFill/>
          <a:ln>
            <a:solidFill>
              <a:schemeClr val="accent1"/>
            </a:solidFill>
          </a:ln>
        </p:spPr>
        <p:txBody>
          <a:bodyPr wrap="none" rtlCol="0">
            <a:spAutoFit/>
          </a:bodyPr>
          <a:lstStyle/>
          <a:p>
            <a:r>
              <a:rPr lang="en-US" dirty="0"/>
              <a:t>programming languages</a:t>
            </a:r>
          </a:p>
        </p:txBody>
      </p:sp>
      <p:sp>
        <p:nvSpPr>
          <p:cNvPr id="10" name="TextBox 9">
            <a:extLst>
              <a:ext uri="{FF2B5EF4-FFF2-40B4-BE49-F238E27FC236}">
                <a16:creationId xmlns:a16="http://schemas.microsoft.com/office/drawing/2014/main" id="{4526B3E7-2984-F587-E99F-31EE3CB8AEF6}"/>
              </a:ext>
            </a:extLst>
          </p:cNvPr>
          <p:cNvSpPr txBox="1"/>
          <p:nvPr/>
        </p:nvSpPr>
        <p:spPr>
          <a:xfrm>
            <a:off x="7256184" y="5638802"/>
            <a:ext cx="1868973" cy="369332"/>
          </a:xfrm>
          <a:prstGeom prst="rect">
            <a:avLst/>
          </a:prstGeom>
          <a:noFill/>
          <a:ln>
            <a:solidFill>
              <a:schemeClr val="accent1"/>
            </a:solidFill>
          </a:ln>
        </p:spPr>
        <p:txBody>
          <a:bodyPr wrap="none" rtlCol="0">
            <a:spAutoFit/>
          </a:bodyPr>
          <a:lstStyle/>
          <a:p>
            <a:r>
              <a:rPr lang="en-US" dirty="0"/>
              <a:t>execution of code</a:t>
            </a:r>
          </a:p>
        </p:txBody>
      </p:sp>
      <p:sp>
        <p:nvSpPr>
          <p:cNvPr id="11" name="TextBox 10">
            <a:extLst>
              <a:ext uri="{FF2B5EF4-FFF2-40B4-BE49-F238E27FC236}">
                <a16:creationId xmlns:a16="http://schemas.microsoft.com/office/drawing/2014/main" id="{4A3CE980-D334-3D1A-DED5-9B1068EED71D}"/>
              </a:ext>
            </a:extLst>
          </p:cNvPr>
          <p:cNvSpPr txBox="1"/>
          <p:nvPr/>
        </p:nvSpPr>
        <p:spPr>
          <a:xfrm>
            <a:off x="6497179" y="5045615"/>
            <a:ext cx="1247457" cy="369332"/>
          </a:xfrm>
          <a:prstGeom prst="rect">
            <a:avLst/>
          </a:prstGeom>
          <a:noFill/>
          <a:ln>
            <a:solidFill>
              <a:schemeClr val="accent1"/>
            </a:solidFill>
          </a:ln>
        </p:spPr>
        <p:txBody>
          <a:bodyPr wrap="none" rtlCol="0">
            <a:spAutoFit/>
          </a:bodyPr>
          <a:lstStyle/>
          <a:p>
            <a:r>
              <a:rPr lang="en-US" dirty="0"/>
              <a:t>automation</a:t>
            </a:r>
          </a:p>
        </p:txBody>
      </p:sp>
      <p:sp>
        <p:nvSpPr>
          <p:cNvPr id="12" name="TextBox 11">
            <a:extLst>
              <a:ext uri="{FF2B5EF4-FFF2-40B4-BE49-F238E27FC236}">
                <a16:creationId xmlns:a16="http://schemas.microsoft.com/office/drawing/2014/main" id="{CA5499B5-24D9-76E1-BE33-AC4E918F538F}"/>
              </a:ext>
            </a:extLst>
          </p:cNvPr>
          <p:cNvSpPr txBox="1"/>
          <p:nvPr/>
        </p:nvSpPr>
        <p:spPr>
          <a:xfrm>
            <a:off x="7588022" y="3803100"/>
            <a:ext cx="1730602" cy="369332"/>
          </a:xfrm>
          <a:prstGeom prst="rect">
            <a:avLst/>
          </a:prstGeom>
          <a:noFill/>
        </p:spPr>
        <p:txBody>
          <a:bodyPr wrap="none" rtlCol="0">
            <a:spAutoFit/>
          </a:bodyPr>
          <a:lstStyle/>
          <a:p>
            <a:r>
              <a:rPr lang="en-US" b="1" dirty="0"/>
              <a:t>Minor Themes</a:t>
            </a:r>
          </a:p>
        </p:txBody>
      </p:sp>
      <p:sp>
        <p:nvSpPr>
          <p:cNvPr id="13" name="TextBox 12">
            <a:extLst>
              <a:ext uri="{FF2B5EF4-FFF2-40B4-BE49-F238E27FC236}">
                <a16:creationId xmlns:a16="http://schemas.microsoft.com/office/drawing/2014/main" id="{B0B179E7-F8F0-2C65-6A03-FAD3E62B00BF}"/>
              </a:ext>
            </a:extLst>
          </p:cNvPr>
          <p:cNvSpPr txBox="1"/>
          <p:nvPr/>
        </p:nvSpPr>
        <p:spPr>
          <a:xfrm>
            <a:off x="2323055" y="1538382"/>
            <a:ext cx="7215180" cy="400110"/>
          </a:xfrm>
          <a:prstGeom prst="rect">
            <a:avLst/>
          </a:prstGeom>
          <a:noFill/>
        </p:spPr>
        <p:txBody>
          <a:bodyPr wrap="none" rtlCol="0">
            <a:spAutoFit/>
          </a:bodyPr>
          <a:lstStyle/>
          <a:p>
            <a:r>
              <a:rPr lang="en-US" sz="2000" dirty="0"/>
              <a:t>Computer Science Educators were asked “What is programming?”</a:t>
            </a:r>
          </a:p>
        </p:txBody>
      </p:sp>
      <p:sp>
        <p:nvSpPr>
          <p:cNvPr id="14" name="TextBox 13">
            <a:extLst>
              <a:ext uri="{FF2B5EF4-FFF2-40B4-BE49-F238E27FC236}">
                <a16:creationId xmlns:a16="http://schemas.microsoft.com/office/drawing/2014/main" id="{6F7F1D9C-215B-A511-6998-A08BDD0E31DA}"/>
              </a:ext>
            </a:extLst>
          </p:cNvPr>
          <p:cNvSpPr txBox="1"/>
          <p:nvPr/>
        </p:nvSpPr>
        <p:spPr>
          <a:xfrm>
            <a:off x="6898100" y="6444680"/>
            <a:ext cx="5082482" cy="369332"/>
          </a:xfrm>
          <a:prstGeom prst="rect">
            <a:avLst/>
          </a:prstGeom>
          <a:noFill/>
        </p:spPr>
        <p:txBody>
          <a:bodyPr wrap="none" rtlCol="0">
            <a:spAutoFit/>
          </a:bodyPr>
          <a:lstStyle/>
          <a:p>
            <a:r>
              <a:rPr lang="en-US" dirty="0"/>
              <a:t>https://cacm.acm.org/opinion/what-is-programming/</a:t>
            </a:r>
          </a:p>
        </p:txBody>
      </p:sp>
    </p:spTree>
    <p:extLst>
      <p:ext uri="{BB962C8B-B14F-4D97-AF65-F5344CB8AC3E}">
        <p14:creationId xmlns:p14="http://schemas.microsoft.com/office/powerpoint/2010/main" val="188635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5" name="Picture 4" descr="3D black question marks with one yellow question mark">
            <a:extLst>
              <a:ext uri="{FF2B5EF4-FFF2-40B4-BE49-F238E27FC236}">
                <a16:creationId xmlns:a16="http://schemas.microsoft.com/office/drawing/2014/main" id="{7BEAA98C-DFB7-E6B1-8C2E-5DEE874ADDBD}"/>
              </a:ext>
            </a:extLst>
          </p:cNvPr>
          <p:cNvPicPr>
            <a:picLocks noChangeAspect="1"/>
          </p:cNvPicPr>
          <p:nvPr/>
        </p:nvPicPr>
        <p:blipFill>
          <a:blip r:embed="rId2"/>
          <a:srcRect t="18" b="4640"/>
          <a:stretch>
            <a:fillRect/>
          </a:stretch>
        </p:blipFill>
        <p:spPr>
          <a:xfrm>
            <a:off x="20" y="10"/>
            <a:ext cx="12191980" cy="4242806"/>
          </a:xfrm>
          <a:prstGeom prst="rect">
            <a:avLst/>
          </a:prstGeom>
        </p:spPr>
      </p:pic>
      <p:sp>
        <p:nvSpPr>
          <p:cNvPr id="2" name="Title 1">
            <a:extLst>
              <a:ext uri="{FF2B5EF4-FFF2-40B4-BE49-F238E27FC236}">
                <a16:creationId xmlns:a16="http://schemas.microsoft.com/office/drawing/2014/main" id="{B90E06E7-0578-A88D-34CF-94CC2D1B46C6}"/>
              </a:ext>
            </a:extLst>
          </p:cNvPr>
          <p:cNvSpPr>
            <a:spLocks noGrp="1"/>
          </p:cNvSpPr>
          <p:nvPr>
            <p:ph type="title"/>
          </p:nvPr>
        </p:nvSpPr>
        <p:spPr>
          <a:xfrm>
            <a:off x="1600200" y="3419936"/>
            <a:ext cx="8991600" cy="1645759"/>
          </a:xfrm>
        </p:spPr>
        <p:txBody>
          <a:bodyPr vert="horz" lIns="274320" tIns="182880" rIns="274320" bIns="182880" rtlCol="0" anchor="ctr" anchorCtr="1">
            <a:normAutofit/>
          </a:bodyPr>
          <a:lstStyle/>
          <a:p>
            <a:r>
              <a:rPr lang="en-US" sz="3800" dirty="0"/>
              <a:t>Questions</a:t>
            </a:r>
          </a:p>
        </p:txBody>
      </p:sp>
    </p:spTree>
    <p:extLst>
      <p:ext uri="{BB962C8B-B14F-4D97-AF65-F5344CB8AC3E}">
        <p14:creationId xmlns:p14="http://schemas.microsoft.com/office/powerpoint/2010/main" val="2805486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3076" name="Picture 4" descr="Hollow Knight: Silksong for Nintendo Switch - Nintendo Official Site for  Canada">
            <a:extLst>
              <a:ext uri="{FF2B5EF4-FFF2-40B4-BE49-F238E27FC236}">
                <a16:creationId xmlns:a16="http://schemas.microsoft.com/office/drawing/2014/main" id="{8CE5EF6A-EF95-7D1C-5AF7-1E7652D596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78" b="26456"/>
          <a:stretch>
            <a:fillRect/>
          </a:stretch>
        </p:blipFill>
        <p:spPr bwMode="auto">
          <a:xfrm>
            <a:off x="20" y="10"/>
            <a:ext cx="12191980" cy="4571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F003D9E-10FC-9EDB-6E8E-3AFD12EC8017}"/>
              </a:ext>
            </a:extLst>
          </p:cNvPr>
          <p:cNvSpPr>
            <a:spLocks noGrp="1"/>
          </p:cNvSpPr>
          <p:nvPr>
            <p:ph type="title"/>
          </p:nvPr>
        </p:nvSpPr>
        <p:spPr>
          <a:xfrm>
            <a:off x="1600200" y="3753529"/>
            <a:ext cx="8991600" cy="1645759"/>
          </a:xfrm>
        </p:spPr>
        <p:txBody>
          <a:bodyPr vert="horz" lIns="274320" tIns="182880" rIns="274320" bIns="182880" rtlCol="0" anchor="ctr" anchorCtr="1">
            <a:normAutofit/>
          </a:bodyPr>
          <a:lstStyle/>
          <a:p>
            <a:r>
              <a:rPr lang="en-US" sz="3800"/>
              <a:t>Is this Computer Science?</a:t>
            </a:r>
          </a:p>
        </p:txBody>
      </p:sp>
    </p:spTree>
    <p:extLst>
      <p:ext uri="{BB962C8B-B14F-4D97-AF65-F5344CB8AC3E}">
        <p14:creationId xmlns:p14="http://schemas.microsoft.com/office/powerpoint/2010/main" val="118740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5134" name="Rectangle 5133">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Hollow Knight: Silksong: Final Audience &amp; Second Sentinel Guide &amp;  Walkthrough">
            <a:extLst>
              <a:ext uri="{FF2B5EF4-FFF2-40B4-BE49-F238E27FC236}">
                <a16:creationId xmlns:a16="http://schemas.microsoft.com/office/drawing/2014/main" id="{CA37CC79-4272-F844-6A4A-5F1CB9F4D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635" r="19512"/>
          <a:stretch>
            <a:fillRect/>
          </a:stretch>
        </p:blipFill>
        <p:spPr bwMode="auto">
          <a:xfrm>
            <a:off x="4650909" y="10"/>
            <a:ext cx="7541090" cy="6857989"/>
          </a:xfrm>
          <a:prstGeom prst="rect">
            <a:avLst/>
          </a:prstGeom>
          <a:noFill/>
          <a:extLst>
            <a:ext uri="{909E8E84-426E-40DD-AFC4-6F175D3DCCD1}">
              <a14:hiddenFill xmlns:a14="http://schemas.microsoft.com/office/drawing/2010/main">
                <a:solidFill>
                  <a:srgbClr val="FFFFFF"/>
                </a:solidFill>
              </a14:hiddenFill>
            </a:ext>
          </a:extLst>
        </p:spPr>
      </p:pic>
      <p:sp>
        <p:nvSpPr>
          <p:cNvPr id="5136" name="Rectangle 5135">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3B1EED-E386-19AA-97AA-E533BD6B86C9}"/>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CA" dirty="0">
                <a:solidFill>
                  <a:schemeClr val="bg1"/>
                </a:solidFill>
              </a:rPr>
              <a:t>Gaming as Computer</a:t>
            </a:r>
            <a:br>
              <a:rPr lang="en-CA" dirty="0">
                <a:solidFill>
                  <a:schemeClr val="bg1"/>
                </a:solidFill>
              </a:rPr>
            </a:br>
            <a:r>
              <a:rPr lang="en-CA" dirty="0">
                <a:solidFill>
                  <a:schemeClr val="bg1"/>
                </a:solidFill>
              </a:rPr>
              <a:t>Science</a:t>
            </a:r>
          </a:p>
        </p:txBody>
      </p:sp>
      <p:sp>
        <p:nvSpPr>
          <p:cNvPr id="3" name="Content Placeholder 2">
            <a:extLst>
              <a:ext uri="{FF2B5EF4-FFF2-40B4-BE49-F238E27FC236}">
                <a16:creationId xmlns:a16="http://schemas.microsoft.com/office/drawing/2014/main" id="{CB4906AA-DFF0-8554-53C7-4AD8441F1833}"/>
              </a:ext>
            </a:extLst>
          </p:cNvPr>
          <p:cNvSpPr>
            <a:spLocks noGrp="1"/>
          </p:cNvSpPr>
          <p:nvPr>
            <p:ph idx="1"/>
          </p:nvPr>
        </p:nvSpPr>
        <p:spPr>
          <a:xfrm>
            <a:off x="643468" y="2638044"/>
            <a:ext cx="3363974" cy="3415622"/>
          </a:xfrm>
        </p:spPr>
        <p:txBody>
          <a:bodyPr>
            <a:normAutofit fontScale="92500" lnSpcReduction="10000"/>
          </a:bodyPr>
          <a:lstStyle/>
          <a:p>
            <a:r>
              <a:rPr lang="en-CA" dirty="0">
                <a:solidFill>
                  <a:schemeClr val="bg1"/>
                </a:solidFill>
              </a:rPr>
              <a:t>Rendering screens and backgrounds</a:t>
            </a:r>
          </a:p>
          <a:p>
            <a:r>
              <a:rPr lang="en-CA" dirty="0">
                <a:solidFill>
                  <a:schemeClr val="bg1"/>
                </a:solidFill>
              </a:rPr>
              <a:t>Moving sprites (characters) with predictable physics</a:t>
            </a:r>
          </a:p>
          <a:p>
            <a:r>
              <a:rPr lang="en-CA" dirty="0">
                <a:solidFill>
                  <a:schemeClr val="bg1"/>
                </a:solidFill>
              </a:rPr>
              <a:t>Responses and patterns for enemies and bosses for players to react to actions</a:t>
            </a:r>
          </a:p>
          <a:p>
            <a:r>
              <a:rPr lang="en-CA" dirty="0">
                <a:solidFill>
                  <a:schemeClr val="bg1"/>
                </a:solidFill>
              </a:rPr>
              <a:t>Pathfinding algorithms for the various targeting weapons </a:t>
            </a:r>
          </a:p>
          <a:p>
            <a:r>
              <a:rPr lang="en-CA" dirty="0">
                <a:solidFill>
                  <a:schemeClr val="bg1"/>
                </a:solidFill>
              </a:rPr>
              <a:t>Creating an interface for players to translate what they want to do to the character</a:t>
            </a:r>
          </a:p>
        </p:txBody>
      </p:sp>
    </p:spTree>
    <p:extLst>
      <p:ext uri="{BB962C8B-B14F-4D97-AF65-F5344CB8AC3E}">
        <p14:creationId xmlns:p14="http://schemas.microsoft.com/office/powerpoint/2010/main" val="326742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887553-D04C-1694-60C9-EEEB19C086CC}"/>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800">
                <a:solidFill>
                  <a:schemeClr val="bg1"/>
                </a:solidFill>
              </a:rPr>
              <a:t>Is this Computer Science?</a:t>
            </a:r>
          </a:p>
        </p:txBody>
      </p:sp>
      <p:pic>
        <p:nvPicPr>
          <p:cNvPr id="2050" name="Picture 2">
            <a:extLst>
              <a:ext uri="{FF2B5EF4-FFF2-40B4-BE49-F238E27FC236}">
                <a16:creationId xmlns:a16="http://schemas.microsoft.com/office/drawing/2014/main" id="{9E070C01-6E0B-A314-6F02-81E9F5B15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074" r="-2" b="33104"/>
          <a:stretch>
            <a:fillRect/>
          </a:stretch>
        </p:blipFill>
        <p:spPr bwMode="auto">
          <a:xfrm>
            <a:off x="4654297" y="10"/>
            <a:ext cx="7537702" cy="6857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17301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82FDCCE-C803-184C-C5A1-E152AA325D21}"/>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77D5D51-55CB-D60D-67AB-E517C753C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316" r="15733" b="2"/>
          <a:stretch>
            <a:fillRect/>
          </a:stretch>
        </p:blipFill>
        <p:spPr bwMode="auto">
          <a:xfrm>
            <a:off x="4650909" y="10"/>
            <a:ext cx="7541090" cy="6857989"/>
          </a:xfrm>
          <a:prstGeom prst="rect">
            <a:avLst/>
          </a:prstGeom>
          <a:noFill/>
          <a:extLst>
            <a:ext uri="{909E8E84-426E-40DD-AFC4-6F175D3DCCD1}">
              <a14:hiddenFill xmlns:a14="http://schemas.microsoft.com/office/drawing/2010/main">
                <a:solidFill>
                  <a:srgbClr val="FFFFFF"/>
                </a:solidFill>
              </a14:hiddenFill>
            </a:ext>
          </a:extLst>
        </p:spPr>
      </p:pic>
      <p:sp>
        <p:nvSpPr>
          <p:cNvPr id="4112" name="Rectangle 41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A91F67-4726-112C-DD63-E88884CBADE6}"/>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chorCtr="1">
            <a:normAutofit/>
          </a:bodyPr>
          <a:lstStyle/>
          <a:p>
            <a:r>
              <a:rPr lang="en-US" dirty="0">
                <a:solidFill>
                  <a:schemeClr val="bg1"/>
                </a:solidFill>
              </a:rPr>
              <a:t>3D Animation</a:t>
            </a:r>
          </a:p>
        </p:txBody>
      </p:sp>
      <p:sp>
        <p:nvSpPr>
          <p:cNvPr id="4" name="Content Placeholder 3">
            <a:extLst>
              <a:ext uri="{FF2B5EF4-FFF2-40B4-BE49-F238E27FC236}">
                <a16:creationId xmlns:a16="http://schemas.microsoft.com/office/drawing/2014/main" id="{76ED6FA3-32E3-3B5B-AD94-E4C6ABD10B74}"/>
              </a:ext>
            </a:extLst>
          </p:cNvPr>
          <p:cNvSpPr>
            <a:spLocks noGrp="1"/>
          </p:cNvSpPr>
          <p:nvPr>
            <p:ph idx="1"/>
          </p:nvPr>
        </p:nvSpPr>
        <p:spPr>
          <a:xfrm>
            <a:off x="643468" y="2638044"/>
            <a:ext cx="3363974" cy="3415622"/>
          </a:xfrm>
        </p:spPr>
        <p:txBody>
          <a:bodyPr vert="horz" lIns="91440" tIns="45720" rIns="91440" bIns="45720" rtlCol="0">
            <a:normAutofit/>
          </a:bodyPr>
          <a:lstStyle/>
          <a:p>
            <a:pPr>
              <a:lnSpc>
                <a:spcPct val="90000"/>
              </a:lnSpc>
            </a:pPr>
            <a:r>
              <a:rPr lang="en-US" sz="1500" u="sng">
                <a:solidFill>
                  <a:schemeClr val="bg1"/>
                </a:solidFill>
              </a:rPr>
              <a:t>Application of Computer Graphics</a:t>
            </a:r>
          </a:p>
          <a:p>
            <a:pPr marL="285750">
              <a:lnSpc>
                <a:spcPct val="90000"/>
              </a:lnSpc>
            </a:pPr>
            <a:r>
              <a:rPr lang="en-US" sz="1500">
                <a:solidFill>
                  <a:schemeClr val="bg1"/>
                </a:solidFill>
              </a:rPr>
              <a:t>Rendering millions of triangles together to make complex shapes</a:t>
            </a:r>
          </a:p>
          <a:p>
            <a:pPr marL="285750">
              <a:lnSpc>
                <a:spcPct val="90000"/>
              </a:lnSpc>
            </a:pPr>
            <a:r>
              <a:rPr lang="en-US" sz="1500">
                <a:solidFill>
                  <a:schemeClr val="bg1"/>
                </a:solidFill>
              </a:rPr>
              <a:t>Movement of triangles throughout coordinate systems to create animation</a:t>
            </a:r>
          </a:p>
          <a:p>
            <a:pPr marL="285750">
              <a:lnSpc>
                <a:spcPct val="90000"/>
              </a:lnSpc>
            </a:pPr>
            <a:r>
              <a:rPr lang="en-US" sz="1500">
                <a:solidFill>
                  <a:schemeClr val="bg1"/>
                </a:solidFill>
              </a:rPr>
              <a:t>3D modelling mapping mathematical coordinates to represent objects</a:t>
            </a:r>
          </a:p>
          <a:p>
            <a:pPr marL="285750">
              <a:lnSpc>
                <a:spcPct val="90000"/>
              </a:lnSpc>
            </a:pPr>
            <a:r>
              <a:rPr lang="en-US" sz="1500">
                <a:solidFill>
                  <a:schemeClr val="bg1"/>
                </a:solidFill>
              </a:rPr>
              <a:t>Mapping textures onto the models</a:t>
            </a:r>
          </a:p>
          <a:p>
            <a:pPr marL="285750">
              <a:lnSpc>
                <a:spcPct val="90000"/>
              </a:lnSpc>
            </a:pPr>
            <a:r>
              <a:rPr lang="en-US" sz="1500">
                <a:solidFill>
                  <a:schemeClr val="bg1"/>
                </a:solidFill>
              </a:rPr>
              <a:t>Motion capture mapping hundreds of dots onto the models</a:t>
            </a:r>
          </a:p>
          <a:p>
            <a:pPr>
              <a:lnSpc>
                <a:spcPct val="90000"/>
              </a:lnSpc>
            </a:pPr>
            <a:endParaRPr lang="en-US" sz="1500">
              <a:solidFill>
                <a:schemeClr val="bg1"/>
              </a:solidFill>
            </a:endParaRPr>
          </a:p>
        </p:txBody>
      </p:sp>
    </p:spTree>
    <p:extLst>
      <p:ext uri="{BB962C8B-B14F-4D97-AF65-F5344CB8AC3E}">
        <p14:creationId xmlns:p14="http://schemas.microsoft.com/office/powerpoint/2010/main" val="1382070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A3CC36C-210F-452E-B0C6-CAE94609D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4900"/>
            <a:ext cx="12192000" cy="19431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FD77E017-7BFF-4018-BF75-AF8C6DDF0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918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AEAFA-54AD-0ACB-16FC-B0908525AF54}"/>
              </a:ext>
            </a:extLst>
          </p:cNvPr>
          <p:cNvSpPr>
            <a:spLocks noGrp="1"/>
          </p:cNvSpPr>
          <p:nvPr>
            <p:ph type="title"/>
          </p:nvPr>
        </p:nvSpPr>
        <p:spPr>
          <a:xfrm>
            <a:off x="2231136" y="4325791"/>
            <a:ext cx="7729728" cy="1188720"/>
          </a:xfrm>
        </p:spPr>
        <p:txBody>
          <a:bodyPr>
            <a:normAutofit/>
          </a:bodyPr>
          <a:lstStyle/>
          <a:p>
            <a:r>
              <a:rPr lang="en-US" dirty="0"/>
              <a:t>Group Work ~3 minutes</a:t>
            </a:r>
          </a:p>
        </p:txBody>
      </p:sp>
      <p:graphicFrame>
        <p:nvGraphicFramePr>
          <p:cNvPr id="5" name="Content Placeholder 2">
            <a:extLst>
              <a:ext uri="{FF2B5EF4-FFF2-40B4-BE49-F238E27FC236}">
                <a16:creationId xmlns:a16="http://schemas.microsoft.com/office/drawing/2014/main" id="{8164C9F5-8C94-F101-5CA7-448824A8C90B}"/>
              </a:ext>
            </a:extLst>
          </p:cNvPr>
          <p:cNvGraphicFramePr>
            <a:graphicFrameLocks noGrp="1"/>
          </p:cNvGraphicFramePr>
          <p:nvPr>
            <p:ph idx="1"/>
            <p:extLst>
              <p:ext uri="{D42A27DB-BD31-4B8C-83A1-F6EECF244321}">
                <p14:modId xmlns:p14="http://schemas.microsoft.com/office/powerpoint/2010/main" val="3109929911"/>
              </p:ext>
            </p:extLst>
          </p:nvPr>
        </p:nvGraphicFramePr>
        <p:xfrm>
          <a:off x="921592" y="941466"/>
          <a:ext cx="10340658" cy="2788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3251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5D2A46-5FD4-60B9-E099-D16E7F122D81}"/>
              </a:ext>
            </a:extLst>
          </p:cNvPr>
          <p:cNvSpPr>
            <a:spLocks noGrp="1"/>
          </p:cNvSpPr>
          <p:nvPr>
            <p:ph type="title"/>
          </p:nvPr>
        </p:nvSpPr>
        <p:spPr>
          <a:xfrm>
            <a:off x="1120624" y="1122807"/>
            <a:ext cx="9954443" cy="4297680"/>
          </a:xfrm>
          <a:noFill/>
          <a:ln>
            <a:noFill/>
          </a:ln>
        </p:spPr>
        <p:txBody>
          <a:bodyPr vert="horz" lIns="182880" tIns="182880" rIns="182880" bIns="182880" rtlCol="0" anchor="ctr">
            <a:normAutofit/>
          </a:bodyPr>
          <a:lstStyle/>
          <a:p>
            <a:r>
              <a:rPr lang="en-US" sz="6000" kern="1200" cap="all" spc="200" baseline="0" dirty="0">
                <a:solidFill>
                  <a:srgbClr val="FFFFFF"/>
                </a:solidFill>
                <a:latin typeface="+mj-lt"/>
                <a:ea typeface="+mj-ea"/>
                <a:cs typeface="+mj-cs"/>
              </a:rPr>
              <a:t>Discussion</a:t>
            </a:r>
          </a:p>
        </p:txBody>
      </p:sp>
    </p:spTree>
    <p:extLst>
      <p:ext uri="{BB962C8B-B14F-4D97-AF65-F5344CB8AC3E}">
        <p14:creationId xmlns:p14="http://schemas.microsoft.com/office/powerpoint/2010/main" val="26684369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52821</TotalTime>
  <Words>3410</Words>
  <Application>Microsoft Office PowerPoint</Application>
  <PresentationFormat>Widescreen</PresentationFormat>
  <Paragraphs>357</Paragraphs>
  <Slides>38</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Arial</vt:lpstr>
      <vt:lpstr>Courier New</vt:lpstr>
      <vt:lpstr>Gill Sans MT</vt:lpstr>
      <vt:lpstr>Parcel</vt:lpstr>
      <vt:lpstr>Lecture Objectives</vt:lpstr>
      <vt:lpstr>Lecture Preparation</vt:lpstr>
      <vt:lpstr>Course Introduction</vt:lpstr>
      <vt:lpstr>Instructors</vt:lpstr>
      <vt:lpstr>Course Description</vt:lpstr>
      <vt:lpstr>Learning Objectives</vt:lpstr>
      <vt:lpstr>Moodle</vt:lpstr>
      <vt:lpstr>Syllabus Overview</vt:lpstr>
      <vt:lpstr>Grading</vt:lpstr>
      <vt:lpstr>Pass the Tests</vt:lpstr>
      <vt:lpstr>FAQ</vt:lpstr>
      <vt:lpstr>Midterm Tests</vt:lpstr>
      <vt:lpstr>Academic DISHonesty</vt:lpstr>
      <vt:lpstr>Academic Dishonesty</vt:lpstr>
      <vt:lpstr>Accessibility</vt:lpstr>
      <vt:lpstr>Lectures</vt:lpstr>
      <vt:lpstr>Participation</vt:lpstr>
      <vt:lpstr>Participation FAQ</vt:lpstr>
      <vt:lpstr>Labs</vt:lpstr>
      <vt:lpstr>Homework</vt:lpstr>
      <vt:lpstr>Environment</vt:lpstr>
      <vt:lpstr>How to be successful</vt:lpstr>
      <vt:lpstr>IS CS 1910 Easy or Hard?</vt:lpstr>
      <vt:lpstr>PowerPoint Presentation</vt:lpstr>
      <vt:lpstr>Course Goals</vt:lpstr>
      <vt:lpstr>Extra Comment on AI</vt:lpstr>
      <vt:lpstr>Expectations</vt:lpstr>
      <vt:lpstr>Big Picture Course Assessment</vt:lpstr>
      <vt:lpstr>Success Anecdotes</vt:lpstr>
      <vt:lpstr>FAQ: What should I practice?</vt:lpstr>
      <vt:lpstr>Programming</vt:lpstr>
      <vt:lpstr>Questions</vt:lpstr>
      <vt:lpstr>Is this Computer Science?</vt:lpstr>
      <vt:lpstr>Gaming as Computer Science</vt:lpstr>
      <vt:lpstr>Is this Computer Science?</vt:lpstr>
      <vt:lpstr>3D Animation</vt:lpstr>
      <vt:lpstr>Group Work ~3 minutes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1</cp:revision>
  <cp:lastPrinted>2025-09-03T16:09:52Z</cp:lastPrinted>
  <dcterms:created xsi:type="dcterms:W3CDTF">2025-05-21T13:02:24Z</dcterms:created>
  <dcterms:modified xsi:type="dcterms:W3CDTF">2026-09-08T14:12:56Z</dcterms:modified>
</cp:coreProperties>
</file>