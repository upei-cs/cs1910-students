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43"/>
  </p:notesMasterIdLst>
  <p:sldIdLst>
    <p:sldId id="313" r:id="rId2"/>
    <p:sldId id="272" r:id="rId3"/>
    <p:sldId id="257" r:id="rId4"/>
    <p:sldId id="259" r:id="rId5"/>
    <p:sldId id="258" r:id="rId6"/>
    <p:sldId id="260" r:id="rId7"/>
    <p:sldId id="275" r:id="rId8"/>
    <p:sldId id="274" r:id="rId9"/>
    <p:sldId id="262" r:id="rId10"/>
    <p:sldId id="264" r:id="rId11"/>
    <p:sldId id="265" r:id="rId12"/>
    <p:sldId id="282" r:id="rId13"/>
    <p:sldId id="273" r:id="rId14"/>
    <p:sldId id="283" r:id="rId15"/>
    <p:sldId id="284" r:id="rId16"/>
    <p:sldId id="289" r:id="rId17"/>
    <p:sldId id="290" r:id="rId18"/>
    <p:sldId id="291" r:id="rId19"/>
    <p:sldId id="286" r:id="rId20"/>
    <p:sldId id="292" r:id="rId21"/>
    <p:sldId id="293" r:id="rId22"/>
    <p:sldId id="296" r:id="rId23"/>
    <p:sldId id="297" r:id="rId24"/>
    <p:sldId id="279" r:id="rId25"/>
    <p:sldId id="280" r:id="rId26"/>
    <p:sldId id="270" r:id="rId27"/>
    <p:sldId id="304" r:id="rId28"/>
    <p:sldId id="298" r:id="rId29"/>
    <p:sldId id="299" r:id="rId30"/>
    <p:sldId id="300" r:id="rId31"/>
    <p:sldId id="301" r:id="rId32"/>
    <p:sldId id="302" r:id="rId33"/>
    <p:sldId id="303" r:id="rId34"/>
    <p:sldId id="277" r:id="rId35"/>
    <p:sldId id="295" r:id="rId36"/>
    <p:sldId id="294" r:id="rId37"/>
    <p:sldId id="276" r:id="rId38"/>
    <p:sldId id="267" r:id="rId39"/>
    <p:sldId id="268" r:id="rId40"/>
    <p:sldId id="269" r:id="rId41"/>
    <p:sldId id="271"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993987-7112-4A33-95D7-9C1616D70A54}" v="1" dt="2026-07-23T02:16:12.5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47"/>
    <p:restoredTop sz="75424" autoAdjust="0"/>
  </p:normalViewPr>
  <p:slideViewPr>
    <p:cSldViewPr snapToGrid="0">
      <p:cViewPr varScale="1">
        <p:scale>
          <a:sx n="83" d="100"/>
          <a:sy n="83" d="100"/>
        </p:scale>
        <p:origin x="135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Power" userId="83706efc-52ec-4aad-b93a-e27c6e901a30" providerId="ADAL" clId="{97D26654-64D5-4042-8583-A5886BB6B01E}"/>
    <pc:docChg chg="undo custSel addSld delSld modSld sldOrd">
      <pc:chgData name="Christopher Power" userId="83706efc-52ec-4aad-b93a-e27c6e901a30" providerId="ADAL" clId="{97D26654-64D5-4042-8583-A5886BB6B01E}" dt="2026-07-23T02:16:29.231" v="7386" actId="47"/>
      <pc:docMkLst>
        <pc:docMk/>
      </pc:docMkLst>
      <pc:sldChg chg="del">
        <pc:chgData name="Christopher Power" userId="83706efc-52ec-4aad-b93a-e27c6e901a30" providerId="ADAL" clId="{97D26654-64D5-4042-8583-A5886BB6B01E}" dt="2026-07-23T02:16:29.231" v="7386" actId="47"/>
        <pc:sldMkLst>
          <pc:docMk/>
          <pc:sldMk cId="2180809870" sldId="256"/>
        </pc:sldMkLst>
      </pc:sldChg>
      <pc:sldChg chg="modSp add mod">
        <pc:chgData name="Christopher Power" userId="83706efc-52ec-4aad-b93a-e27c6e901a30" providerId="ADAL" clId="{97D26654-64D5-4042-8583-A5886BB6B01E}" dt="2026-07-23T02:16:25.547" v="7385" actId="20577"/>
        <pc:sldMkLst>
          <pc:docMk/>
          <pc:sldMk cId="3002068836" sldId="313"/>
        </pc:sldMkLst>
        <pc:spChg chg="mod">
          <ac:chgData name="Christopher Power" userId="83706efc-52ec-4aad-b93a-e27c6e901a30" providerId="ADAL" clId="{97D26654-64D5-4042-8583-A5886BB6B01E}" dt="2026-07-23T02:16:25.547" v="7385" actId="20577"/>
          <ac:spMkLst>
            <pc:docMk/>
            <pc:sldMk cId="3002068836" sldId="313"/>
            <ac:spMk id="2" creationId="{C93DC5BA-038A-1370-693A-933684213ED6}"/>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799980-F04F-44E8-9C73-E3620FDBCBAC}"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F086422-F544-404F-861B-8CFA4E17FF7A}">
      <dgm:prSet/>
      <dgm:spPr/>
      <dgm:t>
        <a:bodyPr/>
        <a:lstStyle/>
        <a:p>
          <a:r>
            <a:rPr lang="en-US"/>
            <a:t>Computer Science is fundamentally about solving problems</a:t>
          </a:r>
        </a:p>
      </dgm:t>
    </dgm:pt>
    <dgm:pt modelId="{7098371E-09B3-424D-BF7E-0351611E8163}" type="parTrans" cxnId="{0B4F3154-1DCB-46CC-85C6-5F32F8B4D00F}">
      <dgm:prSet/>
      <dgm:spPr/>
      <dgm:t>
        <a:bodyPr/>
        <a:lstStyle/>
        <a:p>
          <a:endParaRPr lang="en-US"/>
        </a:p>
      </dgm:t>
    </dgm:pt>
    <dgm:pt modelId="{68CD4909-9FB2-4023-B924-0EC64020359D}" type="sibTrans" cxnId="{0B4F3154-1DCB-46CC-85C6-5F32F8B4D00F}">
      <dgm:prSet/>
      <dgm:spPr/>
      <dgm:t>
        <a:bodyPr/>
        <a:lstStyle/>
        <a:p>
          <a:endParaRPr lang="en-US"/>
        </a:p>
      </dgm:t>
    </dgm:pt>
    <dgm:pt modelId="{895FFFD4-D1D6-4834-A6F3-3B86F2476290}">
      <dgm:prSet/>
      <dgm:spPr/>
      <dgm:t>
        <a:bodyPr/>
        <a:lstStyle/>
        <a:p>
          <a:r>
            <a:rPr lang="en-US"/>
            <a:t>We use computers and programming to automate solutions</a:t>
          </a:r>
        </a:p>
      </dgm:t>
    </dgm:pt>
    <dgm:pt modelId="{871DE34F-B75D-4AAC-BC8C-7470E0607B1A}" type="parTrans" cxnId="{E40ACEB2-84BA-423E-AF16-855E3AB7682D}">
      <dgm:prSet/>
      <dgm:spPr/>
      <dgm:t>
        <a:bodyPr/>
        <a:lstStyle/>
        <a:p>
          <a:endParaRPr lang="en-US"/>
        </a:p>
      </dgm:t>
    </dgm:pt>
    <dgm:pt modelId="{C992EC42-F4BA-4DB7-B9E5-18CA0BB32147}" type="sibTrans" cxnId="{E40ACEB2-84BA-423E-AF16-855E3AB7682D}">
      <dgm:prSet/>
      <dgm:spPr/>
      <dgm:t>
        <a:bodyPr/>
        <a:lstStyle/>
        <a:p>
          <a:endParaRPr lang="en-US"/>
        </a:p>
      </dgm:t>
    </dgm:pt>
    <dgm:pt modelId="{63B20B17-8D8B-4D1C-BE19-A43990C195E6}">
      <dgm:prSet/>
      <dgm:spPr/>
      <dgm:t>
        <a:bodyPr/>
        <a:lstStyle/>
        <a:p>
          <a:r>
            <a:rPr lang="en-US"/>
            <a:t>How do we get from a problem idea to working code</a:t>
          </a:r>
        </a:p>
      </dgm:t>
    </dgm:pt>
    <dgm:pt modelId="{0BFB5F29-456C-4D87-98F4-9F261B59CAE1}" type="parTrans" cxnId="{B008998D-7195-42FF-AF80-08557B4F5ED8}">
      <dgm:prSet/>
      <dgm:spPr/>
      <dgm:t>
        <a:bodyPr/>
        <a:lstStyle/>
        <a:p>
          <a:endParaRPr lang="en-US"/>
        </a:p>
      </dgm:t>
    </dgm:pt>
    <dgm:pt modelId="{2A2896D0-22BA-407A-A56C-6A2491DA2A9C}" type="sibTrans" cxnId="{B008998D-7195-42FF-AF80-08557B4F5ED8}">
      <dgm:prSet/>
      <dgm:spPr/>
      <dgm:t>
        <a:bodyPr/>
        <a:lstStyle/>
        <a:p>
          <a:endParaRPr lang="en-US"/>
        </a:p>
      </dgm:t>
    </dgm:pt>
    <dgm:pt modelId="{B3D22D10-F024-49E1-A8F4-10C3F9A609F4}">
      <dgm:prSet/>
      <dgm:spPr/>
      <dgm:t>
        <a:bodyPr/>
        <a:lstStyle/>
        <a:p>
          <a:r>
            <a:rPr lang="en-US"/>
            <a:t>A structured problem-solving process</a:t>
          </a:r>
        </a:p>
      </dgm:t>
    </dgm:pt>
    <dgm:pt modelId="{24CFD229-788A-4B14-B71F-FC05B3277C9C}" type="parTrans" cxnId="{ED40C4B6-8F26-49F3-8271-7003CA3A2669}">
      <dgm:prSet/>
      <dgm:spPr/>
      <dgm:t>
        <a:bodyPr/>
        <a:lstStyle/>
        <a:p>
          <a:endParaRPr lang="en-US"/>
        </a:p>
      </dgm:t>
    </dgm:pt>
    <dgm:pt modelId="{5D7F733F-1EA7-421D-A4DC-B546C2008712}" type="sibTrans" cxnId="{ED40C4B6-8F26-49F3-8271-7003CA3A2669}">
      <dgm:prSet/>
      <dgm:spPr/>
      <dgm:t>
        <a:bodyPr/>
        <a:lstStyle/>
        <a:p>
          <a:endParaRPr lang="en-US"/>
        </a:p>
      </dgm:t>
    </dgm:pt>
    <dgm:pt modelId="{2227810C-7C20-4510-A69B-75DE6CDCA764}" type="pres">
      <dgm:prSet presAssocID="{C7799980-F04F-44E8-9C73-E3620FDBCBAC}" presName="root" presStyleCnt="0">
        <dgm:presLayoutVars>
          <dgm:dir/>
          <dgm:resizeHandles val="exact"/>
        </dgm:presLayoutVars>
      </dgm:prSet>
      <dgm:spPr/>
    </dgm:pt>
    <dgm:pt modelId="{AA381A6E-1D0A-4718-9CA6-BB70326A800A}" type="pres">
      <dgm:prSet presAssocID="{0F086422-F544-404F-861B-8CFA4E17FF7A}" presName="compNode" presStyleCnt="0"/>
      <dgm:spPr/>
    </dgm:pt>
    <dgm:pt modelId="{07A508A8-1BF4-4278-98A5-6A382FD46FA2}" type="pres">
      <dgm:prSet presAssocID="{0F086422-F544-404F-861B-8CFA4E17FF7A}"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omputer"/>
        </a:ext>
      </dgm:extLst>
    </dgm:pt>
    <dgm:pt modelId="{B7ADF353-7742-4B96-8C40-FA49F7D33C6D}" type="pres">
      <dgm:prSet presAssocID="{0F086422-F544-404F-861B-8CFA4E17FF7A}" presName="spaceRect" presStyleCnt="0"/>
      <dgm:spPr/>
    </dgm:pt>
    <dgm:pt modelId="{198A6E7B-950A-4AFA-8FAA-BEAF57A0305D}" type="pres">
      <dgm:prSet presAssocID="{0F086422-F544-404F-861B-8CFA4E17FF7A}" presName="textRect" presStyleLbl="revTx" presStyleIdx="0" presStyleCnt="4">
        <dgm:presLayoutVars>
          <dgm:chMax val="1"/>
          <dgm:chPref val="1"/>
        </dgm:presLayoutVars>
      </dgm:prSet>
      <dgm:spPr/>
    </dgm:pt>
    <dgm:pt modelId="{645AD9FF-95D0-4FDC-8991-3644E6F2FF1C}" type="pres">
      <dgm:prSet presAssocID="{68CD4909-9FB2-4023-B924-0EC64020359D}" presName="sibTrans" presStyleCnt="0"/>
      <dgm:spPr/>
    </dgm:pt>
    <dgm:pt modelId="{836B6D42-0673-45ED-9CC3-B7FEABB37B92}" type="pres">
      <dgm:prSet presAssocID="{895FFFD4-D1D6-4834-A6F3-3B86F2476290}" presName="compNode" presStyleCnt="0"/>
      <dgm:spPr/>
    </dgm:pt>
    <dgm:pt modelId="{6A020A4D-21A1-4A1F-8ED0-6546CE43FA83}" type="pres">
      <dgm:prSet presAssocID="{895FFFD4-D1D6-4834-A6F3-3B86F2476290}"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F135E9D7-AC85-4B0F-A2B7-CEFB9F544C38}" type="pres">
      <dgm:prSet presAssocID="{895FFFD4-D1D6-4834-A6F3-3B86F2476290}" presName="spaceRect" presStyleCnt="0"/>
      <dgm:spPr/>
    </dgm:pt>
    <dgm:pt modelId="{3A849F2B-D690-4EE8-980C-9BDEE2BA96E4}" type="pres">
      <dgm:prSet presAssocID="{895FFFD4-D1D6-4834-A6F3-3B86F2476290}" presName="textRect" presStyleLbl="revTx" presStyleIdx="1" presStyleCnt="4">
        <dgm:presLayoutVars>
          <dgm:chMax val="1"/>
          <dgm:chPref val="1"/>
        </dgm:presLayoutVars>
      </dgm:prSet>
      <dgm:spPr/>
    </dgm:pt>
    <dgm:pt modelId="{38C11E67-163B-4F01-9A25-F6685E6ADFDF}" type="pres">
      <dgm:prSet presAssocID="{C992EC42-F4BA-4DB7-B9E5-18CA0BB32147}" presName="sibTrans" presStyleCnt="0"/>
      <dgm:spPr/>
    </dgm:pt>
    <dgm:pt modelId="{C62F8781-5354-46D3-89EB-02A824B19BC0}" type="pres">
      <dgm:prSet presAssocID="{63B20B17-8D8B-4D1C-BE19-A43990C195E6}" presName="compNode" presStyleCnt="0"/>
      <dgm:spPr/>
    </dgm:pt>
    <dgm:pt modelId="{B68389A9-4E17-4F53-944E-3E8963E6067E}" type="pres">
      <dgm:prSet presAssocID="{63B20B17-8D8B-4D1C-BE19-A43990C195E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ightbulb"/>
        </a:ext>
      </dgm:extLst>
    </dgm:pt>
    <dgm:pt modelId="{6010FE45-A126-438F-A793-9B6B64A75823}" type="pres">
      <dgm:prSet presAssocID="{63B20B17-8D8B-4D1C-BE19-A43990C195E6}" presName="spaceRect" presStyleCnt="0"/>
      <dgm:spPr/>
    </dgm:pt>
    <dgm:pt modelId="{85B2F89A-8D6C-491A-98FF-B927E6A7D0E4}" type="pres">
      <dgm:prSet presAssocID="{63B20B17-8D8B-4D1C-BE19-A43990C195E6}" presName="textRect" presStyleLbl="revTx" presStyleIdx="2" presStyleCnt="4">
        <dgm:presLayoutVars>
          <dgm:chMax val="1"/>
          <dgm:chPref val="1"/>
        </dgm:presLayoutVars>
      </dgm:prSet>
      <dgm:spPr/>
    </dgm:pt>
    <dgm:pt modelId="{F8550CB4-DD9B-4F31-BDC4-64D7C0705A34}" type="pres">
      <dgm:prSet presAssocID="{2A2896D0-22BA-407A-A56C-6A2491DA2A9C}" presName="sibTrans" presStyleCnt="0"/>
      <dgm:spPr/>
    </dgm:pt>
    <dgm:pt modelId="{60D76702-8ECD-410D-BA20-8CC18BC4B1C2}" type="pres">
      <dgm:prSet presAssocID="{B3D22D10-F024-49E1-A8F4-10C3F9A609F4}" presName="compNode" presStyleCnt="0"/>
      <dgm:spPr/>
    </dgm:pt>
    <dgm:pt modelId="{AD83455A-E244-4065-9BBE-FD6E16FBD6E6}" type="pres">
      <dgm:prSet presAssocID="{B3D22D10-F024-49E1-A8F4-10C3F9A609F4}"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AF463F7A-C0DD-4FAF-B733-4683172787A8}" type="pres">
      <dgm:prSet presAssocID="{B3D22D10-F024-49E1-A8F4-10C3F9A609F4}" presName="spaceRect" presStyleCnt="0"/>
      <dgm:spPr/>
    </dgm:pt>
    <dgm:pt modelId="{6C80AC99-AFE8-472B-A8D1-A7693969A904}" type="pres">
      <dgm:prSet presAssocID="{B3D22D10-F024-49E1-A8F4-10C3F9A609F4}" presName="textRect" presStyleLbl="revTx" presStyleIdx="3" presStyleCnt="4">
        <dgm:presLayoutVars>
          <dgm:chMax val="1"/>
          <dgm:chPref val="1"/>
        </dgm:presLayoutVars>
      </dgm:prSet>
      <dgm:spPr/>
    </dgm:pt>
  </dgm:ptLst>
  <dgm:cxnLst>
    <dgm:cxn modelId="{283D1705-AFA3-4289-A19F-965CDF6F33B8}" type="presOf" srcId="{0F086422-F544-404F-861B-8CFA4E17FF7A}" destId="{198A6E7B-950A-4AFA-8FAA-BEAF57A0305D}" srcOrd="0" destOrd="0" presId="urn:microsoft.com/office/officeart/2018/2/layout/IconLabelList"/>
    <dgm:cxn modelId="{422B4152-747D-4379-BFF1-A4A445FFD849}" type="presOf" srcId="{63B20B17-8D8B-4D1C-BE19-A43990C195E6}" destId="{85B2F89A-8D6C-491A-98FF-B927E6A7D0E4}" srcOrd="0" destOrd="0" presId="urn:microsoft.com/office/officeart/2018/2/layout/IconLabelList"/>
    <dgm:cxn modelId="{0B4F3154-1DCB-46CC-85C6-5F32F8B4D00F}" srcId="{C7799980-F04F-44E8-9C73-E3620FDBCBAC}" destId="{0F086422-F544-404F-861B-8CFA4E17FF7A}" srcOrd="0" destOrd="0" parTransId="{7098371E-09B3-424D-BF7E-0351611E8163}" sibTransId="{68CD4909-9FB2-4023-B924-0EC64020359D}"/>
    <dgm:cxn modelId="{62917885-0F64-4A31-9F16-4183FE6581A6}" type="presOf" srcId="{B3D22D10-F024-49E1-A8F4-10C3F9A609F4}" destId="{6C80AC99-AFE8-472B-A8D1-A7693969A904}" srcOrd="0" destOrd="0" presId="urn:microsoft.com/office/officeart/2018/2/layout/IconLabelList"/>
    <dgm:cxn modelId="{B008998D-7195-42FF-AF80-08557B4F5ED8}" srcId="{C7799980-F04F-44E8-9C73-E3620FDBCBAC}" destId="{63B20B17-8D8B-4D1C-BE19-A43990C195E6}" srcOrd="2" destOrd="0" parTransId="{0BFB5F29-456C-4D87-98F4-9F261B59CAE1}" sibTransId="{2A2896D0-22BA-407A-A56C-6A2491DA2A9C}"/>
    <dgm:cxn modelId="{E40ACEB2-84BA-423E-AF16-855E3AB7682D}" srcId="{C7799980-F04F-44E8-9C73-E3620FDBCBAC}" destId="{895FFFD4-D1D6-4834-A6F3-3B86F2476290}" srcOrd="1" destOrd="0" parTransId="{871DE34F-B75D-4AAC-BC8C-7470E0607B1A}" sibTransId="{C992EC42-F4BA-4DB7-B9E5-18CA0BB32147}"/>
    <dgm:cxn modelId="{ED40C4B6-8F26-49F3-8271-7003CA3A2669}" srcId="{C7799980-F04F-44E8-9C73-E3620FDBCBAC}" destId="{B3D22D10-F024-49E1-A8F4-10C3F9A609F4}" srcOrd="3" destOrd="0" parTransId="{24CFD229-788A-4B14-B71F-FC05B3277C9C}" sibTransId="{5D7F733F-1EA7-421D-A4DC-B546C2008712}"/>
    <dgm:cxn modelId="{EC0316D3-FF4D-4D65-B010-AB3803EA8052}" type="presOf" srcId="{895FFFD4-D1D6-4834-A6F3-3B86F2476290}" destId="{3A849F2B-D690-4EE8-980C-9BDEE2BA96E4}" srcOrd="0" destOrd="0" presId="urn:microsoft.com/office/officeart/2018/2/layout/IconLabelList"/>
    <dgm:cxn modelId="{157D84FA-07A7-4ACB-90A7-8AC58A81982A}" type="presOf" srcId="{C7799980-F04F-44E8-9C73-E3620FDBCBAC}" destId="{2227810C-7C20-4510-A69B-75DE6CDCA764}" srcOrd="0" destOrd="0" presId="urn:microsoft.com/office/officeart/2018/2/layout/IconLabelList"/>
    <dgm:cxn modelId="{69A3F4D7-ABA2-4FB9-B9CD-E74379363917}" type="presParOf" srcId="{2227810C-7C20-4510-A69B-75DE6CDCA764}" destId="{AA381A6E-1D0A-4718-9CA6-BB70326A800A}" srcOrd="0" destOrd="0" presId="urn:microsoft.com/office/officeart/2018/2/layout/IconLabelList"/>
    <dgm:cxn modelId="{59F76A1B-AEEF-4ABD-9BB2-A7A8A30C48B7}" type="presParOf" srcId="{AA381A6E-1D0A-4718-9CA6-BB70326A800A}" destId="{07A508A8-1BF4-4278-98A5-6A382FD46FA2}" srcOrd="0" destOrd="0" presId="urn:microsoft.com/office/officeart/2018/2/layout/IconLabelList"/>
    <dgm:cxn modelId="{C4CDAEAE-EC06-4017-8EC8-82E66B2958ED}" type="presParOf" srcId="{AA381A6E-1D0A-4718-9CA6-BB70326A800A}" destId="{B7ADF353-7742-4B96-8C40-FA49F7D33C6D}" srcOrd="1" destOrd="0" presId="urn:microsoft.com/office/officeart/2018/2/layout/IconLabelList"/>
    <dgm:cxn modelId="{CBA93321-DE44-48E4-999C-4CB97FF323CB}" type="presParOf" srcId="{AA381A6E-1D0A-4718-9CA6-BB70326A800A}" destId="{198A6E7B-950A-4AFA-8FAA-BEAF57A0305D}" srcOrd="2" destOrd="0" presId="urn:microsoft.com/office/officeart/2018/2/layout/IconLabelList"/>
    <dgm:cxn modelId="{9C2E691A-81EE-4407-BA9A-1F1407291AE9}" type="presParOf" srcId="{2227810C-7C20-4510-A69B-75DE6CDCA764}" destId="{645AD9FF-95D0-4FDC-8991-3644E6F2FF1C}" srcOrd="1" destOrd="0" presId="urn:microsoft.com/office/officeart/2018/2/layout/IconLabelList"/>
    <dgm:cxn modelId="{09AC95DC-3F71-4177-B999-53E73DDD9E46}" type="presParOf" srcId="{2227810C-7C20-4510-A69B-75DE6CDCA764}" destId="{836B6D42-0673-45ED-9CC3-B7FEABB37B92}" srcOrd="2" destOrd="0" presId="urn:microsoft.com/office/officeart/2018/2/layout/IconLabelList"/>
    <dgm:cxn modelId="{D037D748-DE7F-482F-9310-F3A7F7CAF934}" type="presParOf" srcId="{836B6D42-0673-45ED-9CC3-B7FEABB37B92}" destId="{6A020A4D-21A1-4A1F-8ED0-6546CE43FA83}" srcOrd="0" destOrd="0" presId="urn:microsoft.com/office/officeart/2018/2/layout/IconLabelList"/>
    <dgm:cxn modelId="{F2830CB5-6C12-411F-B548-6D46E01A351D}" type="presParOf" srcId="{836B6D42-0673-45ED-9CC3-B7FEABB37B92}" destId="{F135E9D7-AC85-4B0F-A2B7-CEFB9F544C38}" srcOrd="1" destOrd="0" presId="urn:microsoft.com/office/officeart/2018/2/layout/IconLabelList"/>
    <dgm:cxn modelId="{838F68B7-578F-447D-BCBD-497E29BC82A3}" type="presParOf" srcId="{836B6D42-0673-45ED-9CC3-B7FEABB37B92}" destId="{3A849F2B-D690-4EE8-980C-9BDEE2BA96E4}" srcOrd="2" destOrd="0" presId="urn:microsoft.com/office/officeart/2018/2/layout/IconLabelList"/>
    <dgm:cxn modelId="{A0D8BA44-46B8-4E77-BBC6-62A5DB262C52}" type="presParOf" srcId="{2227810C-7C20-4510-A69B-75DE6CDCA764}" destId="{38C11E67-163B-4F01-9A25-F6685E6ADFDF}" srcOrd="3" destOrd="0" presId="urn:microsoft.com/office/officeart/2018/2/layout/IconLabelList"/>
    <dgm:cxn modelId="{DCB5A96F-B8EA-4C36-AEF1-13CA303C46B1}" type="presParOf" srcId="{2227810C-7C20-4510-A69B-75DE6CDCA764}" destId="{C62F8781-5354-46D3-89EB-02A824B19BC0}" srcOrd="4" destOrd="0" presId="urn:microsoft.com/office/officeart/2018/2/layout/IconLabelList"/>
    <dgm:cxn modelId="{22C32FAE-528D-48A2-8558-B025ADC40FD0}" type="presParOf" srcId="{C62F8781-5354-46D3-89EB-02A824B19BC0}" destId="{B68389A9-4E17-4F53-944E-3E8963E6067E}" srcOrd="0" destOrd="0" presId="urn:microsoft.com/office/officeart/2018/2/layout/IconLabelList"/>
    <dgm:cxn modelId="{24AB2A27-F7B6-432D-844B-552539F4E756}" type="presParOf" srcId="{C62F8781-5354-46D3-89EB-02A824B19BC0}" destId="{6010FE45-A126-438F-A793-9B6B64A75823}" srcOrd="1" destOrd="0" presId="urn:microsoft.com/office/officeart/2018/2/layout/IconLabelList"/>
    <dgm:cxn modelId="{97924E0A-C71F-4C7B-9A91-2A67E1BA3290}" type="presParOf" srcId="{C62F8781-5354-46D3-89EB-02A824B19BC0}" destId="{85B2F89A-8D6C-491A-98FF-B927E6A7D0E4}" srcOrd="2" destOrd="0" presId="urn:microsoft.com/office/officeart/2018/2/layout/IconLabelList"/>
    <dgm:cxn modelId="{B8AF342C-EF28-4213-9867-E1AA353846AF}" type="presParOf" srcId="{2227810C-7C20-4510-A69B-75DE6CDCA764}" destId="{F8550CB4-DD9B-4F31-BDC4-64D7C0705A34}" srcOrd="5" destOrd="0" presId="urn:microsoft.com/office/officeart/2018/2/layout/IconLabelList"/>
    <dgm:cxn modelId="{B3F68300-8956-4D7F-B856-DD59A3525570}" type="presParOf" srcId="{2227810C-7C20-4510-A69B-75DE6CDCA764}" destId="{60D76702-8ECD-410D-BA20-8CC18BC4B1C2}" srcOrd="6" destOrd="0" presId="urn:microsoft.com/office/officeart/2018/2/layout/IconLabelList"/>
    <dgm:cxn modelId="{059D6E01-7208-414B-BD0D-813DCF39A0BC}" type="presParOf" srcId="{60D76702-8ECD-410D-BA20-8CC18BC4B1C2}" destId="{AD83455A-E244-4065-9BBE-FD6E16FBD6E6}" srcOrd="0" destOrd="0" presId="urn:microsoft.com/office/officeart/2018/2/layout/IconLabelList"/>
    <dgm:cxn modelId="{259420E4-127F-4D53-83E0-BBC031544D6C}" type="presParOf" srcId="{60D76702-8ECD-410D-BA20-8CC18BC4B1C2}" destId="{AF463F7A-C0DD-4FAF-B733-4683172787A8}" srcOrd="1" destOrd="0" presId="urn:microsoft.com/office/officeart/2018/2/layout/IconLabelList"/>
    <dgm:cxn modelId="{7743EBA0-41C0-4DBC-BCB6-965532B567D9}" type="presParOf" srcId="{60D76702-8ECD-410D-BA20-8CC18BC4B1C2}" destId="{6C80AC99-AFE8-472B-A8D1-A7693969A904}"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DE3FBC-FA33-45E2-A8C7-B0E41579B3BA}"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9A83A451-4A95-4C03-B6A1-10BF93428D8A}">
      <dgm:prSet/>
      <dgm:spPr/>
      <dgm:t>
        <a:bodyPr/>
        <a:lstStyle/>
        <a:p>
          <a:pPr>
            <a:lnSpc>
              <a:spcPct val="100000"/>
            </a:lnSpc>
          </a:pPr>
          <a:r>
            <a:rPr lang="en-US" dirty="0"/>
            <a:t>Analyze the Problem</a:t>
          </a:r>
        </a:p>
        <a:p>
          <a:pPr>
            <a:lnSpc>
              <a:spcPct val="100000"/>
            </a:lnSpc>
          </a:pPr>
          <a:r>
            <a:rPr lang="en-US" dirty="0"/>
            <a:t>(Understand)</a:t>
          </a:r>
        </a:p>
      </dgm:t>
    </dgm:pt>
    <dgm:pt modelId="{A6C1CAF3-8A1B-416E-A6A5-402540DC4631}" type="parTrans" cxnId="{0DDDCD50-EE1B-4635-9143-E69B0830E871}">
      <dgm:prSet/>
      <dgm:spPr/>
      <dgm:t>
        <a:bodyPr/>
        <a:lstStyle/>
        <a:p>
          <a:endParaRPr lang="en-US"/>
        </a:p>
      </dgm:t>
    </dgm:pt>
    <dgm:pt modelId="{49DCCD20-D7E2-4425-AA74-A49C778D1ADD}" type="sibTrans" cxnId="{0DDDCD50-EE1B-4635-9143-E69B0830E871}">
      <dgm:prSet/>
      <dgm:spPr/>
      <dgm:t>
        <a:bodyPr/>
        <a:lstStyle/>
        <a:p>
          <a:endParaRPr lang="en-US"/>
        </a:p>
      </dgm:t>
    </dgm:pt>
    <dgm:pt modelId="{2D6AA11B-420A-423F-8005-789EE040E712}">
      <dgm:prSet/>
      <dgm:spPr/>
      <dgm:t>
        <a:bodyPr/>
        <a:lstStyle/>
        <a:p>
          <a:pPr>
            <a:lnSpc>
              <a:spcPct val="100000"/>
            </a:lnSpc>
          </a:pPr>
          <a:r>
            <a:rPr lang="en-US" dirty="0"/>
            <a:t>Generate Alternatives</a:t>
          </a:r>
        </a:p>
        <a:p>
          <a:pPr>
            <a:lnSpc>
              <a:spcPct val="100000"/>
            </a:lnSpc>
          </a:pPr>
          <a:r>
            <a:rPr lang="en-US" dirty="0"/>
            <a:t>(Design)</a:t>
          </a:r>
        </a:p>
      </dgm:t>
    </dgm:pt>
    <dgm:pt modelId="{990AA2D6-57C8-4362-9283-FBABFCFD8E08}" type="parTrans" cxnId="{6016FF23-715D-4755-81D4-6CAE02D17D72}">
      <dgm:prSet/>
      <dgm:spPr/>
      <dgm:t>
        <a:bodyPr/>
        <a:lstStyle/>
        <a:p>
          <a:endParaRPr lang="en-US"/>
        </a:p>
      </dgm:t>
    </dgm:pt>
    <dgm:pt modelId="{B7E4B58E-C407-4B47-A5EC-F72C966402A8}" type="sibTrans" cxnId="{6016FF23-715D-4755-81D4-6CAE02D17D72}">
      <dgm:prSet/>
      <dgm:spPr/>
      <dgm:t>
        <a:bodyPr/>
        <a:lstStyle/>
        <a:p>
          <a:endParaRPr lang="en-US"/>
        </a:p>
      </dgm:t>
    </dgm:pt>
    <dgm:pt modelId="{A582B266-3AD7-489D-86CE-5337D744CA49}">
      <dgm:prSet/>
      <dgm:spPr/>
      <dgm:t>
        <a:bodyPr/>
        <a:lstStyle/>
        <a:p>
          <a:pPr>
            <a:lnSpc>
              <a:spcPct val="100000"/>
            </a:lnSpc>
          </a:pPr>
          <a:r>
            <a:rPr lang="en-US" dirty="0"/>
            <a:t>Implement</a:t>
          </a:r>
        </a:p>
        <a:p>
          <a:pPr>
            <a:lnSpc>
              <a:spcPct val="100000"/>
            </a:lnSpc>
          </a:pPr>
          <a:r>
            <a:rPr lang="en-US" dirty="0"/>
            <a:t>(Coding)</a:t>
          </a:r>
        </a:p>
      </dgm:t>
    </dgm:pt>
    <dgm:pt modelId="{E3C38498-13E2-4703-85EA-8354BFD287D9}" type="parTrans" cxnId="{592563BE-251B-4CF0-AE9C-8A005FED8516}">
      <dgm:prSet/>
      <dgm:spPr/>
      <dgm:t>
        <a:bodyPr/>
        <a:lstStyle/>
        <a:p>
          <a:endParaRPr lang="en-US"/>
        </a:p>
      </dgm:t>
    </dgm:pt>
    <dgm:pt modelId="{F4BE370D-B55D-4E1D-AE53-E8AB4B473165}" type="sibTrans" cxnId="{592563BE-251B-4CF0-AE9C-8A005FED8516}">
      <dgm:prSet/>
      <dgm:spPr/>
      <dgm:t>
        <a:bodyPr/>
        <a:lstStyle/>
        <a:p>
          <a:endParaRPr lang="en-US"/>
        </a:p>
      </dgm:t>
    </dgm:pt>
    <dgm:pt modelId="{2DCC273C-203F-449D-8ACD-58B25103FA74}">
      <dgm:prSet/>
      <dgm:spPr/>
      <dgm:t>
        <a:bodyPr/>
        <a:lstStyle/>
        <a:p>
          <a:pPr>
            <a:lnSpc>
              <a:spcPct val="100000"/>
            </a:lnSpc>
          </a:pPr>
          <a:r>
            <a:rPr lang="en-US" dirty="0"/>
            <a:t>Evaluate</a:t>
          </a:r>
        </a:p>
        <a:p>
          <a:pPr>
            <a:lnSpc>
              <a:spcPct val="100000"/>
            </a:lnSpc>
          </a:pPr>
          <a:r>
            <a:rPr lang="en-US" dirty="0"/>
            <a:t>(Testing and Validation)</a:t>
          </a:r>
        </a:p>
      </dgm:t>
    </dgm:pt>
    <dgm:pt modelId="{A379080D-6789-4AEF-B108-9633D80452EA}" type="parTrans" cxnId="{515CAC33-A391-4803-875A-C66283829EE5}">
      <dgm:prSet/>
      <dgm:spPr/>
      <dgm:t>
        <a:bodyPr/>
        <a:lstStyle/>
        <a:p>
          <a:endParaRPr lang="en-US"/>
        </a:p>
      </dgm:t>
    </dgm:pt>
    <dgm:pt modelId="{0B304B48-7E4E-4517-9F3A-CF16E3F00E3E}" type="sibTrans" cxnId="{515CAC33-A391-4803-875A-C66283829EE5}">
      <dgm:prSet/>
      <dgm:spPr/>
      <dgm:t>
        <a:bodyPr/>
        <a:lstStyle/>
        <a:p>
          <a:endParaRPr lang="en-US"/>
        </a:p>
      </dgm:t>
    </dgm:pt>
    <dgm:pt modelId="{831B1E82-22BC-492B-A0C7-7D905A6147F8}" type="pres">
      <dgm:prSet presAssocID="{F0DE3FBC-FA33-45E2-A8C7-B0E41579B3BA}" presName="vert0" presStyleCnt="0">
        <dgm:presLayoutVars>
          <dgm:dir/>
          <dgm:animOne val="branch"/>
          <dgm:animLvl val="lvl"/>
        </dgm:presLayoutVars>
      </dgm:prSet>
      <dgm:spPr/>
    </dgm:pt>
    <dgm:pt modelId="{2B04769D-5961-481A-BAFD-45F8AC53E7BD}" type="pres">
      <dgm:prSet presAssocID="{9A83A451-4A95-4C03-B6A1-10BF93428D8A}" presName="thickLine" presStyleLbl="alignNode1" presStyleIdx="0" presStyleCnt="4"/>
      <dgm:spPr/>
    </dgm:pt>
    <dgm:pt modelId="{955383BA-DF7D-4044-BEB9-7F83CB614165}" type="pres">
      <dgm:prSet presAssocID="{9A83A451-4A95-4C03-B6A1-10BF93428D8A}" presName="horz1" presStyleCnt="0"/>
      <dgm:spPr/>
    </dgm:pt>
    <dgm:pt modelId="{78346F25-9752-4D14-9746-2D51B5AF44A2}" type="pres">
      <dgm:prSet presAssocID="{9A83A451-4A95-4C03-B6A1-10BF93428D8A}" presName="tx1" presStyleLbl="revTx" presStyleIdx="0" presStyleCnt="4"/>
      <dgm:spPr/>
    </dgm:pt>
    <dgm:pt modelId="{25FF851A-5AE5-4637-BBED-7A4687601837}" type="pres">
      <dgm:prSet presAssocID="{9A83A451-4A95-4C03-B6A1-10BF93428D8A}" presName="vert1" presStyleCnt="0"/>
      <dgm:spPr/>
    </dgm:pt>
    <dgm:pt modelId="{91DE9059-CA96-4680-B06D-404E1A99E2B4}" type="pres">
      <dgm:prSet presAssocID="{2D6AA11B-420A-423F-8005-789EE040E712}" presName="thickLine" presStyleLbl="alignNode1" presStyleIdx="1" presStyleCnt="4"/>
      <dgm:spPr/>
    </dgm:pt>
    <dgm:pt modelId="{D6D1F654-92FB-43DB-B242-AEFBD3CA06F5}" type="pres">
      <dgm:prSet presAssocID="{2D6AA11B-420A-423F-8005-789EE040E712}" presName="horz1" presStyleCnt="0"/>
      <dgm:spPr/>
    </dgm:pt>
    <dgm:pt modelId="{5B60BC81-6B44-43E3-B685-7AF4F22037D0}" type="pres">
      <dgm:prSet presAssocID="{2D6AA11B-420A-423F-8005-789EE040E712}" presName="tx1" presStyleLbl="revTx" presStyleIdx="1" presStyleCnt="4"/>
      <dgm:spPr/>
    </dgm:pt>
    <dgm:pt modelId="{2A917915-BA7E-4CCF-BC93-72DE1FAB3E90}" type="pres">
      <dgm:prSet presAssocID="{2D6AA11B-420A-423F-8005-789EE040E712}" presName="vert1" presStyleCnt="0"/>
      <dgm:spPr/>
    </dgm:pt>
    <dgm:pt modelId="{1F26D592-E6E8-49B5-AE5D-00E4045792B0}" type="pres">
      <dgm:prSet presAssocID="{A582B266-3AD7-489D-86CE-5337D744CA49}" presName="thickLine" presStyleLbl="alignNode1" presStyleIdx="2" presStyleCnt="4"/>
      <dgm:spPr/>
    </dgm:pt>
    <dgm:pt modelId="{D9F71177-C5FF-4EE8-8E05-368E23238F56}" type="pres">
      <dgm:prSet presAssocID="{A582B266-3AD7-489D-86CE-5337D744CA49}" presName="horz1" presStyleCnt="0"/>
      <dgm:spPr/>
    </dgm:pt>
    <dgm:pt modelId="{F98B54A0-044C-439C-8F11-D1EB6DDE7AE9}" type="pres">
      <dgm:prSet presAssocID="{A582B266-3AD7-489D-86CE-5337D744CA49}" presName="tx1" presStyleLbl="revTx" presStyleIdx="2" presStyleCnt="4"/>
      <dgm:spPr/>
    </dgm:pt>
    <dgm:pt modelId="{C328DBAC-EA9C-4F3A-8F98-54F5EDA70699}" type="pres">
      <dgm:prSet presAssocID="{A582B266-3AD7-489D-86CE-5337D744CA49}" presName="vert1" presStyleCnt="0"/>
      <dgm:spPr/>
    </dgm:pt>
    <dgm:pt modelId="{E3F13F18-4AE2-4CC5-AD24-6B6976914565}" type="pres">
      <dgm:prSet presAssocID="{2DCC273C-203F-449D-8ACD-58B25103FA74}" presName="thickLine" presStyleLbl="alignNode1" presStyleIdx="3" presStyleCnt="4"/>
      <dgm:spPr/>
    </dgm:pt>
    <dgm:pt modelId="{6A305799-B362-4AA2-B969-D37DE0ABDE3E}" type="pres">
      <dgm:prSet presAssocID="{2DCC273C-203F-449D-8ACD-58B25103FA74}" presName="horz1" presStyleCnt="0"/>
      <dgm:spPr/>
    </dgm:pt>
    <dgm:pt modelId="{2FC913C3-B8D2-4166-8520-06D65C7761FE}" type="pres">
      <dgm:prSet presAssocID="{2DCC273C-203F-449D-8ACD-58B25103FA74}" presName="tx1" presStyleLbl="revTx" presStyleIdx="3" presStyleCnt="4"/>
      <dgm:spPr/>
    </dgm:pt>
    <dgm:pt modelId="{E6027B91-6698-4E16-AB7A-45928BA64F52}" type="pres">
      <dgm:prSet presAssocID="{2DCC273C-203F-449D-8ACD-58B25103FA74}" presName="vert1" presStyleCnt="0"/>
      <dgm:spPr/>
    </dgm:pt>
  </dgm:ptLst>
  <dgm:cxnLst>
    <dgm:cxn modelId="{544B8A06-B3AE-4DB3-B92D-2B880C73D282}" type="presOf" srcId="{F0DE3FBC-FA33-45E2-A8C7-B0E41579B3BA}" destId="{831B1E82-22BC-492B-A0C7-7D905A6147F8}" srcOrd="0" destOrd="0" presId="urn:microsoft.com/office/officeart/2008/layout/LinedList"/>
    <dgm:cxn modelId="{E4A50722-3950-4B65-9F60-86B82F7BA4B6}" type="presOf" srcId="{9A83A451-4A95-4C03-B6A1-10BF93428D8A}" destId="{78346F25-9752-4D14-9746-2D51B5AF44A2}" srcOrd="0" destOrd="0" presId="urn:microsoft.com/office/officeart/2008/layout/LinedList"/>
    <dgm:cxn modelId="{6016FF23-715D-4755-81D4-6CAE02D17D72}" srcId="{F0DE3FBC-FA33-45E2-A8C7-B0E41579B3BA}" destId="{2D6AA11B-420A-423F-8005-789EE040E712}" srcOrd="1" destOrd="0" parTransId="{990AA2D6-57C8-4362-9283-FBABFCFD8E08}" sibTransId="{B7E4B58E-C407-4B47-A5EC-F72C966402A8}"/>
    <dgm:cxn modelId="{515CAC33-A391-4803-875A-C66283829EE5}" srcId="{F0DE3FBC-FA33-45E2-A8C7-B0E41579B3BA}" destId="{2DCC273C-203F-449D-8ACD-58B25103FA74}" srcOrd="3" destOrd="0" parTransId="{A379080D-6789-4AEF-B108-9633D80452EA}" sibTransId="{0B304B48-7E4E-4517-9F3A-CF16E3F00E3E}"/>
    <dgm:cxn modelId="{0DDDCD50-EE1B-4635-9143-E69B0830E871}" srcId="{F0DE3FBC-FA33-45E2-A8C7-B0E41579B3BA}" destId="{9A83A451-4A95-4C03-B6A1-10BF93428D8A}" srcOrd="0" destOrd="0" parTransId="{A6C1CAF3-8A1B-416E-A6A5-402540DC4631}" sibTransId="{49DCCD20-D7E2-4425-AA74-A49C778D1ADD}"/>
    <dgm:cxn modelId="{592563BE-251B-4CF0-AE9C-8A005FED8516}" srcId="{F0DE3FBC-FA33-45E2-A8C7-B0E41579B3BA}" destId="{A582B266-3AD7-489D-86CE-5337D744CA49}" srcOrd="2" destOrd="0" parTransId="{E3C38498-13E2-4703-85EA-8354BFD287D9}" sibTransId="{F4BE370D-B55D-4E1D-AE53-E8AB4B473165}"/>
    <dgm:cxn modelId="{C6C2E6C6-669E-492B-B53A-D752A6C2C1B4}" type="presOf" srcId="{2DCC273C-203F-449D-8ACD-58B25103FA74}" destId="{2FC913C3-B8D2-4166-8520-06D65C7761FE}" srcOrd="0" destOrd="0" presId="urn:microsoft.com/office/officeart/2008/layout/LinedList"/>
    <dgm:cxn modelId="{96D0C6EE-857E-4ABF-9BE2-8F7AC977B315}" type="presOf" srcId="{2D6AA11B-420A-423F-8005-789EE040E712}" destId="{5B60BC81-6B44-43E3-B685-7AF4F22037D0}" srcOrd="0" destOrd="0" presId="urn:microsoft.com/office/officeart/2008/layout/LinedList"/>
    <dgm:cxn modelId="{3B48E2F7-E9D3-4B88-B165-F59577637964}" type="presOf" srcId="{A582B266-3AD7-489D-86CE-5337D744CA49}" destId="{F98B54A0-044C-439C-8F11-D1EB6DDE7AE9}" srcOrd="0" destOrd="0" presId="urn:microsoft.com/office/officeart/2008/layout/LinedList"/>
    <dgm:cxn modelId="{F2009469-AFD1-469B-8AD2-8010889A109E}" type="presParOf" srcId="{831B1E82-22BC-492B-A0C7-7D905A6147F8}" destId="{2B04769D-5961-481A-BAFD-45F8AC53E7BD}" srcOrd="0" destOrd="0" presId="urn:microsoft.com/office/officeart/2008/layout/LinedList"/>
    <dgm:cxn modelId="{C91607E0-3BA7-49B8-96E8-A8465388A798}" type="presParOf" srcId="{831B1E82-22BC-492B-A0C7-7D905A6147F8}" destId="{955383BA-DF7D-4044-BEB9-7F83CB614165}" srcOrd="1" destOrd="0" presId="urn:microsoft.com/office/officeart/2008/layout/LinedList"/>
    <dgm:cxn modelId="{2A56579E-5DF0-4F8B-B724-8D1311D7492B}" type="presParOf" srcId="{955383BA-DF7D-4044-BEB9-7F83CB614165}" destId="{78346F25-9752-4D14-9746-2D51B5AF44A2}" srcOrd="0" destOrd="0" presId="urn:microsoft.com/office/officeart/2008/layout/LinedList"/>
    <dgm:cxn modelId="{8623616B-D68E-40C5-887C-7B6D9C50D8D7}" type="presParOf" srcId="{955383BA-DF7D-4044-BEB9-7F83CB614165}" destId="{25FF851A-5AE5-4637-BBED-7A4687601837}" srcOrd="1" destOrd="0" presId="urn:microsoft.com/office/officeart/2008/layout/LinedList"/>
    <dgm:cxn modelId="{223C8CA5-0475-45DC-A04F-C70350065EB4}" type="presParOf" srcId="{831B1E82-22BC-492B-A0C7-7D905A6147F8}" destId="{91DE9059-CA96-4680-B06D-404E1A99E2B4}" srcOrd="2" destOrd="0" presId="urn:microsoft.com/office/officeart/2008/layout/LinedList"/>
    <dgm:cxn modelId="{2D87BBB9-E4C2-4BEC-AB6B-760E2AF85452}" type="presParOf" srcId="{831B1E82-22BC-492B-A0C7-7D905A6147F8}" destId="{D6D1F654-92FB-43DB-B242-AEFBD3CA06F5}" srcOrd="3" destOrd="0" presId="urn:microsoft.com/office/officeart/2008/layout/LinedList"/>
    <dgm:cxn modelId="{16FDDAA5-C569-4186-BF00-29870B4377D4}" type="presParOf" srcId="{D6D1F654-92FB-43DB-B242-AEFBD3CA06F5}" destId="{5B60BC81-6B44-43E3-B685-7AF4F22037D0}" srcOrd="0" destOrd="0" presId="urn:microsoft.com/office/officeart/2008/layout/LinedList"/>
    <dgm:cxn modelId="{F36FA974-76E6-4A39-9675-DD75B10772AC}" type="presParOf" srcId="{D6D1F654-92FB-43DB-B242-AEFBD3CA06F5}" destId="{2A917915-BA7E-4CCF-BC93-72DE1FAB3E90}" srcOrd="1" destOrd="0" presId="urn:microsoft.com/office/officeart/2008/layout/LinedList"/>
    <dgm:cxn modelId="{BE0E017A-8045-4A26-96DB-2FF4BC08E1B5}" type="presParOf" srcId="{831B1E82-22BC-492B-A0C7-7D905A6147F8}" destId="{1F26D592-E6E8-49B5-AE5D-00E4045792B0}" srcOrd="4" destOrd="0" presId="urn:microsoft.com/office/officeart/2008/layout/LinedList"/>
    <dgm:cxn modelId="{4000E381-B7C5-4834-8480-33303779A1B2}" type="presParOf" srcId="{831B1E82-22BC-492B-A0C7-7D905A6147F8}" destId="{D9F71177-C5FF-4EE8-8E05-368E23238F56}" srcOrd="5" destOrd="0" presId="urn:microsoft.com/office/officeart/2008/layout/LinedList"/>
    <dgm:cxn modelId="{F5CF979B-1FFD-4592-8FC6-1D83EEF5F313}" type="presParOf" srcId="{D9F71177-C5FF-4EE8-8E05-368E23238F56}" destId="{F98B54A0-044C-439C-8F11-D1EB6DDE7AE9}" srcOrd="0" destOrd="0" presId="urn:microsoft.com/office/officeart/2008/layout/LinedList"/>
    <dgm:cxn modelId="{0BF0D925-1D38-4BF7-8396-20B8A3450285}" type="presParOf" srcId="{D9F71177-C5FF-4EE8-8E05-368E23238F56}" destId="{C328DBAC-EA9C-4F3A-8F98-54F5EDA70699}" srcOrd="1" destOrd="0" presId="urn:microsoft.com/office/officeart/2008/layout/LinedList"/>
    <dgm:cxn modelId="{A0A7F6A3-71EF-4493-AD1C-34CC55275AE1}" type="presParOf" srcId="{831B1E82-22BC-492B-A0C7-7D905A6147F8}" destId="{E3F13F18-4AE2-4CC5-AD24-6B6976914565}" srcOrd="6" destOrd="0" presId="urn:microsoft.com/office/officeart/2008/layout/LinedList"/>
    <dgm:cxn modelId="{2316992B-6A66-44A8-91A5-CDBE688F04A6}" type="presParOf" srcId="{831B1E82-22BC-492B-A0C7-7D905A6147F8}" destId="{6A305799-B362-4AA2-B969-D37DE0ABDE3E}" srcOrd="7" destOrd="0" presId="urn:microsoft.com/office/officeart/2008/layout/LinedList"/>
    <dgm:cxn modelId="{130FBE4A-963B-4360-AA69-0866925F628A}" type="presParOf" srcId="{6A305799-B362-4AA2-B969-D37DE0ABDE3E}" destId="{2FC913C3-B8D2-4166-8520-06D65C7761FE}" srcOrd="0" destOrd="0" presId="urn:microsoft.com/office/officeart/2008/layout/LinedList"/>
    <dgm:cxn modelId="{B0C11C5F-8732-47E4-AF99-D1BE5C5EF17F}" type="presParOf" srcId="{6A305799-B362-4AA2-B969-D37DE0ABDE3E}" destId="{E6027B91-6698-4E16-AB7A-45928BA64F5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A508A8-1BF4-4278-98A5-6A382FD46FA2}">
      <dsp:nvSpPr>
        <dsp:cNvPr id="0" name=""/>
        <dsp:cNvSpPr/>
      </dsp:nvSpPr>
      <dsp:spPr>
        <a:xfrm>
          <a:off x="1027755" y="583793"/>
          <a:ext cx="928991" cy="92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98A6E7B-950A-4AFA-8FAA-BEAF57A0305D}">
      <dsp:nvSpPr>
        <dsp:cNvPr id="0" name=""/>
        <dsp:cNvSpPr/>
      </dsp:nvSpPr>
      <dsp:spPr>
        <a:xfrm>
          <a:off x="460038" y="1803954"/>
          <a:ext cx="206442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a:t>Computer Science is fundamentally about solving problems</a:t>
          </a:r>
        </a:p>
      </dsp:txBody>
      <dsp:txXfrm>
        <a:off x="460038" y="1803954"/>
        <a:ext cx="2064425" cy="720000"/>
      </dsp:txXfrm>
    </dsp:sp>
    <dsp:sp modelId="{6A020A4D-21A1-4A1F-8ED0-6546CE43FA83}">
      <dsp:nvSpPr>
        <dsp:cNvPr id="0" name=""/>
        <dsp:cNvSpPr/>
      </dsp:nvSpPr>
      <dsp:spPr>
        <a:xfrm>
          <a:off x="3453454" y="583793"/>
          <a:ext cx="928991" cy="92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A849F2B-D690-4EE8-980C-9BDEE2BA96E4}">
      <dsp:nvSpPr>
        <dsp:cNvPr id="0" name=""/>
        <dsp:cNvSpPr/>
      </dsp:nvSpPr>
      <dsp:spPr>
        <a:xfrm>
          <a:off x="2885737" y="1803954"/>
          <a:ext cx="206442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a:t>We use computers and programming to automate solutions</a:t>
          </a:r>
        </a:p>
      </dsp:txBody>
      <dsp:txXfrm>
        <a:off x="2885737" y="1803954"/>
        <a:ext cx="2064425" cy="720000"/>
      </dsp:txXfrm>
    </dsp:sp>
    <dsp:sp modelId="{B68389A9-4E17-4F53-944E-3E8963E6067E}">
      <dsp:nvSpPr>
        <dsp:cNvPr id="0" name=""/>
        <dsp:cNvSpPr/>
      </dsp:nvSpPr>
      <dsp:spPr>
        <a:xfrm>
          <a:off x="5879154" y="583793"/>
          <a:ext cx="928991" cy="92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B2F89A-8D6C-491A-98FF-B927E6A7D0E4}">
      <dsp:nvSpPr>
        <dsp:cNvPr id="0" name=""/>
        <dsp:cNvSpPr/>
      </dsp:nvSpPr>
      <dsp:spPr>
        <a:xfrm>
          <a:off x="5311437" y="1803954"/>
          <a:ext cx="206442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a:t>How do we get from a problem idea to working code</a:t>
          </a:r>
        </a:p>
      </dsp:txBody>
      <dsp:txXfrm>
        <a:off x="5311437" y="1803954"/>
        <a:ext cx="2064425" cy="720000"/>
      </dsp:txXfrm>
    </dsp:sp>
    <dsp:sp modelId="{AD83455A-E244-4065-9BBE-FD6E16FBD6E6}">
      <dsp:nvSpPr>
        <dsp:cNvPr id="0" name=""/>
        <dsp:cNvSpPr/>
      </dsp:nvSpPr>
      <dsp:spPr>
        <a:xfrm>
          <a:off x="8304853" y="583793"/>
          <a:ext cx="928991" cy="92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C80AC99-AFE8-472B-A8D1-A7693969A904}">
      <dsp:nvSpPr>
        <dsp:cNvPr id="0" name=""/>
        <dsp:cNvSpPr/>
      </dsp:nvSpPr>
      <dsp:spPr>
        <a:xfrm>
          <a:off x="7737136" y="1803954"/>
          <a:ext cx="206442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kern="1200"/>
            <a:t>A structured problem-solving process</a:t>
          </a:r>
        </a:p>
      </dsp:txBody>
      <dsp:txXfrm>
        <a:off x="7737136" y="1803954"/>
        <a:ext cx="2064425"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04769D-5961-481A-BAFD-45F8AC53E7BD}">
      <dsp:nvSpPr>
        <dsp:cNvPr id="0" name=""/>
        <dsp:cNvSpPr/>
      </dsp:nvSpPr>
      <dsp:spPr>
        <a:xfrm>
          <a:off x="0" y="0"/>
          <a:ext cx="772972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346F25-9752-4D14-9746-2D51B5AF44A2}">
      <dsp:nvSpPr>
        <dsp:cNvPr id="0" name=""/>
        <dsp:cNvSpPr/>
      </dsp:nvSpPr>
      <dsp:spPr>
        <a:xfrm>
          <a:off x="0" y="0"/>
          <a:ext cx="7729728" cy="775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100000"/>
            </a:lnSpc>
            <a:spcBef>
              <a:spcPct val="0"/>
            </a:spcBef>
            <a:spcAft>
              <a:spcPct val="35000"/>
            </a:spcAft>
            <a:buNone/>
          </a:pPr>
          <a:r>
            <a:rPr lang="en-US" sz="1800" kern="1200" dirty="0"/>
            <a:t>Analyze the Problem</a:t>
          </a:r>
        </a:p>
        <a:p>
          <a:pPr marL="0" lvl="0" indent="0" algn="l" defTabSz="800100">
            <a:lnSpc>
              <a:spcPct val="100000"/>
            </a:lnSpc>
            <a:spcBef>
              <a:spcPct val="0"/>
            </a:spcBef>
            <a:spcAft>
              <a:spcPct val="35000"/>
            </a:spcAft>
            <a:buNone/>
          </a:pPr>
          <a:r>
            <a:rPr lang="en-US" sz="1800" kern="1200" dirty="0"/>
            <a:t>(Understand)</a:t>
          </a:r>
        </a:p>
      </dsp:txBody>
      <dsp:txXfrm>
        <a:off x="0" y="0"/>
        <a:ext cx="7729728" cy="775495"/>
      </dsp:txXfrm>
    </dsp:sp>
    <dsp:sp modelId="{91DE9059-CA96-4680-B06D-404E1A99E2B4}">
      <dsp:nvSpPr>
        <dsp:cNvPr id="0" name=""/>
        <dsp:cNvSpPr/>
      </dsp:nvSpPr>
      <dsp:spPr>
        <a:xfrm>
          <a:off x="0" y="775495"/>
          <a:ext cx="772972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60BC81-6B44-43E3-B685-7AF4F22037D0}">
      <dsp:nvSpPr>
        <dsp:cNvPr id="0" name=""/>
        <dsp:cNvSpPr/>
      </dsp:nvSpPr>
      <dsp:spPr>
        <a:xfrm>
          <a:off x="0" y="775495"/>
          <a:ext cx="7729728" cy="775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100000"/>
            </a:lnSpc>
            <a:spcBef>
              <a:spcPct val="0"/>
            </a:spcBef>
            <a:spcAft>
              <a:spcPct val="35000"/>
            </a:spcAft>
            <a:buNone/>
          </a:pPr>
          <a:r>
            <a:rPr lang="en-US" sz="1800" kern="1200" dirty="0"/>
            <a:t>Generate Alternatives</a:t>
          </a:r>
        </a:p>
        <a:p>
          <a:pPr marL="0" lvl="0" indent="0" algn="l" defTabSz="800100">
            <a:lnSpc>
              <a:spcPct val="100000"/>
            </a:lnSpc>
            <a:spcBef>
              <a:spcPct val="0"/>
            </a:spcBef>
            <a:spcAft>
              <a:spcPct val="35000"/>
            </a:spcAft>
            <a:buNone/>
          </a:pPr>
          <a:r>
            <a:rPr lang="en-US" sz="1800" kern="1200" dirty="0"/>
            <a:t>(Design)</a:t>
          </a:r>
        </a:p>
      </dsp:txBody>
      <dsp:txXfrm>
        <a:off x="0" y="775495"/>
        <a:ext cx="7729728" cy="775495"/>
      </dsp:txXfrm>
    </dsp:sp>
    <dsp:sp modelId="{1F26D592-E6E8-49B5-AE5D-00E4045792B0}">
      <dsp:nvSpPr>
        <dsp:cNvPr id="0" name=""/>
        <dsp:cNvSpPr/>
      </dsp:nvSpPr>
      <dsp:spPr>
        <a:xfrm>
          <a:off x="0" y="1550991"/>
          <a:ext cx="772972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8B54A0-044C-439C-8F11-D1EB6DDE7AE9}">
      <dsp:nvSpPr>
        <dsp:cNvPr id="0" name=""/>
        <dsp:cNvSpPr/>
      </dsp:nvSpPr>
      <dsp:spPr>
        <a:xfrm>
          <a:off x="0" y="1550991"/>
          <a:ext cx="7729728" cy="775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100000"/>
            </a:lnSpc>
            <a:spcBef>
              <a:spcPct val="0"/>
            </a:spcBef>
            <a:spcAft>
              <a:spcPct val="35000"/>
            </a:spcAft>
            <a:buNone/>
          </a:pPr>
          <a:r>
            <a:rPr lang="en-US" sz="1800" kern="1200" dirty="0"/>
            <a:t>Implement</a:t>
          </a:r>
        </a:p>
        <a:p>
          <a:pPr marL="0" lvl="0" indent="0" algn="l" defTabSz="800100">
            <a:lnSpc>
              <a:spcPct val="100000"/>
            </a:lnSpc>
            <a:spcBef>
              <a:spcPct val="0"/>
            </a:spcBef>
            <a:spcAft>
              <a:spcPct val="35000"/>
            </a:spcAft>
            <a:buNone/>
          </a:pPr>
          <a:r>
            <a:rPr lang="en-US" sz="1800" kern="1200" dirty="0"/>
            <a:t>(Coding)</a:t>
          </a:r>
        </a:p>
      </dsp:txBody>
      <dsp:txXfrm>
        <a:off x="0" y="1550991"/>
        <a:ext cx="7729728" cy="775495"/>
      </dsp:txXfrm>
    </dsp:sp>
    <dsp:sp modelId="{E3F13F18-4AE2-4CC5-AD24-6B6976914565}">
      <dsp:nvSpPr>
        <dsp:cNvPr id="0" name=""/>
        <dsp:cNvSpPr/>
      </dsp:nvSpPr>
      <dsp:spPr>
        <a:xfrm>
          <a:off x="0" y="2326487"/>
          <a:ext cx="7729728"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FC913C3-B8D2-4166-8520-06D65C7761FE}">
      <dsp:nvSpPr>
        <dsp:cNvPr id="0" name=""/>
        <dsp:cNvSpPr/>
      </dsp:nvSpPr>
      <dsp:spPr>
        <a:xfrm>
          <a:off x="0" y="2326487"/>
          <a:ext cx="7729728" cy="7754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100000"/>
            </a:lnSpc>
            <a:spcBef>
              <a:spcPct val="0"/>
            </a:spcBef>
            <a:spcAft>
              <a:spcPct val="35000"/>
            </a:spcAft>
            <a:buNone/>
          </a:pPr>
          <a:r>
            <a:rPr lang="en-US" sz="1800" kern="1200" dirty="0"/>
            <a:t>Evaluate</a:t>
          </a:r>
        </a:p>
        <a:p>
          <a:pPr marL="0" lvl="0" indent="0" algn="l" defTabSz="800100">
            <a:lnSpc>
              <a:spcPct val="100000"/>
            </a:lnSpc>
            <a:spcBef>
              <a:spcPct val="0"/>
            </a:spcBef>
            <a:spcAft>
              <a:spcPct val="35000"/>
            </a:spcAft>
            <a:buNone/>
          </a:pPr>
          <a:r>
            <a:rPr lang="en-US" sz="1800" kern="1200" dirty="0"/>
            <a:t>(Testing and Validation)</a:t>
          </a:r>
        </a:p>
      </dsp:txBody>
      <dsp:txXfrm>
        <a:off x="0" y="2326487"/>
        <a:ext cx="7729728" cy="77549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3F1698-B1C4-9E44-B5F4-66CF4D636E21}"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05FA55-E7E4-8846-AD03-42E5A3E4371A}" type="slidenum">
              <a:rPr lang="en-US" smtClean="0"/>
              <a:t>‹#›</a:t>
            </a:fld>
            <a:endParaRPr lang="en-US"/>
          </a:p>
        </p:txBody>
      </p:sp>
    </p:spTree>
    <p:extLst>
      <p:ext uri="{BB962C8B-B14F-4D97-AF65-F5344CB8AC3E}">
        <p14:creationId xmlns:p14="http://schemas.microsoft.com/office/powerpoint/2010/main" val="1808014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05FA55-E7E4-8846-AD03-42E5A3E4371A}" type="slidenum">
              <a:rPr lang="en-US" smtClean="0"/>
              <a:t>5</a:t>
            </a:fld>
            <a:endParaRPr lang="en-US"/>
          </a:p>
        </p:txBody>
      </p:sp>
    </p:spTree>
    <p:extLst>
      <p:ext uri="{BB962C8B-B14F-4D97-AF65-F5344CB8AC3E}">
        <p14:creationId xmlns:p14="http://schemas.microsoft.com/office/powerpoint/2010/main" val="1865042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Most students in the class designed a solution that required variables to count each person’s scores along the whole of the game </a:t>
            </a:r>
          </a:p>
          <a:p>
            <a:endParaRPr lang="en-CA" dirty="0"/>
          </a:p>
        </p:txBody>
      </p:sp>
      <p:sp>
        <p:nvSpPr>
          <p:cNvPr id="4" name="Slide Number Placeholder 3"/>
          <p:cNvSpPr>
            <a:spLocks noGrp="1"/>
          </p:cNvSpPr>
          <p:nvPr>
            <p:ph type="sldNum" sz="quarter" idx="5"/>
          </p:nvPr>
        </p:nvSpPr>
        <p:spPr/>
        <p:txBody>
          <a:bodyPr/>
          <a:lstStyle/>
          <a:p>
            <a:fld id="{C605FA55-E7E4-8846-AD03-42E5A3E4371A}" type="slidenum">
              <a:rPr lang="en-US" smtClean="0"/>
              <a:t>9</a:t>
            </a:fld>
            <a:endParaRPr lang="en-US"/>
          </a:p>
        </p:txBody>
      </p:sp>
    </p:spTree>
    <p:extLst>
      <p:ext uri="{BB962C8B-B14F-4D97-AF65-F5344CB8AC3E}">
        <p14:creationId xmlns:p14="http://schemas.microsoft.com/office/powerpoint/2010/main" val="1537154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r>
              <a:rPr lang="en-US" sz="1600" dirty="0"/>
              <a:t>Reflection &amp; next steps</a:t>
            </a:r>
          </a:p>
          <a:p>
            <a:pPr lvl="1">
              <a:lnSpc>
                <a:spcPct val="90000"/>
              </a:lnSpc>
            </a:pPr>
            <a:r>
              <a:rPr lang="en-US" sz="1400" dirty="0"/>
              <a:t>What one improvement would have the biggest impact right now?</a:t>
            </a:r>
          </a:p>
          <a:p>
            <a:pPr lvl="1">
              <a:lnSpc>
                <a:spcPct val="90000"/>
              </a:lnSpc>
            </a:pPr>
            <a:r>
              <a:rPr lang="en-US" sz="1400" dirty="0"/>
              <a:t>What would I change if I had more time?</a:t>
            </a:r>
          </a:p>
          <a:p>
            <a:pPr lvl="1">
              <a:lnSpc>
                <a:spcPct val="90000"/>
              </a:lnSpc>
            </a:pPr>
            <a:r>
              <a:rPr lang="en-US" sz="1400" dirty="0"/>
              <a:t>What did I learn that will change how I design next time?</a:t>
            </a:r>
          </a:p>
          <a:p>
            <a:endParaRPr lang="en-CA" dirty="0"/>
          </a:p>
        </p:txBody>
      </p:sp>
      <p:sp>
        <p:nvSpPr>
          <p:cNvPr id="4" name="Slide Number Placeholder 3"/>
          <p:cNvSpPr>
            <a:spLocks noGrp="1"/>
          </p:cNvSpPr>
          <p:nvPr>
            <p:ph type="sldNum" sz="quarter" idx="5"/>
          </p:nvPr>
        </p:nvSpPr>
        <p:spPr/>
        <p:txBody>
          <a:bodyPr/>
          <a:lstStyle/>
          <a:p>
            <a:fld id="{C605FA55-E7E4-8846-AD03-42E5A3E4371A}" type="slidenum">
              <a:rPr lang="en-US" smtClean="0"/>
              <a:t>13</a:t>
            </a:fld>
            <a:endParaRPr lang="en-US"/>
          </a:p>
        </p:txBody>
      </p:sp>
    </p:spTree>
    <p:extLst>
      <p:ext uri="{BB962C8B-B14F-4D97-AF65-F5344CB8AC3E}">
        <p14:creationId xmlns:p14="http://schemas.microsoft.com/office/powerpoint/2010/main" val="3697187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type of error does the code contain? </a:t>
            </a:r>
          </a:p>
          <a:p>
            <a:r>
              <a:rPr lang="en-US" dirty="0"/>
              <a:t>	</a:t>
            </a:r>
          </a:p>
          <a:p>
            <a:r>
              <a:rPr lang="en-US" dirty="0"/>
              <a:t>	</a:t>
            </a:r>
            <a:r>
              <a:rPr lang="en-US" b="1" dirty="0"/>
              <a:t>Semantic</a:t>
            </a:r>
            <a:r>
              <a:rPr lang="en-US" dirty="0"/>
              <a:t>? Syntax? Runtime?</a:t>
            </a:r>
          </a:p>
          <a:p>
            <a:endParaRPr lang="en-US" dirty="0"/>
          </a:p>
          <a:p>
            <a:r>
              <a:rPr lang="en-US" dirty="0"/>
              <a:t>What happens if I don’t put in numbers?</a:t>
            </a:r>
            <a:endParaRPr lang="en-CA" dirty="0"/>
          </a:p>
        </p:txBody>
      </p:sp>
      <p:sp>
        <p:nvSpPr>
          <p:cNvPr id="4" name="Slide Number Placeholder 3"/>
          <p:cNvSpPr>
            <a:spLocks noGrp="1"/>
          </p:cNvSpPr>
          <p:nvPr>
            <p:ph type="sldNum" sz="quarter" idx="5"/>
          </p:nvPr>
        </p:nvSpPr>
        <p:spPr/>
        <p:txBody>
          <a:bodyPr/>
          <a:lstStyle/>
          <a:p>
            <a:fld id="{C605FA55-E7E4-8846-AD03-42E5A3E4371A}" type="slidenum">
              <a:rPr lang="en-US" smtClean="0"/>
              <a:t>35</a:t>
            </a:fld>
            <a:endParaRPr lang="en-US"/>
          </a:p>
        </p:txBody>
      </p:sp>
    </p:spTree>
    <p:extLst>
      <p:ext uri="{BB962C8B-B14F-4D97-AF65-F5344CB8AC3E}">
        <p14:creationId xmlns:p14="http://schemas.microsoft.com/office/powerpoint/2010/main" val="3361252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if the Ants bounces or “jump” over each other it makes no difference</a:t>
            </a:r>
          </a:p>
          <a:p>
            <a:r>
              <a:rPr lang="en-US" dirty="0"/>
              <a:t>Smaller tasks: parse the input, iterate over each ant, calculate their longest and shortest, keep track of a maximum and minimum variable</a:t>
            </a:r>
          </a:p>
        </p:txBody>
      </p:sp>
      <p:sp>
        <p:nvSpPr>
          <p:cNvPr id="4" name="Slide Number Placeholder 3"/>
          <p:cNvSpPr>
            <a:spLocks noGrp="1"/>
          </p:cNvSpPr>
          <p:nvPr>
            <p:ph type="sldNum" sz="quarter" idx="5"/>
          </p:nvPr>
        </p:nvSpPr>
        <p:spPr/>
        <p:txBody>
          <a:bodyPr/>
          <a:lstStyle/>
          <a:p>
            <a:fld id="{C605FA55-E7E4-8846-AD03-42E5A3E4371A}" type="slidenum">
              <a:rPr lang="en-US" smtClean="0"/>
              <a:t>40</a:t>
            </a:fld>
            <a:endParaRPr lang="en-US"/>
          </a:p>
        </p:txBody>
      </p:sp>
    </p:spTree>
    <p:extLst>
      <p:ext uri="{BB962C8B-B14F-4D97-AF65-F5344CB8AC3E}">
        <p14:creationId xmlns:p14="http://schemas.microsoft.com/office/powerpoint/2010/main" val="951474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7/22/2026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7/22/2026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7/22/2026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7/22/2026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7/22/2026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7/22/2026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7/22/2026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7/22/2026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7/22/2026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7/22/2026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7/22/2026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DC5BA-038A-1370-693A-933684213ED6}"/>
              </a:ext>
            </a:extLst>
          </p:cNvPr>
          <p:cNvSpPr>
            <a:spLocks noGrp="1"/>
          </p:cNvSpPr>
          <p:nvPr>
            <p:ph type="ctrTitle"/>
          </p:nvPr>
        </p:nvSpPr>
        <p:spPr>
          <a:xfrm>
            <a:off x="965198" y="2474895"/>
            <a:ext cx="6212764" cy="1908215"/>
          </a:xfrm>
          <a:noFill/>
          <a:ln>
            <a:solidFill>
              <a:schemeClr val="tx1"/>
            </a:solidFill>
          </a:ln>
        </p:spPr>
        <p:txBody>
          <a:bodyPr wrap="square">
            <a:normAutofit fontScale="90000"/>
          </a:bodyPr>
          <a:lstStyle/>
          <a:p>
            <a:r>
              <a:rPr lang="en-US" sz="4000" dirty="0">
                <a:solidFill>
                  <a:schemeClr val="tx1"/>
                </a:solidFill>
              </a:rPr>
              <a:t>Problem Solving </a:t>
            </a:r>
            <a:br>
              <a:rPr lang="en-US" sz="4000" dirty="0">
                <a:solidFill>
                  <a:schemeClr val="tx1"/>
                </a:solidFill>
              </a:rPr>
            </a:br>
            <a:r>
              <a:rPr lang="en-US" sz="4000" dirty="0">
                <a:solidFill>
                  <a:schemeClr val="tx1"/>
                </a:solidFill>
              </a:rPr>
              <a:t>and</a:t>
            </a:r>
            <a:br>
              <a:rPr lang="en-US" sz="4000" dirty="0">
                <a:solidFill>
                  <a:schemeClr val="tx1"/>
                </a:solidFill>
              </a:rPr>
            </a:br>
            <a:r>
              <a:rPr lang="en-US" sz="4000" dirty="0">
                <a:solidFill>
                  <a:schemeClr val="tx1"/>
                </a:solidFill>
              </a:rPr>
              <a:t>Debugging</a:t>
            </a:r>
          </a:p>
        </p:txBody>
      </p:sp>
      <p:sp>
        <p:nvSpPr>
          <p:cNvPr id="8" name="Rectangle 7">
            <a:extLst>
              <a:ext uri="{FF2B5EF4-FFF2-40B4-BE49-F238E27FC236}">
                <a16:creationId xmlns:a16="http://schemas.microsoft.com/office/drawing/2014/main" id="{157A82F3-F6C4-4325-8C9C-7DF1AD06B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872" y="0"/>
            <a:ext cx="4062128"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3" name="Subtitle 2">
            <a:extLst>
              <a:ext uri="{FF2B5EF4-FFF2-40B4-BE49-F238E27FC236}">
                <a16:creationId xmlns:a16="http://schemas.microsoft.com/office/drawing/2014/main" id="{C5AB9C7C-BEF1-C07A-6A77-DBDD71480AAD}"/>
              </a:ext>
            </a:extLst>
          </p:cNvPr>
          <p:cNvSpPr>
            <a:spLocks noGrp="1"/>
          </p:cNvSpPr>
          <p:nvPr>
            <p:ph type="subTitle" idx="1"/>
          </p:nvPr>
        </p:nvSpPr>
        <p:spPr>
          <a:xfrm>
            <a:off x="8533732" y="2173266"/>
            <a:ext cx="3254408" cy="2511468"/>
          </a:xfrm>
        </p:spPr>
        <p:txBody>
          <a:bodyPr anchor="ctr">
            <a:normAutofit/>
          </a:bodyPr>
          <a:lstStyle/>
          <a:p>
            <a:r>
              <a:rPr lang="en-US" sz="2400" dirty="0">
                <a:solidFill>
                  <a:schemeClr val="tx2">
                    <a:lumMod val="90000"/>
                  </a:schemeClr>
                </a:solidFill>
              </a:rPr>
              <a:t>CS1910</a:t>
            </a:r>
          </a:p>
          <a:p>
            <a:r>
              <a:rPr lang="en-US" sz="2400" dirty="0">
                <a:solidFill>
                  <a:schemeClr val="tx2">
                    <a:lumMod val="90000"/>
                  </a:schemeClr>
                </a:solidFill>
              </a:rPr>
              <a:t>Computer Science I</a:t>
            </a:r>
          </a:p>
        </p:txBody>
      </p:sp>
    </p:spTree>
    <p:extLst>
      <p:ext uri="{BB962C8B-B14F-4D97-AF65-F5344CB8AC3E}">
        <p14:creationId xmlns:p14="http://schemas.microsoft.com/office/powerpoint/2010/main" val="3002068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B55F9-F224-1833-C12B-6B87BBEF439B}"/>
              </a:ext>
            </a:extLst>
          </p:cNvPr>
          <p:cNvSpPr>
            <a:spLocks noGrp="1"/>
          </p:cNvSpPr>
          <p:nvPr>
            <p:ph type="title"/>
          </p:nvPr>
        </p:nvSpPr>
        <p:spPr/>
        <p:txBody>
          <a:bodyPr/>
          <a:lstStyle/>
          <a:p>
            <a:r>
              <a:rPr lang="en-US" dirty="0"/>
              <a:t>Example Code</a:t>
            </a:r>
          </a:p>
        </p:txBody>
      </p:sp>
      <p:sp>
        <p:nvSpPr>
          <p:cNvPr id="3" name="Content Placeholder 2">
            <a:extLst>
              <a:ext uri="{FF2B5EF4-FFF2-40B4-BE49-F238E27FC236}">
                <a16:creationId xmlns:a16="http://schemas.microsoft.com/office/drawing/2014/main" id="{82B4E983-4889-D5CC-F822-DFDE9D6D61B5}"/>
              </a:ext>
            </a:extLst>
          </p:cNvPr>
          <p:cNvSpPr>
            <a:spLocks noGrp="1"/>
          </p:cNvSpPr>
          <p:nvPr>
            <p:ph idx="1"/>
          </p:nvPr>
        </p:nvSpPr>
        <p:spPr/>
        <p:txBody>
          <a:bodyPr/>
          <a:lstStyle/>
          <a:p>
            <a:r>
              <a:rPr lang="en-US" dirty="0" err="1"/>
              <a:t>cdspower-upei</a:t>
            </a:r>
            <a:r>
              <a:rPr lang="en-US" dirty="0"/>
              <a:t>/2026W-CS1910-Students/blob/main/Lectures/L10/L09-Problem-Solving-Examples.ipynb</a:t>
            </a:r>
          </a:p>
        </p:txBody>
      </p:sp>
    </p:spTree>
    <p:extLst>
      <p:ext uri="{BB962C8B-B14F-4D97-AF65-F5344CB8AC3E}">
        <p14:creationId xmlns:p14="http://schemas.microsoft.com/office/powerpoint/2010/main" val="1489190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5A68C-ACB8-FA63-A8B6-A542E6319859}"/>
              </a:ext>
            </a:extLst>
          </p:cNvPr>
          <p:cNvSpPr>
            <a:spLocks noGrp="1"/>
          </p:cNvSpPr>
          <p:nvPr>
            <p:ph type="title"/>
          </p:nvPr>
        </p:nvSpPr>
        <p:spPr>
          <a:xfrm>
            <a:off x="2231136" y="964692"/>
            <a:ext cx="7729728" cy="1188720"/>
          </a:xfrm>
        </p:spPr>
        <p:txBody>
          <a:bodyPr>
            <a:normAutofit/>
          </a:bodyPr>
          <a:lstStyle/>
          <a:p>
            <a:r>
              <a:rPr lang="en-US" dirty="0"/>
              <a:t>Problem Solving</a:t>
            </a:r>
          </a:p>
        </p:txBody>
      </p:sp>
      <p:graphicFrame>
        <p:nvGraphicFramePr>
          <p:cNvPr id="5" name="Content Placeholder 2">
            <a:extLst>
              <a:ext uri="{FF2B5EF4-FFF2-40B4-BE49-F238E27FC236}">
                <a16:creationId xmlns:a16="http://schemas.microsoft.com/office/drawing/2014/main" id="{2B499967-1290-43D4-50E4-BDDD04F7E0C6}"/>
              </a:ext>
            </a:extLst>
          </p:cNvPr>
          <p:cNvGraphicFramePr>
            <a:graphicFrameLocks noGrp="1"/>
          </p:cNvGraphicFramePr>
          <p:nvPr>
            <p:ph idx="1"/>
            <p:extLst>
              <p:ext uri="{D42A27DB-BD31-4B8C-83A1-F6EECF244321}">
                <p14:modId xmlns:p14="http://schemas.microsoft.com/office/powerpoint/2010/main" val="1576927192"/>
              </p:ext>
            </p:extLst>
          </p:nvPr>
        </p:nvGraphicFramePr>
        <p:xfrm>
          <a:off x="965200" y="2638425"/>
          <a:ext cx="10261600" cy="31077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1517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96DB-4D32-E8CC-34D8-74E18FE8F102}"/>
              </a:ext>
            </a:extLst>
          </p:cNvPr>
          <p:cNvSpPr>
            <a:spLocks noGrp="1"/>
          </p:cNvSpPr>
          <p:nvPr>
            <p:ph type="title"/>
          </p:nvPr>
        </p:nvSpPr>
        <p:spPr/>
        <p:txBody>
          <a:bodyPr/>
          <a:lstStyle/>
          <a:p>
            <a:r>
              <a:rPr lang="en-US" dirty="0"/>
              <a:t>4 Stage Problem Solving Model</a:t>
            </a:r>
          </a:p>
        </p:txBody>
      </p:sp>
      <p:graphicFrame>
        <p:nvGraphicFramePr>
          <p:cNvPr id="8" name="Content Placeholder 2">
            <a:extLst>
              <a:ext uri="{FF2B5EF4-FFF2-40B4-BE49-F238E27FC236}">
                <a16:creationId xmlns:a16="http://schemas.microsoft.com/office/drawing/2014/main" id="{553EA99C-7B70-B31F-8A20-4E18C6E8CB57}"/>
              </a:ext>
            </a:extLst>
          </p:cNvPr>
          <p:cNvGraphicFramePr>
            <a:graphicFrameLocks noGrp="1"/>
          </p:cNvGraphicFramePr>
          <p:nvPr>
            <p:ph idx="1"/>
            <p:extLst>
              <p:ext uri="{D42A27DB-BD31-4B8C-83A1-F6EECF244321}">
                <p14:modId xmlns:p14="http://schemas.microsoft.com/office/powerpoint/2010/main" val="4264692240"/>
              </p:ext>
            </p:extLst>
          </p:nvPr>
        </p:nvGraphicFramePr>
        <p:xfrm>
          <a:off x="2231136" y="2628900"/>
          <a:ext cx="7729728" cy="31019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F3EC63B6-2A4A-42F1-3DB8-F2C86819693F}"/>
              </a:ext>
            </a:extLst>
          </p:cNvPr>
          <p:cNvSpPr txBox="1"/>
          <p:nvPr/>
        </p:nvSpPr>
        <p:spPr>
          <a:xfrm>
            <a:off x="5104762" y="4416676"/>
            <a:ext cx="4665380" cy="369332"/>
          </a:xfrm>
          <a:prstGeom prst="rect">
            <a:avLst/>
          </a:prstGeom>
          <a:noFill/>
        </p:spPr>
        <p:txBody>
          <a:bodyPr wrap="none" rtlCol="0">
            <a:spAutoFit/>
          </a:bodyPr>
          <a:lstStyle/>
          <a:p>
            <a:r>
              <a:rPr lang="en-US" dirty="0"/>
              <a:t>Common mistake: Making this the starting point</a:t>
            </a:r>
          </a:p>
        </p:txBody>
      </p:sp>
      <p:cxnSp>
        <p:nvCxnSpPr>
          <p:cNvPr id="4" name="Straight Arrow Connector 3">
            <a:extLst>
              <a:ext uri="{FF2B5EF4-FFF2-40B4-BE49-F238E27FC236}">
                <a16:creationId xmlns:a16="http://schemas.microsoft.com/office/drawing/2014/main" id="{E2477877-E293-FC28-D423-16BDB04D0847}"/>
              </a:ext>
            </a:extLst>
          </p:cNvPr>
          <p:cNvCxnSpPr>
            <a:cxnSpLocks/>
          </p:cNvCxnSpPr>
          <p:nvPr/>
        </p:nvCxnSpPr>
        <p:spPr>
          <a:xfrm flipH="1" flipV="1">
            <a:off x="3502152" y="4416676"/>
            <a:ext cx="1602610" cy="184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6521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98D2E-F4A8-B8CC-87DA-4FD2DED01A50}"/>
              </a:ext>
            </a:extLst>
          </p:cNvPr>
          <p:cNvSpPr>
            <a:spLocks noGrp="1"/>
          </p:cNvSpPr>
          <p:nvPr>
            <p:ph type="title"/>
          </p:nvPr>
        </p:nvSpPr>
        <p:spPr/>
        <p:txBody>
          <a:bodyPr/>
          <a:lstStyle/>
          <a:p>
            <a:r>
              <a:rPr lang="en-US" dirty="0"/>
              <a:t>Computational Thinking</a:t>
            </a:r>
          </a:p>
        </p:txBody>
      </p:sp>
      <p:sp>
        <p:nvSpPr>
          <p:cNvPr id="3" name="Content Placeholder 2">
            <a:extLst>
              <a:ext uri="{FF2B5EF4-FFF2-40B4-BE49-F238E27FC236}">
                <a16:creationId xmlns:a16="http://schemas.microsoft.com/office/drawing/2014/main" id="{0B531C80-3DC4-E12B-3959-A1425B6E0B77}"/>
              </a:ext>
            </a:extLst>
          </p:cNvPr>
          <p:cNvSpPr>
            <a:spLocks noGrp="1"/>
          </p:cNvSpPr>
          <p:nvPr>
            <p:ph idx="1"/>
          </p:nvPr>
        </p:nvSpPr>
        <p:spPr>
          <a:xfrm>
            <a:off x="1327621" y="3625824"/>
            <a:ext cx="2901303" cy="2311027"/>
          </a:xfrm>
        </p:spPr>
        <p:txBody>
          <a:bodyPr/>
          <a:lstStyle/>
          <a:p>
            <a:r>
              <a:rPr lang="en-US" dirty="0"/>
              <a:t>Decompose</a:t>
            </a:r>
          </a:p>
          <a:p>
            <a:r>
              <a:rPr lang="en-US" dirty="0"/>
              <a:t>Pattern Recognition</a:t>
            </a:r>
          </a:p>
          <a:p>
            <a:r>
              <a:rPr lang="en-US" dirty="0"/>
              <a:t>Abstraction</a:t>
            </a:r>
          </a:p>
          <a:p>
            <a:r>
              <a:rPr lang="en-US" dirty="0"/>
              <a:t>Algorithms</a:t>
            </a:r>
          </a:p>
          <a:p>
            <a:r>
              <a:rPr lang="en-US" dirty="0"/>
              <a:t>Validation</a:t>
            </a:r>
          </a:p>
        </p:txBody>
      </p:sp>
      <p:sp>
        <p:nvSpPr>
          <p:cNvPr id="4" name="TextBox 3">
            <a:extLst>
              <a:ext uri="{FF2B5EF4-FFF2-40B4-BE49-F238E27FC236}">
                <a16:creationId xmlns:a16="http://schemas.microsoft.com/office/drawing/2014/main" id="{2313EEF0-555D-D4B5-0BD7-129DF9258761}"/>
              </a:ext>
            </a:extLst>
          </p:cNvPr>
          <p:cNvSpPr txBox="1"/>
          <p:nvPr/>
        </p:nvSpPr>
        <p:spPr>
          <a:xfrm>
            <a:off x="486697" y="339213"/>
            <a:ext cx="736099" cy="369332"/>
          </a:xfrm>
          <a:prstGeom prst="rect">
            <a:avLst/>
          </a:prstGeom>
          <a:noFill/>
        </p:spPr>
        <p:txBody>
          <a:bodyPr wrap="none" rtlCol="0">
            <a:spAutoFit/>
          </a:bodyPr>
          <a:lstStyle/>
          <a:p>
            <a:r>
              <a:rPr lang="en-US" dirty="0"/>
              <a:t>Recall</a:t>
            </a:r>
          </a:p>
        </p:txBody>
      </p:sp>
      <p:sp>
        <p:nvSpPr>
          <p:cNvPr id="5" name="TextBox 4">
            <a:extLst>
              <a:ext uri="{FF2B5EF4-FFF2-40B4-BE49-F238E27FC236}">
                <a16:creationId xmlns:a16="http://schemas.microsoft.com/office/drawing/2014/main" id="{0C6C825B-B693-5E05-C746-8DBAE02F7888}"/>
              </a:ext>
            </a:extLst>
          </p:cNvPr>
          <p:cNvSpPr txBox="1"/>
          <p:nvPr/>
        </p:nvSpPr>
        <p:spPr>
          <a:xfrm>
            <a:off x="5998732" y="2451533"/>
            <a:ext cx="5115584" cy="646331"/>
          </a:xfrm>
          <a:prstGeom prst="rect">
            <a:avLst/>
          </a:prstGeom>
          <a:noFill/>
        </p:spPr>
        <p:txBody>
          <a:bodyPr wrap="square" rtlCol="0">
            <a:spAutoFit/>
          </a:bodyPr>
          <a:lstStyle/>
          <a:p>
            <a:r>
              <a:rPr lang="en-US" dirty="0"/>
              <a:t>Aspects of computational thinking apply directly to steps in the problem solving process</a:t>
            </a:r>
          </a:p>
        </p:txBody>
      </p:sp>
      <p:sp>
        <p:nvSpPr>
          <p:cNvPr id="6" name="TextBox 5">
            <a:extLst>
              <a:ext uri="{FF2B5EF4-FFF2-40B4-BE49-F238E27FC236}">
                <a16:creationId xmlns:a16="http://schemas.microsoft.com/office/drawing/2014/main" id="{6FD55F94-1371-1BBD-1690-1BE3FEC123A6}"/>
              </a:ext>
            </a:extLst>
          </p:cNvPr>
          <p:cNvSpPr txBox="1"/>
          <p:nvPr/>
        </p:nvSpPr>
        <p:spPr>
          <a:xfrm>
            <a:off x="1026319" y="3232176"/>
            <a:ext cx="2409634" cy="369332"/>
          </a:xfrm>
          <a:prstGeom prst="rect">
            <a:avLst/>
          </a:prstGeom>
          <a:noFill/>
        </p:spPr>
        <p:txBody>
          <a:bodyPr wrap="none" rtlCol="0">
            <a:spAutoFit/>
          </a:bodyPr>
          <a:lstStyle/>
          <a:p>
            <a:r>
              <a:rPr lang="en-US" dirty="0"/>
              <a:t>Computational Thinking</a:t>
            </a:r>
          </a:p>
        </p:txBody>
      </p:sp>
      <p:sp>
        <p:nvSpPr>
          <p:cNvPr id="8" name="Content Placeholder 2">
            <a:extLst>
              <a:ext uri="{FF2B5EF4-FFF2-40B4-BE49-F238E27FC236}">
                <a16:creationId xmlns:a16="http://schemas.microsoft.com/office/drawing/2014/main" id="{DFD85BE4-3797-E794-AD9B-842232998D74}"/>
              </a:ext>
            </a:extLst>
          </p:cNvPr>
          <p:cNvSpPr txBox="1">
            <a:spLocks/>
          </p:cNvSpPr>
          <p:nvPr/>
        </p:nvSpPr>
        <p:spPr>
          <a:xfrm>
            <a:off x="5413921" y="3870099"/>
            <a:ext cx="5229695" cy="182247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dirty="0"/>
              <a:t>Understand (Analysis)</a:t>
            </a:r>
          </a:p>
          <a:p>
            <a:r>
              <a:rPr lang="en-US" dirty="0"/>
              <a:t>Design (Generate alternatives)</a:t>
            </a:r>
          </a:p>
          <a:p>
            <a:r>
              <a:rPr lang="en-US" dirty="0"/>
              <a:t>Implement (Coding)</a:t>
            </a:r>
          </a:p>
          <a:p>
            <a:r>
              <a:rPr lang="en-US" dirty="0"/>
              <a:t>Evaluate (Testing and Validation)</a:t>
            </a:r>
          </a:p>
        </p:txBody>
      </p:sp>
      <p:cxnSp>
        <p:nvCxnSpPr>
          <p:cNvPr id="10" name="Straight Arrow Connector 9">
            <a:extLst>
              <a:ext uri="{FF2B5EF4-FFF2-40B4-BE49-F238E27FC236}">
                <a16:creationId xmlns:a16="http://schemas.microsoft.com/office/drawing/2014/main" id="{9095F490-7542-1719-BBDB-E8DAF76BDFDD}"/>
              </a:ext>
            </a:extLst>
          </p:cNvPr>
          <p:cNvCxnSpPr/>
          <p:nvPr/>
        </p:nvCxnSpPr>
        <p:spPr>
          <a:xfrm>
            <a:off x="3022600" y="3870099"/>
            <a:ext cx="2391321" cy="193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144E72D-9CA7-E5BB-71DD-0E3CA88AC085}"/>
              </a:ext>
            </a:extLst>
          </p:cNvPr>
          <p:cNvCxnSpPr/>
          <p:nvPr/>
        </p:nvCxnSpPr>
        <p:spPr>
          <a:xfrm flipV="1">
            <a:off x="3519948" y="4139381"/>
            <a:ext cx="1893973" cy="98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C38DA67-909D-6661-5578-0F8C3CF70B95}"/>
              </a:ext>
            </a:extLst>
          </p:cNvPr>
          <p:cNvCxnSpPr/>
          <p:nvPr/>
        </p:nvCxnSpPr>
        <p:spPr>
          <a:xfrm flipV="1">
            <a:off x="2890684" y="4237703"/>
            <a:ext cx="2523237" cy="4031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068D236-1413-E720-5CC6-B450B7E24785}"/>
              </a:ext>
            </a:extLst>
          </p:cNvPr>
          <p:cNvCxnSpPr/>
          <p:nvPr/>
        </p:nvCxnSpPr>
        <p:spPr>
          <a:xfrm flipV="1">
            <a:off x="2778272" y="4552335"/>
            <a:ext cx="2635649" cy="4817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73602F0-5DBE-3AED-E83A-AE7E3E6AE672}"/>
              </a:ext>
            </a:extLst>
          </p:cNvPr>
          <p:cNvCxnSpPr/>
          <p:nvPr/>
        </p:nvCxnSpPr>
        <p:spPr>
          <a:xfrm flipV="1">
            <a:off x="2890684" y="4439264"/>
            <a:ext cx="2523237" cy="2015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0E8C075-1FAF-717C-C66A-CB7BA0CAAE6F}"/>
              </a:ext>
            </a:extLst>
          </p:cNvPr>
          <p:cNvCxnSpPr/>
          <p:nvPr/>
        </p:nvCxnSpPr>
        <p:spPr>
          <a:xfrm flipV="1">
            <a:off x="2778272" y="4935794"/>
            <a:ext cx="2560644" cy="98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1D1753C-295E-26F3-F7C2-00522195CB43}"/>
              </a:ext>
            </a:extLst>
          </p:cNvPr>
          <p:cNvCxnSpPr/>
          <p:nvPr/>
        </p:nvCxnSpPr>
        <p:spPr>
          <a:xfrm flipV="1">
            <a:off x="2778272" y="5279923"/>
            <a:ext cx="2635649" cy="137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6841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FA21C72-692C-49FD-9EB4-DDDDDEBD4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75405" y="950977"/>
            <a:ext cx="9041190" cy="4956047"/>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58B53D32-AE48-7039-B27B-900E19978822}"/>
              </a:ext>
            </a:extLst>
          </p:cNvPr>
          <p:cNvPicPr>
            <a:picLocks noGrp="1" noChangeAspect="1"/>
          </p:cNvPicPr>
          <p:nvPr>
            <p:ph idx="1"/>
          </p:nvPr>
        </p:nvPicPr>
        <p:blipFill>
          <a:blip r:embed="rId2"/>
          <a:stretch>
            <a:fillRect/>
          </a:stretch>
        </p:blipFill>
        <p:spPr>
          <a:xfrm>
            <a:off x="1732611" y="1888852"/>
            <a:ext cx="8726777" cy="3447077"/>
          </a:xfrm>
          <a:prstGeom prst="rect">
            <a:avLst/>
          </a:prstGeom>
        </p:spPr>
      </p:pic>
      <p:sp>
        <p:nvSpPr>
          <p:cNvPr id="11" name="Oval 10">
            <a:extLst>
              <a:ext uri="{FF2B5EF4-FFF2-40B4-BE49-F238E27FC236}">
                <a16:creationId xmlns:a16="http://schemas.microsoft.com/office/drawing/2014/main" id="{FBAF941A-6830-47A3-B63C-7C7B66AEA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380" y="624518"/>
            <a:ext cx="2157984" cy="2157984"/>
          </a:xfrm>
          <a:prstGeom prst="ellipse">
            <a:avLst/>
          </a:prstGeom>
          <a:solidFill>
            <a:srgbClr val="404040"/>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DCD88C-2A6A-18FE-43D2-31FEA45FAC4E}"/>
              </a:ext>
            </a:extLst>
          </p:cNvPr>
          <p:cNvSpPr>
            <a:spLocks noGrp="1"/>
          </p:cNvSpPr>
          <p:nvPr>
            <p:ph type="title"/>
          </p:nvPr>
        </p:nvSpPr>
        <p:spPr>
          <a:xfrm>
            <a:off x="796972" y="789110"/>
            <a:ext cx="1828800" cy="1828800"/>
          </a:xfrm>
          <a:prstGeom prst="ellipse">
            <a:avLst/>
          </a:prstGeom>
          <a:noFill/>
          <a:ln>
            <a:solidFill>
              <a:srgbClr val="FFFFFF"/>
            </a:solidFill>
          </a:ln>
        </p:spPr>
        <p:txBody>
          <a:bodyPr vert="horz" lIns="182880" tIns="182880" rIns="182880" bIns="182880" rtlCol="0" anchor="ctr">
            <a:normAutofit/>
          </a:bodyPr>
          <a:lstStyle/>
          <a:p>
            <a:r>
              <a:rPr lang="en-US" sz="1100">
                <a:solidFill>
                  <a:srgbClr val="FFFFFF"/>
                </a:solidFill>
              </a:rPr>
              <a:t>Double Diamond</a:t>
            </a:r>
          </a:p>
        </p:txBody>
      </p:sp>
    </p:spTree>
    <p:extLst>
      <p:ext uri="{BB962C8B-B14F-4D97-AF65-F5344CB8AC3E}">
        <p14:creationId xmlns:p14="http://schemas.microsoft.com/office/powerpoint/2010/main" val="1481410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9A0BF2-FC27-9EEE-590F-E9182D0C85FC}"/>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C3D90F-5523-60F1-9307-B432B73F400A}"/>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2300">
                <a:solidFill>
                  <a:srgbClr val="FFFFFF"/>
                </a:solidFill>
              </a:rPr>
              <a:t>Understand</a:t>
            </a:r>
          </a:p>
        </p:txBody>
      </p:sp>
      <p:sp>
        <p:nvSpPr>
          <p:cNvPr id="3" name="Content Placeholder 2">
            <a:extLst>
              <a:ext uri="{FF2B5EF4-FFF2-40B4-BE49-F238E27FC236}">
                <a16:creationId xmlns:a16="http://schemas.microsoft.com/office/drawing/2014/main" id="{6DC4DC72-91B3-3595-39C2-5F134D8317AF}"/>
              </a:ext>
            </a:extLst>
          </p:cNvPr>
          <p:cNvSpPr>
            <a:spLocks noGrp="1"/>
          </p:cNvSpPr>
          <p:nvPr>
            <p:ph idx="1"/>
          </p:nvPr>
        </p:nvSpPr>
        <p:spPr>
          <a:xfrm>
            <a:off x="5591695" y="1402080"/>
            <a:ext cx="5320696" cy="4053840"/>
          </a:xfrm>
        </p:spPr>
        <p:txBody>
          <a:bodyPr anchor="ctr">
            <a:normAutofit/>
          </a:bodyPr>
          <a:lstStyle/>
          <a:p>
            <a:pPr>
              <a:lnSpc>
                <a:spcPct val="90000"/>
              </a:lnSpc>
            </a:pPr>
            <a:r>
              <a:rPr lang="en-US" sz="1500" dirty="0"/>
              <a:t>Asking questions to improve your understanding of the problem</a:t>
            </a:r>
          </a:p>
          <a:p>
            <a:pPr lvl="1">
              <a:lnSpc>
                <a:spcPct val="90000"/>
              </a:lnSpc>
            </a:pPr>
            <a:r>
              <a:rPr lang="en-US" sz="1500" dirty="0"/>
              <a:t>What is the desired outcome? (</a:t>
            </a:r>
            <a:r>
              <a:rPr lang="en-US" sz="1500" i="1" dirty="0"/>
              <a:t>requirements</a:t>
            </a:r>
            <a:r>
              <a:rPr lang="en-US" sz="1500" dirty="0"/>
              <a:t>)</a:t>
            </a:r>
          </a:p>
          <a:p>
            <a:pPr lvl="1">
              <a:lnSpc>
                <a:spcPct val="90000"/>
              </a:lnSpc>
            </a:pPr>
            <a:r>
              <a:rPr lang="en-US" sz="1500" dirty="0"/>
              <a:t>What information do I have that I can use?</a:t>
            </a:r>
          </a:p>
          <a:p>
            <a:pPr lvl="1">
              <a:lnSpc>
                <a:spcPct val="90000"/>
              </a:lnSpc>
            </a:pPr>
            <a:r>
              <a:rPr lang="en-US" sz="1500" dirty="0"/>
              <a:t>What information do I need?</a:t>
            </a:r>
          </a:p>
          <a:p>
            <a:pPr lvl="2">
              <a:lnSpc>
                <a:spcPct val="90000"/>
              </a:lnSpc>
            </a:pPr>
            <a:r>
              <a:rPr lang="en-US" sz="1500" dirty="0"/>
              <a:t>Can you develop your own examples of inputs and their corresponding output?</a:t>
            </a:r>
          </a:p>
          <a:p>
            <a:pPr lvl="2">
              <a:lnSpc>
                <a:spcPct val="90000"/>
              </a:lnSpc>
            </a:pPr>
            <a:r>
              <a:rPr lang="en-US" sz="1500" dirty="0"/>
              <a:t>Can you simulate or hand calculate simple cases?</a:t>
            </a:r>
          </a:p>
          <a:p>
            <a:pPr lvl="1">
              <a:lnSpc>
                <a:spcPct val="90000"/>
              </a:lnSpc>
            </a:pPr>
            <a:r>
              <a:rPr lang="en-US" sz="1500" dirty="0"/>
              <a:t>Are there special cases?</a:t>
            </a:r>
          </a:p>
          <a:p>
            <a:pPr lvl="1">
              <a:lnSpc>
                <a:spcPct val="90000"/>
              </a:lnSpc>
            </a:pPr>
            <a:r>
              <a:rPr lang="en-US" sz="1500" dirty="0"/>
              <a:t>Is there redundant information?</a:t>
            </a:r>
          </a:p>
          <a:p>
            <a:pPr lvl="1">
              <a:lnSpc>
                <a:spcPct val="90000"/>
              </a:lnSpc>
            </a:pPr>
            <a:r>
              <a:rPr lang="en-US" sz="1500" dirty="0"/>
              <a:t>Are any parts of the problem contradictory?</a:t>
            </a:r>
          </a:p>
          <a:p>
            <a:pPr lvl="1">
              <a:lnSpc>
                <a:spcPct val="90000"/>
              </a:lnSpc>
            </a:pPr>
            <a:r>
              <a:rPr lang="en-US" sz="1500" dirty="0"/>
              <a:t>Are there parts of the problem that are ambiguous?</a:t>
            </a:r>
          </a:p>
          <a:p>
            <a:pPr lvl="1">
              <a:lnSpc>
                <a:spcPct val="90000"/>
              </a:lnSpc>
            </a:pPr>
            <a:r>
              <a:rPr lang="en-US" sz="1500" dirty="0"/>
              <a:t>Can we break the problem into parts?</a:t>
            </a:r>
          </a:p>
        </p:txBody>
      </p:sp>
    </p:spTree>
    <p:extLst>
      <p:ext uri="{BB962C8B-B14F-4D97-AF65-F5344CB8AC3E}">
        <p14:creationId xmlns:p14="http://schemas.microsoft.com/office/powerpoint/2010/main" val="3151626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7E2772-05C6-2B73-6E15-D6C2287C88D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2895F9-445A-8458-3B7C-52B0E15B690E}"/>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dirty="0">
                <a:solidFill>
                  <a:srgbClr val="FFFFFF"/>
                </a:solidFill>
              </a:rPr>
              <a:t>Design</a:t>
            </a:r>
          </a:p>
        </p:txBody>
      </p:sp>
      <p:sp>
        <p:nvSpPr>
          <p:cNvPr id="3" name="Content Placeholder 2">
            <a:extLst>
              <a:ext uri="{FF2B5EF4-FFF2-40B4-BE49-F238E27FC236}">
                <a16:creationId xmlns:a16="http://schemas.microsoft.com/office/drawing/2014/main" id="{10C50878-4B47-7279-067C-D82F8765B6F3}"/>
              </a:ext>
            </a:extLst>
          </p:cNvPr>
          <p:cNvSpPr>
            <a:spLocks noGrp="1"/>
          </p:cNvSpPr>
          <p:nvPr>
            <p:ph idx="1"/>
          </p:nvPr>
        </p:nvSpPr>
        <p:spPr>
          <a:xfrm>
            <a:off x="5591695" y="256032"/>
            <a:ext cx="5320696" cy="6419088"/>
          </a:xfrm>
        </p:spPr>
        <p:txBody>
          <a:bodyPr anchor="ctr">
            <a:normAutofit fontScale="85000" lnSpcReduction="20000"/>
          </a:bodyPr>
          <a:lstStyle/>
          <a:p>
            <a:r>
              <a:rPr lang="en-US" dirty="0"/>
              <a:t>This is where you create/find alternatives for solving your problem – more questions:</a:t>
            </a:r>
          </a:p>
          <a:p>
            <a:pPr lvl="1"/>
            <a:r>
              <a:rPr lang="en-US" dirty="0"/>
              <a:t>Have you solved a problem like this before?</a:t>
            </a:r>
          </a:p>
          <a:p>
            <a:pPr lvl="1"/>
            <a:r>
              <a:rPr lang="en-US" dirty="0"/>
              <a:t>Has anyone else solved a problem like this?</a:t>
            </a:r>
          </a:p>
          <a:p>
            <a:pPr lvl="1"/>
            <a:r>
              <a:rPr lang="en-US" dirty="0"/>
              <a:t>Are there more general problems that are similar</a:t>
            </a:r>
          </a:p>
          <a:p>
            <a:pPr lvl="1"/>
            <a:r>
              <a:rPr lang="en-US" dirty="0"/>
              <a:t>Are there more specific problems that are similar</a:t>
            </a:r>
          </a:p>
          <a:p>
            <a:pPr lvl="1"/>
            <a:r>
              <a:rPr lang="en-US" dirty="0"/>
              <a:t>Can we develop pseudo code or flow charts</a:t>
            </a:r>
          </a:p>
          <a:p>
            <a:r>
              <a:rPr lang="en-US" dirty="0"/>
              <a:t>We </a:t>
            </a:r>
            <a:r>
              <a:rPr lang="en-US" i="1" dirty="0"/>
              <a:t>iterate</a:t>
            </a:r>
            <a:r>
              <a:rPr lang="en-US" dirty="0"/>
              <a:t> on these questions to generate a pool of potential solutions</a:t>
            </a:r>
          </a:p>
          <a:p>
            <a:r>
              <a:rPr lang="en-US" dirty="0"/>
              <a:t>You may discover that you do not understand everything and need to return to the understanding step to broaden your perspective</a:t>
            </a:r>
          </a:p>
          <a:p>
            <a:r>
              <a:rPr lang="en-CA" dirty="0"/>
              <a:t>Once you have a list of potential solutions you ask a different set of questions of each solution:</a:t>
            </a:r>
          </a:p>
          <a:p>
            <a:pPr lvl="1"/>
            <a:r>
              <a:rPr lang="en-US" dirty="0"/>
              <a:t>What assumptions am I making?</a:t>
            </a:r>
          </a:p>
          <a:p>
            <a:pPr lvl="1"/>
            <a:r>
              <a:rPr lang="en-US" dirty="0"/>
              <a:t>Can I break this problem into smaller parts?</a:t>
            </a:r>
          </a:p>
          <a:p>
            <a:pPr lvl="1"/>
            <a:r>
              <a:rPr lang="en-US" dirty="0"/>
              <a:t>What data do I need and how will I store it?</a:t>
            </a:r>
          </a:p>
          <a:p>
            <a:pPr lvl="1"/>
            <a:r>
              <a:rPr lang="en-US" dirty="0"/>
              <a:t>Which design is easiest to maintain?</a:t>
            </a:r>
          </a:p>
          <a:p>
            <a:pPr lvl="1"/>
            <a:r>
              <a:rPr lang="en-US" dirty="0"/>
              <a:t>How do the designs differ in clarity, time, and space?</a:t>
            </a:r>
          </a:p>
          <a:p>
            <a:pPr lvl="1"/>
            <a:r>
              <a:rPr lang="en-US" dirty="0"/>
              <a:t>Does the solution scale to very large or very small values?</a:t>
            </a:r>
          </a:p>
          <a:p>
            <a:r>
              <a:rPr lang="en-US" dirty="0"/>
              <a:t>The answers to the above help you choose a solution that has the most benefits to solving your problem</a:t>
            </a:r>
          </a:p>
          <a:p>
            <a:r>
              <a:rPr lang="en-US" dirty="0"/>
              <a:t>That chosen solution becomes your </a:t>
            </a:r>
            <a:r>
              <a:rPr lang="en-US" i="1" dirty="0"/>
              <a:t>specification</a:t>
            </a:r>
            <a:endParaRPr lang="en-CA" dirty="0"/>
          </a:p>
          <a:p>
            <a:endParaRPr lang="en-US" dirty="0"/>
          </a:p>
        </p:txBody>
      </p:sp>
    </p:spTree>
    <p:extLst>
      <p:ext uri="{BB962C8B-B14F-4D97-AF65-F5344CB8AC3E}">
        <p14:creationId xmlns:p14="http://schemas.microsoft.com/office/powerpoint/2010/main" val="2065685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3A5E5-587E-E4CD-2192-A6E734AE189E}"/>
              </a:ext>
            </a:extLst>
          </p:cNvPr>
          <p:cNvSpPr>
            <a:spLocks noGrp="1"/>
          </p:cNvSpPr>
          <p:nvPr>
            <p:ph type="title"/>
          </p:nvPr>
        </p:nvSpPr>
        <p:spPr>
          <a:xfrm>
            <a:off x="2231136" y="523613"/>
            <a:ext cx="7729728" cy="1188720"/>
          </a:xfrm>
        </p:spPr>
        <p:txBody>
          <a:bodyPr/>
          <a:lstStyle/>
          <a:p>
            <a:r>
              <a:rPr lang="en-US" dirty="0"/>
              <a:t>Find A Partner</a:t>
            </a:r>
          </a:p>
        </p:txBody>
      </p:sp>
      <p:sp>
        <p:nvSpPr>
          <p:cNvPr id="3" name="Content Placeholder 2">
            <a:extLst>
              <a:ext uri="{FF2B5EF4-FFF2-40B4-BE49-F238E27FC236}">
                <a16:creationId xmlns:a16="http://schemas.microsoft.com/office/drawing/2014/main" id="{61431921-B07B-8D71-E335-392A887F0FEA}"/>
              </a:ext>
            </a:extLst>
          </p:cNvPr>
          <p:cNvSpPr>
            <a:spLocks noGrp="1"/>
          </p:cNvSpPr>
          <p:nvPr>
            <p:ph idx="1"/>
          </p:nvPr>
        </p:nvSpPr>
        <p:spPr>
          <a:xfrm>
            <a:off x="2190828" y="2056153"/>
            <a:ext cx="7729728" cy="4032131"/>
          </a:xfrm>
        </p:spPr>
        <p:txBody>
          <a:bodyPr>
            <a:normAutofit/>
          </a:bodyPr>
          <a:lstStyle/>
          <a:p>
            <a:r>
              <a:rPr lang="en-US" dirty="0"/>
              <a:t>Recall our 1 on 1 basketball problem</a:t>
            </a:r>
          </a:p>
          <a:p>
            <a:r>
              <a:rPr lang="en-US" dirty="0"/>
              <a:t>A game goes up to 11 points, the first person to 11 wins (but you must win by 2)</a:t>
            </a:r>
          </a:p>
          <a:p>
            <a:r>
              <a:rPr lang="en-US" dirty="0"/>
              <a:t>The scoring in the game is specified in the order that the points were scored between player A and B, each basket is worth 1 or 2 points</a:t>
            </a:r>
          </a:p>
          <a:p>
            <a:pPr lvl="1"/>
            <a:r>
              <a:rPr lang="en-US" dirty="0"/>
              <a:t>Example: “A2B2A2A2A1A1A1A2” </a:t>
            </a:r>
          </a:p>
          <a:p>
            <a:r>
              <a:rPr lang="en-US" dirty="0"/>
              <a:t>We want to know who won the game:  A or B</a:t>
            </a:r>
          </a:p>
          <a:p>
            <a:r>
              <a:rPr lang="en-US" dirty="0"/>
              <a:t>Most students in the class designed a solution that required variables to count each person’s scores along the whole of the game </a:t>
            </a:r>
          </a:p>
          <a:p>
            <a:pPr lvl="1"/>
            <a:r>
              <a:rPr lang="en-US" dirty="0"/>
              <a:t>Consider the left half of the diamond:</a:t>
            </a:r>
          </a:p>
          <a:p>
            <a:pPr lvl="2"/>
            <a:r>
              <a:rPr lang="en-US" b="1" dirty="0"/>
              <a:t>Understand and Design</a:t>
            </a:r>
          </a:p>
          <a:p>
            <a:pPr lvl="1"/>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749645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0144C-A58F-DC2D-7FB0-0411180D723F}"/>
              </a:ext>
            </a:extLst>
          </p:cNvPr>
          <p:cNvSpPr>
            <a:spLocks noGrp="1"/>
          </p:cNvSpPr>
          <p:nvPr>
            <p:ph type="title"/>
          </p:nvPr>
        </p:nvSpPr>
        <p:spPr/>
        <p:txBody>
          <a:bodyPr/>
          <a:lstStyle/>
          <a:p>
            <a:r>
              <a:rPr lang="en-US" dirty="0"/>
              <a:t>Find a Partner</a:t>
            </a:r>
          </a:p>
        </p:txBody>
      </p:sp>
      <p:sp>
        <p:nvSpPr>
          <p:cNvPr id="3" name="Content Placeholder 2">
            <a:extLst>
              <a:ext uri="{FF2B5EF4-FFF2-40B4-BE49-F238E27FC236}">
                <a16:creationId xmlns:a16="http://schemas.microsoft.com/office/drawing/2014/main" id="{96F98D46-AEA2-6EED-5ED0-79264D8D8A6F}"/>
              </a:ext>
            </a:extLst>
          </p:cNvPr>
          <p:cNvSpPr>
            <a:spLocks noGrp="1"/>
          </p:cNvSpPr>
          <p:nvPr>
            <p:ph idx="1"/>
          </p:nvPr>
        </p:nvSpPr>
        <p:spPr>
          <a:xfrm>
            <a:off x="2231136" y="2638044"/>
            <a:ext cx="7729728" cy="3832204"/>
          </a:xfrm>
        </p:spPr>
        <p:txBody>
          <a:bodyPr>
            <a:normAutofit/>
          </a:bodyPr>
          <a:lstStyle/>
          <a:p>
            <a:r>
              <a:rPr lang="en-US" dirty="0"/>
              <a:t>Understanding the basketball problem:</a:t>
            </a:r>
          </a:p>
          <a:p>
            <a:pPr lvl="1"/>
            <a:r>
              <a:rPr lang="en-US" dirty="0"/>
              <a:t>What are we being asked?</a:t>
            </a:r>
          </a:p>
          <a:p>
            <a:pPr lvl="1"/>
            <a:r>
              <a:rPr lang="en-US" dirty="0"/>
              <a:t>What is redundant?</a:t>
            </a:r>
          </a:p>
          <a:p>
            <a:pPr lvl="1"/>
            <a:r>
              <a:rPr lang="en-US" dirty="0"/>
              <a:t>Can we decompose the problem into smaller aspects?</a:t>
            </a:r>
          </a:p>
          <a:p>
            <a:pPr lvl="1"/>
            <a:r>
              <a:rPr lang="en-US" dirty="0"/>
              <a:t>Did you try building other examples, other than what was given?</a:t>
            </a:r>
          </a:p>
          <a:p>
            <a:r>
              <a:rPr lang="en-US" dirty="0"/>
              <a:t>Designing a solution:</a:t>
            </a:r>
          </a:p>
          <a:p>
            <a:pPr lvl="1"/>
            <a:r>
              <a:rPr lang="en-US" dirty="0"/>
              <a:t>Decompose into smaller tasks</a:t>
            </a:r>
          </a:p>
          <a:p>
            <a:pPr lvl="1"/>
            <a:r>
              <a:rPr lang="en-US" dirty="0"/>
              <a:t>How to store or represent data</a:t>
            </a:r>
          </a:p>
          <a:p>
            <a:pPr lvl="1"/>
            <a:r>
              <a:rPr lang="en-US" dirty="0"/>
              <a:t>Existing solutions or patterns?</a:t>
            </a:r>
          </a:p>
          <a:p>
            <a:pPr lvl="1"/>
            <a:r>
              <a:rPr lang="en-US" dirty="0"/>
              <a:t>Consider pros and cons</a:t>
            </a:r>
          </a:p>
          <a:p>
            <a:pPr lvl="1"/>
            <a:endParaRPr lang="en-US" dirty="0"/>
          </a:p>
        </p:txBody>
      </p:sp>
    </p:spTree>
    <p:extLst>
      <p:ext uri="{BB962C8B-B14F-4D97-AF65-F5344CB8AC3E}">
        <p14:creationId xmlns:p14="http://schemas.microsoft.com/office/powerpoint/2010/main" val="525253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B62682-F0B8-857E-CCD0-6B0ACC833084}"/>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a:solidFill>
                  <a:srgbClr val="FFFFFF"/>
                </a:solidFill>
              </a:rPr>
              <a:t>Implement</a:t>
            </a:r>
          </a:p>
        </p:txBody>
      </p:sp>
      <p:sp>
        <p:nvSpPr>
          <p:cNvPr id="3" name="Content Placeholder 2">
            <a:extLst>
              <a:ext uri="{FF2B5EF4-FFF2-40B4-BE49-F238E27FC236}">
                <a16:creationId xmlns:a16="http://schemas.microsoft.com/office/drawing/2014/main" id="{C299312E-3A6B-DE9E-654F-01A4B2E7313F}"/>
              </a:ext>
            </a:extLst>
          </p:cNvPr>
          <p:cNvSpPr>
            <a:spLocks noGrp="1"/>
          </p:cNvSpPr>
          <p:nvPr>
            <p:ph idx="1"/>
          </p:nvPr>
        </p:nvSpPr>
        <p:spPr>
          <a:xfrm>
            <a:off x="5591695" y="231495"/>
            <a:ext cx="5320696" cy="6227178"/>
          </a:xfrm>
        </p:spPr>
        <p:txBody>
          <a:bodyPr anchor="ctr">
            <a:normAutofit/>
          </a:bodyPr>
          <a:lstStyle/>
          <a:p>
            <a:pPr>
              <a:lnSpc>
                <a:spcPct val="90000"/>
              </a:lnSpc>
            </a:pPr>
            <a:r>
              <a:rPr lang="en-US" sz="1200" dirty="0"/>
              <a:t>Coding may uncover issues with the design</a:t>
            </a:r>
          </a:p>
          <a:p>
            <a:pPr lvl="1">
              <a:lnSpc>
                <a:spcPct val="90000"/>
              </a:lnSpc>
            </a:pPr>
            <a:r>
              <a:rPr lang="en-US" sz="1200" dirty="0"/>
              <a:t>What part of the design is unclear once I start coding?</a:t>
            </a:r>
          </a:p>
          <a:p>
            <a:pPr lvl="1">
              <a:lnSpc>
                <a:spcPct val="90000"/>
              </a:lnSpc>
            </a:pPr>
            <a:r>
              <a:rPr lang="en-US" sz="1200" dirty="0"/>
              <a:t>Did I discover a missing step, condition, or data?</a:t>
            </a:r>
          </a:p>
          <a:p>
            <a:pPr>
              <a:lnSpc>
                <a:spcPct val="90000"/>
              </a:lnSpc>
            </a:pPr>
            <a:r>
              <a:rPr lang="en-US" sz="1200" dirty="0"/>
              <a:t>Be prepared to revisit your solution</a:t>
            </a:r>
          </a:p>
          <a:p>
            <a:pPr lvl="1">
              <a:lnSpc>
                <a:spcPct val="90000"/>
              </a:lnSpc>
            </a:pPr>
            <a:r>
              <a:rPr lang="en-US" sz="1200" dirty="0"/>
              <a:t>If something feels hard to implement, can I simplify the design (refactoring)?</a:t>
            </a:r>
          </a:p>
          <a:p>
            <a:pPr lvl="1">
              <a:lnSpc>
                <a:spcPct val="90000"/>
              </a:lnSpc>
            </a:pPr>
            <a:r>
              <a:rPr lang="en-US" sz="1200" dirty="0"/>
              <a:t>What is the smallest change to make the code and design align?</a:t>
            </a:r>
          </a:p>
          <a:p>
            <a:pPr>
              <a:lnSpc>
                <a:spcPct val="90000"/>
              </a:lnSpc>
            </a:pPr>
            <a:r>
              <a:rPr lang="en-US" sz="1200" dirty="0"/>
              <a:t>Consider efficiency</a:t>
            </a:r>
          </a:p>
          <a:p>
            <a:pPr lvl="1">
              <a:lnSpc>
                <a:spcPct val="90000"/>
              </a:lnSpc>
            </a:pPr>
            <a:r>
              <a:rPr lang="en-US" sz="1200" dirty="0"/>
              <a:t>Am I doing unnecessary work (repeated loops, repeated calculations)?</a:t>
            </a:r>
          </a:p>
          <a:p>
            <a:pPr lvl="1">
              <a:lnSpc>
                <a:spcPct val="90000"/>
              </a:lnSpc>
            </a:pPr>
            <a:r>
              <a:rPr lang="en-US" sz="1200" dirty="0"/>
              <a:t>Is there a clearer data structure that reduces steps? (CS2920)</a:t>
            </a:r>
          </a:p>
          <a:p>
            <a:pPr lvl="1">
              <a:lnSpc>
                <a:spcPct val="90000"/>
              </a:lnSpc>
            </a:pPr>
            <a:r>
              <a:rPr lang="en-US" sz="1200" dirty="0"/>
              <a:t>Does the code align with the solution?</a:t>
            </a:r>
          </a:p>
          <a:p>
            <a:pPr lvl="1">
              <a:lnSpc>
                <a:spcPct val="90000"/>
              </a:lnSpc>
            </a:pPr>
            <a:r>
              <a:rPr lang="en-US" sz="1200" dirty="0"/>
              <a:t>Do function names and variable names reflect the steps in my plan?</a:t>
            </a:r>
          </a:p>
          <a:p>
            <a:pPr lvl="1">
              <a:lnSpc>
                <a:spcPct val="90000"/>
              </a:lnSpc>
            </a:pPr>
            <a:r>
              <a:rPr lang="en-US" sz="1200" dirty="0"/>
              <a:t>Does each function do one clear job from the design? (Cohesion)</a:t>
            </a:r>
          </a:p>
          <a:p>
            <a:pPr>
              <a:lnSpc>
                <a:spcPct val="90000"/>
              </a:lnSpc>
            </a:pPr>
            <a:r>
              <a:rPr lang="en-US" sz="1200" dirty="0"/>
              <a:t>Practical checks while coding</a:t>
            </a:r>
          </a:p>
          <a:p>
            <a:pPr lvl="1">
              <a:lnSpc>
                <a:spcPct val="90000"/>
              </a:lnSpc>
            </a:pPr>
            <a:r>
              <a:rPr lang="en-US" sz="1200" dirty="0"/>
              <a:t>Can I run and test each small piece right after I write it?</a:t>
            </a:r>
          </a:p>
          <a:p>
            <a:pPr lvl="1">
              <a:lnSpc>
                <a:spcPct val="90000"/>
              </a:lnSpc>
            </a:pPr>
            <a:r>
              <a:rPr lang="en-US" sz="1200" dirty="0"/>
              <a:t>Do I have simple, normal, and edge-case inputs to try quickly?</a:t>
            </a:r>
          </a:p>
          <a:p>
            <a:pPr lvl="1">
              <a:lnSpc>
                <a:spcPct val="90000"/>
              </a:lnSpc>
            </a:pPr>
            <a:r>
              <a:rPr lang="en-US" sz="1200" dirty="0"/>
              <a:t>Is my code readable by someone else or by me in the future?</a:t>
            </a:r>
          </a:p>
          <a:p>
            <a:pPr lvl="1">
              <a:lnSpc>
                <a:spcPct val="90000"/>
              </a:lnSpc>
            </a:pPr>
            <a:r>
              <a:rPr lang="en-US" sz="1200" dirty="0"/>
              <a:t>Is duplicated code extracted into a helper?</a:t>
            </a:r>
          </a:p>
          <a:p>
            <a:pPr lvl="1">
              <a:lnSpc>
                <a:spcPct val="90000"/>
              </a:lnSpc>
            </a:pPr>
            <a:endParaRPr lang="en-US" sz="1200" dirty="0"/>
          </a:p>
        </p:txBody>
      </p:sp>
    </p:spTree>
    <p:extLst>
      <p:ext uri="{BB962C8B-B14F-4D97-AF65-F5344CB8AC3E}">
        <p14:creationId xmlns:p14="http://schemas.microsoft.com/office/powerpoint/2010/main" val="11992081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59D458-A5E4-240E-AE5B-A14E2AF73491}"/>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CA" sz="1700" dirty="0">
                <a:solidFill>
                  <a:srgbClr val="FFFFFF"/>
                </a:solidFill>
              </a:rPr>
              <a:t>Implementation</a:t>
            </a:r>
            <a:br>
              <a:rPr lang="en-CA" sz="1700" dirty="0">
                <a:solidFill>
                  <a:srgbClr val="FFFFFF"/>
                </a:solidFill>
              </a:rPr>
            </a:br>
            <a:br>
              <a:rPr lang="en-CA" sz="1700" dirty="0">
                <a:solidFill>
                  <a:srgbClr val="FFFFFF"/>
                </a:solidFill>
              </a:rPr>
            </a:br>
            <a:r>
              <a:rPr lang="en-CA" sz="1700" dirty="0">
                <a:solidFill>
                  <a:srgbClr val="FFFFFF"/>
                </a:solidFill>
              </a:rPr>
              <a:t>(here is one I did earlier!)</a:t>
            </a:r>
          </a:p>
        </p:txBody>
      </p:sp>
      <p:sp>
        <p:nvSpPr>
          <p:cNvPr id="3" name="Content Placeholder 2">
            <a:extLst>
              <a:ext uri="{FF2B5EF4-FFF2-40B4-BE49-F238E27FC236}">
                <a16:creationId xmlns:a16="http://schemas.microsoft.com/office/drawing/2014/main" id="{73DCD1A0-1525-DD16-D183-20E29CDD1705}"/>
              </a:ext>
            </a:extLst>
          </p:cNvPr>
          <p:cNvSpPr>
            <a:spLocks noGrp="1"/>
          </p:cNvSpPr>
          <p:nvPr>
            <p:ph idx="1"/>
          </p:nvPr>
        </p:nvSpPr>
        <p:spPr>
          <a:xfrm>
            <a:off x="5591695" y="277792"/>
            <a:ext cx="5320696" cy="6331352"/>
          </a:xfrm>
        </p:spPr>
        <p:txBody>
          <a:bodyPr anchor="ctr">
            <a:normAutofit/>
          </a:bodyPr>
          <a:lstStyle/>
          <a:p>
            <a:pPr>
              <a:buNone/>
            </a:pPr>
            <a:r>
              <a:rPr lang="en-US" sz="1400" dirty="0">
                <a:solidFill>
                  <a:srgbClr val="0033B3"/>
                </a:solidFill>
                <a:effectLst/>
                <a:latin typeface="JetBrains Mono"/>
              </a:rPr>
              <a:t>def </a:t>
            </a:r>
            <a:r>
              <a:rPr lang="en-US" sz="1400" dirty="0" err="1">
                <a:solidFill>
                  <a:srgbClr val="00627A"/>
                </a:solidFill>
                <a:effectLst/>
                <a:latin typeface="JetBrains Mono"/>
              </a:rPr>
              <a:t>get_winner</a:t>
            </a:r>
            <a:r>
              <a:rPr lang="en-US" sz="1400" dirty="0">
                <a:solidFill>
                  <a:srgbClr val="080808"/>
                </a:solidFill>
                <a:effectLst/>
                <a:latin typeface="JetBrains Mono"/>
              </a:rPr>
              <a:t>(</a:t>
            </a:r>
            <a:r>
              <a:rPr lang="en-US" sz="1400" dirty="0" err="1">
                <a:solidFill>
                  <a:srgbClr val="000000"/>
                </a:solidFill>
                <a:effectLst/>
                <a:latin typeface="JetBrains Mono"/>
              </a:rPr>
              <a:t>scoring_sequence</a:t>
            </a:r>
            <a:r>
              <a:rPr lang="en-US" sz="1400" dirty="0">
                <a:solidFill>
                  <a:srgbClr val="080808"/>
                </a:solidFill>
                <a:effectLst/>
                <a:latin typeface="JetBrains Mono"/>
              </a:rPr>
              <a:t>):</a:t>
            </a:r>
            <a:br>
              <a:rPr lang="en-US" sz="1400" dirty="0">
                <a:solidFill>
                  <a:srgbClr val="080808"/>
                </a:solidFill>
                <a:effectLst/>
                <a:latin typeface="JetBrains Mono"/>
              </a:rPr>
            </a:br>
            <a:r>
              <a:rPr lang="en-US" sz="1400" dirty="0">
                <a:solidFill>
                  <a:srgbClr val="080808"/>
                </a:solidFill>
                <a:effectLst/>
                <a:latin typeface="JetBrains Mono"/>
              </a:rPr>
              <a:t>    </a:t>
            </a:r>
            <a:r>
              <a:rPr lang="en-US" sz="1400" dirty="0" err="1">
                <a:solidFill>
                  <a:srgbClr val="000000"/>
                </a:solidFill>
                <a:effectLst/>
                <a:latin typeface="JetBrains Mono"/>
              </a:rPr>
              <a:t>score_a</a:t>
            </a:r>
            <a:r>
              <a:rPr lang="en-US" sz="1400" dirty="0">
                <a:solidFill>
                  <a:srgbClr val="000000"/>
                </a:solidFill>
                <a:effectLst/>
                <a:latin typeface="JetBrains Mono"/>
              </a:rPr>
              <a:t> </a:t>
            </a:r>
            <a:r>
              <a:rPr lang="en-US" sz="1400" dirty="0">
                <a:solidFill>
                  <a:srgbClr val="080808"/>
                </a:solidFill>
                <a:effectLst/>
                <a:latin typeface="JetBrains Mono"/>
              </a:rPr>
              <a:t>= </a:t>
            </a:r>
            <a:r>
              <a:rPr lang="en-US" sz="1400" dirty="0">
                <a:solidFill>
                  <a:srgbClr val="1750EB"/>
                </a:solidFill>
                <a:effectLst/>
                <a:latin typeface="JetBrains Mono"/>
              </a:rPr>
              <a:t>0</a:t>
            </a:r>
            <a:br>
              <a:rPr lang="en-US" sz="1400" dirty="0">
                <a:solidFill>
                  <a:srgbClr val="1750EB"/>
                </a:solidFill>
                <a:effectLst/>
                <a:latin typeface="JetBrains Mono"/>
              </a:rPr>
            </a:br>
            <a:r>
              <a:rPr lang="en-US" sz="1400" dirty="0">
                <a:solidFill>
                  <a:srgbClr val="1750EB"/>
                </a:solidFill>
                <a:effectLst/>
                <a:latin typeface="JetBrains Mono"/>
              </a:rPr>
              <a:t>    </a:t>
            </a:r>
            <a:r>
              <a:rPr lang="en-US" sz="1400" dirty="0" err="1">
                <a:solidFill>
                  <a:srgbClr val="000000"/>
                </a:solidFill>
                <a:effectLst/>
                <a:latin typeface="JetBrains Mono"/>
              </a:rPr>
              <a:t>score_b</a:t>
            </a:r>
            <a:r>
              <a:rPr lang="en-US" sz="1400" dirty="0">
                <a:solidFill>
                  <a:srgbClr val="000000"/>
                </a:solidFill>
                <a:effectLst/>
                <a:latin typeface="JetBrains Mono"/>
              </a:rPr>
              <a:t> </a:t>
            </a:r>
            <a:r>
              <a:rPr lang="en-US" sz="1400" dirty="0">
                <a:solidFill>
                  <a:srgbClr val="080808"/>
                </a:solidFill>
                <a:effectLst/>
                <a:latin typeface="JetBrains Mono"/>
              </a:rPr>
              <a:t>= </a:t>
            </a:r>
            <a:r>
              <a:rPr lang="en-US" sz="1400" dirty="0">
                <a:solidFill>
                  <a:srgbClr val="1750EB"/>
                </a:solidFill>
                <a:effectLst/>
                <a:latin typeface="JetBrains Mono"/>
              </a:rPr>
              <a:t>0</a:t>
            </a:r>
            <a:br>
              <a:rPr lang="en-US" sz="1400" dirty="0">
                <a:solidFill>
                  <a:srgbClr val="1750EB"/>
                </a:solidFill>
                <a:effectLst/>
                <a:latin typeface="JetBrains Mono"/>
              </a:rPr>
            </a:br>
            <a:r>
              <a:rPr lang="en-US" sz="1400" dirty="0">
                <a:solidFill>
                  <a:srgbClr val="1750EB"/>
                </a:solidFill>
                <a:effectLst/>
                <a:latin typeface="JetBrains Mono"/>
              </a:rPr>
              <a:t>    </a:t>
            </a:r>
            <a:r>
              <a:rPr lang="en-US" sz="1400" dirty="0">
                <a:solidFill>
                  <a:srgbClr val="000000"/>
                </a:solidFill>
                <a:effectLst/>
                <a:latin typeface="JetBrains Mono"/>
              </a:rPr>
              <a:t>index </a:t>
            </a:r>
            <a:r>
              <a:rPr lang="en-US" sz="1400" dirty="0">
                <a:solidFill>
                  <a:srgbClr val="080808"/>
                </a:solidFill>
                <a:effectLst/>
                <a:latin typeface="JetBrains Mono"/>
              </a:rPr>
              <a:t>= </a:t>
            </a:r>
            <a:r>
              <a:rPr lang="en-US" sz="1400" dirty="0">
                <a:solidFill>
                  <a:srgbClr val="1750EB"/>
                </a:solidFill>
                <a:effectLst/>
                <a:latin typeface="JetBrains Mono"/>
              </a:rPr>
              <a:t>0</a:t>
            </a:r>
            <a:br>
              <a:rPr lang="en-US" sz="1400" dirty="0">
                <a:solidFill>
                  <a:srgbClr val="1750EB"/>
                </a:solidFill>
                <a:effectLst/>
                <a:latin typeface="JetBrains Mono"/>
              </a:rPr>
            </a:br>
            <a:br>
              <a:rPr lang="en-US" sz="1400" dirty="0">
                <a:solidFill>
                  <a:srgbClr val="1750EB"/>
                </a:solidFill>
                <a:effectLst/>
                <a:latin typeface="JetBrains Mono"/>
              </a:rPr>
            </a:br>
            <a:r>
              <a:rPr lang="en-US" sz="1400" dirty="0">
                <a:solidFill>
                  <a:srgbClr val="1750EB"/>
                </a:solidFill>
                <a:effectLst/>
                <a:latin typeface="JetBrains Mono"/>
              </a:rPr>
              <a:t>    </a:t>
            </a:r>
            <a:r>
              <a:rPr lang="en-US" sz="1400" dirty="0">
                <a:solidFill>
                  <a:srgbClr val="0033B3"/>
                </a:solidFill>
                <a:effectLst/>
                <a:latin typeface="JetBrains Mono"/>
              </a:rPr>
              <a:t>while </a:t>
            </a:r>
            <a:r>
              <a:rPr lang="en-US" sz="1400" dirty="0">
                <a:solidFill>
                  <a:srgbClr val="000000"/>
                </a:solidFill>
                <a:effectLst/>
                <a:latin typeface="JetBrains Mono"/>
              </a:rPr>
              <a:t>index </a:t>
            </a:r>
            <a:r>
              <a:rPr lang="en-US" sz="1400" dirty="0">
                <a:solidFill>
                  <a:srgbClr val="080808"/>
                </a:solidFill>
                <a:effectLst/>
                <a:latin typeface="JetBrains Mono"/>
              </a:rPr>
              <a:t>&lt; </a:t>
            </a:r>
            <a:r>
              <a:rPr lang="en-US" sz="1400" dirty="0" err="1">
                <a:solidFill>
                  <a:srgbClr val="000080"/>
                </a:solidFill>
                <a:effectLst/>
                <a:latin typeface="JetBrains Mono"/>
              </a:rPr>
              <a:t>len</a:t>
            </a:r>
            <a:r>
              <a:rPr lang="en-US" sz="1400" dirty="0">
                <a:solidFill>
                  <a:srgbClr val="080808"/>
                </a:solidFill>
                <a:effectLst/>
                <a:latin typeface="JetBrains Mono"/>
              </a:rPr>
              <a:t>(</a:t>
            </a:r>
            <a:r>
              <a:rPr lang="en-US" sz="1400" dirty="0" err="1">
                <a:solidFill>
                  <a:srgbClr val="000000"/>
                </a:solidFill>
                <a:effectLst/>
                <a:latin typeface="JetBrains Mono"/>
              </a:rPr>
              <a:t>scoring_sequence</a:t>
            </a:r>
            <a:r>
              <a:rPr lang="en-US" sz="1400" dirty="0">
                <a:solidFill>
                  <a:srgbClr val="080808"/>
                </a:solidFill>
                <a:effectLst/>
                <a:latin typeface="JetBrains Mono"/>
              </a:rPr>
              <a:t>):</a:t>
            </a:r>
            <a:br>
              <a:rPr lang="en-US" sz="1400" dirty="0">
                <a:solidFill>
                  <a:srgbClr val="080808"/>
                </a:solidFill>
                <a:effectLst/>
                <a:latin typeface="JetBrains Mono"/>
              </a:rPr>
            </a:br>
            <a:r>
              <a:rPr lang="en-US" sz="1400" dirty="0">
                <a:solidFill>
                  <a:srgbClr val="080808"/>
                </a:solidFill>
                <a:effectLst/>
                <a:latin typeface="JetBrains Mono"/>
              </a:rPr>
              <a:t>        </a:t>
            </a:r>
            <a:r>
              <a:rPr lang="en-US" sz="1400" dirty="0" err="1">
                <a:solidFill>
                  <a:srgbClr val="000000"/>
                </a:solidFill>
                <a:effectLst/>
                <a:latin typeface="JetBrains Mono"/>
              </a:rPr>
              <a:t>current_player</a:t>
            </a:r>
            <a:r>
              <a:rPr lang="en-US" sz="1400" dirty="0">
                <a:solidFill>
                  <a:srgbClr val="000000"/>
                </a:solidFill>
                <a:effectLst/>
                <a:latin typeface="JetBrains Mono"/>
              </a:rPr>
              <a:t> </a:t>
            </a:r>
            <a:r>
              <a:rPr lang="en-US" sz="1400" dirty="0">
                <a:solidFill>
                  <a:srgbClr val="080808"/>
                </a:solidFill>
                <a:effectLst/>
                <a:latin typeface="JetBrains Mono"/>
              </a:rPr>
              <a:t>= </a:t>
            </a:r>
            <a:r>
              <a:rPr lang="en-US" sz="1400" dirty="0" err="1">
                <a:solidFill>
                  <a:srgbClr val="000000"/>
                </a:solidFill>
                <a:effectLst/>
                <a:latin typeface="JetBrains Mono"/>
              </a:rPr>
              <a:t>scoring_sequence</a:t>
            </a:r>
            <a:r>
              <a:rPr lang="en-US" sz="1400" dirty="0">
                <a:solidFill>
                  <a:srgbClr val="080808"/>
                </a:solidFill>
                <a:effectLst/>
                <a:latin typeface="JetBrains Mono"/>
              </a:rPr>
              <a:t>[</a:t>
            </a:r>
            <a:r>
              <a:rPr lang="en-US" sz="1400" dirty="0">
                <a:solidFill>
                  <a:srgbClr val="000000"/>
                </a:solidFill>
                <a:effectLst/>
                <a:latin typeface="JetBrains Mono"/>
              </a:rPr>
              <a:t>index</a:t>
            </a:r>
            <a:r>
              <a:rPr lang="en-US" sz="1400" dirty="0">
                <a:solidFill>
                  <a:srgbClr val="080808"/>
                </a:solidFill>
                <a:effectLst/>
                <a:latin typeface="JetBrains Mono"/>
              </a:rPr>
              <a:t>]</a:t>
            </a:r>
            <a:br>
              <a:rPr lang="en-US" sz="1400" dirty="0">
                <a:solidFill>
                  <a:srgbClr val="080808"/>
                </a:solidFill>
                <a:effectLst/>
                <a:latin typeface="JetBrains Mono"/>
              </a:rPr>
            </a:br>
            <a:r>
              <a:rPr lang="en-US" sz="1400" dirty="0">
                <a:solidFill>
                  <a:srgbClr val="080808"/>
                </a:solidFill>
                <a:effectLst/>
                <a:latin typeface="JetBrains Mono"/>
              </a:rPr>
              <a:t>        </a:t>
            </a:r>
            <a:r>
              <a:rPr lang="en-US" sz="1400" dirty="0" err="1">
                <a:solidFill>
                  <a:srgbClr val="000000"/>
                </a:solidFill>
                <a:effectLst/>
                <a:latin typeface="JetBrains Mono"/>
              </a:rPr>
              <a:t>points_scored</a:t>
            </a:r>
            <a:r>
              <a:rPr lang="en-US" sz="1400" dirty="0">
                <a:solidFill>
                  <a:srgbClr val="000000"/>
                </a:solidFill>
                <a:effectLst/>
                <a:latin typeface="JetBrains Mono"/>
              </a:rPr>
              <a:t> </a:t>
            </a:r>
            <a:r>
              <a:rPr lang="en-US" sz="1400" dirty="0">
                <a:solidFill>
                  <a:srgbClr val="080808"/>
                </a:solidFill>
                <a:effectLst/>
                <a:latin typeface="JetBrains Mono"/>
              </a:rPr>
              <a:t>= </a:t>
            </a:r>
            <a:r>
              <a:rPr lang="en-US" sz="1400" dirty="0">
                <a:solidFill>
                  <a:srgbClr val="000080"/>
                </a:solidFill>
                <a:effectLst/>
                <a:latin typeface="JetBrains Mono"/>
              </a:rPr>
              <a:t>int</a:t>
            </a:r>
            <a:r>
              <a:rPr lang="en-US" sz="1400" dirty="0">
                <a:solidFill>
                  <a:srgbClr val="080808"/>
                </a:solidFill>
                <a:effectLst/>
                <a:latin typeface="JetBrains Mono"/>
              </a:rPr>
              <a:t>(</a:t>
            </a:r>
            <a:r>
              <a:rPr lang="en-US" sz="1400" dirty="0" err="1">
                <a:solidFill>
                  <a:srgbClr val="000000"/>
                </a:solidFill>
                <a:effectLst/>
                <a:latin typeface="JetBrains Mono"/>
              </a:rPr>
              <a:t>scoring_sequence</a:t>
            </a:r>
            <a:r>
              <a:rPr lang="en-US" sz="1400" dirty="0">
                <a:solidFill>
                  <a:srgbClr val="080808"/>
                </a:solidFill>
                <a:effectLst/>
                <a:latin typeface="JetBrains Mono"/>
              </a:rPr>
              <a:t>[</a:t>
            </a:r>
            <a:r>
              <a:rPr lang="en-US" sz="1400" dirty="0">
                <a:solidFill>
                  <a:srgbClr val="000000"/>
                </a:solidFill>
                <a:effectLst/>
                <a:latin typeface="JetBrains Mono"/>
              </a:rPr>
              <a:t>index </a:t>
            </a:r>
            <a:r>
              <a:rPr lang="en-US" sz="1400" dirty="0">
                <a:solidFill>
                  <a:srgbClr val="080808"/>
                </a:solidFill>
                <a:effectLst/>
                <a:latin typeface="JetBrains Mono"/>
              </a:rPr>
              <a:t>+ </a:t>
            </a:r>
            <a:r>
              <a:rPr lang="en-US" sz="1400" dirty="0">
                <a:solidFill>
                  <a:srgbClr val="1750EB"/>
                </a:solidFill>
                <a:effectLst/>
                <a:latin typeface="JetBrains Mono"/>
              </a:rPr>
              <a:t>1</a:t>
            </a:r>
            <a:r>
              <a:rPr lang="en-US" sz="1400" dirty="0">
                <a:solidFill>
                  <a:srgbClr val="080808"/>
                </a:solidFill>
                <a:effectLst/>
                <a:latin typeface="JetBrains Mono"/>
              </a:rPr>
              <a:t>])</a:t>
            </a:r>
            <a:br>
              <a:rPr lang="en-US" sz="1400" dirty="0">
                <a:solidFill>
                  <a:srgbClr val="080808"/>
                </a:solidFill>
                <a:effectLst/>
                <a:latin typeface="JetBrains Mono"/>
              </a:rPr>
            </a:br>
            <a:br>
              <a:rPr lang="en-US" sz="1400" dirty="0">
                <a:solidFill>
                  <a:srgbClr val="080808"/>
                </a:solidFill>
                <a:effectLst/>
                <a:latin typeface="JetBrains Mono"/>
              </a:rPr>
            </a:br>
            <a:r>
              <a:rPr lang="en-US" sz="1400" dirty="0">
                <a:solidFill>
                  <a:srgbClr val="080808"/>
                </a:solidFill>
                <a:effectLst/>
                <a:latin typeface="JetBrains Mono"/>
              </a:rPr>
              <a:t>        </a:t>
            </a:r>
            <a:r>
              <a:rPr lang="en-US" sz="1400" dirty="0">
                <a:solidFill>
                  <a:srgbClr val="0033B3"/>
                </a:solidFill>
                <a:effectLst/>
                <a:latin typeface="JetBrains Mono"/>
              </a:rPr>
              <a:t>if </a:t>
            </a:r>
            <a:r>
              <a:rPr lang="en-US" sz="1400" dirty="0" err="1">
                <a:solidFill>
                  <a:srgbClr val="000000"/>
                </a:solidFill>
                <a:effectLst/>
                <a:latin typeface="JetBrains Mono"/>
              </a:rPr>
              <a:t>current_player</a:t>
            </a:r>
            <a:r>
              <a:rPr lang="en-US" sz="1400" dirty="0">
                <a:solidFill>
                  <a:srgbClr val="000000"/>
                </a:solidFill>
                <a:effectLst/>
                <a:latin typeface="JetBrains Mono"/>
              </a:rPr>
              <a:t> </a:t>
            </a:r>
            <a:r>
              <a:rPr lang="en-US" sz="1400" dirty="0">
                <a:solidFill>
                  <a:srgbClr val="080808"/>
                </a:solidFill>
                <a:effectLst/>
                <a:latin typeface="JetBrains Mono"/>
              </a:rPr>
              <a:t>== </a:t>
            </a:r>
            <a:r>
              <a:rPr lang="en-US" sz="1400" dirty="0">
                <a:solidFill>
                  <a:srgbClr val="067D17"/>
                </a:solidFill>
                <a:effectLst/>
                <a:latin typeface="JetBrains Mono"/>
              </a:rPr>
              <a:t>"A"</a:t>
            </a:r>
            <a:r>
              <a:rPr lang="en-US" sz="1400" dirty="0">
                <a:solidFill>
                  <a:srgbClr val="080808"/>
                </a:solidFill>
                <a:effectLst/>
                <a:latin typeface="JetBrains Mono"/>
              </a:rPr>
              <a:t>:</a:t>
            </a:r>
            <a:br>
              <a:rPr lang="en-US" sz="1400" dirty="0">
                <a:solidFill>
                  <a:srgbClr val="080808"/>
                </a:solidFill>
                <a:effectLst/>
                <a:latin typeface="JetBrains Mono"/>
              </a:rPr>
            </a:br>
            <a:r>
              <a:rPr lang="en-US" sz="1400" dirty="0">
                <a:solidFill>
                  <a:srgbClr val="080808"/>
                </a:solidFill>
                <a:effectLst/>
                <a:latin typeface="JetBrains Mono"/>
              </a:rPr>
              <a:t>            </a:t>
            </a:r>
            <a:r>
              <a:rPr lang="en-US" sz="1400" dirty="0" err="1">
                <a:solidFill>
                  <a:srgbClr val="000000"/>
                </a:solidFill>
                <a:effectLst/>
                <a:latin typeface="JetBrains Mono"/>
              </a:rPr>
              <a:t>score_a</a:t>
            </a:r>
            <a:r>
              <a:rPr lang="en-US" sz="1400" dirty="0">
                <a:solidFill>
                  <a:srgbClr val="000000"/>
                </a:solidFill>
                <a:effectLst/>
                <a:latin typeface="JetBrains Mono"/>
              </a:rPr>
              <a:t> </a:t>
            </a:r>
            <a:r>
              <a:rPr lang="en-US" sz="1400" dirty="0">
                <a:solidFill>
                  <a:srgbClr val="080808"/>
                </a:solidFill>
                <a:effectLst/>
                <a:latin typeface="JetBrains Mono"/>
              </a:rPr>
              <a:t>= </a:t>
            </a:r>
            <a:r>
              <a:rPr lang="en-US" sz="1400" dirty="0" err="1">
                <a:solidFill>
                  <a:srgbClr val="000000"/>
                </a:solidFill>
                <a:effectLst/>
                <a:latin typeface="JetBrains Mono"/>
              </a:rPr>
              <a:t>score_a</a:t>
            </a:r>
            <a:r>
              <a:rPr lang="en-US" sz="1400" dirty="0">
                <a:solidFill>
                  <a:srgbClr val="000000"/>
                </a:solidFill>
                <a:effectLst/>
                <a:latin typeface="JetBrains Mono"/>
              </a:rPr>
              <a:t> </a:t>
            </a:r>
            <a:r>
              <a:rPr lang="en-US" sz="1400" dirty="0">
                <a:solidFill>
                  <a:srgbClr val="080808"/>
                </a:solidFill>
                <a:effectLst/>
                <a:latin typeface="JetBrains Mono"/>
              </a:rPr>
              <a:t>+ </a:t>
            </a:r>
            <a:r>
              <a:rPr lang="en-US" sz="1400" dirty="0" err="1">
                <a:solidFill>
                  <a:srgbClr val="000000"/>
                </a:solidFill>
                <a:effectLst/>
                <a:latin typeface="JetBrains Mono"/>
              </a:rPr>
              <a:t>points_scored</a:t>
            </a:r>
            <a:br>
              <a:rPr lang="en-US" sz="1400" dirty="0">
                <a:solidFill>
                  <a:srgbClr val="000000"/>
                </a:solidFill>
                <a:effectLst/>
                <a:latin typeface="JetBrains Mono"/>
              </a:rPr>
            </a:br>
            <a:r>
              <a:rPr lang="en-US" sz="1400" dirty="0">
                <a:solidFill>
                  <a:srgbClr val="000000"/>
                </a:solidFill>
                <a:effectLst/>
                <a:latin typeface="JetBrains Mono"/>
              </a:rPr>
              <a:t>        </a:t>
            </a:r>
            <a:r>
              <a:rPr lang="en-US" sz="1400" dirty="0">
                <a:solidFill>
                  <a:srgbClr val="0033B3"/>
                </a:solidFill>
                <a:effectLst/>
                <a:latin typeface="JetBrains Mono"/>
              </a:rPr>
              <a:t>else</a:t>
            </a:r>
            <a:r>
              <a:rPr lang="en-US" sz="1400" dirty="0">
                <a:solidFill>
                  <a:srgbClr val="080808"/>
                </a:solidFill>
                <a:effectLst/>
                <a:latin typeface="JetBrains Mono"/>
              </a:rPr>
              <a:t>:</a:t>
            </a:r>
            <a:br>
              <a:rPr lang="en-US" sz="1400" dirty="0">
                <a:solidFill>
                  <a:srgbClr val="080808"/>
                </a:solidFill>
                <a:effectLst/>
                <a:latin typeface="JetBrains Mono"/>
              </a:rPr>
            </a:br>
            <a:r>
              <a:rPr lang="en-US" sz="1400" dirty="0">
                <a:solidFill>
                  <a:srgbClr val="080808"/>
                </a:solidFill>
                <a:effectLst/>
                <a:latin typeface="JetBrains Mono"/>
              </a:rPr>
              <a:t>            </a:t>
            </a:r>
            <a:r>
              <a:rPr lang="en-US" sz="1400" dirty="0" err="1">
                <a:solidFill>
                  <a:srgbClr val="000000"/>
                </a:solidFill>
                <a:effectLst/>
                <a:latin typeface="JetBrains Mono"/>
              </a:rPr>
              <a:t>score_b</a:t>
            </a:r>
            <a:r>
              <a:rPr lang="en-US" sz="1400" dirty="0">
                <a:solidFill>
                  <a:srgbClr val="000000"/>
                </a:solidFill>
                <a:effectLst/>
                <a:latin typeface="JetBrains Mono"/>
              </a:rPr>
              <a:t> </a:t>
            </a:r>
            <a:r>
              <a:rPr lang="en-US" sz="1400" dirty="0">
                <a:solidFill>
                  <a:srgbClr val="080808"/>
                </a:solidFill>
                <a:effectLst/>
                <a:latin typeface="JetBrains Mono"/>
              </a:rPr>
              <a:t>= </a:t>
            </a:r>
            <a:r>
              <a:rPr lang="en-US" sz="1400" dirty="0" err="1">
                <a:solidFill>
                  <a:srgbClr val="000000"/>
                </a:solidFill>
                <a:effectLst/>
                <a:latin typeface="JetBrains Mono"/>
              </a:rPr>
              <a:t>score_b</a:t>
            </a:r>
            <a:r>
              <a:rPr lang="en-US" sz="1400" dirty="0">
                <a:solidFill>
                  <a:srgbClr val="000000"/>
                </a:solidFill>
                <a:effectLst/>
                <a:latin typeface="JetBrains Mono"/>
              </a:rPr>
              <a:t> </a:t>
            </a:r>
            <a:r>
              <a:rPr lang="en-US" sz="1400" dirty="0">
                <a:solidFill>
                  <a:srgbClr val="080808"/>
                </a:solidFill>
                <a:effectLst/>
                <a:latin typeface="JetBrains Mono"/>
              </a:rPr>
              <a:t>+ </a:t>
            </a:r>
            <a:r>
              <a:rPr lang="en-US" sz="1400" dirty="0" err="1">
                <a:solidFill>
                  <a:srgbClr val="000000"/>
                </a:solidFill>
                <a:effectLst/>
                <a:latin typeface="JetBrains Mono"/>
              </a:rPr>
              <a:t>points_scored</a:t>
            </a:r>
            <a:br>
              <a:rPr lang="en-US" sz="1400" dirty="0">
                <a:solidFill>
                  <a:srgbClr val="000000"/>
                </a:solidFill>
                <a:effectLst/>
                <a:latin typeface="JetBrains Mono"/>
              </a:rPr>
            </a:br>
            <a:br>
              <a:rPr lang="en-US" sz="1400" dirty="0">
                <a:solidFill>
                  <a:srgbClr val="000000"/>
                </a:solidFill>
                <a:effectLst/>
                <a:latin typeface="JetBrains Mono"/>
              </a:rPr>
            </a:br>
            <a:r>
              <a:rPr lang="en-US" sz="1400" dirty="0">
                <a:solidFill>
                  <a:srgbClr val="000000"/>
                </a:solidFill>
                <a:effectLst/>
                <a:latin typeface="JetBrains Mono"/>
              </a:rPr>
              <a:t>        </a:t>
            </a:r>
            <a:r>
              <a:rPr lang="en-US" sz="1400" i="1" dirty="0">
                <a:solidFill>
                  <a:srgbClr val="8C8C8C"/>
                </a:solidFill>
                <a:effectLst/>
                <a:latin typeface="JetBrains Mono"/>
              </a:rPr>
              <a:t># BUG: stops as soon as someone reaches 11 (does not check 2-point lead)</a:t>
            </a:r>
            <a:br>
              <a:rPr lang="en-US" sz="1400" i="1" dirty="0">
                <a:solidFill>
                  <a:srgbClr val="8C8C8C"/>
                </a:solidFill>
                <a:effectLst/>
                <a:latin typeface="JetBrains Mono"/>
              </a:rPr>
            </a:br>
            <a:r>
              <a:rPr lang="en-US" sz="1400" i="1" dirty="0">
                <a:solidFill>
                  <a:srgbClr val="8C8C8C"/>
                </a:solidFill>
                <a:effectLst/>
                <a:latin typeface="JetBrains Mono"/>
              </a:rPr>
              <a:t>        </a:t>
            </a:r>
            <a:r>
              <a:rPr lang="en-US" sz="1400" dirty="0">
                <a:solidFill>
                  <a:srgbClr val="0033B3"/>
                </a:solidFill>
                <a:effectLst/>
                <a:latin typeface="JetBrains Mono"/>
              </a:rPr>
              <a:t>if </a:t>
            </a:r>
            <a:r>
              <a:rPr lang="en-US" sz="1400" dirty="0" err="1">
                <a:solidFill>
                  <a:srgbClr val="000000"/>
                </a:solidFill>
                <a:effectLst/>
                <a:latin typeface="JetBrains Mono"/>
              </a:rPr>
              <a:t>score_a</a:t>
            </a:r>
            <a:r>
              <a:rPr lang="en-US" sz="1400" dirty="0">
                <a:solidFill>
                  <a:srgbClr val="000000"/>
                </a:solidFill>
                <a:effectLst/>
                <a:latin typeface="JetBrains Mono"/>
              </a:rPr>
              <a:t> </a:t>
            </a:r>
            <a:r>
              <a:rPr lang="en-US" sz="1400" dirty="0">
                <a:solidFill>
                  <a:srgbClr val="080808"/>
                </a:solidFill>
                <a:effectLst/>
                <a:latin typeface="JetBrains Mono"/>
              </a:rPr>
              <a:t>&gt;= </a:t>
            </a:r>
            <a:r>
              <a:rPr lang="en-US" sz="1400" dirty="0">
                <a:solidFill>
                  <a:srgbClr val="1750EB"/>
                </a:solidFill>
                <a:effectLst/>
                <a:latin typeface="JetBrains Mono"/>
              </a:rPr>
              <a:t>11 </a:t>
            </a:r>
            <a:r>
              <a:rPr lang="en-US" sz="1400" dirty="0">
                <a:solidFill>
                  <a:srgbClr val="0033B3"/>
                </a:solidFill>
                <a:effectLst/>
                <a:latin typeface="JetBrains Mono"/>
              </a:rPr>
              <a:t>or </a:t>
            </a:r>
            <a:r>
              <a:rPr lang="en-US" sz="1400" dirty="0" err="1">
                <a:solidFill>
                  <a:srgbClr val="000000"/>
                </a:solidFill>
                <a:effectLst/>
                <a:latin typeface="JetBrains Mono"/>
              </a:rPr>
              <a:t>score_b</a:t>
            </a:r>
            <a:r>
              <a:rPr lang="en-US" sz="1400" dirty="0">
                <a:solidFill>
                  <a:srgbClr val="000000"/>
                </a:solidFill>
                <a:effectLst/>
                <a:latin typeface="JetBrains Mono"/>
              </a:rPr>
              <a:t> </a:t>
            </a:r>
            <a:r>
              <a:rPr lang="en-US" sz="1400" dirty="0">
                <a:solidFill>
                  <a:srgbClr val="080808"/>
                </a:solidFill>
                <a:effectLst/>
                <a:latin typeface="JetBrains Mono"/>
              </a:rPr>
              <a:t>&gt;= </a:t>
            </a:r>
            <a:r>
              <a:rPr lang="en-US" sz="1400" dirty="0">
                <a:solidFill>
                  <a:srgbClr val="1750EB"/>
                </a:solidFill>
                <a:effectLst/>
                <a:latin typeface="JetBrains Mono"/>
              </a:rPr>
              <a:t>11</a:t>
            </a:r>
            <a:r>
              <a:rPr lang="en-US" sz="1400" dirty="0">
                <a:solidFill>
                  <a:srgbClr val="080808"/>
                </a:solidFill>
                <a:effectLst/>
                <a:latin typeface="JetBrains Mono"/>
              </a:rPr>
              <a:t>:</a:t>
            </a:r>
            <a:br>
              <a:rPr lang="en-US" sz="1400" dirty="0">
                <a:solidFill>
                  <a:srgbClr val="080808"/>
                </a:solidFill>
                <a:effectLst/>
                <a:latin typeface="JetBrains Mono"/>
              </a:rPr>
            </a:br>
            <a:r>
              <a:rPr lang="en-US" sz="1400" dirty="0">
                <a:solidFill>
                  <a:srgbClr val="080808"/>
                </a:solidFill>
                <a:effectLst/>
                <a:latin typeface="JetBrains Mono"/>
              </a:rPr>
              <a:t>            </a:t>
            </a:r>
            <a:r>
              <a:rPr lang="en-US" sz="1400" dirty="0">
                <a:solidFill>
                  <a:srgbClr val="0033B3"/>
                </a:solidFill>
                <a:effectLst/>
                <a:latin typeface="JetBrains Mono"/>
              </a:rPr>
              <a:t>if </a:t>
            </a:r>
            <a:r>
              <a:rPr lang="en-US" sz="1400" dirty="0" err="1">
                <a:solidFill>
                  <a:srgbClr val="000000"/>
                </a:solidFill>
                <a:effectLst/>
                <a:latin typeface="JetBrains Mono"/>
              </a:rPr>
              <a:t>score_a</a:t>
            </a:r>
            <a:r>
              <a:rPr lang="en-US" sz="1400" dirty="0">
                <a:solidFill>
                  <a:srgbClr val="000000"/>
                </a:solidFill>
                <a:effectLst/>
                <a:latin typeface="JetBrains Mono"/>
              </a:rPr>
              <a:t> </a:t>
            </a:r>
            <a:r>
              <a:rPr lang="en-US" sz="1400" dirty="0">
                <a:solidFill>
                  <a:srgbClr val="080808"/>
                </a:solidFill>
                <a:effectLst/>
                <a:latin typeface="JetBrains Mono"/>
              </a:rPr>
              <a:t>&gt; </a:t>
            </a:r>
            <a:r>
              <a:rPr lang="en-US" sz="1400" dirty="0" err="1">
                <a:solidFill>
                  <a:srgbClr val="000000"/>
                </a:solidFill>
                <a:effectLst/>
                <a:latin typeface="JetBrains Mono"/>
              </a:rPr>
              <a:t>score_b</a:t>
            </a:r>
            <a:r>
              <a:rPr lang="en-US" sz="1400" dirty="0">
                <a:solidFill>
                  <a:srgbClr val="080808"/>
                </a:solidFill>
                <a:effectLst/>
                <a:latin typeface="JetBrains Mono"/>
              </a:rPr>
              <a:t>:</a:t>
            </a:r>
            <a:br>
              <a:rPr lang="en-US" sz="1400" dirty="0">
                <a:solidFill>
                  <a:srgbClr val="080808"/>
                </a:solidFill>
                <a:effectLst/>
                <a:latin typeface="JetBrains Mono"/>
              </a:rPr>
            </a:br>
            <a:r>
              <a:rPr lang="en-US" sz="1400" dirty="0">
                <a:solidFill>
                  <a:srgbClr val="080808"/>
                </a:solidFill>
                <a:effectLst/>
                <a:latin typeface="JetBrains Mono"/>
              </a:rPr>
              <a:t>                </a:t>
            </a:r>
            <a:r>
              <a:rPr lang="en-US" sz="1400" dirty="0">
                <a:solidFill>
                  <a:srgbClr val="0033B3"/>
                </a:solidFill>
                <a:effectLst/>
                <a:latin typeface="JetBrains Mono"/>
              </a:rPr>
              <a:t>return </a:t>
            </a:r>
            <a:r>
              <a:rPr lang="en-US" sz="1400" dirty="0">
                <a:solidFill>
                  <a:srgbClr val="067D17"/>
                </a:solidFill>
                <a:effectLst/>
                <a:latin typeface="JetBrains Mono"/>
              </a:rPr>
              <a:t>"A"</a:t>
            </a:r>
            <a:br>
              <a:rPr lang="en-US" sz="1400" dirty="0">
                <a:solidFill>
                  <a:srgbClr val="067D17"/>
                </a:solidFill>
                <a:effectLst/>
                <a:latin typeface="JetBrains Mono"/>
              </a:rPr>
            </a:br>
            <a:r>
              <a:rPr lang="en-US" sz="1400" dirty="0">
                <a:solidFill>
                  <a:srgbClr val="067D17"/>
                </a:solidFill>
                <a:effectLst/>
                <a:latin typeface="JetBrains Mono"/>
              </a:rPr>
              <a:t>            </a:t>
            </a:r>
            <a:r>
              <a:rPr lang="en-US" sz="1400" dirty="0">
                <a:solidFill>
                  <a:srgbClr val="0033B3"/>
                </a:solidFill>
                <a:effectLst/>
                <a:latin typeface="JetBrains Mono"/>
              </a:rPr>
              <a:t>else</a:t>
            </a:r>
            <a:r>
              <a:rPr lang="en-US" sz="1400" dirty="0">
                <a:solidFill>
                  <a:srgbClr val="080808"/>
                </a:solidFill>
                <a:effectLst/>
                <a:latin typeface="JetBrains Mono"/>
              </a:rPr>
              <a:t>:</a:t>
            </a:r>
            <a:br>
              <a:rPr lang="en-US" sz="1400" dirty="0">
                <a:solidFill>
                  <a:srgbClr val="080808"/>
                </a:solidFill>
                <a:effectLst/>
                <a:latin typeface="JetBrains Mono"/>
              </a:rPr>
            </a:br>
            <a:r>
              <a:rPr lang="en-US" sz="1400" dirty="0">
                <a:solidFill>
                  <a:srgbClr val="080808"/>
                </a:solidFill>
                <a:effectLst/>
                <a:latin typeface="JetBrains Mono"/>
              </a:rPr>
              <a:t>                </a:t>
            </a:r>
            <a:r>
              <a:rPr lang="en-US" sz="1400" dirty="0">
                <a:solidFill>
                  <a:srgbClr val="0033B3"/>
                </a:solidFill>
                <a:effectLst/>
                <a:latin typeface="JetBrains Mono"/>
              </a:rPr>
              <a:t>return </a:t>
            </a:r>
            <a:r>
              <a:rPr lang="en-US" sz="1400" dirty="0">
                <a:solidFill>
                  <a:srgbClr val="067D17"/>
                </a:solidFill>
                <a:effectLst/>
                <a:latin typeface="JetBrains Mono"/>
              </a:rPr>
              <a:t>"B"</a:t>
            </a:r>
            <a:br>
              <a:rPr lang="en-US" sz="1400" dirty="0">
                <a:solidFill>
                  <a:srgbClr val="067D17"/>
                </a:solidFill>
                <a:effectLst/>
                <a:latin typeface="JetBrains Mono"/>
              </a:rPr>
            </a:br>
            <a:br>
              <a:rPr lang="en-US" sz="1400" dirty="0">
                <a:solidFill>
                  <a:srgbClr val="067D17"/>
                </a:solidFill>
                <a:effectLst/>
                <a:latin typeface="JetBrains Mono"/>
              </a:rPr>
            </a:br>
            <a:r>
              <a:rPr lang="en-US" sz="1400" dirty="0">
                <a:solidFill>
                  <a:srgbClr val="067D17"/>
                </a:solidFill>
                <a:effectLst/>
                <a:latin typeface="JetBrains Mono"/>
              </a:rPr>
              <a:t>        </a:t>
            </a:r>
            <a:r>
              <a:rPr lang="en-US" sz="1400" dirty="0">
                <a:solidFill>
                  <a:srgbClr val="000000"/>
                </a:solidFill>
                <a:effectLst/>
                <a:latin typeface="JetBrains Mono"/>
              </a:rPr>
              <a:t>index </a:t>
            </a:r>
            <a:r>
              <a:rPr lang="en-US" sz="1400" dirty="0">
                <a:solidFill>
                  <a:srgbClr val="080808"/>
                </a:solidFill>
                <a:effectLst/>
                <a:latin typeface="JetBrains Mono"/>
              </a:rPr>
              <a:t>= </a:t>
            </a:r>
            <a:r>
              <a:rPr lang="en-US" sz="1400" dirty="0">
                <a:solidFill>
                  <a:srgbClr val="000000"/>
                </a:solidFill>
                <a:effectLst/>
                <a:latin typeface="JetBrains Mono"/>
              </a:rPr>
              <a:t>index </a:t>
            </a:r>
            <a:r>
              <a:rPr lang="en-US" sz="1400" dirty="0">
                <a:solidFill>
                  <a:srgbClr val="080808"/>
                </a:solidFill>
                <a:effectLst/>
                <a:latin typeface="JetBrains Mono"/>
              </a:rPr>
              <a:t>+ </a:t>
            </a:r>
            <a:r>
              <a:rPr lang="en-US" sz="1400" dirty="0">
                <a:solidFill>
                  <a:srgbClr val="1750EB"/>
                </a:solidFill>
                <a:effectLst/>
                <a:latin typeface="JetBrains Mono"/>
              </a:rPr>
              <a:t>2</a:t>
            </a:r>
            <a:br>
              <a:rPr lang="en-US" sz="1400" dirty="0">
                <a:solidFill>
                  <a:srgbClr val="1750EB"/>
                </a:solidFill>
                <a:effectLst/>
                <a:latin typeface="JetBrains Mono"/>
              </a:rPr>
            </a:br>
            <a:br>
              <a:rPr lang="en-US" sz="1400" dirty="0">
                <a:solidFill>
                  <a:srgbClr val="1750EB"/>
                </a:solidFill>
                <a:effectLst/>
                <a:latin typeface="JetBrains Mono"/>
              </a:rPr>
            </a:br>
            <a:r>
              <a:rPr lang="en-US" sz="1400" dirty="0">
                <a:solidFill>
                  <a:srgbClr val="1750EB"/>
                </a:solidFill>
                <a:effectLst/>
                <a:latin typeface="JetBrains Mono"/>
              </a:rPr>
              <a:t>    </a:t>
            </a:r>
            <a:r>
              <a:rPr lang="en-US" sz="1400" i="1" dirty="0">
                <a:solidFill>
                  <a:srgbClr val="8C8C8C"/>
                </a:solidFill>
                <a:effectLst/>
                <a:latin typeface="JetBrains Mono"/>
              </a:rPr>
              <a:t># End of sequence: pick the higher score</a:t>
            </a:r>
            <a:br>
              <a:rPr lang="en-US" sz="1400" i="1" dirty="0">
                <a:solidFill>
                  <a:srgbClr val="8C8C8C"/>
                </a:solidFill>
                <a:effectLst/>
                <a:latin typeface="JetBrains Mono"/>
              </a:rPr>
            </a:br>
            <a:r>
              <a:rPr lang="en-US" sz="1400" i="1" dirty="0">
                <a:solidFill>
                  <a:srgbClr val="8C8C8C"/>
                </a:solidFill>
                <a:effectLst/>
                <a:latin typeface="JetBrains Mono"/>
              </a:rPr>
              <a:t>    </a:t>
            </a:r>
            <a:r>
              <a:rPr lang="en-US" sz="1400" dirty="0">
                <a:solidFill>
                  <a:srgbClr val="0033B3"/>
                </a:solidFill>
                <a:effectLst/>
                <a:latin typeface="JetBrains Mono"/>
              </a:rPr>
              <a:t>if </a:t>
            </a:r>
            <a:r>
              <a:rPr lang="en-US" sz="1400" dirty="0" err="1">
                <a:solidFill>
                  <a:srgbClr val="000000"/>
                </a:solidFill>
                <a:effectLst/>
                <a:latin typeface="JetBrains Mono"/>
              </a:rPr>
              <a:t>score_a</a:t>
            </a:r>
            <a:r>
              <a:rPr lang="en-US" sz="1400" dirty="0">
                <a:solidFill>
                  <a:srgbClr val="000000"/>
                </a:solidFill>
                <a:effectLst/>
                <a:latin typeface="JetBrains Mono"/>
              </a:rPr>
              <a:t> </a:t>
            </a:r>
            <a:r>
              <a:rPr lang="en-US" sz="1400" dirty="0">
                <a:solidFill>
                  <a:srgbClr val="080808"/>
                </a:solidFill>
                <a:effectLst/>
                <a:latin typeface="JetBrains Mono"/>
              </a:rPr>
              <a:t>&gt; </a:t>
            </a:r>
            <a:r>
              <a:rPr lang="en-US" sz="1400" dirty="0" err="1">
                <a:solidFill>
                  <a:srgbClr val="000000"/>
                </a:solidFill>
                <a:effectLst/>
                <a:latin typeface="JetBrains Mono"/>
              </a:rPr>
              <a:t>score_b</a:t>
            </a:r>
            <a:r>
              <a:rPr lang="en-US" sz="1400" dirty="0">
                <a:solidFill>
                  <a:srgbClr val="080808"/>
                </a:solidFill>
                <a:effectLst/>
                <a:latin typeface="JetBrains Mono"/>
              </a:rPr>
              <a:t>:</a:t>
            </a:r>
            <a:br>
              <a:rPr lang="en-US" sz="1400" dirty="0">
                <a:solidFill>
                  <a:srgbClr val="080808"/>
                </a:solidFill>
                <a:effectLst/>
                <a:latin typeface="JetBrains Mono"/>
              </a:rPr>
            </a:br>
            <a:r>
              <a:rPr lang="en-US" sz="1400" dirty="0">
                <a:solidFill>
                  <a:srgbClr val="080808"/>
                </a:solidFill>
                <a:effectLst/>
                <a:latin typeface="JetBrains Mono"/>
              </a:rPr>
              <a:t>        </a:t>
            </a:r>
            <a:r>
              <a:rPr lang="en-US" sz="1400" dirty="0">
                <a:solidFill>
                  <a:srgbClr val="0033B3"/>
                </a:solidFill>
                <a:effectLst/>
                <a:latin typeface="JetBrains Mono"/>
              </a:rPr>
              <a:t>return </a:t>
            </a:r>
            <a:r>
              <a:rPr lang="en-US" sz="1400" dirty="0">
                <a:solidFill>
                  <a:srgbClr val="067D17"/>
                </a:solidFill>
                <a:effectLst/>
                <a:latin typeface="JetBrains Mono"/>
              </a:rPr>
              <a:t>"A"</a:t>
            </a:r>
            <a:br>
              <a:rPr lang="en-US" sz="1400" dirty="0">
                <a:solidFill>
                  <a:srgbClr val="067D17"/>
                </a:solidFill>
                <a:effectLst/>
                <a:latin typeface="JetBrains Mono"/>
              </a:rPr>
            </a:br>
            <a:r>
              <a:rPr lang="en-US" sz="1400" dirty="0">
                <a:solidFill>
                  <a:srgbClr val="067D17"/>
                </a:solidFill>
                <a:effectLst/>
                <a:latin typeface="JetBrains Mono"/>
              </a:rPr>
              <a:t>    </a:t>
            </a:r>
            <a:r>
              <a:rPr lang="en-US" sz="1400" dirty="0">
                <a:solidFill>
                  <a:srgbClr val="0033B3"/>
                </a:solidFill>
                <a:effectLst/>
                <a:latin typeface="JetBrains Mono"/>
              </a:rPr>
              <a:t>else</a:t>
            </a:r>
            <a:r>
              <a:rPr lang="en-US" sz="1400" dirty="0">
                <a:solidFill>
                  <a:srgbClr val="080808"/>
                </a:solidFill>
                <a:effectLst/>
                <a:latin typeface="JetBrains Mono"/>
              </a:rPr>
              <a:t>:</a:t>
            </a:r>
            <a:br>
              <a:rPr lang="en-US" sz="1400" dirty="0">
                <a:solidFill>
                  <a:srgbClr val="080808"/>
                </a:solidFill>
                <a:effectLst/>
                <a:latin typeface="JetBrains Mono"/>
              </a:rPr>
            </a:br>
            <a:r>
              <a:rPr lang="en-US" sz="1400" dirty="0">
                <a:solidFill>
                  <a:srgbClr val="080808"/>
                </a:solidFill>
                <a:effectLst/>
                <a:latin typeface="JetBrains Mono"/>
              </a:rPr>
              <a:t>        </a:t>
            </a:r>
            <a:r>
              <a:rPr lang="en-US" sz="1400" dirty="0">
                <a:solidFill>
                  <a:srgbClr val="0033B3"/>
                </a:solidFill>
                <a:effectLst/>
                <a:latin typeface="JetBrains Mono"/>
              </a:rPr>
              <a:t>return </a:t>
            </a:r>
            <a:r>
              <a:rPr lang="en-US" sz="1400" dirty="0">
                <a:solidFill>
                  <a:srgbClr val="067D17"/>
                </a:solidFill>
                <a:effectLst/>
                <a:latin typeface="JetBrains Mono"/>
              </a:rPr>
              <a:t>"B"</a:t>
            </a:r>
            <a:endParaRPr lang="en-US" sz="1400" dirty="0">
              <a:solidFill>
                <a:srgbClr val="080808"/>
              </a:solidFill>
              <a:effectLst/>
              <a:latin typeface="JetBrains Mono"/>
            </a:endParaRPr>
          </a:p>
          <a:p>
            <a:pPr>
              <a:lnSpc>
                <a:spcPct val="90000"/>
              </a:lnSpc>
            </a:pPr>
            <a:endParaRPr lang="en-CA" sz="1000" dirty="0"/>
          </a:p>
        </p:txBody>
      </p:sp>
    </p:spTree>
    <p:extLst>
      <p:ext uri="{BB962C8B-B14F-4D97-AF65-F5344CB8AC3E}">
        <p14:creationId xmlns:p14="http://schemas.microsoft.com/office/powerpoint/2010/main" val="2244851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18AFC6-A79C-7BD8-037E-12064A69E91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90DF15-76F2-35CB-7C6C-F16081B2BBD9}"/>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2600">
                <a:solidFill>
                  <a:srgbClr val="FFFFFF"/>
                </a:solidFill>
              </a:rPr>
              <a:t>Evaluation</a:t>
            </a:r>
          </a:p>
        </p:txBody>
      </p:sp>
      <p:sp>
        <p:nvSpPr>
          <p:cNvPr id="3" name="Content Placeholder 2">
            <a:extLst>
              <a:ext uri="{FF2B5EF4-FFF2-40B4-BE49-F238E27FC236}">
                <a16:creationId xmlns:a16="http://schemas.microsoft.com/office/drawing/2014/main" id="{291778DF-8AF9-8C72-4BE6-10C96B94999C}"/>
              </a:ext>
            </a:extLst>
          </p:cNvPr>
          <p:cNvSpPr>
            <a:spLocks noGrp="1"/>
          </p:cNvSpPr>
          <p:nvPr>
            <p:ph idx="1"/>
          </p:nvPr>
        </p:nvSpPr>
        <p:spPr>
          <a:xfrm>
            <a:off x="5591695" y="1402080"/>
            <a:ext cx="5320696" cy="4053840"/>
          </a:xfrm>
        </p:spPr>
        <p:txBody>
          <a:bodyPr anchor="ctr">
            <a:normAutofit fontScale="92500" lnSpcReduction="20000"/>
          </a:bodyPr>
          <a:lstStyle/>
          <a:p>
            <a:pPr>
              <a:lnSpc>
                <a:spcPct val="90000"/>
              </a:lnSpc>
            </a:pPr>
            <a:r>
              <a:rPr lang="en-US" sz="1700" dirty="0"/>
              <a:t>Validation</a:t>
            </a:r>
          </a:p>
          <a:p>
            <a:pPr lvl="1">
              <a:lnSpc>
                <a:spcPct val="90000"/>
              </a:lnSpc>
            </a:pPr>
            <a:r>
              <a:rPr lang="en-US" sz="1700" dirty="0"/>
              <a:t>Does the program solve the problem I was asked to solve?</a:t>
            </a:r>
          </a:p>
          <a:p>
            <a:pPr lvl="1">
              <a:lnSpc>
                <a:spcPct val="90000"/>
              </a:lnSpc>
            </a:pPr>
            <a:r>
              <a:rPr lang="en-US" sz="1700" dirty="0"/>
              <a:t>Does the program meet the </a:t>
            </a:r>
            <a:r>
              <a:rPr lang="en-US" sz="1700" i="1" dirty="0"/>
              <a:t>requirements</a:t>
            </a:r>
            <a:r>
              <a:rPr lang="en-US" sz="1700" dirty="0"/>
              <a:t>?</a:t>
            </a:r>
          </a:p>
          <a:p>
            <a:pPr>
              <a:lnSpc>
                <a:spcPct val="90000"/>
              </a:lnSpc>
            </a:pPr>
            <a:r>
              <a:rPr lang="en-US" sz="1700" dirty="0"/>
              <a:t>Correctness</a:t>
            </a:r>
          </a:p>
          <a:p>
            <a:pPr lvl="1">
              <a:lnSpc>
                <a:spcPct val="90000"/>
              </a:lnSpc>
            </a:pPr>
            <a:r>
              <a:rPr lang="en-US" sz="1700" dirty="0"/>
              <a:t>Does the program produce the expected output for normal cases?</a:t>
            </a:r>
          </a:p>
          <a:p>
            <a:pPr lvl="1">
              <a:lnSpc>
                <a:spcPct val="90000"/>
              </a:lnSpc>
            </a:pPr>
            <a:r>
              <a:rPr lang="en-US" sz="1700" dirty="0"/>
              <a:t>Do I have at least: 1 normal case, 1 edge case, 1 error case?</a:t>
            </a:r>
          </a:p>
          <a:p>
            <a:pPr lvl="1">
              <a:lnSpc>
                <a:spcPct val="90000"/>
              </a:lnSpc>
            </a:pPr>
            <a:r>
              <a:rPr lang="en-US" sz="1700" dirty="0"/>
              <a:t>What edge cases might break it (empty input, maximum size, duplicates)?</a:t>
            </a:r>
          </a:p>
          <a:p>
            <a:pPr>
              <a:lnSpc>
                <a:spcPct val="90000"/>
              </a:lnSpc>
            </a:pPr>
            <a:r>
              <a:rPr lang="en-US" sz="1700" dirty="0"/>
              <a:t>Robustness </a:t>
            </a:r>
          </a:p>
          <a:p>
            <a:pPr lvl="1">
              <a:lnSpc>
                <a:spcPct val="90000"/>
              </a:lnSpc>
            </a:pPr>
            <a:r>
              <a:rPr lang="en-US" sz="1700" dirty="0"/>
              <a:t>Does the program handle bad or unexpected input gracefully?</a:t>
            </a:r>
          </a:p>
          <a:p>
            <a:pPr lvl="1">
              <a:lnSpc>
                <a:spcPct val="90000"/>
              </a:lnSpc>
            </a:pPr>
            <a:r>
              <a:rPr lang="en-US" sz="1700" dirty="0"/>
              <a:t>Are error messages clear and helpful?</a:t>
            </a:r>
          </a:p>
        </p:txBody>
      </p:sp>
    </p:spTree>
    <p:extLst>
      <p:ext uri="{BB962C8B-B14F-4D97-AF65-F5344CB8AC3E}">
        <p14:creationId xmlns:p14="http://schemas.microsoft.com/office/powerpoint/2010/main" val="2317184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9382D-A1BC-110D-C91A-8B74F62D36AA}"/>
              </a:ext>
            </a:extLst>
          </p:cNvPr>
          <p:cNvSpPr>
            <a:spLocks noGrp="1"/>
          </p:cNvSpPr>
          <p:nvPr>
            <p:ph type="title"/>
          </p:nvPr>
        </p:nvSpPr>
        <p:spPr>
          <a:xfrm>
            <a:off x="2231136" y="426469"/>
            <a:ext cx="7729728" cy="1188720"/>
          </a:xfrm>
        </p:spPr>
        <p:txBody>
          <a:bodyPr/>
          <a:lstStyle/>
          <a:p>
            <a:r>
              <a:rPr lang="en-CA" dirty="0"/>
              <a:t>Evaluation</a:t>
            </a:r>
            <a:br>
              <a:rPr lang="en-CA" dirty="0"/>
            </a:br>
            <a:r>
              <a:rPr lang="en-CA" dirty="0"/>
              <a:t>Test Cases</a:t>
            </a:r>
          </a:p>
        </p:txBody>
      </p:sp>
      <p:sp>
        <p:nvSpPr>
          <p:cNvPr id="3" name="Content Placeholder 2">
            <a:extLst>
              <a:ext uri="{FF2B5EF4-FFF2-40B4-BE49-F238E27FC236}">
                <a16:creationId xmlns:a16="http://schemas.microsoft.com/office/drawing/2014/main" id="{95F87316-3898-6243-AA0F-B823C3E543D2}"/>
              </a:ext>
            </a:extLst>
          </p:cNvPr>
          <p:cNvSpPr>
            <a:spLocks noGrp="1"/>
          </p:cNvSpPr>
          <p:nvPr>
            <p:ph idx="1"/>
          </p:nvPr>
        </p:nvSpPr>
        <p:spPr>
          <a:xfrm>
            <a:off x="2231136" y="1713053"/>
            <a:ext cx="7729728" cy="4791919"/>
          </a:xfrm>
        </p:spPr>
        <p:txBody>
          <a:bodyPr>
            <a:normAutofit fontScale="85000" lnSpcReduction="20000"/>
          </a:bodyPr>
          <a:lstStyle/>
          <a:p>
            <a:r>
              <a:rPr lang="en-US" dirty="0"/>
              <a:t>Normal Cases: Happen frequently</a:t>
            </a:r>
          </a:p>
          <a:p>
            <a:pPr lvl="1"/>
            <a:r>
              <a:rPr lang="en-US" dirty="0"/>
              <a:t>Normal Case 1:  A player wins on last basket going from 10 to 11 and the other player is at 9 or lower (win by 2)</a:t>
            </a:r>
          </a:p>
          <a:p>
            <a:pPr lvl="2"/>
            <a:r>
              <a:rPr lang="en-US" dirty="0"/>
              <a:t>Does not matter if it is 11-0,  11-5, or 11-9, all are examples of that case – Can have A1 repeated 11 times</a:t>
            </a:r>
          </a:p>
          <a:p>
            <a:pPr lvl="1"/>
            <a:r>
              <a:rPr lang="en-US" dirty="0"/>
              <a:t>Normal Case 2:  A player wins on last basket going from 10 to 12 and the other players is at 10 or below</a:t>
            </a:r>
          </a:p>
          <a:p>
            <a:pPr lvl="2"/>
            <a:r>
              <a:rPr lang="en-US" dirty="0"/>
              <a:t>Does not matter if it is 12-0, 12-5 or 12-10, all are examples of the same case. 0 Can have B2 repeated 6 times.</a:t>
            </a:r>
          </a:p>
          <a:p>
            <a:r>
              <a:rPr lang="en-US" dirty="0"/>
              <a:t>Edge Cases: Happen seldomly or in specific situations</a:t>
            </a:r>
          </a:p>
          <a:p>
            <a:pPr lvl="1"/>
            <a:r>
              <a:rPr lang="en-US" dirty="0"/>
              <a:t>Edge case: Extended play (called a deuce like in tennis):</a:t>
            </a:r>
          </a:p>
          <a:p>
            <a:pPr lvl="2"/>
            <a:r>
              <a:rPr lang="en-US" dirty="0"/>
              <a:t>Score of A-B is10–10, then a player A scores 1 point.  Score is now 11-10. </a:t>
            </a:r>
          </a:p>
          <a:p>
            <a:pPr lvl="2"/>
            <a:r>
              <a:rPr lang="en-US" dirty="0"/>
              <a:t>Alternatives of test cases (Design of test cases)</a:t>
            </a:r>
          </a:p>
          <a:p>
            <a:pPr lvl="3"/>
            <a:r>
              <a:rPr lang="en-CA" dirty="0"/>
              <a:t>A scores 1 more point (A1) – A wins</a:t>
            </a:r>
          </a:p>
          <a:p>
            <a:pPr lvl="3"/>
            <a:r>
              <a:rPr lang="en-CA" dirty="0"/>
              <a:t>B scores 3 more points one at a time (B1B1B1) – B wins</a:t>
            </a:r>
          </a:p>
          <a:p>
            <a:pPr lvl="3"/>
            <a:r>
              <a:rPr lang="en-CA" dirty="0"/>
              <a:t>B scores 1 point and then 2 points (B1B2) – B wins</a:t>
            </a:r>
          </a:p>
          <a:p>
            <a:pPr lvl="3"/>
            <a:r>
              <a:rPr lang="en-CA" dirty="0"/>
              <a:t>B scores 1, creating a tie, and then we are back in another example of a tie</a:t>
            </a:r>
          </a:p>
        </p:txBody>
      </p:sp>
    </p:spTree>
    <p:extLst>
      <p:ext uri="{BB962C8B-B14F-4D97-AF65-F5344CB8AC3E}">
        <p14:creationId xmlns:p14="http://schemas.microsoft.com/office/powerpoint/2010/main" val="1837274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F69C9-EB05-A2BB-84FA-68B2EC812A0B}"/>
              </a:ext>
            </a:extLst>
          </p:cNvPr>
          <p:cNvSpPr>
            <a:spLocks noGrp="1"/>
          </p:cNvSpPr>
          <p:nvPr>
            <p:ph type="title"/>
          </p:nvPr>
        </p:nvSpPr>
        <p:spPr/>
        <p:txBody>
          <a:bodyPr/>
          <a:lstStyle/>
          <a:p>
            <a:r>
              <a:rPr lang="en-CA" dirty="0"/>
              <a:t>Test Cases</a:t>
            </a:r>
            <a:br>
              <a:rPr lang="en-CA" dirty="0"/>
            </a:br>
            <a:r>
              <a:rPr lang="en-CA" dirty="0"/>
              <a:t>Translate to Python</a:t>
            </a:r>
          </a:p>
        </p:txBody>
      </p:sp>
      <p:sp>
        <p:nvSpPr>
          <p:cNvPr id="3" name="Content Placeholder 2">
            <a:extLst>
              <a:ext uri="{FF2B5EF4-FFF2-40B4-BE49-F238E27FC236}">
                <a16:creationId xmlns:a16="http://schemas.microsoft.com/office/drawing/2014/main" id="{3CD4FF79-7618-8EB3-9732-C1770AF0539C}"/>
              </a:ext>
            </a:extLst>
          </p:cNvPr>
          <p:cNvSpPr>
            <a:spLocks noGrp="1"/>
          </p:cNvSpPr>
          <p:nvPr>
            <p:ph idx="1"/>
          </p:nvPr>
        </p:nvSpPr>
        <p:spPr>
          <a:xfrm>
            <a:off x="2231136" y="2638044"/>
            <a:ext cx="7729728" cy="3774331"/>
          </a:xfrm>
        </p:spPr>
        <p:txBody>
          <a:bodyPr>
            <a:normAutofit fontScale="92500"/>
          </a:bodyPr>
          <a:lstStyle/>
          <a:p>
            <a:pPr>
              <a:buNone/>
            </a:pPr>
            <a:r>
              <a:rPr lang="en-US" sz="1800" i="1" dirty="0">
                <a:solidFill>
                  <a:srgbClr val="8C8C8C"/>
                </a:solidFill>
                <a:effectLst/>
                <a:latin typeface="JetBrains Mono"/>
              </a:rPr>
              <a:t># Build the test data</a:t>
            </a:r>
            <a:br>
              <a:rPr lang="en-US" sz="1800" i="1" dirty="0">
                <a:solidFill>
                  <a:srgbClr val="8C8C8C"/>
                </a:solidFill>
                <a:effectLst/>
                <a:latin typeface="JetBrains Mono"/>
              </a:rPr>
            </a:br>
            <a:r>
              <a:rPr lang="en-US" sz="1800" i="1" dirty="0">
                <a:solidFill>
                  <a:srgbClr val="8C8C8C"/>
                </a:solidFill>
                <a:effectLst/>
                <a:latin typeface="JetBrains Mono"/>
              </a:rPr>
              <a:t># 11–0 for A</a:t>
            </a:r>
            <a:br>
              <a:rPr lang="en-US" sz="1800" i="1" dirty="0">
                <a:solidFill>
                  <a:srgbClr val="8C8C8C"/>
                </a:solidFill>
                <a:effectLst/>
                <a:latin typeface="JetBrains Mono"/>
              </a:rPr>
            </a:br>
            <a:r>
              <a:rPr lang="en-US" sz="1800" dirty="0" err="1">
                <a:solidFill>
                  <a:srgbClr val="080808"/>
                </a:solidFill>
                <a:effectLst/>
                <a:latin typeface="JetBrains Mono"/>
              </a:rPr>
              <a:t>normal_case_a</a:t>
            </a:r>
            <a:r>
              <a:rPr lang="en-US" sz="1800" dirty="0">
                <a:solidFill>
                  <a:srgbClr val="080808"/>
                </a:solidFill>
                <a:effectLst/>
                <a:latin typeface="JetBrains Mono"/>
              </a:rPr>
              <a:t> = </a:t>
            </a:r>
            <a:r>
              <a:rPr lang="en-US" sz="1800" dirty="0">
                <a:solidFill>
                  <a:srgbClr val="067D17"/>
                </a:solidFill>
                <a:effectLst/>
                <a:latin typeface="JetBrains Mono"/>
              </a:rPr>
              <a:t>"A1" </a:t>
            </a:r>
            <a:r>
              <a:rPr lang="en-US" sz="1800" dirty="0">
                <a:solidFill>
                  <a:srgbClr val="080808"/>
                </a:solidFill>
                <a:effectLst/>
                <a:latin typeface="JetBrains Mono"/>
              </a:rPr>
              <a:t>* </a:t>
            </a:r>
            <a:r>
              <a:rPr lang="en-US" sz="1800" dirty="0">
                <a:solidFill>
                  <a:srgbClr val="1750EB"/>
                </a:solidFill>
                <a:effectLst/>
                <a:latin typeface="JetBrains Mono"/>
              </a:rPr>
              <a:t>11</a:t>
            </a:r>
            <a:br>
              <a:rPr lang="en-US" sz="1800" dirty="0">
                <a:solidFill>
                  <a:srgbClr val="1750EB"/>
                </a:solidFill>
                <a:effectLst/>
                <a:latin typeface="JetBrains Mono"/>
              </a:rPr>
            </a:br>
            <a:r>
              <a:rPr lang="en-US" sz="1800" i="1" dirty="0">
                <a:solidFill>
                  <a:srgbClr val="8C8C8C"/>
                </a:solidFill>
                <a:effectLst/>
                <a:latin typeface="JetBrains Mono"/>
              </a:rPr>
              <a:t># 12–0 for B</a:t>
            </a:r>
            <a:br>
              <a:rPr lang="en-US" sz="1800" i="1" dirty="0">
                <a:solidFill>
                  <a:srgbClr val="8C8C8C"/>
                </a:solidFill>
                <a:effectLst/>
                <a:latin typeface="JetBrains Mono"/>
              </a:rPr>
            </a:br>
            <a:r>
              <a:rPr lang="en-US" sz="1800" dirty="0" err="1">
                <a:solidFill>
                  <a:srgbClr val="080808"/>
                </a:solidFill>
                <a:effectLst/>
                <a:latin typeface="JetBrains Mono"/>
              </a:rPr>
              <a:t>normal_case_b</a:t>
            </a:r>
            <a:r>
              <a:rPr lang="en-US" sz="1800" dirty="0">
                <a:solidFill>
                  <a:srgbClr val="080808"/>
                </a:solidFill>
                <a:effectLst/>
                <a:latin typeface="JetBrains Mono"/>
              </a:rPr>
              <a:t> = </a:t>
            </a:r>
            <a:r>
              <a:rPr lang="en-US" sz="1800" dirty="0">
                <a:solidFill>
                  <a:srgbClr val="067D17"/>
                </a:solidFill>
                <a:effectLst/>
                <a:latin typeface="JetBrains Mono"/>
              </a:rPr>
              <a:t>"B2" </a:t>
            </a:r>
            <a:r>
              <a:rPr lang="en-US" sz="1800" dirty="0">
                <a:solidFill>
                  <a:srgbClr val="080808"/>
                </a:solidFill>
                <a:effectLst/>
                <a:latin typeface="JetBrains Mono"/>
              </a:rPr>
              <a:t>* </a:t>
            </a:r>
            <a:r>
              <a:rPr lang="en-US" sz="1800" dirty="0">
                <a:solidFill>
                  <a:srgbClr val="1750EB"/>
                </a:solidFill>
                <a:effectLst/>
                <a:latin typeface="JetBrains Mono"/>
              </a:rPr>
              <a:t>6</a:t>
            </a:r>
            <a:br>
              <a:rPr lang="en-US" sz="1800" dirty="0">
                <a:solidFill>
                  <a:srgbClr val="1750EB"/>
                </a:solidFill>
                <a:effectLst/>
                <a:latin typeface="JetBrains Mono"/>
              </a:rPr>
            </a:br>
            <a:r>
              <a:rPr lang="en-US" sz="1800" i="1" dirty="0">
                <a:solidFill>
                  <a:srgbClr val="8C8C8C"/>
                </a:solidFill>
                <a:effectLst/>
                <a:latin typeface="JetBrains Mono"/>
              </a:rPr>
              <a:t># 10–10 → 11–10 → 11–13 (B should win)</a:t>
            </a:r>
            <a:br>
              <a:rPr lang="en-US" sz="1800" i="1" dirty="0">
                <a:solidFill>
                  <a:srgbClr val="8C8C8C"/>
                </a:solidFill>
                <a:effectLst/>
                <a:latin typeface="JetBrains Mono"/>
              </a:rPr>
            </a:br>
            <a:r>
              <a:rPr lang="en-US" sz="1800" dirty="0" err="1">
                <a:solidFill>
                  <a:srgbClr val="080808"/>
                </a:solidFill>
                <a:effectLst/>
                <a:latin typeface="JetBrains Mono"/>
              </a:rPr>
              <a:t>deuce_case</a:t>
            </a:r>
            <a:r>
              <a:rPr lang="en-US" sz="1800" dirty="0">
                <a:solidFill>
                  <a:srgbClr val="080808"/>
                </a:solidFill>
                <a:effectLst/>
                <a:latin typeface="JetBrains Mono"/>
              </a:rPr>
              <a:t> = (</a:t>
            </a:r>
            <a:r>
              <a:rPr lang="en-US" sz="1800" dirty="0">
                <a:solidFill>
                  <a:srgbClr val="067D17"/>
                </a:solidFill>
                <a:effectLst/>
                <a:latin typeface="JetBrains Mono"/>
              </a:rPr>
              <a:t>"A1B1" </a:t>
            </a:r>
            <a:r>
              <a:rPr lang="en-US" sz="1800" dirty="0">
                <a:solidFill>
                  <a:srgbClr val="080808"/>
                </a:solidFill>
                <a:effectLst/>
                <a:latin typeface="JetBrains Mono"/>
              </a:rPr>
              <a:t>* </a:t>
            </a:r>
            <a:r>
              <a:rPr lang="en-US" sz="1800" dirty="0">
                <a:solidFill>
                  <a:srgbClr val="1750EB"/>
                </a:solidFill>
                <a:effectLst/>
                <a:latin typeface="JetBrains Mono"/>
              </a:rPr>
              <a:t>10</a:t>
            </a:r>
            <a:r>
              <a:rPr lang="en-US" sz="1800" dirty="0">
                <a:solidFill>
                  <a:srgbClr val="080808"/>
                </a:solidFill>
                <a:effectLst/>
                <a:latin typeface="JetBrains Mono"/>
              </a:rPr>
              <a:t>) + </a:t>
            </a:r>
            <a:r>
              <a:rPr lang="en-US" sz="1800" dirty="0">
                <a:solidFill>
                  <a:srgbClr val="067D17"/>
                </a:solidFill>
                <a:effectLst/>
                <a:latin typeface="JetBrains Mono"/>
              </a:rPr>
              <a:t>"A1" </a:t>
            </a:r>
            <a:r>
              <a:rPr lang="en-US" sz="1800" dirty="0">
                <a:solidFill>
                  <a:srgbClr val="080808"/>
                </a:solidFill>
                <a:effectLst/>
                <a:latin typeface="JetBrains Mono"/>
              </a:rPr>
              <a:t>+ </a:t>
            </a:r>
            <a:r>
              <a:rPr lang="en-US" sz="1800" dirty="0">
                <a:solidFill>
                  <a:srgbClr val="067D17"/>
                </a:solidFill>
                <a:effectLst/>
                <a:latin typeface="JetBrains Mono"/>
              </a:rPr>
              <a:t>"B1B1B1"</a:t>
            </a:r>
            <a:br>
              <a:rPr lang="en-US" sz="1800" dirty="0">
                <a:solidFill>
                  <a:srgbClr val="067D17"/>
                </a:solidFill>
                <a:effectLst/>
                <a:latin typeface="JetBrains Mono"/>
              </a:rPr>
            </a:br>
            <a:br>
              <a:rPr lang="en-US" sz="1800" dirty="0">
                <a:solidFill>
                  <a:srgbClr val="067D17"/>
                </a:solidFill>
                <a:effectLst/>
                <a:latin typeface="JetBrains Mono"/>
              </a:rPr>
            </a:br>
            <a:r>
              <a:rPr lang="en-US" sz="1800" i="1" dirty="0">
                <a:solidFill>
                  <a:srgbClr val="8C8C8C"/>
                </a:solidFill>
                <a:effectLst/>
                <a:latin typeface="JetBrains Mono"/>
              </a:rPr>
              <a:t>#A win with 11 points</a:t>
            </a:r>
            <a:br>
              <a:rPr lang="en-US" sz="1800" i="1" dirty="0">
                <a:solidFill>
                  <a:srgbClr val="8C8C8C"/>
                </a:solidFill>
                <a:effectLst/>
                <a:latin typeface="JetBrains Mono"/>
              </a:rPr>
            </a:b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a:solidFill>
                  <a:srgbClr val="067D17"/>
                </a:solidFill>
                <a:effectLst/>
                <a:latin typeface="JetBrains Mono"/>
              </a:rPr>
              <a:t>"Buggy on </a:t>
            </a:r>
            <a:r>
              <a:rPr lang="en-US" sz="1800" dirty="0" err="1">
                <a:solidFill>
                  <a:srgbClr val="067D17"/>
                </a:solidFill>
                <a:effectLst/>
                <a:latin typeface="JetBrains Mono"/>
              </a:rPr>
              <a:t>normal_case_a</a:t>
            </a:r>
            <a:r>
              <a:rPr lang="en-US" sz="1800" dirty="0">
                <a:solidFill>
                  <a:srgbClr val="067D17"/>
                </a:solidFill>
                <a:effectLst/>
                <a:latin typeface="JetBrains Mono"/>
              </a:rPr>
              <a:t>? (expect A):"</a:t>
            </a:r>
            <a:r>
              <a:rPr lang="en-US" sz="1800" dirty="0">
                <a:solidFill>
                  <a:srgbClr val="080808"/>
                </a:solidFill>
                <a:effectLst/>
                <a:latin typeface="JetBrains Mono"/>
              </a:rPr>
              <a:t>, </a:t>
            </a:r>
            <a:r>
              <a:rPr lang="en-US" sz="1800" dirty="0" err="1">
                <a:solidFill>
                  <a:srgbClr val="080808"/>
                </a:solidFill>
                <a:effectLst/>
                <a:latin typeface="JetBrains Mono"/>
              </a:rPr>
              <a:t>get_winner</a:t>
            </a:r>
            <a:r>
              <a:rPr lang="en-US" sz="1800" dirty="0">
                <a:solidFill>
                  <a:srgbClr val="080808"/>
                </a:solidFill>
                <a:effectLst/>
                <a:latin typeface="JetBrains Mono"/>
              </a:rPr>
              <a:t>(</a:t>
            </a:r>
            <a:r>
              <a:rPr lang="en-US" sz="1800" dirty="0" err="1">
                <a:solidFill>
                  <a:srgbClr val="080808"/>
                </a:solidFill>
                <a:effectLst/>
                <a:latin typeface="JetBrains Mono"/>
              </a:rPr>
              <a:t>normal_case_a</a:t>
            </a:r>
            <a:r>
              <a:rPr lang="en-US" sz="1800" dirty="0">
                <a:solidFill>
                  <a:srgbClr val="080808"/>
                </a:solidFill>
                <a:effectLst/>
                <a:latin typeface="JetBrains Mono"/>
              </a:rPr>
              <a:t>))</a:t>
            </a:r>
            <a:br>
              <a:rPr lang="en-US" sz="1800" dirty="0">
                <a:solidFill>
                  <a:srgbClr val="080808"/>
                </a:solidFill>
                <a:effectLst/>
                <a:latin typeface="JetBrains Mono"/>
              </a:rPr>
            </a:br>
            <a:r>
              <a:rPr lang="en-US" sz="1800" i="1" dirty="0">
                <a:solidFill>
                  <a:srgbClr val="8C8C8C"/>
                </a:solidFill>
                <a:effectLst/>
                <a:latin typeface="JetBrains Mono"/>
              </a:rPr>
              <a:t>#B wins with 12 points</a:t>
            </a:r>
            <a:br>
              <a:rPr lang="en-US" sz="1800" i="1" dirty="0">
                <a:solidFill>
                  <a:srgbClr val="8C8C8C"/>
                </a:solidFill>
                <a:effectLst/>
                <a:latin typeface="JetBrains Mono"/>
              </a:rPr>
            </a:b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a:solidFill>
                  <a:srgbClr val="067D17"/>
                </a:solidFill>
                <a:effectLst/>
                <a:latin typeface="JetBrains Mono"/>
              </a:rPr>
              <a:t>"Buggy on </a:t>
            </a:r>
            <a:r>
              <a:rPr lang="en-US" sz="1800" dirty="0" err="1">
                <a:solidFill>
                  <a:srgbClr val="067D17"/>
                </a:solidFill>
                <a:effectLst/>
                <a:latin typeface="JetBrains Mono"/>
              </a:rPr>
              <a:t>normal_case_b</a:t>
            </a:r>
            <a:r>
              <a:rPr lang="en-US" sz="1800" dirty="0">
                <a:solidFill>
                  <a:srgbClr val="067D17"/>
                </a:solidFill>
                <a:effectLst/>
                <a:latin typeface="JetBrains Mono"/>
              </a:rPr>
              <a:t>? (expect B):"</a:t>
            </a:r>
            <a:r>
              <a:rPr lang="en-US" sz="1800" dirty="0">
                <a:solidFill>
                  <a:srgbClr val="080808"/>
                </a:solidFill>
                <a:effectLst/>
                <a:latin typeface="JetBrains Mono"/>
              </a:rPr>
              <a:t>, </a:t>
            </a:r>
            <a:r>
              <a:rPr lang="en-US" sz="1800" dirty="0" err="1">
                <a:solidFill>
                  <a:srgbClr val="080808"/>
                </a:solidFill>
                <a:effectLst/>
                <a:latin typeface="JetBrains Mono"/>
              </a:rPr>
              <a:t>get_winner</a:t>
            </a:r>
            <a:r>
              <a:rPr lang="en-US" sz="1800" dirty="0">
                <a:solidFill>
                  <a:srgbClr val="080808"/>
                </a:solidFill>
                <a:effectLst/>
                <a:latin typeface="JetBrains Mono"/>
              </a:rPr>
              <a:t>(</a:t>
            </a:r>
            <a:r>
              <a:rPr lang="en-US" sz="1800" dirty="0" err="1">
                <a:solidFill>
                  <a:srgbClr val="080808"/>
                </a:solidFill>
                <a:effectLst/>
                <a:latin typeface="JetBrains Mono"/>
              </a:rPr>
              <a:t>normal_case_b</a:t>
            </a:r>
            <a:r>
              <a:rPr lang="en-US" sz="1800" dirty="0">
                <a:solidFill>
                  <a:srgbClr val="080808"/>
                </a:solidFill>
                <a:effectLst/>
                <a:latin typeface="JetBrains Mono"/>
              </a:rPr>
              <a:t>))</a:t>
            </a:r>
            <a:br>
              <a:rPr lang="en-US" sz="1800" dirty="0">
                <a:solidFill>
                  <a:srgbClr val="080808"/>
                </a:solidFill>
                <a:effectLst/>
                <a:latin typeface="JetBrains Mono"/>
              </a:rPr>
            </a:br>
            <a:r>
              <a:rPr lang="en-US" sz="1800" i="1" dirty="0">
                <a:solidFill>
                  <a:srgbClr val="8C8C8C"/>
                </a:solidFill>
                <a:effectLst/>
                <a:latin typeface="JetBrains Mono"/>
              </a:rPr>
              <a:t>#B wins with 13 points</a:t>
            </a:r>
            <a:br>
              <a:rPr lang="en-US" sz="1800" i="1" dirty="0">
                <a:solidFill>
                  <a:srgbClr val="8C8C8C"/>
                </a:solidFill>
                <a:effectLst/>
                <a:latin typeface="JetBrains Mono"/>
              </a:rPr>
            </a:b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a:solidFill>
                  <a:srgbClr val="067D17"/>
                </a:solidFill>
                <a:effectLst/>
                <a:latin typeface="JetBrains Mono"/>
              </a:rPr>
              <a:t>"Buggy on </a:t>
            </a:r>
            <a:r>
              <a:rPr lang="en-US" sz="1800" dirty="0" err="1">
                <a:solidFill>
                  <a:srgbClr val="067D17"/>
                </a:solidFill>
                <a:effectLst/>
                <a:latin typeface="JetBrains Mono"/>
              </a:rPr>
              <a:t>deuce_case</a:t>
            </a:r>
            <a:r>
              <a:rPr lang="en-US" sz="1800" dirty="0">
                <a:solidFill>
                  <a:srgbClr val="067D17"/>
                </a:solidFill>
                <a:effectLst/>
                <a:latin typeface="JetBrains Mono"/>
              </a:rPr>
              <a:t>? (expect B):"</a:t>
            </a:r>
            <a:r>
              <a:rPr lang="en-US" sz="1800" dirty="0">
                <a:solidFill>
                  <a:srgbClr val="080808"/>
                </a:solidFill>
                <a:effectLst/>
                <a:latin typeface="JetBrains Mono"/>
              </a:rPr>
              <a:t>, </a:t>
            </a:r>
            <a:r>
              <a:rPr lang="en-US" sz="1800" dirty="0" err="1">
                <a:solidFill>
                  <a:srgbClr val="080808"/>
                </a:solidFill>
                <a:effectLst/>
                <a:latin typeface="JetBrains Mono"/>
              </a:rPr>
              <a:t>get_winner</a:t>
            </a:r>
            <a:r>
              <a:rPr lang="en-US" sz="1800" dirty="0">
                <a:solidFill>
                  <a:srgbClr val="080808"/>
                </a:solidFill>
                <a:effectLst/>
                <a:latin typeface="JetBrains Mono"/>
              </a:rPr>
              <a:t>(</a:t>
            </a:r>
            <a:r>
              <a:rPr lang="en-US" sz="1800" dirty="0" err="1">
                <a:solidFill>
                  <a:srgbClr val="080808"/>
                </a:solidFill>
                <a:effectLst/>
                <a:latin typeface="JetBrains Mono"/>
              </a:rPr>
              <a:t>deuce_case</a:t>
            </a:r>
            <a:r>
              <a:rPr lang="en-US" sz="1800" dirty="0">
                <a:solidFill>
                  <a:srgbClr val="080808"/>
                </a:solidFill>
                <a:effectLst/>
                <a:latin typeface="JetBrains Mono"/>
              </a:rPr>
              <a:t>))  </a:t>
            </a:r>
            <a:r>
              <a:rPr lang="en-US" sz="1800" i="1" dirty="0">
                <a:solidFill>
                  <a:srgbClr val="8C8C8C"/>
                </a:solidFill>
                <a:effectLst/>
                <a:latin typeface="JetBrains Mono"/>
              </a:rPr>
              <a:t># Prints A!</a:t>
            </a:r>
            <a:endParaRPr lang="en-US" sz="1800" dirty="0">
              <a:solidFill>
                <a:srgbClr val="080808"/>
              </a:solidFill>
              <a:effectLst/>
              <a:latin typeface="JetBrains Mono"/>
            </a:endParaRPr>
          </a:p>
          <a:p>
            <a:endParaRPr lang="en-CA" dirty="0"/>
          </a:p>
        </p:txBody>
      </p:sp>
    </p:spTree>
    <p:extLst>
      <p:ext uri="{BB962C8B-B14F-4D97-AF65-F5344CB8AC3E}">
        <p14:creationId xmlns:p14="http://schemas.microsoft.com/office/powerpoint/2010/main" val="958964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184DD-7C53-9BD7-4DEC-222865EF6C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55AA5A-3C21-0A6A-0E5F-2B9A510AA4EF}"/>
              </a:ext>
            </a:extLst>
          </p:cNvPr>
          <p:cNvSpPr>
            <a:spLocks noGrp="1"/>
          </p:cNvSpPr>
          <p:nvPr>
            <p:ph type="title"/>
          </p:nvPr>
        </p:nvSpPr>
        <p:spPr/>
        <p:txBody>
          <a:bodyPr/>
          <a:lstStyle/>
          <a:p>
            <a:r>
              <a:rPr lang="en-CA" dirty="0"/>
              <a:t>Test Cases</a:t>
            </a:r>
            <a:br>
              <a:rPr lang="en-CA" dirty="0"/>
            </a:br>
            <a:r>
              <a:rPr lang="en-CA" dirty="0"/>
              <a:t>Run the cases</a:t>
            </a:r>
          </a:p>
        </p:txBody>
      </p:sp>
      <p:sp>
        <p:nvSpPr>
          <p:cNvPr id="3" name="Content Placeholder 2">
            <a:extLst>
              <a:ext uri="{FF2B5EF4-FFF2-40B4-BE49-F238E27FC236}">
                <a16:creationId xmlns:a16="http://schemas.microsoft.com/office/drawing/2014/main" id="{C8BB693A-BDB3-729D-271D-6A3DF5D063B4}"/>
              </a:ext>
            </a:extLst>
          </p:cNvPr>
          <p:cNvSpPr>
            <a:spLocks noGrp="1"/>
          </p:cNvSpPr>
          <p:nvPr>
            <p:ph sz="half" idx="1"/>
          </p:nvPr>
        </p:nvSpPr>
        <p:spPr/>
        <p:txBody>
          <a:bodyPr>
            <a:normAutofit fontScale="77500" lnSpcReduction="20000"/>
          </a:bodyPr>
          <a:lstStyle/>
          <a:p>
            <a:pPr>
              <a:buNone/>
            </a:pPr>
            <a:r>
              <a:rPr lang="en-US" sz="1800" i="1" dirty="0">
                <a:solidFill>
                  <a:srgbClr val="8C8C8C"/>
                </a:solidFill>
                <a:effectLst/>
                <a:latin typeface="JetBrains Mono"/>
              </a:rPr>
              <a:t># Build the test data</a:t>
            </a:r>
            <a:br>
              <a:rPr lang="en-US" sz="1800" i="1" dirty="0">
                <a:solidFill>
                  <a:srgbClr val="8C8C8C"/>
                </a:solidFill>
                <a:effectLst/>
                <a:latin typeface="JetBrains Mono"/>
              </a:rPr>
            </a:br>
            <a:r>
              <a:rPr lang="en-US" sz="1800" i="1" dirty="0">
                <a:solidFill>
                  <a:srgbClr val="8C8C8C"/>
                </a:solidFill>
                <a:effectLst/>
                <a:latin typeface="JetBrains Mono"/>
              </a:rPr>
              <a:t># 11–0 for A</a:t>
            </a:r>
            <a:br>
              <a:rPr lang="en-US" sz="1800" i="1" dirty="0">
                <a:solidFill>
                  <a:srgbClr val="8C8C8C"/>
                </a:solidFill>
                <a:effectLst/>
                <a:latin typeface="JetBrains Mono"/>
              </a:rPr>
            </a:br>
            <a:r>
              <a:rPr lang="en-US" sz="1800" dirty="0" err="1">
                <a:solidFill>
                  <a:srgbClr val="080808"/>
                </a:solidFill>
                <a:effectLst/>
                <a:latin typeface="JetBrains Mono"/>
              </a:rPr>
              <a:t>normal_case_a</a:t>
            </a:r>
            <a:r>
              <a:rPr lang="en-US" sz="1800" dirty="0">
                <a:solidFill>
                  <a:srgbClr val="080808"/>
                </a:solidFill>
                <a:effectLst/>
                <a:latin typeface="JetBrains Mono"/>
              </a:rPr>
              <a:t> = </a:t>
            </a:r>
            <a:r>
              <a:rPr lang="en-US" sz="1800" dirty="0">
                <a:solidFill>
                  <a:srgbClr val="067D17"/>
                </a:solidFill>
                <a:effectLst/>
                <a:latin typeface="JetBrains Mono"/>
              </a:rPr>
              <a:t>"A1" </a:t>
            </a:r>
            <a:r>
              <a:rPr lang="en-US" sz="1800" dirty="0">
                <a:solidFill>
                  <a:srgbClr val="080808"/>
                </a:solidFill>
                <a:effectLst/>
                <a:latin typeface="JetBrains Mono"/>
              </a:rPr>
              <a:t>* </a:t>
            </a:r>
            <a:r>
              <a:rPr lang="en-US" sz="1800" dirty="0">
                <a:solidFill>
                  <a:srgbClr val="1750EB"/>
                </a:solidFill>
                <a:effectLst/>
                <a:latin typeface="JetBrains Mono"/>
              </a:rPr>
              <a:t>11</a:t>
            </a:r>
            <a:br>
              <a:rPr lang="en-US" sz="1800" dirty="0">
                <a:solidFill>
                  <a:srgbClr val="1750EB"/>
                </a:solidFill>
                <a:effectLst/>
                <a:latin typeface="JetBrains Mono"/>
              </a:rPr>
            </a:br>
            <a:r>
              <a:rPr lang="en-US" sz="1800" i="1" dirty="0">
                <a:solidFill>
                  <a:srgbClr val="8C8C8C"/>
                </a:solidFill>
                <a:effectLst/>
                <a:latin typeface="JetBrains Mono"/>
              </a:rPr>
              <a:t># 12–0 for B</a:t>
            </a:r>
            <a:br>
              <a:rPr lang="en-US" sz="1800" i="1" dirty="0">
                <a:solidFill>
                  <a:srgbClr val="8C8C8C"/>
                </a:solidFill>
                <a:effectLst/>
                <a:latin typeface="JetBrains Mono"/>
              </a:rPr>
            </a:br>
            <a:r>
              <a:rPr lang="en-US" sz="1800" dirty="0" err="1">
                <a:solidFill>
                  <a:srgbClr val="080808"/>
                </a:solidFill>
                <a:effectLst/>
                <a:latin typeface="JetBrains Mono"/>
              </a:rPr>
              <a:t>normal_case_b</a:t>
            </a:r>
            <a:r>
              <a:rPr lang="en-US" sz="1800" dirty="0">
                <a:solidFill>
                  <a:srgbClr val="080808"/>
                </a:solidFill>
                <a:effectLst/>
                <a:latin typeface="JetBrains Mono"/>
              </a:rPr>
              <a:t> = </a:t>
            </a:r>
            <a:r>
              <a:rPr lang="en-US" sz="1800" dirty="0">
                <a:solidFill>
                  <a:srgbClr val="067D17"/>
                </a:solidFill>
                <a:effectLst/>
                <a:latin typeface="JetBrains Mono"/>
              </a:rPr>
              <a:t>"B2" </a:t>
            </a:r>
            <a:r>
              <a:rPr lang="en-US" sz="1800" dirty="0">
                <a:solidFill>
                  <a:srgbClr val="080808"/>
                </a:solidFill>
                <a:effectLst/>
                <a:latin typeface="JetBrains Mono"/>
              </a:rPr>
              <a:t>* </a:t>
            </a:r>
            <a:r>
              <a:rPr lang="en-US" sz="1800" dirty="0">
                <a:solidFill>
                  <a:srgbClr val="1750EB"/>
                </a:solidFill>
                <a:effectLst/>
                <a:latin typeface="JetBrains Mono"/>
              </a:rPr>
              <a:t>6</a:t>
            </a:r>
            <a:br>
              <a:rPr lang="en-US" sz="1800" dirty="0">
                <a:solidFill>
                  <a:srgbClr val="1750EB"/>
                </a:solidFill>
                <a:effectLst/>
                <a:latin typeface="JetBrains Mono"/>
              </a:rPr>
            </a:br>
            <a:r>
              <a:rPr lang="en-US" sz="1800" i="1" dirty="0">
                <a:solidFill>
                  <a:srgbClr val="8C8C8C"/>
                </a:solidFill>
                <a:effectLst/>
                <a:latin typeface="JetBrains Mono"/>
              </a:rPr>
              <a:t># 10–10 → 11–10 → 11–13 (B should win)</a:t>
            </a:r>
            <a:br>
              <a:rPr lang="en-US" sz="1800" i="1" dirty="0">
                <a:solidFill>
                  <a:srgbClr val="8C8C8C"/>
                </a:solidFill>
                <a:effectLst/>
                <a:latin typeface="JetBrains Mono"/>
              </a:rPr>
            </a:br>
            <a:r>
              <a:rPr lang="en-US" sz="1800" dirty="0" err="1">
                <a:solidFill>
                  <a:srgbClr val="080808"/>
                </a:solidFill>
                <a:effectLst/>
                <a:latin typeface="JetBrains Mono"/>
              </a:rPr>
              <a:t>deuce_case</a:t>
            </a:r>
            <a:r>
              <a:rPr lang="en-US" sz="1800" dirty="0">
                <a:solidFill>
                  <a:srgbClr val="080808"/>
                </a:solidFill>
                <a:effectLst/>
                <a:latin typeface="JetBrains Mono"/>
              </a:rPr>
              <a:t> = (</a:t>
            </a:r>
            <a:r>
              <a:rPr lang="en-US" sz="1800" dirty="0">
                <a:solidFill>
                  <a:srgbClr val="067D17"/>
                </a:solidFill>
                <a:effectLst/>
                <a:latin typeface="JetBrains Mono"/>
              </a:rPr>
              <a:t>"A1B1" </a:t>
            </a:r>
            <a:r>
              <a:rPr lang="en-US" sz="1800" dirty="0">
                <a:solidFill>
                  <a:srgbClr val="080808"/>
                </a:solidFill>
                <a:effectLst/>
                <a:latin typeface="JetBrains Mono"/>
              </a:rPr>
              <a:t>* </a:t>
            </a:r>
            <a:r>
              <a:rPr lang="en-US" sz="1800" dirty="0">
                <a:solidFill>
                  <a:srgbClr val="1750EB"/>
                </a:solidFill>
                <a:effectLst/>
                <a:latin typeface="JetBrains Mono"/>
              </a:rPr>
              <a:t>10</a:t>
            </a:r>
            <a:r>
              <a:rPr lang="en-US" sz="1800" dirty="0">
                <a:solidFill>
                  <a:srgbClr val="080808"/>
                </a:solidFill>
                <a:effectLst/>
                <a:latin typeface="JetBrains Mono"/>
              </a:rPr>
              <a:t>) + </a:t>
            </a:r>
            <a:r>
              <a:rPr lang="en-US" sz="1800" dirty="0">
                <a:solidFill>
                  <a:srgbClr val="067D17"/>
                </a:solidFill>
                <a:effectLst/>
                <a:latin typeface="JetBrains Mono"/>
              </a:rPr>
              <a:t>"A1" </a:t>
            </a:r>
            <a:r>
              <a:rPr lang="en-US" sz="1800" dirty="0">
                <a:solidFill>
                  <a:srgbClr val="080808"/>
                </a:solidFill>
                <a:effectLst/>
                <a:latin typeface="JetBrains Mono"/>
              </a:rPr>
              <a:t>+ </a:t>
            </a:r>
            <a:r>
              <a:rPr lang="en-US" sz="1800" dirty="0">
                <a:solidFill>
                  <a:srgbClr val="067D17"/>
                </a:solidFill>
                <a:effectLst/>
                <a:latin typeface="JetBrains Mono"/>
              </a:rPr>
              <a:t>"B1B1B1"</a:t>
            </a:r>
            <a:br>
              <a:rPr lang="en-US" sz="1800" dirty="0">
                <a:solidFill>
                  <a:srgbClr val="067D17"/>
                </a:solidFill>
                <a:effectLst/>
                <a:latin typeface="JetBrains Mono"/>
              </a:rPr>
            </a:br>
            <a:br>
              <a:rPr lang="en-US" sz="1800" dirty="0">
                <a:solidFill>
                  <a:srgbClr val="067D17"/>
                </a:solidFill>
                <a:effectLst/>
                <a:latin typeface="JetBrains Mono"/>
              </a:rPr>
            </a:br>
            <a:r>
              <a:rPr lang="en-US" sz="1800" i="1" dirty="0">
                <a:solidFill>
                  <a:srgbClr val="8C8C8C"/>
                </a:solidFill>
                <a:effectLst/>
                <a:latin typeface="JetBrains Mono"/>
              </a:rPr>
              <a:t>#A win with 11 points</a:t>
            </a:r>
            <a:br>
              <a:rPr lang="en-US" sz="1800" i="1" dirty="0">
                <a:solidFill>
                  <a:srgbClr val="8C8C8C"/>
                </a:solidFill>
                <a:effectLst/>
                <a:latin typeface="JetBrains Mono"/>
              </a:rPr>
            </a:b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a:solidFill>
                  <a:srgbClr val="067D17"/>
                </a:solidFill>
                <a:effectLst/>
                <a:latin typeface="JetBrains Mono"/>
              </a:rPr>
              <a:t>"Buggy on </a:t>
            </a:r>
            <a:r>
              <a:rPr lang="en-US" sz="1800" dirty="0" err="1">
                <a:solidFill>
                  <a:srgbClr val="067D17"/>
                </a:solidFill>
                <a:effectLst/>
                <a:latin typeface="JetBrains Mono"/>
              </a:rPr>
              <a:t>normal_case_a</a:t>
            </a:r>
            <a:r>
              <a:rPr lang="en-US" sz="1800" dirty="0">
                <a:solidFill>
                  <a:srgbClr val="067D17"/>
                </a:solidFill>
                <a:effectLst/>
                <a:latin typeface="JetBrains Mono"/>
              </a:rPr>
              <a:t>? (expect A):"</a:t>
            </a:r>
            <a:r>
              <a:rPr lang="en-US" sz="1800" dirty="0">
                <a:solidFill>
                  <a:srgbClr val="080808"/>
                </a:solidFill>
                <a:effectLst/>
                <a:latin typeface="JetBrains Mono"/>
              </a:rPr>
              <a:t>, </a:t>
            </a:r>
            <a:r>
              <a:rPr lang="en-US" sz="1800" dirty="0" err="1">
                <a:solidFill>
                  <a:srgbClr val="080808"/>
                </a:solidFill>
                <a:effectLst/>
                <a:latin typeface="JetBrains Mono"/>
              </a:rPr>
              <a:t>get_winner</a:t>
            </a:r>
            <a:r>
              <a:rPr lang="en-US" sz="1800" dirty="0">
                <a:solidFill>
                  <a:srgbClr val="080808"/>
                </a:solidFill>
                <a:effectLst/>
                <a:latin typeface="JetBrains Mono"/>
              </a:rPr>
              <a:t>(</a:t>
            </a:r>
            <a:r>
              <a:rPr lang="en-US" sz="1800" dirty="0" err="1">
                <a:solidFill>
                  <a:srgbClr val="080808"/>
                </a:solidFill>
                <a:effectLst/>
                <a:latin typeface="JetBrains Mono"/>
              </a:rPr>
              <a:t>normal_case_a</a:t>
            </a:r>
            <a:r>
              <a:rPr lang="en-US" sz="1800" dirty="0">
                <a:solidFill>
                  <a:srgbClr val="080808"/>
                </a:solidFill>
                <a:effectLst/>
                <a:latin typeface="JetBrains Mono"/>
              </a:rPr>
              <a:t>))</a:t>
            </a:r>
            <a:br>
              <a:rPr lang="en-US" sz="1800" dirty="0">
                <a:solidFill>
                  <a:srgbClr val="080808"/>
                </a:solidFill>
                <a:effectLst/>
                <a:latin typeface="JetBrains Mono"/>
              </a:rPr>
            </a:br>
            <a:r>
              <a:rPr lang="en-US" sz="1800" i="1" dirty="0">
                <a:solidFill>
                  <a:srgbClr val="8C8C8C"/>
                </a:solidFill>
                <a:effectLst/>
                <a:latin typeface="JetBrains Mono"/>
              </a:rPr>
              <a:t>#B wins with 12 points</a:t>
            </a:r>
            <a:br>
              <a:rPr lang="en-US" sz="1800" i="1" dirty="0">
                <a:solidFill>
                  <a:srgbClr val="8C8C8C"/>
                </a:solidFill>
                <a:effectLst/>
                <a:latin typeface="JetBrains Mono"/>
              </a:rPr>
            </a:b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a:solidFill>
                  <a:srgbClr val="067D17"/>
                </a:solidFill>
                <a:effectLst/>
                <a:latin typeface="JetBrains Mono"/>
              </a:rPr>
              <a:t>"Buggy on </a:t>
            </a:r>
            <a:r>
              <a:rPr lang="en-US" sz="1800" dirty="0" err="1">
                <a:solidFill>
                  <a:srgbClr val="067D17"/>
                </a:solidFill>
                <a:effectLst/>
                <a:latin typeface="JetBrains Mono"/>
              </a:rPr>
              <a:t>normal_case_b</a:t>
            </a:r>
            <a:r>
              <a:rPr lang="en-US" sz="1800" dirty="0">
                <a:solidFill>
                  <a:srgbClr val="067D17"/>
                </a:solidFill>
                <a:effectLst/>
                <a:latin typeface="JetBrains Mono"/>
              </a:rPr>
              <a:t>? (expect B):"</a:t>
            </a:r>
            <a:r>
              <a:rPr lang="en-US" sz="1800" dirty="0">
                <a:solidFill>
                  <a:srgbClr val="080808"/>
                </a:solidFill>
                <a:effectLst/>
                <a:latin typeface="JetBrains Mono"/>
              </a:rPr>
              <a:t>, </a:t>
            </a:r>
            <a:r>
              <a:rPr lang="en-US" sz="1800" dirty="0" err="1">
                <a:solidFill>
                  <a:srgbClr val="080808"/>
                </a:solidFill>
                <a:effectLst/>
                <a:latin typeface="JetBrains Mono"/>
              </a:rPr>
              <a:t>get_winner</a:t>
            </a:r>
            <a:r>
              <a:rPr lang="en-US" sz="1800" dirty="0">
                <a:solidFill>
                  <a:srgbClr val="080808"/>
                </a:solidFill>
                <a:effectLst/>
                <a:latin typeface="JetBrains Mono"/>
              </a:rPr>
              <a:t>(</a:t>
            </a:r>
            <a:r>
              <a:rPr lang="en-US" sz="1800" dirty="0" err="1">
                <a:solidFill>
                  <a:srgbClr val="080808"/>
                </a:solidFill>
                <a:effectLst/>
                <a:latin typeface="JetBrains Mono"/>
              </a:rPr>
              <a:t>normal_case_b</a:t>
            </a:r>
            <a:r>
              <a:rPr lang="en-US" sz="1800" dirty="0">
                <a:solidFill>
                  <a:srgbClr val="080808"/>
                </a:solidFill>
                <a:effectLst/>
                <a:latin typeface="JetBrains Mono"/>
              </a:rPr>
              <a:t>))</a:t>
            </a:r>
            <a:br>
              <a:rPr lang="en-US" sz="1800" dirty="0">
                <a:solidFill>
                  <a:srgbClr val="080808"/>
                </a:solidFill>
                <a:effectLst/>
                <a:latin typeface="JetBrains Mono"/>
              </a:rPr>
            </a:br>
            <a:r>
              <a:rPr lang="en-US" sz="1800" i="1" dirty="0">
                <a:solidFill>
                  <a:srgbClr val="8C8C8C"/>
                </a:solidFill>
                <a:effectLst/>
                <a:latin typeface="JetBrains Mono"/>
              </a:rPr>
              <a:t>#B wins with 13 points</a:t>
            </a:r>
            <a:br>
              <a:rPr lang="en-US" sz="1800" i="1" dirty="0">
                <a:solidFill>
                  <a:srgbClr val="8C8C8C"/>
                </a:solidFill>
                <a:effectLst/>
                <a:latin typeface="JetBrains Mono"/>
              </a:rPr>
            </a:b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a:solidFill>
                  <a:srgbClr val="067D17"/>
                </a:solidFill>
                <a:effectLst/>
                <a:latin typeface="JetBrains Mono"/>
              </a:rPr>
              <a:t>"Buggy on </a:t>
            </a:r>
            <a:r>
              <a:rPr lang="en-US" sz="1800" dirty="0" err="1">
                <a:solidFill>
                  <a:srgbClr val="067D17"/>
                </a:solidFill>
                <a:effectLst/>
                <a:latin typeface="JetBrains Mono"/>
              </a:rPr>
              <a:t>deuce_case</a:t>
            </a:r>
            <a:r>
              <a:rPr lang="en-US" sz="1800" dirty="0">
                <a:solidFill>
                  <a:srgbClr val="067D17"/>
                </a:solidFill>
                <a:effectLst/>
                <a:latin typeface="JetBrains Mono"/>
              </a:rPr>
              <a:t>? (expect B):"</a:t>
            </a:r>
            <a:r>
              <a:rPr lang="en-US" sz="1800" dirty="0">
                <a:solidFill>
                  <a:srgbClr val="080808"/>
                </a:solidFill>
                <a:effectLst/>
                <a:latin typeface="JetBrains Mono"/>
              </a:rPr>
              <a:t>, </a:t>
            </a:r>
            <a:r>
              <a:rPr lang="en-US" sz="1800" dirty="0" err="1">
                <a:solidFill>
                  <a:srgbClr val="080808"/>
                </a:solidFill>
                <a:effectLst/>
                <a:latin typeface="JetBrains Mono"/>
              </a:rPr>
              <a:t>get_winner</a:t>
            </a:r>
            <a:r>
              <a:rPr lang="en-US" sz="1800" dirty="0">
                <a:solidFill>
                  <a:srgbClr val="080808"/>
                </a:solidFill>
                <a:effectLst/>
                <a:latin typeface="JetBrains Mono"/>
              </a:rPr>
              <a:t>(</a:t>
            </a:r>
            <a:r>
              <a:rPr lang="en-US" sz="1800" dirty="0" err="1">
                <a:solidFill>
                  <a:srgbClr val="080808"/>
                </a:solidFill>
                <a:effectLst/>
                <a:latin typeface="JetBrains Mono"/>
              </a:rPr>
              <a:t>deuce_case</a:t>
            </a:r>
            <a:r>
              <a:rPr lang="en-US" sz="1800" dirty="0">
                <a:solidFill>
                  <a:srgbClr val="080808"/>
                </a:solidFill>
                <a:effectLst/>
                <a:latin typeface="JetBrains Mono"/>
              </a:rPr>
              <a:t>))  </a:t>
            </a:r>
            <a:r>
              <a:rPr lang="en-US" sz="1800" i="1" dirty="0">
                <a:solidFill>
                  <a:srgbClr val="8C8C8C"/>
                </a:solidFill>
                <a:effectLst/>
                <a:latin typeface="JetBrains Mono"/>
              </a:rPr>
              <a:t># Prints A!</a:t>
            </a:r>
            <a:endParaRPr lang="en-US" sz="1800" dirty="0">
              <a:solidFill>
                <a:srgbClr val="080808"/>
              </a:solidFill>
              <a:effectLst/>
              <a:latin typeface="JetBrains Mono"/>
            </a:endParaRPr>
          </a:p>
          <a:p>
            <a:endParaRPr lang="en-CA" dirty="0"/>
          </a:p>
        </p:txBody>
      </p:sp>
      <p:sp>
        <p:nvSpPr>
          <p:cNvPr id="4" name="Content Placeholder 3">
            <a:extLst>
              <a:ext uri="{FF2B5EF4-FFF2-40B4-BE49-F238E27FC236}">
                <a16:creationId xmlns:a16="http://schemas.microsoft.com/office/drawing/2014/main" id="{AA3712DE-CD8B-6F28-673E-0889F47155CB}"/>
              </a:ext>
            </a:extLst>
          </p:cNvPr>
          <p:cNvSpPr>
            <a:spLocks noGrp="1"/>
          </p:cNvSpPr>
          <p:nvPr>
            <p:ph sz="half" idx="2"/>
          </p:nvPr>
        </p:nvSpPr>
        <p:spPr/>
        <p:txBody>
          <a:bodyPr>
            <a:normAutofit fontScale="77500" lnSpcReduction="20000"/>
          </a:bodyPr>
          <a:lstStyle/>
          <a:p>
            <a:pPr marL="0" indent="0">
              <a:buNone/>
            </a:pPr>
            <a:r>
              <a:rPr lang="en-US" i="1" dirty="0"/>
              <a:t>Buggy on </a:t>
            </a:r>
            <a:r>
              <a:rPr lang="en-US" i="1" dirty="0" err="1"/>
              <a:t>normal_case_a</a:t>
            </a:r>
            <a:r>
              <a:rPr lang="en-US" i="1" dirty="0"/>
              <a:t> (expect A): A</a:t>
            </a:r>
          </a:p>
          <a:p>
            <a:pPr marL="0" indent="0">
              <a:buNone/>
            </a:pPr>
            <a:r>
              <a:rPr lang="en-US" i="1" dirty="0"/>
              <a:t>Buggy on </a:t>
            </a:r>
            <a:r>
              <a:rPr lang="en-US" i="1" dirty="0" err="1"/>
              <a:t>normal_case_b</a:t>
            </a:r>
            <a:r>
              <a:rPr lang="en-US" i="1" dirty="0"/>
              <a:t> (expect B): B</a:t>
            </a:r>
          </a:p>
          <a:p>
            <a:pPr marL="0" indent="0">
              <a:buNone/>
            </a:pPr>
            <a:r>
              <a:rPr lang="en-US" i="1" dirty="0"/>
              <a:t>Buggy on </a:t>
            </a:r>
            <a:r>
              <a:rPr lang="en-US" i="1" dirty="0" err="1"/>
              <a:t>deuce_case</a:t>
            </a:r>
            <a:r>
              <a:rPr lang="en-US" i="1" dirty="0"/>
              <a:t>     (expect B): A</a:t>
            </a:r>
            <a:endParaRPr lang="en-CA" dirty="0"/>
          </a:p>
          <a:p>
            <a:r>
              <a:rPr lang="en-CA" dirty="0"/>
              <a:t>Oh no!  Our last test case has failed!  </a:t>
            </a:r>
          </a:p>
          <a:p>
            <a:r>
              <a:rPr lang="en-CA" dirty="0"/>
              <a:t>Now what?</a:t>
            </a:r>
          </a:p>
          <a:p>
            <a:r>
              <a:rPr lang="en-CA" dirty="0"/>
              <a:t>Well .. we have a bug … so now we need to debug our code</a:t>
            </a:r>
          </a:p>
          <a:p>
            <a:r>
              <a:rPr lang="en-CA" dirty="0"/>
              <a:t>This is returning from Evaluation and iterating back to Implementation</a:t>
            </a:r>
          </a:p>
          <a:p>
            <a:r>
              <a:rPr lang="en-CA" dirty="0"/>
              <a:t>It is possible that we didn’t understand the problem and have to go back to the beginning – but let’s see if we can figure out where we went wrong</a:t>
            </a:r>
          </a:p>
        </p:txBody>
      </p:sp>
    </p:spTree>
    <p:extLst>
      <p:ext uri="{BB962C8B-B14F-4D97-AF65-F5344CB8AC3E}">
        <p14:creationId xmlns:p14="http://schemas.microsoft.com/office/powerpoint/2010/main" val="2789213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2257E74-91D7-E3D2-29D9-3B68346BBFFA}"/>
              </a:ext>
            </a:extLst>
          </p:cNvPr>
          <p:cNvSpPr>
            <a:spLocks noGrp="1"/>
          </p:cNvSpPr>
          <p:nvPr>
            <p:ph type="title"/>
          </p:nvPr>
        </p:nvSpPr>
        <p:spPr/>
        <p:txBody>
          <a:bodyPr/>
          <a:lstStyle/>
          <a:p>
            <a:r>
              <a:rPr lang="en-CA" dirty="0"/>
              <a:t>Types of errors</a:t>
            </a:r>
          </a:p>
        </p:txBody>
      </p:sp>
      <p:sp>
        <p:nvSpPr>
          <p:cNvPr id="3" name="Content Placeholder 2">
            <a:extLst>
              <a:ext uri="{FF2B5EF4-FFF2-40B4-BE49-F238E27FC236}">
                <a16:creationId xmlns:a16="http://schemas.microsoft.com/office/drawing/2014/main" id="{C18A991C-64A9-7A33-05CB-D3CDE04A0557}"/>
              </a:ext>
            </a:extLst>
          </p:cNvPr>
          <p:cNvSpPr>
            <a:spLocks noGrp="1"/>
          </p:cNvSpPr>
          <p:nvPr>
            <p:ph sz="half" idx="1"/>
          </p:nvPr>
        </p:nvSpPr>
        <p:spPr>
          <a:xfrm>
            <a:off x="1318801" y="2580170"/>
            <a:ext cx="4271771" cy="3101982"/>
          </a:xfrm>
        </p:spPr>
        <p:txBody>
          <a:bodyPr>
            <a:normAutofit/>
          </a:bodyPr>
          <a:lstStyle/>
          <a:p>
            <a:r>
              <a:rPr lang="en-US" b="1" dirty="0"/>
              <a:t>Syntax errors</a:t>
            </a:r>
          </a:p>
          <a:p>
            <a:pPr lvl="1"/>
            <a:r>
              <a:rPr lang="en-US" dirty="0"/>
              <a:t>Identified by the interpreter </a:t>
            </a:r>
          </a:p>
          <a:p>
            <a:pPr lvl="2"/>
            <a:r>
              <a:rPr lang="en-US" dirty="0"/>
              <a:t>Example: a forgotten ‘:’ at the end of a function declaration</a:t>
            </a:r>
          </a:p>
          <a:p>
            <a:pPr lvl="1"/>
            <a:r>
              <a:rPr lang="en-US" dirty="0"/>
              <a:t>Experience helps us interpret and rectify the syntax errors produced by the interpreter</a:t>
            </a:r>
          </a:p>
          <a:p>
            <a:endParaRPr lang="en-US" dirty="0"/>
          </a:p>
          <a:p>
            <a:endParaRPr lang="en-US" dirty="0"/>
          </a:p>
          <a:p>
            <a:pPr lvl="1"/>
            <a:endParaRPr lang="en-CA" dirty="0"/>
          </a:p>
          <a:p>
            <a:endParaRPr lang="en-CA" dirty="0"/>
          </a:p>
        </p:txBody>
      </p:sp>
      <p:sp>
        <p:nvSpPr>
          <p:cNvPr id="8" name="TextBox 7">
            <a:extLst>
              <a:ext uri="{FF2B5EF4-FFF2-40B4-BE49-F238E27FC236}">
                <a16:creationId xmlns:a16="http://schemas.microsoft.com/office/drawing/2014/main" id="{508E4D91-4752-001C-6D90-7C87D170CA11}"/>
              </a:ext>
            </a:extLst>
          </p:cNvPr>
          <p:cNvSpPr txBox="1"/>
          <p:nvPr/>
        </p:nvSpPr>
        <p:spPr>
          <a:xfrm>
            <a:off x="5590572" y="2711707"/>
            <a:ext cx="6357181" cy="2585323"/>
          </a:xfrm>
          <a:prstGeom prst="rect">
            <a:avLst/>
          </a:prstGeom>
          <a:noFill/>
        </p:spPr>
        <p:txBody>
          <a:bodyPr wrap="square">
            <a:spAutoFit/>
          </a:bodyPr>
          <a:lstStyle/>
          <a:p>
            <a:r>
              <a:rPr lang="en-US" sz="1800" dirty="0">
                <a:solidFill>
                  <a:srgbClr val="0033B3"/>
                </a:solidFill>
                <a:effectLst/>
                <a:latin typeface="JetBrains Mono"/>
              </a:rPr>
              <a:t>def </a:t>
            </a:r>
            <a:r>
              <a:rPr lang="en-US" sz="1800" dirty="0" err="1">
                <a:solidFill>
                  <a:srgbClr val="00627A"/>
                </a:solidFill>
                <a:effectLst/>
                <a:latin typeface="JetBrains Mono"/>
              </a:rPr>
              <a:t>divide_by</a:t>
            </a:r>
            <a:r>
              <a:rPr lang="en-US" sz="1800" dirty="0">
                <a:solidFill>
                  <a:srgbClr val="080808"/>
                </a:solidFill>
                <a:effectLst/>
                <a:latin typeface="JetBrains Mono"/>
              </a:rPr>
              <a:t>(</a:t>
            </a:r>
            <a:r>
              <a:rPr lang="en-US" sz="1800" dirty="0" err="1">
                <a:solidFill>
                  <a:srgbClr val="000000"/>
                </a:solidFill>
                <a:effectLst/>
                <a:latin typeface="JetBrains Mono"/>
              </a:rPr>
              <a:t>x</a:t>
            </a:r>
            <a:r>
              <a:rPr lang="en-US" sz="1800" dirty="0" err="1">
                <a:solidFill>
                  <a:srgbClr val="080808"/>
                </a:solidFill>
                <a:effectLst/>
                <a:latin typeface="JetBrains Mono"/>
              </a:rPr>
              <a:t>,</a:t>
            </a:r>
            <a:r>
              <a:rPr lang="en-US" sz="1800" dirty="0" err="1">
                <a:solidFill>
                  <a:srgbClr val="000000"/>
                </a:solidFill>
                <a:effectLst/>
                <a:latin typeface="JetBrains Mono"/>
              </a:rPr>
              <a:t>y</a:t>
            </a:r>
            <a:r>
              <a:rPr lang="en-US" sz="1800" dirty="0">
                <a:solidFill>
                  <a:srgbClr val="080808"/>
                </a:solidFill>
                <a:effectLst/>
                <a:latin typeface="JetBrains Mono"/>
              </a:rPr>
              <a:t>) 		</a:t>
            </a:r>
            <a:r>
              <a:rPr lang="en-US" dirty="0">
                <a:solidFill>
                  <a:srgbClr val="080808"/>
                </a:solidFill>
                <a:latin typeface="JetBrains Mono"/>
              </a:rPr>
              <a:t>Cell In[5], line 1</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dirty="0">
                <a:solidFill>
                  <a:srgbClr val="0033B3"/>
                </a:solidFill>
                <a:effectLst/>
                <a:latin typeface="JetBrains Mono"/>
              </a:rPr>
              <a:t>return </a:t>
            </a:r>
            <a:r>
              <a:rPr lang="en-US" sz="1800" dirty="0">
                <a:solidFill>
                  <a:srgbClr val="000000"/>
                </a:solidFill>
                <a:effectLst/>
                <a:latin typeface="JetBrains Mono"/>
              </a:rPr>
              <a:t>x</a:t>
            </a:r>
            <a:r>
              <a:rPr lang="en-US" sz="1800" dirty="0">
                <a:solidFill>
                  <a:srgbClr val="080808"/>
                </a:solidFill>
                <a:effectLst/>
                <a:latin typeface="JetBrains Mono"/>
              </a:rPr>
              <a:t>/</a:t>
            </a:r>
            <a:r>
              <a:rPr lang="en-US" sz="1800" dirty="0">
                <a:solidFill>
                  <a:srgbClr val="000000"/>
                </a:solidFill>
                <a:effectLst/>
                <a:latin typeface="JetBrains Mono"/>
              </a:rPr>
              <a:t>y				</a:t>
            </a:r>
            <a:r>
              <a:rPr lang="en-US" dirty="0">
                <a:solidFill>
                  <a:srgbClr val="080808"/>
                </a:solidFill>
                <a:latin typeface="JetBrains Mono"/>
              </a:rPr>
              <a:t>def </a:t>
            </a:r>
            <a:r>
              <a:rPr lang="en-US" dirty="0" err="1">
                <a:solidFill>
                  <a:srgbClr val="080808"/>
                </a:solidFill>
                <a:latin typeface="JetBrains Mono"/>
              </a:rPr>
              <a:t>get_winner</a:t>
            </a:r>
            <a:r>
              <a:rPr lang="en-US" dirty="0">
                <a:solidFill>
                  <a:srgbClr val="080808"/>
                </a:solidFill>
                <a:latin typeface="JetBrains Mono"/>
              </a:rPr>
              <a:t>(</a:t>
            </a:r>
            <a:r>
              <a:rPr lang="en-US" dirty="0" err="1">
                <a:solidFill>
                  <a:srgbClr val="080808"/>
                </a:solidFill>
                <a:latin typeface="JetBrains Mono"/>
              </a:rPr>
              <a:t>scoring_sequence</a:t>
            </a:r>
            <a:r>
              <a:rPr lang="en-US" dirty="0">
                <a:solidFill>
                  <a:srgbClr val="080808"/>
                </a:solidFill>
                <a:latin typeface="JetBrains Mono"/>
              </a:rPr>
              <a:t>)</a:t>
            </a:r>
          </a:p>
          <a:p>
            <a:pPr>
              <a:buNone/>
            </a:pPr>
            <a:r>
              <a:rPr lang="en-US" dirty="0">
                <a:solidFill>
                  <a:srgbClr val="000080"/>
                </a:solidFill>
                <a:latin typeface="JetBrains Mono"/>
              </a:rPr>
              <a:t>print</a:t>
            </a:r>
            <a:r>
              <a:rPr lang="en-US" dirty="0">
                <a:solidFill>
                  <a:srgbClr val="080808"/>
                </a:solidFill>
                <a:latin typeface="JetBrains Mono"/>
              </a:rPr>
              <a:t>(</a:t>
            </a:r>
            <a:r>
              <a:rPr lang="en-US" dirty="0" err="1">
                <a:solidFill>
                  <a:srgbClr val="080808"/>
                </a:solidFill>
                <a:latin typeface="JetBrains Mono"/>
              </a:rPr>
              <a:t>divide_by</a:t>
            </a:r>
            <a:r>
              <a:rPr lang="en-US" dirty="0">
                <a:solidFill>
                  <a:srgbClr val="080808"/>
                </a:solidFill>
                <a:latin typeface="JetBrains Mono"/>
              </a:rPr>
              <a:t>(</a:t>
            </a:r>
            <a:r>
              <a:rPr lang="en-US" dirty="0">
                <a:solidFill>
                  <a:srgbClr val="1750EB"/>
                </a:solidFill>
                <a:latin typeface="JetBrains Mono"/>
              </a:rPr>
              <a:t>3</a:t>
            </a:r>
            <a:r>
              <a:rPr lang="en-US" dirty="0">
                <a:solidFill>
                  <a:srgbClr val="080808"/>
                </a:solidFill>
                <a:latin typeface="JetBrains Mono"/>
              </a:rPr>
              <a:t>,</a:t>
            </a:r>
            <a:r>
              <a:rPr lang="en-US" dirty="0">
                <a:solidFill>
                  <a:srgbClr val="1750EB"/>
                </a:solidFill>
                <a:latin typeface="JetBrains Mono"/>
              </a:rPr>
              <a:t>4</a:t>
            </a:r>
            <a:r>
              <a:rPr lang="en-US" dirty="0">
                <a:solidFill>
                  <a:srgbClr val="080808"/>
                </a:solidFill>
                <a:latin typeface="JetBrains Mono"/>
              </a:rPr>
              <a:t>)) </a:t>
            </a:r>
            <a:r>
              <a:rPr lang="en-US" dirty="0">
                <a:solidFill>
                  <a:srgbClr val="000000"/>
                </a:solidFill>
                <a:latin typeface="JetBrains Mono"/>
              </a:rPr>
              <a:t>			</a:t>
            </a:r>
            <a:r>
              <a:rPr lang="en-US" sz="1800" dirty="0">
                <a:solidFill>
                  <a:srgbClr val="000000"/>
                </a:solidFill>
                <a:effectLst/>
                <a:latin typeface="JetBrains Mono"/>
              </a:rPr>
              <a:t>					</a:t>
            </a:r>
            <a:r>
              <a:rPr lang="en-US" dirty="0">
                <a:solidFill>
                  <a:srgbClr val="000000"/>
                </a:solidFill>
                <a:latin typeface="JetBrains Mono"/>
              </a:rPr>
              <a:t>	</a:t>
            </a:r>
            <a:r>
              <a:rPr lang="en-US" dirty="0">
                <a:solidFill>
                  <a:srgbClr val="080808"/>
                </a:solidFill>
                <a:latin typeface="JetBrains Mono"/>
              </a:rPr>
              <a:t>^</a:t>
            </a:r>
          </a:p>
          <a:p>
            <a:pPr>
              <a:buNone/>
            </a:pPr>
            <a:r>
              <a:rPr lang="en-US" dirty="0">
                <a:solidFill>
                  <a:srgbClr val="000080"/>
                </a:solidFill>
                <a:latin typeface="JetBrains Mono"/>
              </a:rPr>
              <a:t>print</a:t>
            </a:r>
            <a:r>
              <a:rPr lang="en-US" dirty="0">
                <a:solidFill>
                  <a:srgbClr val="080808"/>
                </a:solidFill>
                <a:latin typeface="JetBrains Mono"/>
              </a:rPr>
              <a:t>(</a:t>
            </a:r>
            <a:r>
              <a:rPr lang="en-US" dirty="0" err="1">
                <a:solidFill>
                  <a:srgbClr val="080808"/>
                </a:solidFill>
                <a:latin typeface="JetBrains Mono"/>
              </a:rPr>
              <a:t>divide_by</a:t>
            </a:r>
            <a:r>
              <a:rPr lang="en-US" dirty="0">
                <a:solidFill>
                  <a:srgbClr val="080808"/>
                </a:solidFill>
                <a:latin typeface="JetBrains Mono"/>
              </a:rPr>
              <a:t>(</a:t>
            </a:r>
            <a:r>
              <a:rPr lang="en-US" dirty="0">
                <a:solidFill>
                  <a:srgbClr val="1750EB"/>
                </a:solidFill>
                <a:latin typeface="JetBrains Mono"/>
              </a:rPr>
              <a:t>10</a:t>
            </a:r>
            <a:r>
              <a:rPr lang="en-US" dirty="0">
                <a:solidFill>
                  <a:srgbClr val="080808"/>
                </a:solidFill>
                <a:latin typeface="JetBrains Mono"/>
              </a:rPr>
              <a:t>,</a:t>
            </a:r>
            <a:r>
              <a:rPr lang="en-US" dirty="0">
                <a:solidFill>
                  <a:srgbClr val="1750EB"/>
                </a:solidFill>
                <a:latin typeface="JetBrains Mono"/>
              </a:rPr>
              <a:t>0</a:t>
            </a:r>
            <a:r>
              <a:rPr lang="en-US" dirty="0">
                <a:solidFill>
                  <a:srgbClr val="080808"/>
                </a:solidFill>
                <a:latin typeface="JetBrains Mono"/>
              </a:rPr>
              <a:t>)) 			</a:t>
            </a:r>
            <a:r>
              <a:rPr lang="en-US" dirty="0" err="1">
                <a:solidFill>
                  <a:srgbClr val="080808"/>
                </a:solidFill>
                <a:latin typeface="JetBrains Mono"/>
              </a:rPr>
              <a:t>SyntaxError</a:t>
            </a:r>
            <a:r>
              <a:rPr lang="en-US" dirty="0">
                <a:solidFill>
                  <a:srgbClr val="080808"/>
                </a:solidFill>
                <a:latin typeface="JetBrains Mono"/>
              </a:rPr>
              <a:t>: expected ':'</a:t>
            </a:r>
          </a:p>
          <a:p>
            <a:br>
              <a:rPr lang="en-US" sz="1800" dirty="0">
                <a:solidFill>
                  <a:srgbClr val="000000"/>
                </a:solidFill>
                <a:effectLst/>
                <a:latin typeface="JetBrains Mono"/>
              </a:rPr>
            </a:br>
            <a:br>
              <a:rPr lang="en-US" sz="1800" dirty="0">
                <a:solidFill>
                  <a:srgbClr val="000000"/>
                </a:solidFill>
                <a:effectLst/>
                <a:latin typeface="JetBrains Mono"/>
              </a:rPr>
            </a:br>
            <a:br>
              <a:rPr lang="en-US" sz="1800" dirty="0">
                <a:solidFill>
                  <a:srgbClr val="080808"/>
                </a:solidFill>
                <a:effectLst/>
                <a:latin typeface="JetBrains Mono"/>
              </a:rPr>
            </a:br>
            <a:endParaRPr lang="en-US" sz="1800" dirty="0">
              <a:solidFill>
                <a:srgbClr val="080808"/>
              </a:solidFill>
              <a:effectLst/>
              <a:latin typeface="JetBrains Mono"/>
            </a:endParaRPr>
          </a:p>
          <a:p>
            <a:pPr>
              <a:buNone/>
            </a:pPr>
            <a:endParaRPr lang="en-US" dirty="0">
              <a:solidFill>
                <a:srgbClr val="080808"/>
              </a:solidFill>
              <a:latin typeface="JetBrains Mono"/>
            </a:endParaRPr>
          </a:p>
        </p:txBody>
      </p:sp>
    </p:spTree>
    <p:extLst>
      <p:ext uri="{BB962C8B-B14F-4D97-AF65-F5344CB8AC3E}">
        <p14:creationId xmlns:p14="http://schemas.microsoft.com/office/powerpoint/2010/main" val="2702932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D4229-4419-D809-31D1-4F1517FC4864}"/>
              </a:ext>
            </a:extLst>
          </p:cNvPr>
          <p:cNvSpPr>
            <a:spLocks noGrp="1"/>
          </p:cNvSpPr>
          <p:nvPr>
            <p:ph type="title"/>
          </p:nvPr>
        </p:nvSpPr>
        <p:spPr/>
        <p:txBody>
          <a:bodyPr/>
          <a:lstStyle/>
          <a:p>
            <a:r>
              <a:rPr lang="en-CA" dirty="0"/>
              <a:t>Runtime Error</a:t>
            </a:r>
          </a:p>
        </p:txBody>
      </p:sp>
      <p:sp>
        <p:nvSpPr>
          <p:cNvPr id="3" name="Content Placeholder 2">
            <a:extLst>
              <a:ext uri="{FF2B5EF4-FFF2-40B4-BE49-F238E27FC236}">
                <a16:creationId xmlns:a16="http://schemas.microsoft.com/office/drawing/2014/main" id="{ECDE24DE-D9B7-FDC2-7877-D23F3F9CFD38}"/>
              </a:ext>
            </a:extLst>
          </p:cNvPr>
          <p:cNvSpPr>
            <a:spLocks noGrp="1"/>
          </p:cNvSpPr>
          <p:nvPr>
            <p:ph sz="half" idx="1"/>
          </p:nvPr>
        </p:nvSpPr>
        <p:spPr>
          <a:xfrm>
            <a:off x="1157468" y="2638043"/>
            <a:ext cx="4696215" cy="3681733"/>
          </a:xfrm>
        </p:spPr>
        <p:txBody>
          <a:bodyPr>
            <a:normAutofit fontScale="85000" lnSpcReduction="20000"/>
          </a:bodyPr>
          <a:lstStyle/>
          <a:p>
            <a:r>
              <a:rPr lang="en-US" b="1" dirty="0"/>
              <a:t>Runtime Errors</a:t>
            </a:r>
          </a:p>
          <a:p>
            <a:pPr lvl="1"/>
            <a:r>
              <a:rPr lang="en-US" dirty="0"/>
              <a:t>Occur when something goes wrong while the program is running</a:t>
            </a:r>
          </a:p>
          <a:p>
            <a:pPr lvl="1"/>
            <a:r>
              <a:rPr lang="en-US" dirty="0"/>
              <a:t>Typically come with a stack trace and a message indicating the error</a:t>
            </a:r>
          </a:p>
          <a:p>
            <a:pPr lvl="1"/>
            <a:r>
              <a:rPr lang="en-US" dirty="0"/>
              <a:t>Picture a stack of plates:</a:t>
            </a:r>
          </a:p>
          <a:p>
            <a:pPr lvl="2"/>
            <a:r>
              <a:rPr lang="en-US" dirty="0"/>
              <a:t>Each time a function is called the system state is saved including the line number to return and puts it’s “plate” on top of the last function call in the stack</a:t>
            </a:r>
          </a:p>
          <a:p>
            <a:pPr lvl="2"/>
            <a:r>
              <a:rPr lang="en-US" dirty="0"/>
              <a:t>When a function finishes, it returns to the line it was called from and removes itself from the top of the stack of plates</a:t>
            </a:r>
          </a:p>
          <a:p>
            <a:pPr lvl="1"/>
            <a:r>
              <a:rPr lang="en-US" dirty="0"/>
              <a:t>When a run time error happens it dumps out all of the plates starting at the bottom most plate for you to see what was called so you can identify where it had the error happen</a:t>
            </a:r>
          </a:p>
          <a:p>
            <a:endParaRPr lang="en-CA" dirty="0"/>
          </a:p>
        </p:txBody>
      </p:sp>
      <p:pic>
        <p:nvPicPr>
          <p:cNvPr id="5" name="Content Placeholder 3">
            <a:extLst>
              <a:ext uri="{FF2B5EF4-FFF2-40B4-BE49-F238E27FC236}">
                <a16:creationId xmlns:a16="http://schemas.microsoft.com/office/drawing/2014/main" id="{3AACD406-98EF-AD56-4EF3-A159460AA15A}"/>
              </a:ext>
            </a:extLst>
          </p:cNvPr>
          <p:cNvPicPr>
            <a:picLocks noGrp="1" noChangeAspect="1"/>
          </p:cNvPicPr>
          <p:nvPr>
            <p:ph sz="half" idx="2"/>
          </p:nvPr>
        </p:nvPicPr>
        <p:blipFill>
          <a:blip r:embed="rId2"/>
          <a:stretch>
            <a:fillRect/>
          </a:stretch>
        </p:blipFill>
        <p:spPr>
          <a:xfrm>
            <a:off x="5853683" y="2991069"/>
            <a:ext cx="5928874" cy="2975679"/>
          </a:xfrm>
          <a:prstGeom prst="rect">
            <a:avLst/>
          </a:prstGeom>
        </p:spPr>
      </p:pic>
    </p:spTree>
    <p:extLst>
      <p:ext uri="{BB962C8B-B14F-4D97-AF65-F5344CB8AC3E}">
        <p14:creationId xmlns:p14="http://schemas.microsoft.com/office/powerpoint/2010/main" val="14881714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61B4C-C9A0-3A2D-03D1-10A4F79CA322}"/>
              </a:ext>
            </a:extLst>
          </p:cNvPr>
          <p:cNvSpPr>
            <a:spLocks noGrp="1"/>
          </p:cNvSpPr>
          <p:nvPr>
            <p:ph type="title"/>
          </p:nvPr>
        </p:nvSpPr>
        <p:spPr/>
        <p:txBody>
          <a:bodyPr/>
          <a:lstStyle/>
          <a:p>
            <a:r>
              <a:rPr lang="en-US" dirty="0"/>
              <a:t>Semantic Error</a:t>
            </a:r>
          </a:p>
        </p:txBody>
      </p:sp>
      <p:sp>
        <p:nvSpPr>
          <p:cNvPr id="3" name="Content Placeholder 2">
            <a:extLst>
              <a:ext uri="{FF2B5EF4-FFF2-40B4-BE49-F238E27FC236}">
                <a16:creationId xmlns:a16="http://schemas.microsoft.com/office/drawing/2014/main" id="{7616ED41-9851-6376-AB98-300BFD93C505}"/>
              </a:ext>
            </a:extLst>
          </p:cNvPr>
          <p:cNvSpPr>
            <a:spLocks noGrp="1"/>
          </p:cNvSpPr>
          <p:nvPr>
            <p:ph idx="1"/>
          </p:nvPr>
        </p:nvSpPr>
        <p:spPr/>
        <p:txBody>
          <a:bodyPr>
            <a:normAutofit/>
          </a:bodyPr>
          <a:lstStyle/>
          <a:p>
            <a:r>
              <a:rPr lang="en-US" b="1" dirty="0"/>
              <a:t>We currently have a semantic errors</a:t>
            </a:r>
          </a:p>
          <a:p>
            <a:pPr lvl="1"/>
            <a:r>
              <a:rPr lang="en-US" dirty="0"/>
              <a:t>The program produces the incorrect results </a:t>
            </a:r>
          </a:p>
          <a:p>
            <a:pPr lvl="1"/>
            <a:r>
              <a:rPr lang="en-US" dirty="0"/>
              <a:t>Can be difficult to track down</a:t>
            </a:r>
          </a:p>
          <a:p>
            <a:r>
              <a:rPr lang="en-US" dirty="0"/>
              <a:t>The program runs (no syntax problems), runs all the way to the end (no errors thrown at run time), but produces the wrong result and we have no further information to help us</a:t>
            </a:r>
          </a:p>
        </p:txBody>
      </p:sp>
    </p:spTree>
    <p:extLst>
      <p:ext uri="{BB962C8B-B14F-4D97-AF65-F5344CB8AC3E}">
        <p14:creationId xmlns:p14="http://schemas.microsoft.com/office/powerpoint/2010/main" val="40605274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AEE5D-1235-94D5-DBC9-5E8C2CB39B2F}"/>
              </a:ext>
            </a:extLst>
          </p:cNvPr>
          <p:cNvSpPr>
            <a:spLocks noGrp="1"/>
          </p:cNvSpPr>
          <p:nvPr>
            <p:ph type="title"/>
          </p:nvPr>
        </p:nvSpPr>
        <p:spPr/>
        <p:txBody>
          <a:bodyPr/>
          <a:lstStyle/>
          <a:p>
            <a:r>
              <a:rPr lang="en-CA" dirty="0"/>
              <a:t>Debugging</a:t>
            </a:r>
          </a:p>
        </p:txBody>
      </p:sp>
      <p:sp>
        <p:nvSpPr>
          <p:cNvPr id="3" name="Content Placeholder 2">
            <a:extLst>
              <a:ext uri="{FF2B5EF4-FFF2-40B4-BE49-F238E27FC236}">
                <a16:creationId xmlns:a16="http://schemas.microsoft.com/office/drawing/2014/main" id="{4BE42BE2-6417-C318-0C2D-B20750CC73BD}"/>
              </a:ext>
            </a:extLst>
          </p:cNvPr>
          <p:cNvSpPr>
            <a:spLocks noGrp="1"/>
          </p:cNvSpPr>
          <p:nvPr>
            <p:ph idx="1"/>
          </p:nvPr>
        </p:nvSpPr>
        <p:spPr>
          <a:xfrm>
            <a:off x="2231136" y="2557022"/>
            <a:ext cx="7729728" cy="3554412"/>
          </a:xfrm>
        </p:spPr>
        <p:txBody>
          <a:bodyPr>
            <a:normAutofit/>
          </a:bodyPr>
          <a:lstStyle/>
          <a:p>
            <a:r>
              <a:rPr lang="en-US" dirty="0"/>
              <a:t>In all error cases, we need to </a:t>
            </a:r>
            <a:r>
              <a:rPr lang="en-US" b="1" dirty="0"/>
              <a:t>debug </a:t>
            </a:r>
            <a:r>
              <a:rPr lang="en-US" dirty="0"/>
              <a:t>our program:</a:t>
            </a:r>
          </a:p>
          <a:p>
            <a:pPr lvl="1"/>
            <a:r>
              <a:rPr lang="en-US" dirty="0"/>
              <a:t>Syntax error: Fix the syntax</a:t>
            </a:r>
          </a:p>
          <a:p>
            <a:pPr lvl="1"/>
            <a:r>
              <a:rPr lang="en-US" dirty="0"/>
              <a:t>Runtime and Semantic: Find out what is happening that is going wrong</a:t>
            </a:r>
          </a:p>
          <a:p>
            <a:r>
              <a:rPr lang="en-US" dirty="0"/>
              <a:t>Debugging is a reactive process to a fault in a program</a:t>
            </a:r>
          </a:p>
          <a:p>
            <a:pPr lvl="1"/>
            <a:r>
              <a:rPr lang="en-US" dirty="0"/>
              <a:t>Identify the reason for the fault</a:t>
            </a:r>
          </a:p>
          <a:p>
            <a:pPr lvl="1"/>
            <a:r>
              <a:rPr lang="en-US" dirty="0"/>
              <a:t>Repair the fault</a:t>
            </a:r>
          </a:p>
          <a:p>
            <a:r>
              <a:rPr lang="en-US" dirty="0"/>
              <a:t>The complexity of this process is varied </a:t>
            </a:r>
          </a:p>
          <a:p>
            <a:pPr lvl="1"/>
            <a:r>
              <a:rPr lang="en-US" dirty="0"/>
              <a:t>For small programs it might be quite simple</a:t>
            </a:r>
          </a:p>
          <a:p>
            <a:pPr lvl="1"/>
            <a:r>
              <a:rPr lang="en-US" dirty="0"/>
              <a:t>For larger programs the process may be very complex </a:t>
            </a:r>
          </a:p>
          <a:p>
            <a:endParaRPr lang="en-CA" dirty="0"/>
          </a:p>
        </p:txBody>
      </p:sp>
    </p:spTree>
    <p:extLst>
      <p:ext uri="{BB962C8B-B14F-4D97-AF65-F5344CB8AC3E}">
        <p14:creationId xmlns:p14="http://schemas.microsoft.com/office/powerpoint/2010/main" val="1279003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73F55-6F81-A5E8-6348-C2B2B795E762}"/>
              </a:ext>
            </a:extLst>
          </p:cNvPr>
          <p:cNvSpPr>
            <a:spLocks noGrp="1"/>
          </p:cNvSpPr>
          <p:nvPr>
            <p:ph type="title"/>
          </p:nvPr>
        </p:nvSpPr>
        <p:spPr/>
        <p:txBody>
          <a:bodyPr/>
          <a:lstStyle/>
          <a:p>
            <a:r>
              <a:rPr lang="en-CA" dirty="0"/>
              <a:t>Debugging Techniques</a:t>
            </a:r>
          </a:p>
        </p:txBody>
      </p:sp>
      <p:sp>
        <p:nvSpPr>
          <p:cNvPr id="3" name="Content Placeholder 2">
            <a:extLst>
              <a:ext uri="{FF2B5EF4-FFF2-40B4-BE49-F238E27FC236}">
                <a16:creationId xmlns:a16="http://schemas.microsoft.com/office/drawing/2014/main" id="{0E857E35-A470-7D16-E9FD-97F7CE455D9E}"/>
              </a:ext>
            </a:extLst>
          </p:cNvPr>
          <p:cNvSpPr>
            <a:spLocks noGrp="1"/>
          </p:cNvSpPr>
          <p:nvPr>
            <p:ph idx="1"/>
          </p:nvPr>
        </p:nvSpPr>
        <p:spPr>
          <a:xfrm>
            <a:off x="2231136" y="2245490"/>
            <a:ext cx="7729728" cy="4178460"/>
          </a:xfrm>
        </p:spPr>
        <p:txBody>
          <a:bodyPr>
            <a:normAutofit fontScale="92500" lnSpcReduction="20000"/>
          </a:bodyPr>
          <a:lstStyle/>
          <a:p>
            <a:r>
              <a:rPr lang="en-US" dirty="0"/>
              <a:t>Debugging by inspection</a:t>
            </a:r>
          </a:p>
          <a:p>
            <a:pPr lvl="1"/>
            <a:r>
              <a:rPr lang="en-US" dirty="0"/>
              <a:t>Sometimes we can look at the code and spot an issue</a:t>
            </a:r>
          </a:p>
          <a:p>
            <a:pPr lvl="1"/>
            <a:r>
              <a:rPr lang="en-US" dirty="0"/>
              <a:t>Print out values that we suspect should be something and determine why they might not be what we expect</a:t>
            </a:r>
          </a:p>
          <a:p>
            <a:pPr lvl="1"/>
            <a:r>
              <a:rPr lang="en-US" dirty="0"/>
              <a:t>Often, we have an error because some data was computed or stored incorrectly at an earlier point and by printing it out, we can determine where (and hopefully why) it has deviated</a:t>
            </a:r>
          </a:p>
          <a:p>
            <a:pPr lvl="1"/>
            <a:r>
              <a:rPr lang="en-US" dirty="0"/>
              <a:t>Can be successful – but if you find that you have tried it, and not found useful information, it can turn into guesswork that is just wasting time</a:t>
            </a:r>
          </a:p>
          <a:p>
            <a:r>
              <a:rPr lang="en-US" dirty="0"/>
              <a:t>Hand tracing code</a:t>
            </a:r>
          </a:p>
          <a:p>
            <a:pPr lvl="1"/>
            <a:r>
              <a:rPr lang="en-US" dirty="0"/>
              <a:t>Simulate the action of the code on paper, track the variables and their expected values and compare against what we are seeing</a:t>
            </a:r>
          </a:p>
          <a:p>
            <a:r>
              <a:rPr lang="en-US" dirty="0"/>
              <a:t>Integrated Debuggers</a:t>
            </a:r>
          </a:p>
          <a:p>
            <a:pPr lvl="1"/>
            <a:r>
              <a:rPr lang="en-US" dirty="0"/>
              <a:t>Programs that allow us to inspect the “state” of the program while it is running</a:t>
            </a:r>
          </a:p>
          <a:p>
            <a:pPr lvl="2"/>
            <a:r>
              <a:rPr lang="en-US" dirty="0"/>
              <a:t>Pause the program at certain lines and advance line by line through the code</a:t>
            </a:r>
          </a:p>
          <a:p>
            <a:endParaRPr lang="en-CA" dirty="0"/>
          </a:p>
        </p:txBody>
      </p:sp>
    </p:spTree>
    <p:extLst>
      <p:ext uri="{BB962C8B-B14F-4D97-AF65-F5344CB8AC3E}">
        <p14:creationId xmlns:p14="http://schemas.microsoft.com/office/powerpoint/2010/main" val="1521712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7BA91-B821-782A-32DB-21FAD00262EF}"/>
              </a:ext>
            </a:extLst>
          </p:cNvPr>
          <p:cNvSpPr>
            <a:spLocks noGrp="1"/>
          </p:cNvSpPr>
          <p:nvPr>
            <p:ph type="title"/>
          </p:nvPr>
        </p:nvSpPr>
        <p:spPr>
          <a:xfrm>
            <a:off x="2231136" y="282388"/>
            <a:ext cx="7729728" cy="1188720"/>
          </a:xfrm>
        </p:spPr>
        <p:txBody>
          <a:bodyPr/>
          <a:lstStyle/>
          <a:p>
            <a:r>
              <a:rPr lang="en-US" dirty="0"/>
              <a:t>Debugging Techniques</a:t>
            </a:r>
          </a:p>
        </p:txBody>
      </p:sp>
      <p:sp>
        <p:nvSpPr>
          <p:cNvPr id="3" name="Content Placeholder 2">
            <a:extLst>
              <a:ext uri="{FF2B5EF4-FFF2-40B4-BE49-F238E27FC236}">
                <a16:creationId xmlns:a16="http://schemas.microsoft.com/office/drawing/2014/main" id="{4C4F4416-D0BF-A1C8-32F7-0CEC92E42B1A}"/>
              </a:ext>
            </a:extLst>
          </p:cNvPr>
          <p:cNvSpPr>
            <a:spLocks noGrp="1"/>
          </p:cNvSpPr>
          <p:nvPr>
            <p:ph idx="1"/>
          </p:nvPr>
        </p:nvSpPr>
        <p:spPr>
          <a:xfrm>
            <a:off x="1760488" y="1871562"/>
            <a:ext cx="9064393" cy="4704050"/>
          </a:xfrm>
        </p:spPr>
        <p:txBody>
          <a:bodyPr>
            <a:normAutofit/>
          </a:bodyPr>
          <a:lstStyle/>
          <a:p>
            <a:r>
              <a:rPr lang="en-US" dirty="0"/>
              <a:t>Debugging by inspection</a:t>
            </a:r>
          </a:p>
          <a:p>
            <a:pPr lvl="1"/>
            <a:r>
              <a:rPr lang="en-US" dirty="0"/>
              <a:t>Sometimes we can look at the code and spot an issue</a:t>
            </a:r>
          </a:p>
          <a:p>
            <a:pPr lvl="1"/>
            <a:r>
              <a:rPr lang="en-US" dirty="0"/>
              <a:t>Print out values that we suspect should be something and determine why they might not be what we expect</a:t>
            </a:r>
          </a:p>
          <a:p>
            <a:pPr lvl="1"/>
            <a:r>
              <a:rPr lang="en-US" dirty="0"/>
              <a:t>Often times we have an error because some data was computed or stored incorrectly at an earlier point and by printing it out we can determine where (and hopefully why) it has deviated</a:t>
            </a:r>
          </a:p>
          <a:p>
            <a:r>
              <a:rPr lang="en-US" dirty="0"/>
              <a:t>Hand tracing code</a:t>
            </a:r>
          </a:p>
          <a:p>
            <a:pPr lvl="1"/>
            <a:r>
              <a:rPr lang="en-US" dirty="0"/>
              <a:t>Simulate the action of the code on paper, track the variables and their expected values and compare against what we are seeing</a:t>
            </a:r>
          </a:p>
          <a:p>
            <a:r>
              <a:rPr lang="en-US" dirty="0"/>
              <a:t>Integrated Debuggers</a:t>
            </a:r>
          </a:p>
          <a:p>
            <a:pPr lvl="1"/>
            <a:r>
              <a:rPr lang="en-US" dirty="0"/>
              <a:t>Programs that allow us to inspect the “state” of the program while it is running</a:t>
            </a:r>
          </a:p>
          <a:p>
            <a:pPr lvl="2"/>
            <a:r>
              <a:rPr lang="en-US" dirty="0"/>
              <a:t>Pause the program at certain lines and advance line by line through the code</a:t>
            </a:r>
          </a:p>
        </p:txBody>
      </p:sp>
    </p:spTree>
    <p:extLst>
      <p:ext uri="{BB962C8B-B14F-4D97-AF65-F5344CB8AC3E}">
        <p14:creationId xmlns:p14="http://schemas.microsoft.com/office/powerpoint/2010/main" val="41633012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186E7B-2176-C4A4-68E2-CC9480308AEB}"/>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2600">
                <a:solidFill>
                  <a:srgbClr val="FFFFFF"/>
                </a:solidFill>
              </a:rPr>
              <a:t>Debugging by Printing</a:t>
            </a:r>
          </a:p>
        </p:txBody>
      </p:sp>
      <p:sp>
        <p:nvSpPr>
          <p:cNvPr id="3" name="Content Placeholder 2">
            <a:extLst>
              <a:ext uri="{FF2B5EF4-FFF2-40B4-BE49-F238E27FC236}">
                <a16:creationId xmlns:a16="http://schemas.microsoft.com/office/drawing/2014/main" id="{1E789B35-B8F7-2C21-D376-432AD3EF7019}"/>
              </a:ext>
            </a:extLst>
          </p:cNvPr>
          <p:cNvSpPr>
            <a:spLocks noGrp="1"/>
          </p:cNvSpPr>
          <p:nvPr>
            <p:ph idx="1"/>
          </p:nvPr>
        </p:nvSpPr>
        <p:spPr>
          <a:xfrm>
            <a:off x="5591695" y="1402080"/>
            <a:ext cx="5320696" cy="4053840"/>
          </a:xfrm>
        </p:spPr>
        <p:txBody>
          <a:bodyPr anchor="ctr">
            <a:normAutofit lnSpcReduction="10000"/>
          </a:bodyPr>
          <a:lstStyle/>
          <a:p>
            <a:pPr>
              <a:buNone/>
            </a:pPr>
            <a:r>
              <a:rPr lang="en-US" i="1" dirty="0">
                <a:solidFill>
                  <a:srgbClr val="8C8C8C"/>
                </a:solidFill>
                <a:latin typeface="JetBrains Mono"/>
              </a:rPr>
              <a:t>#Print off information each time scoring is recorded to see sequence</a:t>
            </a:r>
            <a:br>
              <a:rPr lang="en-US" i="1" dirty="0">
                <a:solidFill>
                  <a:srgbClr val="8C8C8C"/>
                </a:solidFill>
                <a:latin typeface="JetBrains Mono"/>
              </a:rPr>
            </a:br>
            <a:r>
              <a:rPr lang="en-US" dirty="0">
                <a:solidFill>
                  <a:srgbClr val="000080"/>
                </a:solidFill>
                <a:latin typeface="JetBrains Mono"/>
              </a:rPr>
              <a:t>print</a:t>
            </a:r>
            <a:r>
              <a:rPr lang="en-US" dirty="0">
                <a:solidFill>
                  <a:srgbClr val="080808"/>
                </a:solidFill>
                <a:latin typeface="JetBrains Mono"/>
              </a:rPr>
              <a:t>(</a:t>
            </a:r>
            <a:r>
              <a:rPr lang="en-US" dirty="0">
                <a:solidFill>
                  <a:srgbClr val="067D17"/>
                </a:solidFill>
                <a:latin typeface="JetBrains Mono"/>
              </a:rPr>
              <a:t>"Event:"</a:t>
            </a:r>
            <a:r>
              <a:rPr lang="en-US" dirty="0">
                <a:solidFill>
                  <a:srgbClr val="080808"/>
                </a:solidFill>
                <a:latin typeface="JetBrains Mono"/>
              </a:rPr>
              <a:t>, </a:t>
            </a:r>
            <a:r>
              <a:rPr lang="en-US" dirty="0" err="1">
                <a:solidFill>
                  <a:srgbClr val="000000"/>
                </a:solidFill>
                <a:latin typeface="JetBrains Mono"/>
              </a:rPr>
              <a:t>current_player</a:t>
            </a:r>
            <a:r>
              <a:rPr lang="en-US" dirty="0">
                <a:solidFill>
                  <a:srgbClr val="000000"/>
                </a:solidFill>
                <a:latin typeface="JetBrains Mono"/>
              </a:rPr>
              <a:t> </a:t>
            </a:r>
            <a:r>
              <a:rPr lang="en-US" dirty="0">
                <a:solidFill>
                  <a:srgbClr val="080808"/>
                </a:solidFill>
                <a:latin typeface="JetBrains Mono"/>
              </a:rPr>
              <a:t>+ </a:t>
            </a:r>
            <a:r>
              <a:rPr lang="en-US" dirty="0">
                <a:solidFill>
                  <a:srgbClr val="000080"/>
                </a:solidFill>
                <a:latin typeface="JetBrains Mono"/>
              </a:rPr>
              <a:t>str</a:t>
            </a:r>
            <a:r>
              <a:rPr lang="en-US" dirty="0">
                <a:solidFill>
                  <a:srgbClr val="080808"/>
                </a:solidFill>
                <a:latin typeface="JetBrains Mono"/>
              </a:rPr>
              <a:t>(</a:t>
            </a:r>
            <a:r>
              <a:rPr lang="en-US" dirty="0" err="1">
                <a:solidFill>
                  <a:srgbClr val="000000"/>
                </a:solidFill>
                <a:latin typeface="JetBrains Mono"/>
              </a:rPr>
              <a:t>points_scored</a:t>
            </a:r>
            <a:r>
              <a:rPr lang="en-US" dirty="0">
                <a:solidFill>
                  <a:srgbClr val="080808"/>
                </a:solidFill>
                <a:latin typeface="JetBrains Mono"/>
              </a:rPr>
              <a:t>),</a:t>
            </a:r>
            <a:br>
              <a:rPr lang="en-US" dirty="0">
                <a:solidFill>
                  <a:srgbClr val="080808"/>
                </a:solidFill>
                <a:latin typeface="JetBrains Mono"/>
              </a:rPr>
            </a:br>
            <a:r>
              <a:rPr lang="en-US" dirty="0">
                <a:solidFill>
                  <a:srgbClr val="080808"/>
                </a:solidFill>
                <a:latin typeface="JetBrains Mono"/>
              </a:rPr>
              <a:t>      </a:t>
            </a:r>
            <a:r>
              <a:rPr lang="en-US" dirty="0">
                <a:solidFill>
                  <a:srgbClr val="067D17"/>
                </a:solidFill>
                <a:latin typeface="JetBrains Mono"/>
              </a:rPr>
              <a:t>"| Before:"</a:t>
            </a:r>
            <a:r>
              <a:rPr lang="en-US" dirty="0">
                <a:solidFill>
                  <a:srgbClr val="080808"/>
                </a:solidFill>
                <a:latin typeface="JetBrains Mono"/>
              </a:rPr>
              <a:t>, </a:t>
            </a:r>
            <a:r>
              <a:rPr lang="en-US" dirty="0" err="1">
                <a:solidFill>
                  <a:srgbClr val="000000"/>
                </a:solidFill>
                <a:latin typeface="JetBrains Mono"/>
              </a:rPr>
              <a:t>before_a</a:t>
            </a:r>
            <a:r>
              <a:rPr lang="en-US" dirty="0">
                <a:solidFill>
                  <a:srgbClr val="080808"/>
                </a:solidFill>
                <a:latin typeface="JetBrains Mono"/>
              </a:rPr>
              <a:t>, </a:t>
            </a:r>
            <a:r>
              <a:rPr lang="en-US" dirty="0">
                <a:solidFill>
                  <a:srgbClr val="067D17"/>
                </a:solidFill>
                <a:latin typeface="JetBrains Mono"/>
              </a:rPr>
              <a:t>"-"</a:t>
            </a:r>
            <a:r>
              <a:rPr lang="en-US" dirty="0">
                <a:solidFill>
                  <a:srgbClr val="080808"/>
                </a:solidFill>
                <a:latin typeface="JetBrains Mono"/>
              </a:rPr>
              <a:t>, </a:t>
            </a:r>
            <a:r>
              <a:rPr lang="en-US" dirty="0" err="1">
                <a:solidFill>
                  <a:srgbClr val="000000"/>
                </a:solidFill>
                <a:latin typeface="JetBrains Mono"/>
              </a:rPr>
              <a:t>before_b</a:t>
            </a:r>
            <a:r>
              <a:rPr lang="en-US" dirty="0">
                <a:solidFill>
                  <a:srgbClr val="080808"/>
                </a:solidFill>
                <a:latin typeface="JetBrains Mono"/>
              </a:rPr>
              <a:t>,</a:t>
            </a:r>
            <a:br>
              <a:rPr lang="en-US" dirty="0">
                <a:solidFill>
                  <a:srgbClr val="080808"/>
                </a:solidFill>
                <a:latin typeface="JetBrains Mono"/>
              </a:rPr>
            </a:br>
            <a:r>
              <a:rPr lang="en-US" dirty="0">
                <a:solidFill>
                  <a:srgbClr val="080808"/>
                </a:solidFill>
                <a:latin typeface="JetBrains Mono"/>
              </a:rPr>
              <a:t>      </a:t>
            </a:r>
            <a:r>
              <a:rPr lang="en-US" dirty="0">
                <a:solidFill>
                  <a:srgbClr val="067D17"/>
                </a:solidFill>
                <a:latin typeface="JetBrains Mono"/>
              </a:rPr>
              <a:t>"| After:"</a:t>
            </a:r>
            <a:r>
              <a:rPr lang="en-US" dirty="0">
                <a:solidFill>
                  <a:srgbClr val="080808"/>
                </a:solidFill>
                <a:latin typeface="JetBrains Mono"/>
              </a:rPr>
              <a:t>, </a:t>
            </a:r>
            <a:r>
              <a:rPr lang="en-US" dirty="0" err="1">
                <a:solidFill>
                  <a:srgbClr val="000000"/>
                </a:solidFill>
                <a:latin typeface="JetBrains Mono"/>
              </a:rPr>
              <a:t>score_a</a:t>
            </a:r>
            <a:r>
              <a:rPr lang="en-US" dirty="0">
                <a:solidFill>
                  <a:srgbClr val="080808"/>
                </a:solidFill>
                <a:latin typeface="JetBrains Mono"/>
              </a:rPr>
              <a:t>, </a:t>
            </a:r>
            <a:r>
              <a:rPr lang="en-US" dirty="0">
                <a:solidFill>
                  <a:srgbClr val="067D17"/>
                </a:solidFill>
                <a:latin typeface="JetBrains Mono"/>
              </a:rPr>
              <a:t>"-"</a:t>
            </a:r>
            <a:r>
              <a:rPr lang="en-US" dirty="0">
                <a:solidFill>
                  <a:srgbClr val="080808"/>
                </a:solidFill>
                <a:latin typeface="JetBrains Mono"/>
              </a:rPr>
              <a:t>, </a:t>
            </a:r>
            <a:r>
              <a:rPr lang="en-US" dirty="0" err="1">
                <a:solidFill>
                  <a:srgbClr val="000000"/>
                </a:solidFill>
                <a:latin typeface="JetBrains Mono"/>
              </a:rPr>
              <a:t>score_b</a:t>
            </a:r>
            <a:r>
              <a:rPr lang="en-US" dirty="0">
                <a:solidFill>
                  <a:srgbClr val="080808"/>
                </a:solidFill>
                <a:latin typeface="JetBrains Mono"/>
              </a:rPr>
              <a:t>)</a:t>
            </a:r>
            <a:br>
              <a:rPr lang="en-US" dirty="0">
                <a:solidFill>
                  <a:srgbClr val="080808"/>
                </a:solidFill>
                <a:latin typeface="JetBrains Mono"/>
              </a:rPr>
            </a:br>
            <a:br>
              <a:rPr lang="en-US" dirty="0">
                <a:solidFill>
                  <a:srgbClr val="080808"/>
                </a:solidFill>
                <a:latin typeface="JetBrains Mono"/>
              </a:rPr>
            </a:br>
            <a:r>
              <a:rPr lang="en-US" i="1" dirty="0">
                <a:solidFill>
                  <a:srgbClr val="8C8C8C"/>
                </a:solidFill>
                <a:latin typeface="JetBrains Mono"/>
              </a:rPr>
              <a:t># Watch the first time someone hits 11+</a:t>
            </a:r>
            <a:br>
              <a:rPr lang="en-US" i="1" dirty="0">
                <a:solidFill>
                  <a:srgbClr val="8C8C8C"/>
                </a:solidFill>
                <a:latin typeface="JetBrains Mono"/>
              </a:rPr>
            </a:br>
            <a:r>
              <a:rPr lang="en-US" dirty="0">
                <a:solidFill>
                  <a:srgbClr val="0033B3"/>
                </a:solidFill>
                <a:latin typeface="JetBrains Mono"/>
              </a:rPr>
              <a:t>if </a:t>
            </a:r>
            <a:r>
              <a:rPr lang="en-US" dirty="0" err="1">
                <a:solidFill>
                  <a:srgbClr val="000000"/>
                </a:solidFill>
                <a:latin typeface="JetBrains Mono"/>
              </a:rPr>
              <a:t>score_a</a:t>
            </a:r>
            <a:r>
              <a:rPr lang="en-US" dirty="0">
                <a:solidFill>
                  <a:srgbClr val="000000"/>
                </a:solidFill>
                <a:latin typeface="JetBrains Mono"/>
              </a:rPr>
              <a:t> </a:t>
            </a:r>
            <a:r>
              <a:rPr lang="en-US" dirty="0">
                <a:solidFill>
                  <a:srgbClr val="080808"/>
                </a:solidFill>
                <a:latin typeface="JetBrains Mono"/>
              </a:rPr>
              <a:t>&gt;= </a:t>
            </a:r>
            <a:r>
              <a:rPr lang="en-US" dirty="0">
                <a:solidFill>
                  <a:srgbClr val="1750EB"/>
                </a:solidFill>
                <a:latin typeface="JetBrains Mono"/>
              </a:rPr>
              <a:t>11 </a:t>
            </a:r>
            <a:r>
              <a:rPr lang="en-US" dirty="0">
                <a:solidFill>
                  <a:srgbClr val="0033B3"/>
                </a:solidFill>
                <a:latin typeface="JetBrains Mono"/>
              </a:rPr>
              <a:t>or </a:t>
            </a:r>
            <a:r>
              <a:rPr lang="en-US" dirty="0" err="1">
                <a:solidFill>
                  <a:srgbClr val="000000"/>
                </a:solidFill>
                <a:latin typeface="JetBrains Mono"/>
              </a:rPr>
              <a:t>score_b</a:t>
            </a:r>
            <a:r>
              <a:rPr lang="en-US" dirty="0">
                <a:solidFill>
                  <a:srgbClr val="000000"/>
                </a:solidFill>
                <a:latin typeface="JetBrains Mono"/>
              </a:rPr>
              <a:t> </a:t>
            </a:r>
            <a:r>
              <a:rPr lang="en-US" dirty="0">
                <a:solidFill>
                  <a:srgbClr val="080808"/>
                </a:solidFill>
                <a:latin typeface="JetBrains Mono"/>
              </a:rPr>
              <a:t>&gt;= </a:t>
            </a:r>
            <a:r>
              <a:rPr lang="en-US" dirty="0">
                <a:solidFill>
                  <a:srgbClr val="1750EB"/>
                </a:solidFill>
                <a:latin typeface="JetBrains Mono"/>
              </a:rPr>
              <a:t>11</a:t>
            </a:r>
            <a:r>
              <a:rPr lang="en-US" dirty="0">
                <a:solidFill>
                  <a:srgbClr val="080808"/>
                </a:solidFill>
                <a:latin typeface="JetBrains Mono"/>
              </a:rPr>
              <a:t>:</a:t>
            </a:r>
            <a:br>
              <a:rPr lang="en-US" dirty="0">
                <a:solidFill>
                  <a:srgbClr val="080808"/>
                </a:solidFill>
                <a:latin typeface="JetBrains Mono"/>
              </a:rPr>
            </a:br>
            <a:r>
              <a:rPr lang="en-US" dirty="0">
                <a:solidFill>
                  <a:srgbClr val="080808"/>
                </a:solidFill>
                <a:latin typeface="JetBrains Mono"/>
              </a:rPr>
              <a:t>    </a:t>
            </a:r>
            <a:r>
              <a:rPr lang="en-US" dirty="0">
                <a:solidFill>
                  <a:srgbClr val="000000"/>
                </a:solidFill>
                <a:latin typeface="JetBrains Mono"/>
              </a:rPr>
              <a:t>lead </a:t>
            </a:r>
            <a:r>
              <a:rPr lang="en-US" dirty="0">
                <a:solidFill>
                  <a:srgbClr val="080808"/>
                </a:solidFill>
                <a:latin typeface="JetBrains Mono"/>
              </a:rPr>
              <a:t>= </a:t>
            </a:r>
            <a:r>
              <a:rPr lang="en-US" dirty="0" err="1">
                <a:solidFill>
                  <a:srgbClr val="000000"/>
                </a:solidFill>
                <a:latin typeface="JetBrains Mono"/>
              </a:rPr>
              <a:t>score_a</a:t>
            </a:r>
            <a:r>
              <a:rPr lang="en-US" dirty="0">
                <a:solidFill>
                  <a:srgbClr val="000000"/>
                </a:solidFill>
                <a:latin typeface="JetBrains Mono"/>
              </a:rPr>
              <a:t> </a:t>
            </a:r>
            <a:r>
              <a:rPr lang="en-US" dirty="0">
                <a:solidFill>
                  <a:srgbClr val="080808"/>
                </a:solidFill>
                <a:latin typeface="JetBrains Mono"/>
              </a:rPr>
              <a:t>- </a:t>
            </a:r>
            <a:r>
              <a:rPr lang="en-US" dirty="0" err="1">
                <a:solidFill>
                  <a:srgbClr val="000000"/>
                </a:solidFill>
                <a:latin typeface="JetBrains Mono"/>
              </a:rPr>
              <a:t>score_b</a:t>
            </a:r>
            <a:r>
              <a:rPr lang="en-US" dirty="0">
                <a:solidFill>
                  <a:srgbClr val="000000"/>
                </a:solidFill>
                <a:latin typeface="JetBrains Mono"/>
              </a:rPr>
              <a:t> </a:t>
            </a:r>
            <a:r>
              <a:rPr lang="en-US" dirty="0">
                <a:solidFill>
                  <a:srgbClr val="0033B3"/>
                </a:solidFill>
                <a:latin typeface="JetBrains Mono"/>
              </a:rPr>
              <a:t>if </a:t>
            </a:r>
            <a:r>
              <a:rPr lang="en-US" dirty="0" err="1">
                <a:solidFill>
                  <a:srgbClr val="000000"/>
                </a:solidFill>
                <a:latin typeface="JetBrains Mono"/>
              </a:rPr>
              <a:t>score_a</a:t>
            </a:r>
            <a:r>
              <a:rPr lang="en-US" dirty="0">
                <a:solidFill>
                  <a:srgbClr val="000000"/>
                </a:solidFill>
                <a:latin typeface="JetBrains Mono"/>
              </a:rPr>
              <a:t> </a:t>
            </a:r>
            <a:r>
              <a:rPr lang="en-US" dirty="0">
                <a:solidFill>
                  <a:srgbClr val="080808"/>
                </a:solidFill>
                <a:latin typeface="JetBrains Mono"/>
              </a:rPr>
              <a:t>&gt;= </a:t>
            </a:r>
            <a:r>
              <a:rPr lang="en-US" dirty="0" err="1">
                <a:solidFill>
                  <a:srgbClr val="000000"/>
                </a:solidFill>
                <a:latin typeface="JetBrains Mono"/>
              </a:rPr>
              <a:t>score_b</a:t>
            </a:r>
            <a:r>
              <a:rPr lang="en-US" dirty="0">
                <a:solidFill>
                  <a:srgbClr val="000000"/>
                </a:solidFill>
                <a:latin typeface="JetBrains Mono"/>
              </a:rPr>
              <a:t> </a:t>
            </a:r>
            <a:r>
              <a:rPr lang="en-US" dirty="0">
                <a:solidFill>
                  <a:srgbClr val="0033B3"/>
                </a:solidFill>
                <a:latin typeface="JetBrains Mono"/>
              </a:rPr>
              <a:t>else </a:t>
            </a:r>
            <a:r>
              <a:rPr lang="en-US" dirty="0" err="1">
                <a:solidFill>
                  <a:srgbClr val="000000"/>
                </a:solidFill>
                <a:latin typeface="JetBrains Mono"/>
              </a:rPr>
              <a:t>score_b</a:t>
            </a:r>
            <a:r>
              <a:rPr lang="en-US" dirty="0">
                <a:solidFill>
                  <a:srgbClr val="000000"/>
                </a:solidFill>
                <a:latin typeface="JetBrains Mono"/>
              </a:rPr>
              <a:t> </a:t>
            </a:r>
            <a:r>
              <a:rPr lang="en-US" dirty="0">
                <a:solidFill>
                  <a:srgbClr val="080808"/>
                </a:solidFill>
                <a:latin typeface="JetBrains Mono"/>
              </a:rPr>
              <a:t>- </a:t>
            </a:r>
            <a:r>
              <a:rPr lang="en-US" dirty="0" err="1">
                <a:solidFill>
                  <a:srgbClr val="000000"/>
                </a:solidFill>
                <a:latin typeface="JetBrains Mono"/>
              </a:rPr>
              <a:t>score_a</a:t>
            </a:r>
            <a:br>
              <a:rPr lang="en-US" dirty="0">
                <a:solidFill>
                  <a:srgbClr val="000000"/>
                </a:solidFill>
                <a:latin typeface="JetBrains Mono"/>
              </a:rPr>
            </a:br>
            <a:r>
              <a:rPr lang="en-US" dirty="0">
                <a:solidFill>
                  <a:srgbClr val="000000"/>
                </a:solidFill>
                <a:latin typeface="JetBrains Mono"/>
              </a:rPr>
              <a:t>    </a:t>
            </a:r>
            <a:r>
              <a:rPr lang="en-US" dirty="0">
                <a:solidFill>
                  <a:srgbClr val="000080"/>
                </a:solidFill>
                <a:latin typeface="JetBrains Mono"/>
              </a:rPr>
              <a:t>print</a:t>
            </a:r>
            <a:r>
              <a:rPr lang="en-US" dirty="0">
                <a:solidFill>
                  <a:srgbClr val="080808"/>
                </a:solidFill>
                <a:latin typeface="JetBrains Mono"/>
              </a:rPr>
              <a:t>(</a:t>
            </a:r>
            <a:r>
              <a:rPr lang="en-US" dirty="0">
                <a:solidFill>
                  <a:srgbClr val="067D17"/>
                </a:solidFill>
                <a:latin typeface="JetBrains Mono"/>
              </a:rPr>
              <a:t>"Reached 11+; lead is"</a:t>
            </a:r>
            <a:r>
              <a:rPr lang="en-US" dirty="0">
                <a:solidFill>
                  <a:srgbClr val="080808"/>
                </a:solidFill>
                <a:latin typeface="JetBrains Mono"/>
              </a:rPr>
              <a:t>, </a:t>
            </a:r>
            <a:r>
              <a:rPr lang="en-US" dirty="0">
                <a:solidFill>
                  <a:srgbClr val="000000"/>
                </a:solidFill>
                <a:latin typeface="JetBrains Mono"/>
              </a:rPr>
              <a:t>lead</a:t>
            </a:r>
            <a:r>
              <a:rPr lang="en-US" dirty="0">
                <a:solidFill>
                  <a:srgbClr val="080808"/>
                </a:solidFill>
                <a:latin typeface="JetBrains Mono"/>
              </a:rPr>
              <a:t>, </a:t>
            </a:r>
            <a:r>
              <a:rPr lang="en-US" dirty="0">
                <a:solidFill>
                  <a:srgbClr val="067D17"/>
                </a:solidFill>
                <a:latin typeface="JetBrains Mono"/>
              </a:rPr>
              <a:t>"→ returning NOW (this is the bug)"</a:t>
            </a:r>
            <a:r>
              <a:rPr lang="en-US" dirty="0">
                <a:solidFill>
                  <a:srgbClr val="080808"/>
                </a:solidFill>
                <a:latin typeface="JetBrains Mono"/>
              </a:rPr>
              <a:t>)</a:t>
            </a:r>
            <a:br>
              <a:rPr lang="en-US" dirty="0">
                <a:solidFill>
                  <a:srgbClr val="080808"/>
                </a:solidFill>
                <a:latin typeface="JetBrains Mono"/>
              </a:rPr>
            </a:br>
            <a:r>
              <a:rPr lang="en-US" dirty="0">
                <a:solidFill>
                  <a:srgbClr val="080808"/>
                </a:solidFill>
                <a:latin typeface="JetBrains Mono"/>
              </a:rPr>
              <a:t>    </a:t>
            </a:r>
            <a:r>
              <a:rPr lang="en-US" dirty="0">
                <a:solidFill>
                  <a:srgbClr val="0033B3"/>
                </a:solidFill>
                <a:latin typeface="JetBrains Mono"/>
              </a:rPr>
              <a:t>if </a:t>
            </a:r>
            <a:r>
              <a:rPr lang="en-US" dirty="0" err="1">
                <a:solidFill>
                  <a:srgbClr val="000000"/>
                </a:solidFill>
                <a:latin typeface="JetBrains Mono"/>
              </a:rPr>
              <a:t>score_a</a:t>
            </a:r>
            <a:r>
              <a:rPr lang="en-US" dirty="0">
                <a:solidFill>
                  <a:srgbClr val="000000"/>
                </a:solidFill>
                <a:latin typeface="JetBrains Mono"/>
              </a:rPr>
              <a:t> </a:t>
            </a:r>
            <a:r>
              <a:rPr lang="en-US" dirty="0">
                <a:solidFill>
                  <a:srgbClr val="080808"/>
                </a:solidFill>
                <a:latin typeface="JetBrains Mono"/>
              </a:rPr>
              <a:t>&gt; </a:t>
            </a:r>
            <a:r>
              <a:rPr lang="en-US" dirty="0" err="1">
                <a:solidFill>
                  <a:srgbClr val="000000"/>
                </a:solidFill>
                <a:latin typeface="JetBrains Mono"/>
              </a:rPr>
              <a:t>score_b</a:t>
            </a:r>
            <a:r>
              <a:rPr lang="en-US" dirty="0">
                <a:solidFill>
                  <a:srgbClr val="080808"/>
                </a:solidFill>
                <a:latin typeface="JetBrains Mono"/>
              </a:rPr>
              <a:t>:</a:t>
            </a:r>
            <a:br>
              <a:rPr lang="en-US" dirty="0">
                <a:solidFill>
                  <a:srgbClr val="080808"/>
                </a:solidFill>
                <a:latin typeface="JetBrains Mono"/>
              </a:rPr>
            </a:br>
            <a:r>
              <a:rPr lang="en-US" dirty="0">
                <a:solidFill>
                  <a:srgbClr val="080808"/>
                </a:solidFill>
                <a:latin typeface="JetBrains Mono"/>
              </a:rPr>
              <a:t>        </a:t>
            </a:r>
            <a:r>
              <a:rPr lang="en-US" dirty="0">
                <a:solidFill>
                  <a:srgbClr val="0033B3"/>
                </a:solidFill>
                <a:latin typeface="JetBrains Mono"/>
              </a:rPr>
              <a:t>return </a:t>
            </a:r>
            <a:r>
              <a:rPr lang="en-US" dirty="0">
                <a:solidFill>
                  <a:srgbClr val="067D17"/>
                </a:solidFill>
                <a:latin typeface="JetBrains Mono"/>
              </a:rPr>
              <a:t>"A"</a:t>
            </a:r>
            <a:br>
              <a:rPr lang="en-US" dirty="0">
                <a:solidFill>
                  <a:srgbClr val="067D17"/>
                </a:solidFill>
                <a:latin typeface="JetBrains Mono"/>
              </a:rPr>
            </a:br>
            <a:r>
              <a:rPr lang="en-US" dirty="0">
                <a:solidFill>
                  <a:srgbClr val="067D17"/>
                </a:solidFill>
                <a:latin typeface="JetBrains Mono"/>
              </a:rPr>
              <a:t>    </a:t>
            </a:r>
            <a:r>
              <a:rPr lang="en-US" dirty="0">
                <a:solidFill>
                  <a:srgbClr val="0033B3"/>
                </a:solidFill>
                <a:latin typeface="JetBrains Mono"/>
              </a:rPr>
              <a:t>else</a:t>
            </a:r>
            <a:r>
              <a:rPr lang="en-US" dirty="0">
                <a:solidFill>
                  <a:srgbClr val="080808"/>
                </a:solidFill>
                <a:latin typeface="JetBrains Mono"/>
              </a:rPr>
              <a:t>:</a:t>
            </a:r>
            <a:br>
              <a:rPr lang="en-US" dirty="0">
                <a:solidFill>
                  <a:srgbClr val="080808"/>
                </a:solidFill>
                <a:latin typeface="JetBrains Mono"/>
              </a:rPr>
            </a:br>
            <a:r>
              <a:rPr lang="en-US" dirty="0">
                <a:solidFill>
                  <a:srgbClr val="080808"/>
                </a:solidFill>
                <a:latin typeface="JetBrains Mono"/>
              </a:rPr>
              <a:t>        </a:t>
            </a:r>
            <a:r>
              <a:rPr lang="en-US" dirty="0">
                <a:solidFill>
                  <a:srgbClr val="0033B3"/>
                </a:solidFill>
                <a:latin typeface="JetBrains Mono"/>
              </a:rPr>
              <a:t>return </a:t>
            </a:r>
            <a:r>
              <a:rPr lang="en-US" dirty="0">
                <a:solidFill>
                  <a:srgbClr val="067D17"/>
                </a:solidFill>
                <a:latin typeface="JetBrains Mono"/>
              </a:rPr>
              <a:t>"B"</a:t>
            </a:r>
            <a:endParaRPr lang="en-US" dirty="0">
              <a:solidFill>
                <a:srgbClr val="080808"/>
              </a:solidFill>
              <a:latin typeface="JetBrains Mono"/>
            </a:endParaRPr>
          </a:p>
        </p:txBody>
      </p:sp>
    </p:spTree>
    <p:extLst>
      <p:ext uri="{BB962C8B-B14F-4D97-AF65-F5344CB8AC3E}">
        <p14:creationId xmlns:p14="http://schemas.microsoft.com/office/powerpoint/2010/main" val="5378770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0C2391-8004-0153-3ED3-E5C5AEBD683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2C6C0E-2A05-762D-0B25-F3C49342E387}"/>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a:solidFill>
                  <a:srgbClr val="FFFFFF"/>
                </a:solidFill>
              </a:rPr>
              <a:t>Identify the Bug</a:t>
            </a:r>
          </a:p>
        </p:txBody>
      </p:sp>
      <p:sp>
        <p:nvSpPr>
          <p:cNvPr id="3" name="Content Placeholder 2">
            <a:extLst>
              <a:ext uri="{FF2B5EF4-FFF2-40B4-BE49-F238E27FC236}">
                <a16:creationId xmlns:a16="http://schemas.microsoft.com/office/drawing/2014/main" id="{806611B1-8E16-7876-9CCC-C0962215082B}"/>
              </a:ext>
            </a:extLst>
          </p:cNvPr>
          <p:cNvSpPr>
            <a:spLocks noGrp="1"/>
          </p:cNvSpPr>
          <p:nvPr>
            <p:ph idx="1"/>
          </p:nvPr>
        </p:nvSpPr>
        <p:spPr>
          <a:xfrm>
            <a:off x="5591695" y="138897"/>
            <a:ext cx="5320696" cy="6319776"/>
          </a:xfrm>
        </p:spPr>
        <p:txBody>
          <a:bodyPr anchor="ctr">
            <a:normAutofit fontScale="77500" lnSpcReduction="20000"/>
          </a:bodyPr>
          <a:lstStyle/>
          <a:p>
            <a:pPr>
              <a:lnSpc>
                <a:spcPct val="90000"/>
              </a:lnSpc>
            </a:pPr>
            <a:r>
              <a:rPr lang="en-US" dirty="0">
                <a:latin typeface="JetBrains Mono"/>
              </a:rPr>
              <a:t>Here is the printout – we have learned that the problem (as suspected) is happening when someone has 11-10 for the first time. </a:t>
            </a:r>
          </a:p>
          <a:p>
            <a:pPr lvl="1">
              <a:lnSpc>
                <a:spcPct val="90000"/>
              </a:lnSpc>
              <a:buNone/>
            </a:pPr>
            <a:r>
              <a:rPr lang="en-US" dirty="0">
                <a:latin typeface="JetBrains Mono"/>
              </a:rPr>
              <a:t>Event: A1 | Before: 0 - 0 | After: 1 - 0</a:t>
            </a:r>
          </a:p>
          <a:p>
            <a:pPr lvl="1">
              <a:lnSpc>
                <a:spcPct val="90000"/>
              </a:lnSpc>
              <a:buNone/>
            </a:pPr>
            <a:r>
              <a:rPr lang="en-US" dirty="0">
                <a:latin typeface="JetBrains Mono"/>
              </a:rPr>
              <a:t>Event: B1 | Before: 1 - 0 | After: 1 - 1</a:t>
            </a:r>
          </a:p>
          <a:p>
            <a:pPr lvl="1">
              <a:lnSpc>
                <a:spcPct val="90000"/>
              </a:lnSpc>
              <a:buNone/>
            </a:pPr>
            <a:r>
              <a:rPr lang="en-US" dirty="0">
                <a:latin typeface="JetBrains Mono"/>
              </a:rPr>
              <a:t>Event: A1 | Before: 1 - 1 | After: 2 - 1</a:t>
            </a:r>
          </a:p>
          <a:p>
            <a:pPr lvl="1">
              <a:lnSpc>
                <a:spcPct val="90000"/>
              </a:lnSpc>
              <a:buNone/>
            </a:pPr>
            <a:r>
              <a:rPr lang="en-US" dirty="0">
                <a:latin typeface="JetBrains Mono"/>
              </a:rPr>
              <a:t>Event: B1 | Before: 2 - 1 | After: 2 - 2</a:t>
            </a:r>
          </a:p>
          <a:p>
            <a:pPr lvl="1">
              <a:lnSpc>
                <a:spcPct val="90000"/>
              </a:lnSpc>
              <a:buNone/>
            </a:pPr>
            <a:r>
              <a:rPr lang="en-US" dirty="0">
                <a:latin typeface="JetBrains Mono"/>
              </a:rPr>
              <a:t>Event: A1 | Before: 2 - 2 | After: 3 - 2</a:t>
            </a:r>
          </a:p>
          <a:p>
            <a:pPr lvl="1">
              <a:lnSpc>
                <a:spcPct val="90000"/>
              </a:lnSpc>
              <a:buNone/>
            </a:pPr>
            <a:r>
              <a:rPr lang="en-US" dirty="0">
                <a:latin typeface="JetBrains Mono"/>
              </a:rPr>
              <a:t>Event: B1 | Before: 3 - 2 | After: 3 - 3</a:t>
            </a:r>
          </a:p>
          <a:p>
            <a:pPr lvl="1">
              <a:lnSpc>
                <a:spcPct val="90000"/>
              </a:lnSpc>
              <a:buNone/>
            </a:pPr>
            <a:r>
              <a:rPr lang="en-US" dirty="0">
                <a:latin typeface="JetBrains Mono"/>
              </a:rPr>
              <a:t>Event: A1 | Before: 3 - 3 | After: 4 - 3</a:t>
            </a:r>
          </a:p>
          <a:p>
            <a:pPr lvl="1">
              <a:lnSpc>
                <a:spcPct val="90000"/>
              </a:lnSpc>
              <a:buNone/>
            </a:pPr>
            <a:r>
              <a:rPr lang="en-US" dirty="0">
                <a:latin typeface="JetBrains Mono"/>
              </a:rPr>
              <a:t>Event: B1 | Before: 4 - 3 | After: 4 - 4</a:t>
            </a:r>
          </a:p>
          <a:p>
            <a:pPr lvl="1">
              <a:lnSpc>
                <a:spcPct val="90000"/>
              </a:lnSpc>
              <a:buNone/>
            </a:pPr>
            <a:r>
              <a:rPr lang="en-US" dirty="0">
                <a:latin typeface="JetBrains Mono"/>
              </a:rPr>
              <a:t>Event: A1 | Before: 4 - 4 | After: 5 - 4</a:t>
            </a:r>
          </a:p>
          <a:p>
            <a:pPr lvl="1">
              <a:lnSpc>
                <a:spcPct val="90000"/>
              </a:lnSpc>
              <a:buNone/>
            </a:pPr>
            <a:r>
              <a:rPr lang="en-US" dirty="0">
                <a:latin typeface="JetBrains Mono"/>
              </a:rPr>
              <a:t>Event: B1 | Before: 5 - 4 | After: 5 - 5</a:t>
            </a:r>
          </a:p>
          <a:p>
            <a:pPr lvl="1">
              <a:lnSpc>
                <a:spcPct val="90000"/>
              </a:lnSpc>
              <a:buNone/>
            </a:pPr>
            <a:r>
              <a:rPr lang="en-US" dirty="0">
                <a:latin typeface="JetBrains Mono"/>
              </a:rPr>
              <a:t>Event: A1 | Before: 5 - 5 | After: 6 - 5</a:t>
            </a:r>
          </a:p>
          <a:p>
            <a:pPr lvl="1">
              <a:lnSpc>
                <a:spcPct val="90000"/>
              </a:lnSpc>
              <a:buNone/>
            </a:pPr>
            <a:r>
              <a:rPr lang="en-US" dirty="0">
                <a:latin typeface="JetBrains Mono"/>
              </a:rPr>
              <a:t>Event: B1 | Before: 6 - 5 | After: 6 - 6</a:t>
            </a:r>
          </a:p>
          <a:p>
            <a:pPr lvl="1">
              <a:lnSpc>
                <a:spcPct val="90000"/>
              </a:lnSpc>
              <a:buNone/>
            </a:pPr>
            <a:r>
              <a:rPr lang="en-US" dirty="0">
                <a:latin typeface="JetBrains Mono"/>
              </a:rPr>
              <a:t>Event: A1 | Before: 6 - 6 | After: 7 - 6</a:t>
            </a:r>
          </a:p>
          <a:p>
            <a:pPr lvl="1">
              <a:lnSpc>
                <a:spcPct val="90000"/>
              </a:lnSpc>
              <a:buNone/>
            </a:pPr>
            <a:r>
              <a:rPr lang="en-US" dirty="0">
                <a:latin typeface="JetBrains Mono"/>
              </a:rPr>
              <a:t>Event: B1 | Before: 7 - 6 | After: 7 - 7</a:t>
            </a:r>
          </a:p>
          <a:p>
            <a:pPr lvl="1">
              <a:lnSpc>
                <a:spcPct val="90000"/>
              </a:lnSpc>
              <a:buNone/>
            </a:pPr>
            <a:r>
              <a:rPr lang="en-US" dirty="0">
                <a:latin typeface="JetBrains Mono"/>
              </a:rPr>
              <a:t>Event: A1 | Before: 7 - 7 | After: 8 - 7</a:t>
            </a:r>
          </a:p>
          <a:p>
            <a:pPr lvl="1">
              <a:lnSpc>
                <a:spcPct val="90000"/>
              </a:lnSpc>
              <a:buNone/>
            </a:pPr>
            <a:r>
              <a:rPr lang="en-US" dirty="0">
                <a:latin typeface="JetBrains Mono"/>
              </a:rPr>
              <a:t>Event: B1 | Before: 8 - 7 | After: 8 - 8</a:t>
            </a:r>
          </a:p>
          <a:p>
            <a:pPr lvl="1">
              <a:lnSpc>
                <a:spcPct val="90000"/>
              </a:lnSpc>
              <a:buNone/>
            </a:pPr>
            <a:r>
              <a:rPr lang="en-US" dirty="0">
                <a:latin typeface="JetBrains Mono"/>
              </a:rPr>
              <a:t>Event: A1 | Before: 8 - 8 | After: 9 - 8</a:t>
            </a:r>
          </a:p>
          <a:p>
            <a:pPr lvl="1">
              <a:lnSpc>
                <a:spcPct val="90000"/>
              </a:lnSpc>
              <a:buNone/>
            </a:pPr>
            <a:r>
              <a:rPr lang="en-US" dirty="0">
                <a:latin typeface="JetBrains Mono"/>
              </a:rPr>
              <a:t>Event: B1 | Before: 9 - 8 | After: 9 - 9</a:t>
            </a:r>
          </a:p>
          <a:p>
            <a:pPr lvl="1">
              <a:lnSpc>
                <a:spcPct val="90000"/>
              </a:lnSpc>
              <a:buNone/>
            </a:pPr>
            <a:r>
              <a:rPr lang="en-US" dirty="0">
                <a:latin typeface="JetBrains Mono"/>
              </a:rPr>
              <a:t>Event: A1 | Before: 9 - 9 | After: 10 - 9</a:t>
            </a:r>
          </a:p>
          <a:p>
            <a:pPr lvl="1">
              <a:lnSpc>
                <a:spcPct val="90000"/>
              </a:lnSpc>
              <a:buNone/>
            </a:pPr>
            <a:r>
              <a:rPr lang="en-US" dirty="0">
                <a:latin typeface="JetBrains Mono"/>
              </a:rPr>
              <a:t>Event: B1 | Before: 10 - 9 | After: 10 - 10</a:t>
            </a:r>
          </a:p>
          <a:p>
            <a:pPr lvl="1">
              <a:lnSpc>
                <a:spcPct val="90000"/>
              </a:lnSpc>
              <a:buNone/>
            </a:pPr>
            <a:r>
              <a:rPr lang="en-US" dirty="0">
                <a:latin typeface="JetBrains Mono"/>
              </a:rPr>
              <a:t>Event: A1 | Before: 10 - 10 | After: 11 - 10</a:t>
            </a:r>
          </a:p>
          <a:p>
            <a:pPr lvl="1">
              <a:lnSpc>
                <a:spcPct val="90000"/>
              </a:lnSpc>
              <a:buNone/>
            </a:pPr>
            <a:r>
              <a:rPr lang="en-US" dirty="0">
                <a:latin typeface="JetBrains Mono"/>
              </a:rPr>
              <a:t>Reached 11+; lead is 1 → returning NOW (this is the bug)</a:t>
            </a:r>
          </a:p>
        </p:txBody>
      </p:sp>
    </p:spTree>
    <p:extLst>
      <p:ext uri="{BB962C8B-B14F-4D97-AF65-F5344CB8AC3E}">
        <p14:creationId xmlns:p14="http://schemas.microsoft.com/office/powerpoint/2010/main" val="3291705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83984F-6E20-25C3-33E2-47E546D6381F}"/>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CA" sz="3000" dirty="0">
                <a:solidFill>
                  <a:srgbClr val="FFFFFF"/>
                </a:solidFill>
              </a:rPr>
              <a:t>Correct</a:t>
            </a:r>
            <a:br>
              <a:rPr lang="en-CA" sz="3000" dirty="0">
                <a:solidFill>
                  <a:srgbClr val="FFFFFF"/>
                </a:solidFill>
              </a:rPr>
            </a:br>
            <a:r>
              <a:rPr lang="en-CA" sz="3000" dirty="0">
                <a:solidFill>
                  <a:srgbClr val="FFFFFF"/>
                </a:solidFill>
              </a:rPr>
              <a:t>the bug</a:t>
            </a:r>
          </a:p>
        </p:txBody>
      </p:sp>
      <p:sp>
        <p:nvSpPr>
          <p:cNvPr id="3" name="Content Placeholder 2">
            <a:extLst>
              <a:ext uri="{FF2B5EF4-FFF2-40B4-BE49-F238E27FC236}">
                <a16:creationId xmlns:a16="http://schemas.microsoft.com/office/drawing/2014/main" id="{AE80F4AB-C585-35E5-36F1-A1DB599BD91F}"/>
              </a:ext>
            </a:extLst>
          </p:cNvPr>
          <p:cNvSpPr>
            <a:spLocks noGrp="1"/>
          </p:cNvSpPr>
          <p:nvPr>
            <p:ph idx="1"/>
          </p:nvPr>
        </p:nvSpPr>
        <p:spPr>
          <a:xfrm>
            <a:off x="5591695" y="428263"/>
            <a:ext cx="5320696" cy="6041985"/>
          </a:xfrm>
        </p:spPr>
        <p:txBody>
          <a:bodyPr anchor="ctr">
            <a:normAutofit fontScale="85000" lnSpcReduction="20000"/>
          </a:bodyPr>
          <a:lstStyle/>
          <a:p>
            <a:pPr>
              <a:buNone/>
            </a:pPr>
            <a:r>
              <a:rPr lang="en-US" dirty="0">
                <a:solidFill>
                  <a:srgbClr val="0033B3"/>
                </a:solidFill>
                <a:latin typeface="JetBrains Mono"/>
              </a:rPr>
              <a:t>def </a:t>
            </a:r>
            <a:r>
              <a:rPr lang="en-US" dirty="0" err="1">
                <a:solidFill>
                  <a:srgbClr val="00627A"/>
                </a:solidFill>
                <a:latin typeface="JetBrains Mono"/>
              </a:rPr>
              <a:t>get_winner_fixed</a:t>
            </a:r>
            <a:r>
              <a:rPr lang="en-US" dirty="0">
                <a:solidFill>
                  <a:srgbClr val="080808"/>
                </a:solidFill>
                <a:latin typeface="JetBrains Mono"/>
              </a:rPr>
              <a:t>(</a:t>
            </a:r>
            <a:r>
              <a:rPr lang="en-US" dirty="0" err="1">
                <a:solidFill>
                  <a:srgbClr val="000000"/>
                </a:solidFill>
                <a:latin typeface="JetBrains Mono"/>
              </a:rPr>
              <a:t>scoring_sequence</a:t>
            </a:r>
            <a:r>
              <a:rPr lang="en-US" dirty="0">
                <a:solidFill>
                  <a:srgbClr val="080808"/>
                </a:solidFill>
                <a:latin typeface="JetBrains Mono"/>
              </a:rPr>
              <a:t>):</a:t>
            </a:r>
            <a:br>
              <a:rPr lang="en-US" dirty="0">
                <a:solidFill>
                  <a:srgbClr val="080808"/>
                </a:solidFill>
                <a:latin typeface="JetBrains Mono"/>
              </a:rPr>
            </a:br>
            <a:r>
              <a:rPr lang="en-US" dirty="0">
                <a:solidFill>
                  <a:srgbClr val="080808"/>
                </a:solidFill>
                <a:latin typeface="JetBrains Mono"/>
              </a:rPr>
              <a:t>    </a:t>
            </a:r>
            <a:r>
              <a:rPr lang="en-US" dirty="0" err="1">
                <a:solidFill>
                  <a:srgbClr val="000000"/>
                </a:solidFill>
                <a:latin typeface="JetBrains Mono"/>
              </a:rPr>
              <a:t>score_a</a:t>
            </a:r>
            <a:r>
              <a:rPr lang="en-US" dirty="0">
                <a:solidFill>
                  <a:srgbClr val="000000"/>
                </a:solidFill>
                <a:latin typeface="JetBrains Mono"/>
              </a:rPr>
              <a:t> </a:t>
            </a:r>
            <a:r>
              <a:rPr lang="en-US" dirty="0">
                <a:solidFill>
                  <a:srgbClr val="080808"/>
                </a:solidFill>
                <a:latin typeface="JetBrains Mono"/>
              </a:rPr>
              <a:t>= </a:t>
            </a:r>
            <a:r>
              <a:rPr lang="en-US" dirty="0">
                <a:solidFill>
                  <a:srgbClr val="1750EB"/>
                </a:solidFill>
                <a:latin typeface="JetBrains Mono"/>
              </a:rPr>
              <a:t>0</a:t>
            </a:r>
            <a:br>
              <a:rPr lang="en-US" dirty="0">
                <a:solidFill>
                  <a:srgbClr val="1750EB"/>
                </a:solidFill>
                <a:latin typeface="JetBrains Mono"/>
              </a:rPr>
            </a:br>
            <a:r>
              <a:rPr lang="en-US" dirty="0">
                <a:solidFill>
                  <a:srgbClr val="1750EB"/>
                </a:solidFill>
                <a:latin typeface="JetBrains Mono"/>
              </a:rPr>
              <a:t>    </a:t>
            </a:r>
            <a:r>
              <a:rPr lang="en-US" dirty="0" err="1">
                <a:solidFill>
                  <a:srgbClr val="000000"/>
                </a:solidFill>
                <a:latin typeface="JetBrains Mono"/>
              </a:rPr>
              <a:t>score_b</a:t>
            </a:r>
            <a:r>
              <a:rPr lang="en-US" dirty="0">
                <a:solidFill>
                  <a:srgbClr val="000000"/>
                </a:solidFill>
                <a:latin typeface="JetBrains Mono"/>
              </a:rPr>
              <a:t> </a:t>
            </a:r>
            <a:r>
              <a:rPr lang="en-US" dirty="0">
                <a:solidFill>
                  <a:srgbClr val="080808"/>
                </a:solidFill>
                <a:latin typeface="JetBrains Mono"/>
              </a:rPr>
              <a:t>= </a:t>
            </a:r>
            <a:r>
              <a:rPr lang="en-US" dirty="0">
                <a:solidFill>
                  <a:srgbClr val="1750EB"/>
                </a:solidFill>
                <a:latin typeface="JetBrains Mono"/>
              </a:rPr>
              <a:t>0</a:t>
            </a:r>
            <a:br>
              <a:rPr lang="en-US" dirty="0">
                <a:solidFill>
                  <a:srgbClr val="1750EB"/>
                </a:solidFill>
                <a:latin typeface="JetBrains Mono"/>
              </a:rPr>
            </a:br>
            <a:r>
              <a:rPr lang="en-US" dirty="0">
                <a:solidFill>
                  <a:srgbClr val="1750EB"/>
                </a:solidFill>
                <a:latin typeface="JetBrains Mono"/>
              </a:rPr>
              <a:t>    </a:t>
            </a:r>
            <a:r>
              <a:rPr lang="en-US" dirty="0">
                <a:solidFill>
                  <a:srgbClr val="000000"/>
                </a:solidFill>
                <a:latin typeface="JetBrains Mono"/>
              </a:rPr>
              <a:t>index </a:t>
            </a:r>
            <a:r>
              <a:rPr lang="en-US" dirty="0">
                <a:solidFill>
                  <a:srgbClr val="080808"/>
                </a:solidFill>
                <a:latin typeface="JetBrains Mono"/>
              </a:rPr>
              <a:t>= </a:t>
            </a:r>
            <a:r>
              <a:rPr lang="en-US" dirty="0">
                <a:solidFill>
                  <a:srgbClr val="1750EB"/>
                </a:solidFill>
                <a:latin typeface="JetBrains Mono"/>
              </a:rPr>
              <a:t>0</a:t>
            </a:r>
            <a:br>
              <a:rPr lang="en-US" dirty="0">
                <a:solidFill>
                  <a:srgbClr val="1750EB"/>
                </a:solidFill>
                <a:latin typeface="JetBrains Mono"/>
              </a:rPr>
            </a:br>
            <a:br>
              <a:rPr lang="en-US" dirty="0">
                <a:solidFill>
                  <a:srgbClr val="1750EB"/>
                </a:solidFill>
                <a:latin typeface="JetBrains Mono"/>
              </a:rPr>
            </a:br>
            <a:r>
              <a:rPr lang="en-US" dirty="0">
                <a:solidFill>
                  <a:srgbClr val="1750EB"/>
                </a:solidFill>
                <a:latin typeface="JetBrains Mono"/>
              </a:rPr>
              <a:t>    </a:t>
            </a:r>
            <a:r>
              <a:rPr lang="en-US" dirty="0">
                <a:solidFill>
                  <a:srgbClr val="0033B3"/>
                </a:solidFill>
                <a:latin typeface="JetBrains Mono"/>
              </a:rPr>
              <a:t>while </a:t>
            </a:r>
            <a:r>
              <a:rPr lang="en-US" dirty="0">
                <a:solidFill>
                  <a:srgbClr val="000000"/>
                </a:solidFill>
                <a:latin typeface="JetBrains Mono"/>
              </a:rPr>
              <a:t>index </a:t>
            </a:r>
            <a:r>
              <a:rPr lang="en-US" dirty="0">
                <a:solidFill>
                  <a:srgbClr val="080808"/>
                </a:solidFill>
                <a:latin typeface="JetBrains Mono"/>
              </a:rPr>
              <a:t>&lt; </a:t>
            </a:r>
            <a:r>
              <a:rPr lang="en-US" dirty="0" err="1">
                <a:solidFill>
                  <a:srgbClr val="000080"/>
                </a:solidFill>
                <a:latin typeface="JetBrains Mono"/>
              </a:rPr>
              <a:t>len</a:t>
            </a:r>
            <a:r>
              <a:rPr lang="en-US" dirty="0">
                <a:solidFill>
                  <a:srgbClr val="080808"/>
                </a:solidFill>
                <a:latin typeface="JetBrains Mono"/>
              </a:rPr>
              <a:t>(</a:t>
            </a:r>
            <a:r>
              <a:rPr lang="en-US" dirty="0" err="1">
                <a:solidFill>
                  <a:srgbClr val="000000"/>
                </a:solidFill>
                <a:latin typeface="JetBrains Mono"/>
              </a:rPr>
              <a:t>scoring_sequence</a:t>
            </a:r>
            <a:r>
              <a:rPr lang="en-US" dirty="0">
                <a:solidFill>
                  <a:srgbClr val="080808"/>
                </a:solidFill>
                <a:latin typeface="JetBrains Mono"/>
              </a:rPr>
              <a:t>):</a:t>
            </a:r>
            <a:br>
              <a:rPr lang="en-US" dirty="0">
                <a:solidFill>
                  <a:srgbClr val="080808"/>
                </a:solidFill>
                <a:latin typeface="JetBrains Mono"/>
              </a:rPr>
            </a:br>
            <a:r>
              <a:rPr lang="en-US" dirty="0">
                <a:solidFill>
                  <a:srgbClr val="080808"/>
                </a:solidFill>
                <a:latin typeface="JetBrains Mono"/>
              </a:rPr>
              <a:t>        </a:t>
            </a:r>
            <a:r>
              <a:rPr lang="en-US" dirty="0" err="1">
                <a:solidFill>
                  <a:srgbClr val="000000"/>
                </a:solidFill>
                <a:latin typeface="JetBrains Mono"/>
              </a:rPr>
              <a:t>current_player</a:t>
            </a:r>
            <a:r>
              <a:rPr lang="en-US" dirty="0">
                <a:solidFill>
                  <a:srgbClr val="000000"/>
                </a:solidFill>
                <a:latin typeface="JetBrains Mono"/>
              </a:rPr>
              <a:t> </a:t>
            </a:r>
            <a:r>
              <a:rPr lang="en-US" dirty="0">
                <a:solidFill>
                  <a:srgbClr val="080808"/>
                </a:solidFill>
                <a:latin typeface="JetBrains Mono"/>
              </a:rPr>
              <a:t>= </a:t>
            </a:r>
            <a:r>
              <a:rPr lang="en-US" dirty="0" err="1">
                <a:solidFill>
                  <a:srgbClr val="000000"/>
                </a:solidFill>
                <a:latin typeface="JetBrains Mono"/>
              </a:rPr>
              <a:t>scoring_sequence</a:t>
            </a:r>
            <a:r>
              <a:rPr lang="en-US" dirty="0">
                <a:solidFill>
                  <a:srgbClr val="080808"/>
                </a:solidFill>
                <a:latin typeface="JetBrains Mono"/>
              </a:rPr>
              <a:t>[</a:t>
            </a:r>
            <a:r>
              <a:rPr lang="en-US" dirty="0">
                <a:solidFill>
                  <a:srgbClr val="000000"/>
                </a:solidFill>
                <a:latin typeface="JetBrains Mono"/>
              </a:rPr>
              <a:t>index</a:t>
            </a:r>
            <a:r>
              <a:rPr lang="en-US" dirty="0">
                <a:solidFill>
                  <a:srgbClr val="080808"/>
                </a:solidFill>
                <a:latin typeface="JetBrains Mono"/>
              </a:rPr>
              <a:t>]</a:t>
            </a:r>
            <a:br>
              <a:rPr lang="en-US" dirty="0">
                <a:solidFill>
                  <a:srgbClr val="080808"/>
                </a:solidFill>
                <a:latin typeface="JetBrains Mono"/>
              </a:rPr>
            </a:br>
            <a:r>
              <a:rPr lang="en-US" dirty="0">
                <a:solidFill>
                  <a:srgbClr val="080808"/>
                </a:solidFill>
                <a:latin typeface="JetBrains Mono"/>
              </a:rPr>
              <a:t>        </a:t>
            </a:r>
            <a:r>
              <a:rPr lang="en-US" dirty="0" err="1">
                <a:solidFill>
                  <a:srgbClr val="000000"/>
                </a:solidFill>
                <a:latin typeface="JetBrains Mono"/>
              </a:rPr>
              <a:t>points_scored</a:t>
            </a:r>
            <a:r>
              <a:rPr lang="en-US" dirty="0">
                <a:solidFill>
                  <a:srgbClr val="000000"/>
                </a:solidFill>
                <a:latin typeface="JetBrains Mono"/>
              </a:rPr>
              <a:t> </a:t>
            </a:r>
            <a:r>
              <a:rPr lang="en-US" dirty="0">
                <a:solidFill>
                  <a:srgbClr val="080808"/>
                </a:solidFill>
                <a:latin typeface="JetBrains Mono"/>
              </a:rPr>
              <a:t>= </a:t>
            </a:r>
            <a:r>
              <a:rPr lang="en-US" dirty="0">
                <a:solidFill>
                  <a:srgbClr val="000080"/>
                </a:solidFill>
                <a:latin typeface="JetBrains Mono"/>
              </a:rPr>
              <a:t>int</a:t>
            </a:r>
            <a:r>
              <a:rPr lang="en-US" dirty="0">
                <a:solidFill>
                  <a:srgbClr val="080808"/>
                </a:solidFill>
                <a:latin typeface="JetBrains Mono"/>
              </a:rPr>
              <a:t>(</a:t>
            </a:r>
            <a:r>
              <a:rPr lang="en-US" dirty="0" err="1">
                <a:solidFill>
                  <a:srgbClr val="000000"/>
                </a:solidFill>
                <a:latin typeface="JetBrains Mono"/>
              </a:rPr>
              <a:t>scoring_sequence</a:t>
            </a:r>
            <a:r>
              <a:rPr lang="en-US" dirty="0">
                <a:solidFill>
                  <a:srgbClr val="080808"/>
                </a:solidFill>
                <a:latin typeface="JetBrains Mono"/>
              </a:rPr>
              <a:t>[</a:t>
            </a:r>
            <a:r>
              <a:rPr lang="en-US" dirty="0">
                <a:solidFill>
                  <a:srgbClr val="000000"/>
                </a:solidFill>
                <a:latin typeface="JetBrains Mono"/>
              </a:rPr>
              <a:t>index </a:t>
            </a:r>
            <a:r>
              <a:rPr lang="en-US" dirty="0">
                <a:solidFill>
                  <a:srgbClr val="080808"/>
                </a:solidFill>
                <a:latin typeface="JetBrains Mono"/>
              </a:rPr>
              <a:t>+ </a:t>
            </a:r>
            <a:r>
              <a:rPr lang="en-US" dirty="0">
                <a:solidFill>
                  <a:srgbClr val="1750EB"/>
                </a:solidFill>
                <a:latin typeface="JetBrains Mono"/>
              </a:rPr>
              <a:t>1</a:t>
            </a:r>
            <a:r>
              <a:rPr lang="en-US" dirty="0">
                <a:solidFill>
                  <a:srgbClr val="080808"/>
                </a:solidFill>
                <a:latin typeface="JetBrains Mono"/>
              </a:rPr>
              <a:t>])</a:t>
            </a:r>
            <a:br>
              <a:rPr lang="en-US" dirty="0">
                <a:solidFill>
                  <a:srgbClr val="080808"/>
                </a:solidFill>
                <a:latin typeface="JetBrains Mono"/>
              </a:rPr>
            </a:br>
            <a:br>
              <a:rPr lang="en-US" dirty="0">
                <a:solidFill>
                  <a:srgbClr val="080808"/>
                </a:solidFill>
                <a:latin typeface="JetBrains Mono"/>
              </a:rPr>
            </a:br>
            <a:r>
              <a:rPr lang="en-US" dirty="0">
                <a:solidFill>
                  <a:srgbClr val="080808"/>
                </a:solidFill>
                <a:latin typeface="JetBrains Mono"/>
              </a:rPr>
              <a:t>        </a:t>
            </a:r>
            <a:r>
              <a:rPr lang="en-US" dirty="0">
                <a:solidFill>
                  <a:srgbClr val="0033B3"/>
                </a:solidFill>
                <a:latin typeface="JetBrains Mono"/>
              </a:rPr>
              <a:t>if </a:t>
            </a:r>
            <a:r>
              <a:rPr lang="en-US" dirty="0" err="1">
                <a:solidFill>
                  <a:srgbClr val="000000"/>
                </a:solidFill>
                <a:latin typeface="JetBrains Mono"/>
              </a:rPr>
              <a:t>current_player</a:t>
            </a:r>
            <a:r>
              <a:rPr lang="en-US" dirty="0">
                <a:solidFill>
                  <a:srgbClr val="000000"/>
                </a:solidFill>
                <a:latin typeface="JetBrains Mono"/>
              </a:rPr>
              <a:t> </a:t>
            </a:r>
            <a:r>
              <a:rPr lang="en-US" dirty="0">
                <a:solidFill>
                  <a:srgbClr val="080808"/>
                </a:solidFill>
                <a:latin typeface="JetBrains Mono"/>
              </a:rPr>
              <a:t>== </a:t>
            </a:r>
            <a:r>
              <a:rPr lang="en-US" dirty="0">
                <a:solidFill>
                  <a:srgbClr val="067D17"/>
                </a:solidFill>
                <a:latin typeface="JetBrains Mono"/>
              </a:rPr>
              <a:t>"A"</a:t>
            </a:r>
            <a:r>
              <a:rPr lang="en-US" dirty="0">
                <a:solidFill>
                  <a:srgbClr val="080808"/>
                </a:solidFill>
                <a:latin typeface="JetBrains Mono"/>
              </a:rPr>
              <a:t>:</a:t>
            </a:r>
            <a:br>
              <a:rPr lang="en-US" dirty="0">
                <a:solidFill>
                  <a:srgbClr val="080808"/>
                </a:solidFill>
                <a:latin typeface="JetBrains Mono"/>
              </a:rPr>
            </a:br>
            <a:r>
              <a:rPr lang="en-US" dirty="0">
                <a:solidFill>
                  <a:srgbClr val="080808"/>
                </a:solidFill>
                <a:latin typeface="JetBrains Mono"/>
              </a:rPr>
              <a:t>            </a:t>
            </a:r>
            <a:r>
              <a:rPr lang="en-US" dirty="0" err="1">
                <a:solidFill>
                  <a:srgbClr val="000000"/>
                </a:solidFill>
                <a:latin typeface="JetBrains Mono"/>
              </a:rPr>
              <a:t>score_a</a:t>
            </a:r>
            <a:r>
              <a:rPr lang="en-US" dirty="0">
                <a:solidFill>
                  <a:srgbClr val="000000"/>
                </a:solidFill>
                <a:latin typeface="JetBrains Mono"/>
              </a:rPr>
              <a:t> </a:t>
            </a:r>
            <a:r>
              <a:rPr lang="en-US" dirty="0">
                <a:solidFill>
                  <a:srgbClr val="080808"/>
                </a:solidFill>
                <a:latin typeface="JetBrains Mono"/>
              </a:rPr>
              <a:t>= </a:t>
            </a:r>
            <a:r>
              <a:rPr lang="en-US" dirty="0" err="1">
                <a:solidFill>
                  <a:srgbClr val="000000"/>
                </a:solidFill>
                <a:latin typeface="JetBrains Mono"/>
              </a:rPr>
              <a:t>score_a</a:t>
            </a:r>
            <a:r>
              <a:rPr lang="en-US" dirty="0">
                <a:solidFill>
                  <a:srgbClr val="000000"/>
                </a:solidFill>
                <a:latin typeface="JetBrains Mono"/>
              </a:rPr>
              <a:t> </a:t>
            </a:r>
            <a:r>
              <a:rPr lang="en-US" dirty="0">
                <a:solidFill>
                  <a:srgbClr val="080808"/>
                </a:solidFill>
                <a:latin typeface="JetBrains Mono"/>
              </a:rPr>
              <a:t>+ </a:t>
            </a:r>
            <a:r>
              <a:rPr lang="en-US" dirty="0" err="1">
                <a:solidFill>
                  <a:srgbClr val="000000"/>
                </a:solidFill>
                <a:latin typeface="JetBrains Mono"/>
              </a:rPr>
              <a:t>points_scored</a:t>
            </a:r>
            <a:br>
              <a:rPr lang="en-US" dirty="0">
                <a:solidFill>
                  <a:srgbClr val="000000"/>
                </a:solidFill>
                <a:latin typeface="JetBrains Mono"/>
              </a:rPr>
            </a:br>
            <a:r>
              <a:rPr lang="en-US" dirty="0">
                <a:solidFill>
                  <a:srgbClr val="000000"/>
                </a:solidFill>
                <a:latin typeface="JetBrains Mono"/>
              </a:rPr>
              <a:t>        </a:t>
            </a:r>
            <a:r>
              <a:rPr lang="en-US" dirty="0">
                <a:solidFill>
                  <a:srgbClr val="0033B3"/>
                </a:solidFill>
                <a:latin typeface="JetBrains Mono"/>
              </a:rPr>
              <a:t>else</a:t>
            </a:r>
            <a:r>
              <a:rPr lang="en-US" dirty="0">
                <a:solidFill>
                  <a:srgbClr val="080808"/>
                </a:solidFill>
                <a:latin typeface="JetBrains Mono"/>
              </a:rPr>
              <a:t>:</a:t>
            </a:r>
            <a:br>
              <a:rPr lang="en-US" dirty="0">
                <a:solidFill>
                  <a:srgbClr val="080808"/>
                </a:solidFill>
                <a:latin typeface="JetBrains Mono"/>
              </a:rPr>
            </a:br>
            <a:r>
              <a:rPr lang="en-US" dirty="0">
                <a:solidFill>
                  <a:srgbClr val="080808"/>
                </a:solidFill>
                <a:latin typeface="JetBrains Mono"/>
              </a:rPr>
              <a:t>            </a:t>
            </a:r>
            <a:r>
              <a:rPr lang="en-US" dirty="0" err="1">
                <a:solidFill>
                  <a:srgbClr val="000000"/>
                </a:solidFill>
                <a:latin typeface="JetBrains Mono"/>
              </a:rPr>
              <a:t>score_b</a:t>
            </a:r>
            <a:r>
              <a:rPr lang="en-US" dirty="0">
                <a:solidFill>
                  <a:srgbClr val="000000"/>
                </a:solidFill>
                <a:latin typeface="JetBrains Mono"/>
              </a:rPr>
              <a:t> </a:t>
            </a:r>
            <a:r>
              <a:rPr lang="en-US" dirty="0">
                <a:solidFill>
                  <a:srgbClr val="080808"/>
                </a:solidFill>
                <a:latin typeface="JetBrains Mono"/>
              </a:rPr>
              <a:t>= </a:t>
            </a:r>
            <a:r>
              <a:rPr lang="en-US" dirty="0" err="1">
                <a:solidFill>
                  <a:srgbClr val="000000"/>
                </a:solidFill>
                <a:latin typeface="JetBrains Mono"/>
              </a:rPr>
              <a:t>score_b</a:t>
            </a:r>
            <a:r>
              <a:rPr lang="en-US" dirty="0">
                <a:solidFill>
                  <a:srgbClr val="000000"/>
                </a:solidFill>
                <a:latin typeface="JetBrains Mono"/>
              </a:rPr>
              <a:t> </a:t>
            </a:r>
            <a:r>
              <a:rPr lang="en-US" dirty="0">
                <a:solidFill>
                  <a:srgbClr val="080808"/>
                </a:solidFill>
                <a:latin typeface="JetBrains Mono"/>
              </a:rPr>
              <a:t>+ </a:t>
            </a:r>
            <a:r>
              <a:rPr lang="en-US" dirty="0" err="1">
                <a:solidFill>
                  <a:srgbClr val="000000"/>
                </a:solidFill>
                <a:latin typeface="JetBrains Mono"/>
              </a:rPr>
              <a:t>points_scored</a:t>
            </a:r>
            <a:br>
              <a:rPr lang="en-US" dirty="0">
                <a:solidFill>
                  <a:srgbClr val="000000"/>
                </a:solidFill>
                <a:latin typeface="JetBrains Mono"/>
              </a:rPr>
            </a:br>
            <a:br>
              <a:rPr lang="en-US" dirty="0">
                <a:solidFill>
                  <a:srgbClr val="000000"/>
                </a:solidFill>
                <a:latin typeface="JetBrains Mono"/>
              </a:rPr>
            </a:br>
            <a:r>
              <a:rPr lang="en-US" dirty="0">
                <a:solidFill>
                  <a:srgbClr val="000000"/>
                </a:solidFill>
                <a:highlight>
                  <a:srgbClr val="FFFF00"/>
                </a:highlight>
                <a:latin typeface="JetBrains Mono"/>
              </a:rPr>
              <a:t>        </a:t>
            </a:r>
            <a:r>
              <a:rPr lang="en-US" i="1" dirty="0">
                <a:solidFill>
                  <a:srgbClr val="8C8C8C"/>
                </a:solidFill>
                <a:highlight>
                  <a:srgbClr val="FFFF00"/>
                </a:highlight>
                <a:latin typeface="JetBrains Mono"/>
              </a:rPr>
              <a:t># Logic correction: must reach at least 11 AND lead by 2</a:t>
            </a:r>
            <a:br>
              <a:rPr lang="en-US" i="1" dirty="0">
                <a:solidFill>
                  <a:srgbClr val="8C8C8C"/>
                </a:solidFill>
                <a:highlight>
                  <a:srgbClr val="FFFF00"/>
                </a:highlight>
                <a:latin typeface="JetBrains Mono"/>
              </a:rPr>
            </a:br>
            <a:r>
              <a:rPr lang="en-US" i="1" dirty="0">
                <a:solidFill>
                  <a:srgbClr val="8C8C8C"/>
                </a:solidFill>
                <a:highlight>
                  <a:srgbClr val="FFFF00"/>
                </a:highlight>
                <a:latin typeface="JetBrains Mono"/>
              </a:rPr>
              <a:t>        </a:t>
            </a:r>
            <a:r>
              <a:rPr lang="en-US" dirty="0" err="1">
                <a:solidFill>
                  <a:srgbClr val="000000"/>
                </a:solidFill>
                <a:highlight>
                  <a:srgbClr val="FFFF00"/>
                </a:highlight>
                <a:latin typeface="JetBrains Mono"/>
              </a:rPr>
              <a:t>lead_for_a</a:t>
            </a:r>
            <a:r>
              <a:rPr lang="en-US" dirty="0">
                <a:solidFill>
                  <a:srgbClr val="000000"/>
                </a:solidFill>
                <a:highlight>
                  <a:srgbClr val="FFFF00"/>
                </a:highlight>
                <a:latin typeface="JetBrains Mono"/>
              </a:rPr>
              <a:t> </a:t>
            </a:r>
            <a:r>
              <a:rPr lang="en-US" dirty="0">
                <a:solidFill>
                  <a:srgbClr val="080808"/>
                </a:solidFill>
                <a:highlight>
                  <a:srgbClr val="FFFF00"/>
                </a:highlight>
                <a:latin typeface="JetBrains Mono"/>
              </a:rPr>
              <a:t>= </a:t>
            </a:r>
            <a:r>
              <a:rPr lang="en-US" dirty="0" err="1">
                <a:solidFill>
                  <a:srgbClr val="000000"/>
                </a:solidFill>
                <a:highlight>
                  <a:srgbClr val="FFFF00"/>
                </a:highlight>
                <a:latin typeface="JetBrains Mono"/>
              </a:rPr>
              <a:t>score_a</a:t>
            </a:r>
            <a:r>
              <a:rPr lang="en-US" dirty="0">
                <a:solidFill>
                  <a:srgbClr val="000000"/>
                </a:solidFill>
                <a:highlight>
                  <a:srgbClr val="FFFF00"/>
                </a:highlight>
                <a:latin typeface="JetBrains Mono"/>
              </a:rPr>
              <a:t> </a:t>
            </a:r>
            <a:r>
              <a:rPr lang="en-US" dirty="0">
                <a:solidFill>
                  <a:srgbClr val="080808"/>
                </a:solidFill>
                <a:highlight>
                  <a:srgbClr val="FFFF00"/>
                </a:highlight>
                <a:latin typeface="JetBrains Mono"/>
              </a:rPr>
              <a:t>- </a:t>
            </a:r>
            <a:r>
              <a:rPr lang="en-US" dirty="0" err="1">
                <a:solidFill>
                  <a:srgbClr val="000000"/>
                </a:solidFill>
                <a:highlight>
                  <a:srgbClr val="FFFF00"/>
                </a:highlight>
                <a:latin typeface="JetBrains Mono"/>
              </a:rPr>
              <a:t>score_b</a:t>
            </a:r>
            <a:br>
              <a:rPr lang="en-US" dirty="0">
                <a:solidFill>
                  <a:srgbClr val="000000"/>
                </a:solidFill>
                <a:highlight>
                  <a:srgbClr val="FFFF00"/>
                </a:highlight>
                <a:latin typeface="JetBrains Mono"/>
              </a:rPr>
            </a:br>
            <a:r>
              <a:rPr lang="en-US" dirty="0">
                <a:solidFill>
                  <a:srgbClr val="000000"/>
                </a:solidFill>
                <a:highlight>
                  <a:srgbClr val="FFFF00"/>
                </a:highlight>
                <a:latin typeface="JetBrains Mono"/>
              </a:rPr>
              <a:t>        </a:t>
            </a:r>
            <a:r>
              <a:rPr lang="en-US" dirty="0" err="1">
                <a:solidFill>
                  <a:srgbClr val="000000"/>
                </a:solidFill>
                <a:highlight>
                  <a:srgbClr val="FFFF00"/>
                </a:highlight>
                <a:latin typeface="JetBrains Mono"/>
              </a:rPr>
              <a:t>lead_for_b</a:t>
            </a:r>
            <a:r>
              <a:rPr lang="en-US" dirty="0">
                <a:solidFill>
                  <a:srgbClr val="000000"/>
                </a:solidFill>
                <a:highlight>
                  <a:srgbClr val="FFFF00"/>
                </a:highlight>
                <a:latin typeface="JetBrains Mono"/>
              </a:rPr>
              <a:t> </a:t>
            </a:r>
            <a:r>
              <a:rPr lang="en-US" dirty="0">
                <a:solidFill>
                  <a:srgbClr val="080808"/>
                </a:solidFill>
                <a:highlight>
                  <a:srgbClr val="FFFF00"/>
                </a:highlight>
                <a:latin typeface="JetBrains Mono"/>
              </a:rPr>
              <a:t>= </a:t>
            </a:r>
            <a:r>
              <a:rPr lang="en-US" dirty="0" err="1">
                <a:solidFill>
                  <a:srgbClr val="000000"/>
                </a:solidFill>
                <a:highlight>
                  <a:srgbClr val="FFFF00"/>
                </a:highlight>
                <a:latin typeface="JetBrains Mono"/>
              </a:rPr>
              <a:t>score_b</a:t>
            </a:r>
            <a:r>
              <a:rPr lang="en-US" dirty="0">
                <a:solidFill>
                  <a:srgbClr val="000000"/>
                </a:solidFill>
                <a:highlight>
                  <a:srgbClr val="FFFF00"/>
                </a:highlight>
                <a:latin typeface="JetBrains Mono"/>
              </a:rPr>
              <a:t> </a:t>
            </a:r>
            <a:r>
              <a:rPr lang="en-US" dirty="0">
                <a:solidFill>
                  <a:srgbClr val="080808"/>
                </a:solidFill>
                <a:highlight>
                  <a:srgbClr val="FFFF00"/>
                </a:highlight>
                <a:latin typeface="JetBrains Mono"/>
              </a:rPr>
              <a:t>- </a:t>
            </a:r>
            <a:r>
              <a:rPr lang="en-US" dirty="0" err="1">
                <a:solidFill>
                  <a:srgbClr val="000000"/>
                </a:solidFill>
                <a:highlight>
                  <a:srgbClr val="FFFF00"/>
                </a:highlight>
                <a:latin typeface="JetBrains Mono"/>
              </a:rPr>
              <a:t>score_a</a:t>
            </a:r>
            <a:br>
              <a:rPr lang="en-US" dirty="0">
                <a:solidFill>
                  <a:srgbClr val="000000"/>
                </a:solidFill>
                <a:highlight>
                  <a:srgbClr val="FFFF00"/>
                </a:highlight>
                <a:latin typeface="JetBrains Mono"/>
              </a:rPr>
            </a:br>
            <a:r>
              <a:rPr lang="en-US" dirty="0">
                <a:solidFill>
                  <a:srgbClr val="000000"/>
                </a:solidFill>
                <a:highlight>
                  <a:srgbClr val="FFFF00"/>
                </a:highlight>
                <a:latin typeface="JetBrains Mono"/>
              </a:rPr>
              <a:t>        </a:t>
            </a:r>
            <a:r>
              <a:rPr lang="en-US" dirty="0">
                <a:solidFill>
                  <a:srgbClr val="0033B3"/>
                </a:solidFill>
                <a:highlight>
                  <a:srgbClr val="FFFF00"/>
                </a:highlight>
                <a:latin typeface="JetBrains Mono"/>
              </a:rPr>
              <a:t>if </a:t>
            </a:r>
            <a:r>
              <a:rPr lang="en-US" dirty="0">
                <a:solidFill>
                  <a:srgbClr val="080808"/>
                </a:solidFill>
                <a:highlight>
                  <a:srgbClr val="FFFF00"/>
                </a:highlight>
                <a:latin typeface="JetBrains Mono"/>
              </a:rPr>
              <a:t>(</a:t>
            </a:r>
            <a:r>
              <a:rPr lang="en-US" dirty="0" err="1">
                <a:solidFill>
                  <a:srgbClr val="000000"/>
                </a:solidFill>
                <a:highlight>
                  <a:srgbClr val="FFFF00"/>
                </a:highlight>
                <a:latin typeface="JetBrains Mono"/>
              </a:rPr>
              <a:t>score_a</a:t>
            </a:r>
            <a:r>
              <a:rPr lang="en-US" dirty="0">
                <a:solidFill>
                  <a:srgbClr val="000000"/>
                </a:solidFill>
                <a:highlight>
                  <a:srgbClr val="FFFF00"/>
                </a:highlight>
                <a:latin typeface="JetBrains Mono"/>
              </a:rPr>
              <a:t> </a:t>
            </a:r>
            <a:r>
              <a:rPr lang="en-US" dirty="0">
                <a:solidFill>
                  <a:srgbClr val="080808"/>
                </a:solidFill>
                <a:highlight>
                  <a:srgbClr val="FFFF00"/>
                </a:highlight>
                <a:latin typeface="JetBrains Mono"/>
              </a:rPr>
              <a:t>&gt;= </a:t>
            </a:r>
            <a:r>
              <a:rPr lang="en-US" dirty="0">
                <a:solidFill>
                  <a:srgbClr val="1750EB"/>
                </a:solidFill>
                <a:highlight>
                  <a:srgbClr val="FFFF00"/>
                </a:highlight>
                <a:latin typeface="JetBrains Mono"/>
              </a:rPr>
              <a:t>11 </a:t>
            </a:r>
            <a:r>
              <a:rPr lang="en-US" dirty="0">
                <a:solidFill>
                  <a:srgbClr val="0033B3"/>
                </a:solidFill>
                <a:highlight>
                  <a:srgbClr val="FFFF00"/>
                </a:highlight>
                <a:latin typeface="JetBrains Mono"/>
              </a:rPr>
              <a:t>or </a:t>
            </a:r>
            <a:r>
              <a:rPr lang="en-US" dirty="0" err="1">
                <a:solidFill>
                  <a:srgbClr val="000000"/>
                </a:solidFill>
                <a:highlight>
                  <a:srgbClr val="FFFF00"/>
                </a:highlight>
                <a:latin typeface="JetBrains Mono"/>
              </a:rPr>
              <a:t>score_b</a:t>
            </a:r>
            <a:r>
              <a:rPr lang="en-US" dirty="0">
                <a:solidFill>
                  <a:srgbClr val="000000"/>
                </a:solidFill>
                <a:highlight>
                  <a:srgbClr val="FFFF00"/>
                </a:highlight>
                <a:latin typeface="JetBrains Mono"/>
              </a:rPr>
              <a:t> </a:t>
            </a:r>
            <a:r>
              <a:rPr lang="en-US" dirty="0">
                <a:solidFill>
                  <a:srgbClr val="080808"/>
                </a:solidFill>
                <a:highlight>
                  <a:srgbClr val="FFFF00"/>
                </a:highlight>
                <a:latin typeface="JetBrains Mono"/>
              </a:rPr>
              <a:t>&gt;= </a:t>
            </a:r>
            <a:r>
              <a:rPr lang="en-US" dirty="0">
                <a:solidFill>
                  <a:srgbClr val="1750EB"/>
                </a:solidFill>
                <a:highlight>
                  <a:srgbClr val="FFFF00"/>
                </a:highlight>
                <a:latin typeface="JetBrains Mono"/>
              </a:rPr>
              <a:t>11</a:t>
            </a:r>
            <a:r>
              <a:rPr lang="en-US" dirty="0">
                <a:solidFill>
                  <a:srgbClr val="080808"/>
                </a:solidFill>
                <a:highlight>
                  <a:srgbClr val="FFFF00"/>
                </a:highlight>
                <a:latin typeface="JetBrains Mono"/>
              </a:rPr>
              <a:t>) </a:t>
            </a:r>
            <a:r>
              <a:rPr lang="en-US" dirty="0">
                <a:solidFill>
                  <a:srgbClr val="0033B3"/>
                </a:solidFill>
                <a:highlight>
                  <a:srgbClr val="FFFF00"/>
                </a:highlight>
                <a:latin typeface="JetBrains Mono"/>
              </a:rPr>
              <a:t>and </a:t>
            </a:r>
            <a:r>
              <a:rPr lang="en-US" dirty="0">
                <a:solidFill>
                  <a:srgbClr val="080808"/>
                </a:solidFill>
                <a:highlight>
                  <a:srgbClr val="FFFF00"/>
                </a:highlight>
                <a:latin typeface="JetBrains Mono"/>
              </a:rPr>
              <a:t>(</a:t>
            </a:r>
            <a:r>
              <a:rPr lang="en-US" dirty="0" err="1">
                <a:solidFill>
                  <a:srgbClr val="000000"/>
                </a:solidFill>
                <a:highlight>
                  <a:srgbClr val="FFFF00"/>
                </a:highlight>
                <a:latin typeface="JetBrains Mono"/>
              </a:rPr>
              <a:t>lead_for_a</a:t>
            </a:r>
            <a:r>
              <a:rPr lang="en-US" dirty="0">
                <a:solidFill>
                  <a:srgbClr val="000000"/>
                </a:solidFill>
                <a:highlight>
                  <a:srgbClr val="FFFF00"/>
                </a:highlight>
                <a:latin typeface="JetBrains Mono"/>
              </a:rPr>
              <a:t> </a:t>
            </a:r>
            <a:r>
              <a:rPr lang="en-US" dirty="0">
                <a:solidFill>
                  <a:srgbClr val="080808"/>
                </a:solidFill>
                <a:highlight>
                  <a:srgbClr val="FFFF00"/>
                </a:highlight>
                <a:latin typeface="JetBrains Mono"/>
              </a:rPr>
              <a:t>&gt;= </a:t>
            </a:r>
            <a:r>
              <a:rPr lang="en-US" dirty="0">
                <a:solidFill>
                  <a:srgbClr val="1750EB"/>
                </a:solidFill>
                <a:highlight>
                  <a:srgbClr val="FFFF00"/>
                </a:highlight>
                <a:latin typeface="JetBrains Mono"/>
              </a:rPr>
              <a:t>2 </a:t>
            </a:r>
            <a:r>
              <a:rPr lang="en-US" dirty="0">
                <a:solidFill>
                  <a:srgbClr val="0033B3"/>
                </a:solidFill>
                <a:highlight>
                  <a:srgbClr val="FFFF00"/>
                </a:highlight>
                <a:latin typeface="JetBrains Mono"/>
              </a:rPr>
              <a:t>or </a:t>
            </a:r>
            <a:r>
              <a:rPr lang="en-US" dirty="0" err="1">
                <a:solidFill>
                  <a:srgbClr val="000000"/>
                </a:solidFill>
                <a:highlight>
                  <a:srgbClr val="FFFF00"/>
                </a:highlight>
                <a:latin typeface="JetBrains Mono"/>
              </a:rPr>
              <a:t>lead_for_b</a:t>
            </a:r>
            <a:r>
              <a:rPr lang="en-US" dirty="0">
                <a:solidFill>
                  <a:srgbClr val="000000"/>
                </a:solidFill>
                <a:highlight>
                  <a:srgbClr val="FFFF00"/>
                </a:highlight>
                <a:latin typeface="JetBrains Mono"/>
              </a:rPr>
              <a:t> </a:t>
            </a:r>
            <a:r>
              <a:rPr lang="en-US" dirty="0">
                <a:solidFill>
                  <a:srgbClr val="080808"/>
                </a:solidFill>
                <a:highlight>
                  <a:srgbClr val="FFFF00"/>
                </a:highlight>
                <a:latin typeface="JetBrains Mono"/>
              </a:rPr>
              <a:t>&gt;= </a:t>
            </a:r>
            <a:r>
              <a:rPr lang="en-US" dirty="0">
                <a:solidFill>
                  <a:srgbClr val="1750EB"/>
                </a:solidFill>
                <a:highlight>
                  <a:srgbClr val="FFFF00"/>
                </a:highlight>
                <a:latin typeface="JetBrains Mono"/>
              </a:rPr>
              <a:t>2</a:t>
            </a:r>
            <a:r>
              <a:rPr lang="en-US" dirty="0">
                <a:solidFill>
                  <a:srgbClr val="080808"/>
                </a:solidFill>
                <a:highlight>
                  <a:srgbClr val="FFFF00"/>
                </a:highlight>
                <a:latin typeface="JetBrains Mono"/>
              </a:rPr>
              <a:t>):</a:t>
            </a:r>
            <a:br>
              <a:rPr lang="en-US" dirty="0">
                <a:solidFill>
                  <a:srgbClr val="080808"/>
                </a:solidFill>
                <a:highlight>
                  <a:srgbClr val="FFFF00"/>
                </a:highlight>
                <a:latin typeface="JetBrains Mono"/>
              </a:rPr>
            </a:br>
            <a:r>
              <a:rPr lang="en-US" dirty="0">
                <a:solidFill>
                  <a:srgbClr val="080808"/>
                </a:solidFill>
                <a:highlight>
                  <a:srgbClr val="FFFF00"/>
                </a:highlight>
                <a:latin typeface="JetBrains Mono"/>
              </a:rPr>
              <a:t>            </a:t>
            </a:r>
            <a:r>
              <a:rPr lang="en-US" dirty="0">
                <a:solidFill>
                  <a:srgbClr val="0033B3"/>
                </a:solidFill>
                <a:highlight>
                  <a:srgbClr val="FFFF00"/>
                </a:highlight>
                <a:latin typeface="JetBrains Mono"/>
              </a:rPr>
              <a:t>if </a:t>
            </a:r>
            <a:r>
              <a:rPr lang="en-US" dirty="0" err="1">
                <a:solidFill>
                  <a:srgbClr val="000000"/>
                </a:solidFill>
                <a:highlight>
                  <a:srgbClr val="FFFF00"/>
                </a:highlight>
                <a:latin typeface="JetBrains Mono"/>
              </a:rPr>
              <a:t>score_a</a:t>
            </a:r>
            <a:r>
              <a:rPr lang="en-US" dirty="0">
                <a:solidFill>
                  <a:srgbClr val="000000"/>
                </a:solidFill>
                <a:highlight>
                  <a:srgbClr val="FFFF00"/>
                </a:highlight>
                <a:latin typeface="JetBrains Mono"/>
              </a:rPr>
              <a:t> </a:t>
            </a:r>
            <a:r>
              <a:rPr lang="en-US" dirty="0">
                <a:solidFill>
                  <a:srgbClr val="080808"/>
                </a:solidFill>
                <a:highlight>
                  <a:srgbClr val="FFFF00"/>
                </a:highlight>
                <a:latin typeface="JetBrains Mono"/>
              </a:rPr>
              <a:t>&gt; </a:t>
            </a:r>
            <a:r>
              <a:rPr lang="en-US" dirty="0" err="1">
                <a:solidFill>
                  <a:srgbClr val="000000"/>
                </a:solidFill>
                <a:highlight>
                  <a:srgbClr val="FFFF00"/>
                </a:highlight>
                <a:latin typeface="JetBrains Mono"/>
              </a:rPr>
              <a:t>score_b</a:t>
            </a:r>
            <a:r>
              <a:rPr lang="en-US" dirty="0">
                <a:solidFill>
                  <a:srgbClr val="080808"/>
                </a:solidFill>
                <a:highlight>
                  <a:srgbClr val="FFFF00"/>
                </a:highlight>
                <a:latin typeface="JetBrains Mono"/>
              </a:rPr>
              <a:t>:</a:t>
            </a:r>
            <a:br>
              <a:rPr lang="en-US" dirty="0">
                <a:solidFill>
                  <a:srgbClr val="080808"/>
                </a:solidFill>
                <a:highlight>
                  <a:srgbClr val="FFFF00"/>
                </a:highlight>
                <a:latin typeface="JetBrains Mono"/>
              </a:rPr>
            </a:br>
            <a:r>
              <a:rPr lang="en-US" dirty="0">
                <a:solidFill>
                  <a:srgbClr val="080808"/>
                </a:solidFill>
                <a:highlight>
                  <a:srgbClr val="FFFF00"/>
                </a:highlight>
                <a:latin typeface="JetBrains Mono"/>
              </a:rPr>
              <a:t>                </a:t>
            </a:r>
            <a:r>
              <a:rPr lang="en-US" dirty="0">
                <a:solidFill>
                  <a:srgbClr val="0033B3"/>
                </a:solidFill>
                <a:highlight>
                  <a:srgbClr val="FFFF00"/>
                </a:highlight>
                <a:latin typeface="JetBrains Mono"/>
              </a:rPr>
              <a:t>return </a:t>
            </a:r>
            <a:r>
              <a:rPr lang="en-US" dirty="0">
                <a:solidFill>
                  <a:srgbClr val="067D17"/>
                </a:solidFill>
                <a:highlight>
                  <a:srgbClr val="FFFF00"/>
                </a:highlight>
                <a:latin typeface="JetBrains Mono"/>
              </a:rPr>
              <a:t>"A"</a:t>
            </a:r>
            <a:br>
              <a:rPr lang="en-US" dirty="0">
                <a:solidFill>
                  <a:srgbClr val="067D17"/>
                </a:solidFill>
                <a:highlight>
                  <a:srgbClr val="FFFF00"/>
                </a:highlight>
                <a:latin typeface="JetBrains Mono"/>
              </a:rPr>
            </a:br>
            <a:r>
              <a:rPr lang="en-US" dirty="0">
                <a:solidFill>
                  <a:srgbClr val="067D17"/>
                </a:solidFill>
                <a:highlight>
                  <a:srgbClr val="FFFF00"/>
                </a:highlight>
                <a:latin typeface="JetBrains Mono"/>
              </a:rPr>
              <a:t>            </a:t>
            </a:r>
            <a:r>
              <a:rPr lang="en-US" dirty="0">
                <a:solidFill>
                  <a:srgbClr val="0033B3"/>
                </a:solidFill>
                <a:highlight>
                  <a:srgbClr val="FFFF00"/>
                </a:highlight>
                <a:latin typeface="JetBrains Mono"/>
              </a:rPr>
              <a:t>else</a:t>
            </a:r>
            <a:r>
              <a:rPr lang="en-US" dirty="0">
                <a:solidFill>
                  <a:srgbClr val="080808"/>
                </a:solidFill>
                <a:highlight>
                  <a:srgbClr val="FFFF00"/>
                </a:highlight>
                <a:latin typeface="JetBrains Mono"/>
              </a:rPr>
              <a:t>:</a:t>
            </a:r>
            <a:br>
              <a:rPr lang="en-US" dirty="0">
                <a:solidFill>
                  <a:srgbClr val="080808"/>
                </a:solidFill>
                <a:highlight>
                  <a:srgbClr val="FFFF00"/>
                </a:highlight>
                <a:latin typeface="JetBrains Mono"/>
              </a:rPr>
            </a:br>
            <a:r>
              <a:rPr lang="en-US" dirty="0">
                <a:solidFill>
                  <a:srgbClr val="080808"/>
                </a:solidFill>
                <a:highlight>
                  <a:srgbClr val="FFFF00"/>
                </a:highlight>
                <a:latin typeface="JetBrains Mono"/>
              </a:rPr>
              <a:t>                </a:t>
            </a:r>
            <a:r>
              <a:rPr lang="en-US" dirty="0">
                <a:solidFill>
                  <a:srgbClr val="0033B3"/>
                </a:solidFill>
                <a:highlight>
                  <a:srgbClr val="FFFF00"/>
                </a:highlight>
                <a:latin typeface="JetBrains Mono"/>
              </a:rPr>
              <a:t>return </a:t>
            </a:r>
            <a:r>
              <a:rPr lang="en-US" dirty="0">
                <a:solidFill>
                  <a:srgbClr val="067D17"/>
                </a:solidFill>
                <a:highlight>
                  <a:srgbClr val="FFFF00"/>
                </a:highlight>
                <a:latin typeface="JetBrains Mono"/>
              </a:rPr>
              <a:t>"B"</a:t>
            </a:r>
            <a:br>
              <a:rPr lang="en-US" dirty="0">
                <a:solidFill>
                  <a:srgbClr val="067D17"/>
                </a:solidFill>
                <a:latin typeface="JetBrains Mono"/>
              </a:rPr>
            </a:br>
            <a:br>
              <a:rPr lang="en-US" dirty="0">
                <a:solidFill>
                  <a:srgbClr val="067D17"/>
                </a:solidFill>
                <a:latin typeface="JetBrains Mono"/>
              </a:rPr>
            </a:br>
            <a:r>
              <a:rPr lang="en-US" dirty="0">
                <a:solidFill>
                  <a:srgbClr val="067D17"/>
                </a:solidFill>
                <a:latin typeface="JetBrains Mono"/>
              </a:rPr>
              <a:t>        </a:t>
            </a:r>
            <a:r>
              <a:rPr lang="en-US" dirty="0">
                <a:solidFill>
                  <a:srgbClr val="000000"/>
                </a:solidFill>
                <a:latin typeface="JetBrains Mono"/>
              </a:rPr>
              <a:t>index </a:t>
            </a:r>
            <a:r>
              <a:rPr lang="en-US" dirty="0">
                <a:solidFill>
                  <a:srgbClr val="080808"/>
                </a:solidFill>
                <a:latin typeface="JetBrains Mono"/>
              </a:rPr>
              <a:t>= </a:t>
            </a:r>
            <a:r>
              <a:rPr lang="en-US" dirty="0">
                <a:solidFill>
                  <a:srgbClr val="000000"/>
                </a:solidFill>
                <a:latin typeface="JetBrains Mono"/>
              </a:rPr>
              <a:t>index </a:t>
            </a:r>
            <a:r>
              <a:rPr lang="en-US" dirty="0">
                <a:solidFill>
                  <a:srgbClr val="080808"/>
                </a:solidFill>
                <a:latin typeface="JetBrains Mono"/>
              </a:rPr>
              <a:t>+ </a:t>
            </a:r>
            <a:r>
              <a:rPr lang="en-US" dirty="0">
                <a:solidFill>
                  <a:srgbClr val="1750EB"/>
                </a:solidFill>
                <a:latin typeface="JetBrains Mono"/>
              </a:rPr>
              <a:t>2</a:t>
            </a:r>
            <a:br>
              <a:rPr lang="en-US" dirty="0">
                <a:solidFill>
                  <a:srgbClr val="1750EB"/>
                </a:solidFill>
                <a:latin typeface="JetBrains Mono"/>
              </a:rPr>
            </a:br>
            <a:br>
              <a:rPr lang="en-US" dirty="0">
                <a:solidFill>
                  <a:srgbClr val="1750EB"/>
                </a:solidFill>
                <a:latin typeface="JetBrains Mono"/>
              </a:rPr>
            </a:br>
            <a:r>
              <a:rPr lang="en-US" i="1" dirty="0">
                <a:solidFill>
                  <a:srgbClr val="8C8C8C"/>
                </a:solidFill>
                <a:latin typeface="JetBrains Mono"/>
              </a:rPr>
              <a:t># If no 2-point lead by 11 occurred in the sequence, choose the higher score</a:t>
            </a:r>
            <a:br>
              <a:rPr lang="en-US" i="1" dirty="0">
                <a:solidFill>
                  <a:srgbClr val="8C8C8C"/>
                </a:solidFill>
                <a:latin typeface="JetBrains Mono"/>
              </a:rPr>
            </a:br>
            <a:r>
              <a:rPr lang="en-US" i="1" dirty="0">
                <a:solidFill>
                  <a:srgbClr val="8C8C8C"/>
                </a:solidFill>
                <a:latin typeface="JetBrains Mono"/>
              </a:rPr>
              <a:t>    </a:t>
            </a:r>
            <a:r>
              <a:rPr lang="en-US" dirty="0">
                <a:solidFill>
                  <a:srgbClr val="0033B3"/>
                </a:solidFill>
                <a:latin typeface="JetBrains Mono"/>
              </a:rPr>
              <a:t>if </a:t>
            </a:r>
            <a:r>
              <a:rPr lang="en-US" dirty="0" err="1">
                <a:solidFill>
                  <a:srgbClr val="000000"/>
                </a:solidFill>
                <a:latin typeface="JetBrains Mono"/>
              </a:rPr>
              <a:t>score_a</a:t>
            </a:r>
            <a:r>
              <a:rPr lang="en-US" dirty="0">
                <a:solidFill>
                  <a:srgbClr val="000000"/>
                </a:solidFill>
                <a:latin typeface="JetBrains Mono"/>
              </a:rPr>
              <a:t> </a:t>
            </a:r>
            <a:r>
              <a:rPr lang="en-US" dirty="0">
                <a:solidFill>
                  <a:srgbClr val="080808"/>
                </a:solidFill>
                <a:latin typeface="JetBrains Mono"/>
              </a:rPr>
              <a:t>&gt; </a:t>
            </a:r>
            <a:r>
              <a:rPr lang="en-US" dirty="0" err="1">
                <a:solidFill>
                  <a:srgbClr val="000000"/>
                </a:solidFill>
                <a:latin typeface="JetBrains Mono"/>
              </a:rPr>
              <a:t>score_b</a:t>
            </a:r>
            <a:r>
              <a:rPr lang="en-US" dirty="0">
                <a:solidFill>
                  <a:srgbClr val="080808"/>
                </a:solidFill>
                <a:latin typeface="JetBrains Mono"/>
              </a:rPr>
              <a:t>:</a:t>
            </a:r>
            <a:br>
              <a:rPr lang="en-US" dirty="0">
                <a:solidFill>
                  <a:srgbClr val="080808"/>
                </a:solidFill>
                <a:latin typeface="JetBrains Mono"/>
              </a:rPr>
            </a:br>
            <a:r>
              <a:rPr lang="en-US" dirty="0">
                <a:solidFill>
                  <a:srgbClr val="080808"/>
                </a:solidFill>
                <a:latin typeface="JetBrains Mono"/>
              </a:rPr>
              <a:t>        </a:t>
            </a:r>
            <a:r>
              <a:rPr lang="en-US" dirty="0">
                <a:solidFill>
                  <a:srgbClr val="0033B3"/>
                </a:solidFill>
                <a:latin typeface="JetBrains Mono"/>
              </a:rPr>
              <a:t>return </a:t>
            </a:r>
            <a:r>
              <a:rPr lang="en-US" dirty="0">
                <a:solidFill>
                  <a:srgbClr val="067D17"/>
                </a:solidFill>
                <a:latin typeface="JetBrains Mono"/>
              </a:rPr>
              <a:t>"A"</a:t>
            </a:r>
            <a:br>
              <a:rPr lang="en-US" dirty="0">
                <a:solidFill>
                  <a:srgbClr val="067D17"/>
                </a:solidFill>
                <a:latin typeface="JetBrains Mono"/>
              </a:rPr>
            </a:br>
            <a:r>
              <a:rPr lang="en-US" dirty="0">
                <a:solidFill>
                  <a:srgbClr val="067D17"/>
                </a:solidFill>
                <a:latin typeface="JetBrains Mono"/>
              </a:rPr>
              <a:t>    </a:t>
            </a:r>
            <a:r>
              <a:rPr lang="en-US" dirty="0">
                <a:solidFill>
                  <a:srgbClr val="0033B3"/>
                </a:solidFill>
                <a:latin typeface="JetBrains Mono"/>
              </a:rPr>
              <a:t>else</a:t>
            </a:r>
            <a:r>
              <a:rPr lang="en-US" dirty="0">
                <a:solidFill>
                  <a:srgbClr val="080808"/>
                </a:solidFill>
                <a:latin typeface="JetBrains Mono"/>
              </a:rPr>
              <a:t>:</a:t>
            </a:r>
            <a:br>
              <a:rPr lang="en-US" dirty="0">
                <a:solidFill>
                  <a:srgbClr val="080808"/>
                </a:solidFill>
                <a:latin typeface="JetBrains Mono"/>
              </a:rPr>
            </a:br>
            <a:r>
              <a:rPr lang="en-US" dirty="0">
                <a:solidFill>
                  <a:srgbClr val="080808"/>
                </a:solidFill>
                <a:latin typeface="JetBrains Mono"/>
              </a:rPr>
              <a:t>        </a:t>
            </a:r>
            <a:r>
              <a:rPr lang="en-US" dirty="0">
                <a:solidFill>
                  <a:srgbClr val="0033B3"/>
                </a:solidFill>
                <a:latin typeface="JetBrains Mono"/>
              </a:rPr>
              <a:t>return </a:t>
            </a:r>
            <a:r>
              <a:rPr lang="en-US" dirty="0">
                <a:solidFill>
                  <a:srgbClr val="067D17"/>
                </a:solidFill>
                <a:latin typeface="JetBrains Mono"/>
              </a:rPr>
              <a:t>"B"</a:t>
            </a:r>
            <a:endParaRPr lang="en-CA" dirty="0"/>
          </a:p>
          <a:p>
            <a:endParaRPr lang="en-CA" dirty="0"/>
          </a:p>
        </p:txBody>
      </p:sp>
    </p:spTree>
    <p:extLst>
      <p:ext uri="{BB962C8B-B14F-4D97-AF65-F5344CB8AC3E}">
        <p14:creationId xmlns:p14="http://schemas.microsoft.com/office/powerpoint/2010/main" val="2515544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BEB4558-7B56-26CA-9214-EC728032A83B}"/>
              </a:ext>
            </a:extLst>
          </p:cNvPr>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Google CoLab State Information</a:t>
            </a:r>
          </a:p>
        </p:txBody>
      </p:sp>
      <p:sp>
        <p:nvSpPr>
          <p:cNvPr id="3" name="Content Placeholder 2">
            <a:extLst>
              <a:ext uri="{FF2B5EF4-FFF2-40B4-BE49-F238E27FC236}">
                <a16:creationId xmlns:a16="http://schemas.microsoft.com/office/drawing/2014/main" id="{8C425948-73A2-7796-37D6-A1491DAC4030}"/>
              </a:ext>
            </a:extLst>
          </p:cNvPr>
          <p:cNvSpPr>
            <a:spLocks noGrp="1"/>
          </p:cNvSpPr>
          <p:nvPr>
            <p:ph idx="1"/>
          </p:nvPr>
        </p:nvSpPr>
        <p:spPr>
          <a:xfrm>
            <a:off x="643468" y="2638044"/>
            <a:ext cx="3363974" cy="3415622"/>
          </a:xfrm>
        </p:spPr>
        <p:txBody>
          <a:bodyPr>
            <a:normAutofit/>
          </a:bodyPr>
          <a:lstStyle/>
          <a:p>
            <a:r>
              <a:rPr lang="en-US" dirty="0" err="1">
                <a:solidFill>
                  <a:schemeClr val="bg1"/>
                </a:solidFill>
              </a:rPr>
              <a:t>Colab</a:t>
            </a:r>
            <a:r>
              <a:rPr lang="en-US" dirty="0">
                <a:solidFill>
                  <a:schemeClr val="bg1"/>
                </a:solidFill>
              </a:rPr>
              <a:t> comes equipped with a variable inspector</a:t>
            </a:r>
          </a:p>
          <a:p>
            <a:r>
              <a:rPr lang="en-US" dirty="0">
                <a:solidFill>
                  <a:schemeClr val="bg1"/>
                </a:solidFill>
              </a:rPr>
              <a:t>This allows you to inspect the state of variables as you run your program</a:t>
            </a:r>
          </a:p>
          <a:p>
            <a:r>
              <a:rPr lang="en-US" dirty="0">
                <a:solidFill>
                  <a:schemeClr val="bg1"/>
                </a:solidFill>
              </a:rPr>
              <a:t>If a program pauses, then you can see the variables as they are populated at that moment</a:t>
            </a:r>
          </a:p>
          <a:p>
            <a:endParaRPr lang="en-US" dirty="0">
              <a:solidFill>
                <a:schemeClr val="bg1"/>
              </a:solidFill>
            </a:endParaRPr>
          </a:p>
        </p:txBody>
      </p:sp>
      <p:pic>
        <p:nvPicPr>
          <p:cNvPr id="8" name="Picture 7">
            <a:extLst>
              <a:ext uri="{FF2B5EF4-FFF2-40B4-BE49-F238E27FC236}">
                <a16:creationId xmlns:a16="http://schemas.microsoft.com/office/drawing/2014/main" id="{3BAE96E6-5565-8909-547B-2DD3500BD20B}"/>
              </a:ext>
            </a:extLst>
          </p:cNvPr>
          <p:cNvPicPr>
            <a:picLocks noChangeAspect="1"/>
          </p:cNvPicPr>
          <p:nvPr/>
        </p:nvPicPr>
        <p:blipFill>
          <a:blip r:embed="rId2"/>
          <a:srcRect l="-373" r="-330"/>
          <a:stretch>
            <a:fillRect/>
          </a:stretch>
        </p:blipFill>
        <p:spPr>
          <a:xfrm>
            <a:off x="4753589" y="763929"/>
            <a:ext cx="7339116" cy="4919347"/>
          </a:xfrm>
          <a:prstGeom prst="rect">
            <a:avLst/>
          </a:prstGeom>
        </p:spPr>
      </p:pic>
      <p:sp>
        <p:nvSpPr>
          <p:cNvPr id="9" name="Oval 8">
            <a:extLst>
              <a:ext uri="{FF2B5EF4-FFF2-40B4-BE49-F238E27FC236}">
                <a16:creationId xmlns:a16="http://schemas.microsoft.com/office/drawing/2014/main" id="{87646E74-711D-59EE-2D43-7DEC6ECF5106}"/>
              </a:ext>
            </a:extLst>
          </p:cNvPr>
          <p:cNvSpPr/>
          <p:nvPr/>
        </p:nvSpPr>
        <p:spPr>
          <a:xfrm>
            <a:off x="4753589" y="5405377"/>
            <a:ext cx="744386" cy="405114"/>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2" name="Straight Arrow Connector 11">
            <a:extLst>
              <a:ext uri="{FF2B5EF4-FFF2-40B4-BE49-F238E27FC236}">
                <a16:creationId xmlns:a16="http://schemas.microsoft.com/office/drawing/2014/main" id="{60AA55E7-91C3-25A0-BACC-D39DF6F6CD9B}"/>
              </a:ext>
            </a:extLst>
          </p:cNvPr>
          <p:cNvCxnSpPr>
            <a:cxnSpLocks/>
          </p:cNvCxnSpPr>
          <p:nvPr/>
        </p:nvCxnSpPr>
        <p:spPr>
          <a:xfrm flipV="1">
            <a:off x="6921661" y="1794076"/>
            <a:ext cx="2673752" cy="211816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B08067B-AE1B-FB1E-D65D-B13C32E2E324}"/>
              </a:ext>
            </a:extLst>
          </p:cNvPr>
          <p:cNvCxnSpPr>
            <a:cxnSpLocks/>
          </p:cNvCxnSpPr>
          <p:nvPr/>
        </p:nvCxnSpPr>
        <p:spPr>
          <a:xfrm flipV="1">
            <a:off x="6921661" y="2002420"/>
            <a:ext cx="2673752" cy="210659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5466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8C44F-8CA7-7CCC-DE69-D3D23B977B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E99911-033B-DA2A-1560-6CD5AE38F427}"/>
              </a:ext>
            </a:extLst>
          </p:cNvPr>
          <p:cNvSpPr>
            <a:spLocks noGrp="1"/>
          </p:cNvSpPr>
          <p:nvPr>
            <p:ph type="title"/>
          </p:nvPr>
        </p:nvSpPr>
        <p:spPr>
          <a:xfrm>
            <a:off x="643467" y="643467"/>
            <a:ext cx="3363974" cy="1728044"/>
          </a:xfrm>
          <a:noFill/>
          <a:ln>
            <a:solidFill>
              <a:schemeClr val="bg1"/>
            </a:solidFill>
          </a:ln>
        </p:spPr>
        <p:txBody>
          <a:bodyPr wrap="square">
            <a:normAutofit/>
          </a:bodyPr>
          <a:lstStyle/>
          <a:p>
            <a:r>
              <a:rPr lang="en-US">
                <a:solidFill>
                  <a:schemeClr val="bg1"/>
                </a:solidFill>
              </a:rPr>
              <a:t>Google CoLab State Information</a:t>
            </a:r>
          </a:p>
        </p:txBody>
      </p:sp>
      <p:sp>
        <p:nvSpPr>
          <p:cNvPr id="3" name="Content Placeholder 2">
            <a:extLst>
              <a:ext uri="{FF2B5EF4-FFF2-40B4-BE49-F238E27FC236}">
                <a16:creationId xmlns:a16="http://schemas.microsoft.com/office/drawing/2014/main" id="{625A068B-7D4F-BA6E-D696-6B9D317F112E}"/>
              </a:ext>
            </a:extLst>
          </p:cNvPr>
          <p:cNvSpPr>
            <a:spLocks noGrp="1"/>
          </p:cNvSpPr>
          <p:nvPr>
            <p:ph idx="1"/>
          </p:nvPr>
        </p:nvSpPr>
        <p:spPr>
          <a:xfrm>
            <a:off x="643468" y="2638044"/>
            <a:ext cx="3363974" cy="3415622"/>
          </a:xfrm>
        </p:spPr>
        <p:txBody>
          <a:bodyPr>
            <a:normAutofit/>
          </a:bodyPr>
          <a:lstStyle/>
          <a:p>
            <a:r>
              <a:rPr lang="en-US" dirty="0" err="1">
                <a:solidFill>
                  <a:schemeClr val="bg1"/>
                </a:solidFill>
              </a:rPr>
              <a:t>Colab</a:t>
            </a:r>
            <a:r>
              <a:rPr lang="en-US" dirty="0">
                <a:solidFill>
                  <a:schemeClr val="bg1"/>
                </a:solidFill>
              </a:rPr>
              <a:t> comes equipped with a variable inspector</a:t>
            </a:r>
          </a:p>
          <a:p>
            <a:r>
              <a:rPr lang="en-US" dirty="0">
                <a:solidFill>
                  <a:schemeClr val="bg1"/>
                </a:solidFill>
              </a:rPr>
              <a:t>This allows you to inspect the state of variables as you run your program</a:t>
            </a:r>
          </a:p>
          <a:p>
            <a:r>
              <a:rPr lang="en-US" dirty="0">
                <a:solidFill>
                  <a:schemeClr val="bg1"/>
                </a:solidFill>
              </a:rPr>
              <a:t>If a program pauses, then you can see the variables as they are populated at that moment</a:t>
            </a:r>
          </a:p>
          <a:p>
            <a:endParaRPr lang="en-US" dirty="0">
              <a:solidFill>
                <a:schemeClr val="bg1"/>
              </a:solidFill>
            </a:endParaRPr>
          </a:p>
        </p:txBody>
      </p:sp>
      <p:pic>
        <p:nvPicPr>
          <p:cNvPr id="8" name="Picture 7">
            <a:extLst>
              <a:ext uri="{FF2B5EF4-FFF2-40B4-BE49-F238E27FC236}">
                <a16:creationId xmlns:a16="http://schemas.microsoft.com/office/drawing/2014/main" id="{127949C1-0577-FF71-9280-C7D7CA879A27}"/>
              </a:ext>
            </a:extLst>
          </p:cNvPr>
          <p:cNvPicPr>
            <a:picLocks noChangeAspect="1"/>
          </p:cNvPicPr>
          <p:nvPr/>
        </p:nvPicPr>
        <p:blipFill>
          <a:blip r:embed="rId2"/>
          <a:srcRect l="-373" r="-330"/>
          <a:stretch>
            <a:fillRect/>
          </a:stretch>
        </p:blipFill>
        <p:spPr>
          <a:xfrm>
            <a:off x="4753589" y="763929"/>
            <a:ext cx="7339116" cy="4919347"/>
          </a:xfrm>
          <a:prstGeom prst="rect">
            <a:avLst/>
          </a:prstGeom>
        </p:spPr>
      </p:pic>
      <p:sp>
        <p:nvSpPr>
          <p:cNvPr id="9" name="Oval 8">
            <a:extLst>
              <a:ext uri="{FF2B5EF4-FFF2-40B4-BE49-F238E27FC236}">
                <a16:creationId xmlns:a16="http://schemas.microsoft.com/office/drawing/2014/main" id="{C8AD61EA-CC5D-A50C-AC27-7033B99BAA3D}"/>
              </a:ext>
            </a:extLst>
          </p:cNvPr>
          <p:cNvSpPr/>
          <p:nvPr/>
        </p:nvSpPr>
        <p:spPr>
          <a:xfrm>
            <a:off x="4753589" y="5405377"/>
            <a:ext cx="744386" cy="405114"/>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2" name="Straight Arrow Connector 11">
            <a:extLst>
              <a:ext uri="{FF2B5EF4-FFF2-40B4-BE49-F238E27FC236}">
                <a16:creationId xmlns:a16="http://schemas.microsoft.com/office/drawing/2014/main" id="{80B671C2-C9CD-DCE1-2435-DD1133233716}"/>
              </a:ext>
            </a:extLst>
          </p:cNvPr>
          <p:cNvCxnSpPr>
            <a:cxnSpLocks/>
          </p:cNvCxnSpPr>
          <p:nvPr/>
        </p:nvCxnSpPr>
        <p:spPr>
          <a:xfrm flipV="1">
            <a:off x="6921661" y="1794076"/>
            <a:ext cx="2673752" cy="211816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2CB01B6-28E6-F60B-1EE6-0FB13E13DD46}"/>
              </a:ext>
            </a:extLst>
          </p:cNvPr>
          <p:cNvCxnSpPr>
            <a:cxnSpLocks/>
          </p:cNvCxnSpPr>
          <p:nvPr/>
        </p:nvCxnSpPr>
        <p:spPr>
          <a:xfrm flipV="1">
            <a:off x="6921661" y="2002420"/>
            <a:ext cx="2673752" cy="210659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67568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92550-F909-3BA0-EF8B-3CEA345BFE4C}"/>
              </a:ext>
            </a:extLst>
          </p:cNvPr>
          <p:cNvSpPr>
            <a:spLocks noGrp="1"/>
          </p:cNvSpPr>
          <p:nvPr>
            <p:ph type="title"/>
          </p:nvPr>
        </p:nvSpPr>
        <p:spPr>
          <a:xfrm>
            <a:off x="6879787" y="964692"/>
            <a:ext cx="4476806" cy="1188720"/>
          </a:xfrm>
        </p:spPr>
        <p:txBody>
          <a:bodyPr>
            <a:normAutofit/>
          </a:bodyPr>
          <a:lstStyle/>
          <a:p>
            <a:r>
              <a:rPr lang="en-US" dirty="0"/>
              <a:t>Partner Work</a:t>
            </a:r>
          </a:p>
        </p:txBody>
      </p:sp>
      <p:sp>
        <p:nvSpPr>
          <p:cNvPr id="3" name="Content Placeholder 2">
            <a:extLst>
              <a:ext uri="{FF2B5EF4-FFF2-40B4-BE49-F238E27FC236}">
                <a16:creationId xmlns:a16="http://schemas.microsoft.com/office/drawing/2014/main" id="{876A47BA-D15F-1DA1-4C2E-E08E3C13C5F7}"/>
              </a:ext>
            </a:extLst>
          </p:cNvPr>
          <p:cNvSpPr>
            <a:spLocks noGrp="1"/>
          </p:cNvSpPr>
          <p:nvPr>
            <p:ph idx="1"/>
          </p:nvPr>
        </p:nvSpPr>
        <p:spPr>
          <a:xfrm>
            <a:off x="6878359" y="2638044"/>
            <a:ext cx="4492932" cy="3263206"/>
          </a:xfrm>
        </p:spPr>
        <p:txBody>
          <a:bodyPr>
            <a:normAutofit/>
          </a:bodyPr>
          <a:lstStyle/>
          <a:p>
            <a:r>
              <a:rPr lang="en-US" dirty="0"/>
              <a:t>Find a partner</a:t>
            </a:r>
          </a:p>
          <a:p>
            <a:r>
              <a:rPr lang="en-US" dirty="0"/>
              <a:t>Practice showing how to find a bug</a:t>
            </a:r>
          </a:p>
          <a:p>
            <a:r>
              <a:rPr lang="en-US" dirty="0"/>
              <a:t>Print out variables to showcase where the error occurs</a:t>
            </a:r>
          </a:p>
          <a:p>
            <a:r>
              <a:rPr lang="en-US" dirty="0"/>
              <a:t>Open the Variable tab to see if that helps diagnose the issue</a:t>
            </a:r>
          </a:p>
          <a:p>
            <a:r>
              <a:rPr lang="en-US" dirty="0"/>
              <a:t>Goal: practice using these methods and show how they might help</a:t>
            </a:r>
          </a:p>
        </p:txBody>
      </p:sp>
      <p:pic>
        <p:nvPicPr>
          <p:cNvPr id="5" name="Picture 4">
            <a:extLst>
              <a:ext uri="{FF2B5EF4-FFF2-40B4-BE49-F238E27FC236}">
                <a16:creationId xmlns:a16="http://schemas.microsoft.com/office/drawing/2014/main" id="{07245533-22A7-6FED-A7CD-34D83E69B7E9}"/>
              </a:ext>
            </a:extLst>
          </p:cNvPr>
          <p:cNvPicPr>
            <a:picLocks noChangeAspect="1"/>
          </p:cNvPicPr>
          <p:nvPr/>
        </p:nvPicPr>
        <p:blipFill>
          <a:blip r:embed="rId2"/>
          <a:stretch>
            <a:fillRect/>
          </a:stretch>
        </p:blipFill>
        <p:spPr>
          <a:xfrm>
            <a:off x="991853" y="1521080"/>
            <a:ext cx="5121795" cy="3815840"/>
          </a:xfrm>
          <a:prstGeom prst="rect">
            <a:avLst/>
          </a:prstGeom>
        </p:spPr>
      </p:pic>
    </p:spTree>
    <p:extLst>
      <p:ext uri="{BB962C8B-B14F-4D97-AF65-F5344CB8AC3E}">
        <p14:creationId xmlns:p14="http://schemas.microsoft.com/office/powerpoint/2010/main" val="17449457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3EC88-8EB6-1D65-D0D8-6F9CB5DE8E76}"/>
              </a:ext>
            </a:extLst>
          </p:cNvPr>
          <p:cNvSpPr>
            <a:spLocks noGrp="1"/>
          </p:cNvSpPr>
          <p:nvPr>
            <p:ph type="title"/>
          </p:nvPr>
        </p:nvSpPr>
        <p:spPr/>
        <p:txBody>
          <a:bodyPr/>
          <a:lstStyle/>
          <a:p>
            <a:r>
              <a:rPr lang="en-US" dirty="0"/>
              <a:t>Class Participation</a:t>
            </a:r>
          </a:p>
        </p:txBody>
      </p:sp>
      <p:sp>
        <p:nvSpPr>
          <p:cNvPr id="3" name="Content Placeholder 2">
            <a:extLst>
              <a:ext uri="{FF2B5EF4-FFF2-40B4-BE49-F238E27FC236}">
                <a16:creationId xmlns:a16="http://schemas.microsoft.com/office/drawing/2014/main" id="{6AC6D375-F244-C476-4765-C231EA9955EC}"/>
              </a:ext>
            </a:extLst>
          </p:cNvPr>
          <p:cNvSpPr>
            <a:spLocks noGrp="1"/>
          </p:cNvSpPr>
          <p:nvPr>
            <p:ph idx="1"/>
          </p:nvPr>
        </p:nvSpPr>
        <p:spPr/>
        <p:txBody>
          <a:bodyPr/>
          <a:lstStyle/>
          <a:p>
            <a:r>
              <a:rPr lang="en-US" dirty="0"/>
              <a:t>In the partner work example was the error:</a:t>
            </a:r>
          </a:p>
          <a:p>
            <a:pPr lvl="1"/>
            <a:r>
              <a:rPr lang="en-US" dirty="0"/>
              <a:t>Runtime Error</a:t>
            </a:r>
          </a:p>
          <a:p>
            <a:pPr lvl="1"/>
            <a:r>
              <a:rPr lang="en-US" dirty="0"/>
              <a:t>Semantic Error</a:t>
            </a:r>
          </a:p>
          <a:p>
            <a:pPr lvl="1"/>
            <a:r>
              <a:rPr lang="en-US" dirty="0"/>
              <a:t>Syntax Error</a:t>
            </a:r>
          </a:p>
          <a:p>
            <a:pPr lvl="1"/>
            <a:r>
              <a:rPr lang="en-US" dirty="0"/>
              <a:t>Gross Error </a:t>
            </a:r>
          </a:p>
        </p:txBody>
      </p:sp>
    </p:spTree>
    <p:extLst>
      <p:ext uri="{BB962C8B-B14F-4D97-AF65-F5344CB8AC3E}">
        <p14:creationId xmlns:p14="http://schemas.microsoft.com/office/powerpoint/2010/main" val="825528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B082C-942D-EA15-42E3-303F364EA202}"/>
              </a:ext>
            </a:extLst>
          </p:cNvPr>
          <p:cNvSpPr>
            <a:spLocks noGrp="1"/>
          </p:cNvSpPr>
          <p:nvPr>
            <p:ph type="title"/>
          </p:nvPr>
        </p:nvSpPr>
        <p:spPr/>
        <p:txBody>
          <a:bodyPr/>
          <a:lstStyle/>
          <a:p>
            <a:r>
              <a:rPr lang="en-US" dirty="0"/>
              <a:t>debugger</a:t>
            </a:r>
          </a:p>
        </p:txBody>
      </p:sp>
      <p:sp>
        <p:nvSpPr>
          <p:cNvPr id="3" name="Content Placeholder 2">
            <a:extLst>
              <a:ext uri="{FF2B5EF4-FFF2-40B4-BE49-F238E27FC236}">
                <a16:creationId xmlns:a16="http://schemas.microsoft.com/office/drawing/2014/main" id="{E46CE8C8-C125-201C-243D-1E4302846EF5}"/>
              </a:ext>
            </a:extLst>
          </p:cNvPr>
          <p:cNvSpPr>
            <a:spLocks noGrp="1"/>
          </p:cNvSpPr>
          <p:nvPr>
            <p:ph idx="1"/>
          </p:nvPr>
        </p:nvSpPr>
        <p:spPr/>
        <p:txBody>
          <a:bodyPr>
            <a:normAutofit/>
          </a:bodyPr>
          <a:lstStyle/>
          <a:p>
            <a:r>
              <a:rPr lang="en-US" dirty="0"/>
              <a:t>A program that allows you to inspect and control the execution of your program is called a debugger</a:t>
            </a:r>
          </a:p>
          <a:p>
            <a:r>
              <a:rPr lang="en-US" dirty="0"/>
              <a:t>Most programming environments come with a debugger built in</a:t>
            </a:r>
          </a:p>
          <a:p>
            <a:r>
              <a:rPr lang="en-US" dirty="0"/>
              <a:t>Common debugger commands:</a:t>
            </a:r>
          </a:p>
          <a:p>
            <a:pPr lvl="1"/>
            <a:r>
              <a:rPr lang="en-US" dirty="0"/>
              <a:t>Pause the program at a particular line of code (breakpoint)</a:t>
            </a:r>
          </a:p>
          <a:p>
            <a:pPr lvl="1"/>
            <a:r>
              <a:rPr lang="en-US" dirty="0"/>
              <a:t>Navigate through the code manually</a:t>
            </a:r>
          </a:p>
          <a:p>
            <a:pPr lvl="1"/>
            <a:r>
              <a:rPr lang="en-US" dirty="0"/>
              <a:t>Display values of a particular variable or other information</a:t>
            </a:r>
          </a:p>
        </p:txBody>
      </p:sp>
    </p:spTree>
    <p:extLst>
      <p:ext uri="{BB962C8B-B14F-4D97-AF65-F5344CB8AC3E}">
        <p14:creationId xmlns:p14="http://schemas.microsoft.com/office/powerpoint/2010/main" val="3206400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87927-C853-E908-57DD-C688C92981A5}"/>
              </a:ext>
            </a:extLst>
          </p:cNvPr>
          <p:cNvSpPr>
            <a:spLocks noGrp="1"/>
          </p:cNvSpPr>
          <p:nvPr>
            <p:ph type="title"/>
          </p:nvPr>
        </p:nvSpPr>
        <p:spPr/>
        <p:txBody>
          <a:bodyPr/>
          <a:lstStyle/>
          <a:p>
            <a:r>
              <a:rPr lang="en-US" dirty="0" err="1"/>
              <a:t>Colab</a:t>
            </a:r>
            <a:r>
              <a:rPr lang="en-US" dirty="0"/>
              <a:t> Debugger</a:t>
            </a:r>
          </a:p>
        </p:txBody>
      </p:sp>
      <p:sp>
        <p:nvSpPr>
          <p:cNvPr id="3" name="Content Placeholder 2">
            <a:extLst>
              <a:ext uri="{FF2B5EF4-FFF2-40B4-BE49-F238E27FC236}">
                <a16:creationId xmlns:a16="http://schemas.microsoft.com/office/drawing/2014/main" id="{FBEFCC02-222C-368F-D0DD-CFC7F69865DD}"/>
              </a:ext>
            </a:extLst>
          </p:cNvPr>
          <p:cNvSpPr>
            <a:spLocks noGrp="1"/>
          </p:cNvSpPr>
          <p:nvPr>
            <p:ph idx="1"/>
          </p:nvPr>
        </p:nvSpPr>
        <p:spPr/>
        <p:txBody>
          <a:bodyPr/>
          <a:lstStyle/>
          <a:p>
            <a:r>
              <a:rPr lang="en-US" dirty="0"/>
              <a:t>Some debuggers have nice graphical interfaces (buttons, </a:t>
            </a:r>
            <a:r>
              <a:rPr lang="en-US" dirty="0" err="1"/>
              <a:t>etc</a:t>
            </a:r>
            <a:r>
              <a:rPr lang="en-US" dirty="0"/>
              <a:t>)</a:t>
            </a:r>
          </a:p>
          <a:p>
            <a:r>
              <a:rPr lang="en-US" dirty="0" err="1"/>
              <a:t>Colab</a:t>
            </a:r>
            <a:r>
              <a:rPr lang="en-US" dirty="0"/>
              <a:t> has a basic debugger provided through the python environment (</a:t>
            </a:r>
            <a:r>
              <a:rPr lang="en-US" dirty="0" err="1"/>
              <a:t>pdb</a:t>
            </a:r>
            <a:r>
              <a:rPr lang="en-US" dirty="0"/>
              <a:t> = python debugger)</a:t>
            </a:r>
          </a:p>
          <a:p>
            <a:r>
              <a:rPr lang="en-US" dirty="0"/>
              <a:t>For this course we only use a couple commands:</a:t>
            </a:r>
          </a:p>
          <a:p>
            <a:r>
              <a:rPr lang="en-US" dirty="0"/>
              <a:t>breakpoint()  (pause the program at a particular point)</a:t>
            </a:r>
          </a:p>
          <a:p>
            <a:r>
              <a:rPr lang="en-US" dirty="0"/>
              <a:t>print(…) print out information </a:t>
            </a:r>
          </a:p>
          <a:p>
            <a:r>
              <a:rPr lang="en-US" dirty="0"/>
              <a:t>c = continue to the next breakpoint or program end</a:t>
            </a:r>
          </a:p>
          <a:p>
            <a:r>
              <a:rPr lang="en-US" dirty="0"/>
              <a:t>q = quit the debugger</a:t>
            </a:r>
          </a:p>
        </p:txBody>
      </p:sp>
    </p:spTree>
    <p:extLst>
      <p:ext uri="{BB962C8B-B14F-4D97-AF65-F5344CB8AC3E}">
        <p14:creationId xmlns:p14="http://schemas.microsoft.com/office/powerpoint/2010/main" val="22166317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6C7D-4716-A9C5-D12A-9C94F6161ED1}"/>
              </a:ext>
            </a:extLst>
          </p:cNvPr>
          <p:cNvSpPr>
            <a:spLocks noGrp="1"/>
          </p:cNvSpPr>
          <p:nvPr>
            <p:ph type="title"/>
          </p:nvPr>
        </p:nvSpPr>
        <p:spPr/>
        <p:txBody>
          <a:bodyPr/>
          <a:lstStyle/>
          <a:p>
            <a:r>
              <a:rPr lang="en-US" dirty="0"/>
              <a:t>Debugger</a:t>
            </a:r>
          </a:p>
        </p:txBody>
      </p:sp>
      <p:pic>
        <p:nvPicPr>
          <p:cNvPr id="6" name="Content Placeholder 5">
            <a:extLst>
              <a:ext uri="{FF2B5EF4-FFF2-40B4-BE49-F238E27FC236}">
                <a16:creationId xmlns:a16="http://schemas.microsoft.com/office/drawing/2014/main" id="{78CC9434-B03B-3922-7CD5-41DEA38205C9}"/>
              </a:ext>
            </a:extLst>
          </p:cNvPr>
          <p:cNvPicPr>
            <a:picLocks noGrp="1" noChangeAspect="1"/>
          </p:cNvPicPr>
          <p:nvPr>
            <p:ph idx="1"/>
          </p:nvPr>
        </p:nvPicPr>
        <p:blipFill>
          <a:blip r:embed="rId2"/>
          <a:stretch>
            <a:fillRect/>
          </a:stretch>
        </p:blipFill>
        <p:spPr>
          <a:xfrm>
            <a:off x="3549650" y="2779712"/>
            <a:ext cx="5092700" cy="2819400"/>
          </a:xfrm>
          <a:prstGeom prst="rect">
            <a:avLst/>
          </a:prstGeom>
        </p:spPr>
      </p:pic>
      <p:cxnSp>
        <p:nvCxnSpPr>
          <p:cNvPr id="8" name="Straight Arrow Connector 7">
            <a:extLst>
              <a:ext uri="{FF2B5EF4-FFF2-40B4-BE49-F238E27FC236}">
                <a16:creationId xmlns:a16="http://schemas.microsoft.com/office/drawing/2014/main" id="{E00889DB-67A5-A058-F1AD-EFE79031C8FB}"/>
              </a:ext>
            </a:extLst>
          </p:cNvPr>
          <p:cNvCxnSpPr/>
          <p:nvPr/>
        </p:nvCxnSpPr>
        <p:spPr>
          <a:xfrm flipH="1" flipV="1">
            <a:off x="5204012" y="3254188"/>
            <a:ext cx="4585447" cy="1748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C3BA2EA-B4BB-AFC4-1D78-63BFA9E59335}"/>
              </a:ext>
            </a:extLst>
          </p:cNvPr>
          <p:cNvSpPr txBox="1"/>
          <p:nvPr/>
        </p:nvSpPr>
        <p:spPr>
          <a:xfrm>
            <a:off x="9789459" y="3065929"/>
            <a:ext cx="2124635" cy="2031325"/>
          </a:xfrm>
          <a:prstGeom prst="rect">
            <a:avLst/>
          </a:prstGeom>
          <a:noFill/>
        </p:spPr>
        <p:txBody>
          <a:bodyPr wrap="square" rtlCol="0">
            <a:spAutoFit/>
          </a:bodyPr>
          <a:lstStyle/>
          <a:p>
            <a:r>
              <a:rPr lang="en-US" dirty="0"/>
              <a:t>Program will pause at this line and enter debug mode</a:t>
            </a:r>
          </a:p>
          <a:p>
            <a:endParaRPr lang="en-US" dirty="0"/>
          </a:p>
          <a:p>
            <a:r>
              <a:rPr lang="en-US" dirty="0"/>
              <a:t>Type c to continue to next breakpoint </a:t>
            </a:r>
          </a:p>
          <a:p>
            <a:r>
              <a:rPr lang="en-US" dirty="0"/>
              <a:t>Or print out data</a:t>
            </a:r>
          </a:p>
        </p:txBody>
      </p:sp>
    </p:spTree>
    <p:extLst>
      <p:ext uri="{BB962C8B-B14F-4D97-AF65-F5344CB8AC3E}">
        <p14:creationId xmlns:p14="http://schemas.microsoft.com/office/powerpoint/2010/main" val="5352252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8AC17-C51E-959F-9282-663FF8EEA31B}"/>
              </a:ext>
            </a:extLst>
          </p:cNvPr>
          <p:cNvSpPr>
            <a:spLocks noGrp="1"/>
          </p:cNvSpPr>
          <p:nvPr>
            <p:ph type="title"/>
          </p:nvPr>
        </p:nvSpPr>
        <p:spPr/>
        <p:txBody>
          <a:bodyPr/>
          <a:lstStyle/>
          <a:p>
            <a:r>
              <a:rPr lang="en-US" dirty="0"/>
              <a:t>PDB demo</a:t>
            </a:r>
          </a:p>
        </p:txBody>
      </p:sp>
      <p:sp>
        <p:nvSpPr>
          <p:cNvPr id="3" name="Content Placeholder 2">
            <a:extLst>
              <a:ext uri="{FF2B5EF4-FFF2-40B4-BE49-F238E27FC236}">
                <a16:creationId xmlns:a16="http://schemas.microsoft.com/office/drawing/2014/main" id="{E535D727-1F1C-BA83-C2E3-AD41F102D55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462831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86553-5F78-CE6C-7FFF-95C3F1BEEE26}"/>
              </a:ext>
            </a:extLst>
          </p:cNvPr>
          <p:cNvSpPr>
            <a:spLocks noGrp="1"/>
          </p:cNvSpPr>
          <p:nvPr>
            <p:ph type="title"/>
          </p:nvPr>
        </p:nvSpPr>
        <p:spPr/>
        <p:txBody>
          <a:bodyPr/>
          <a:lstStyle/>
          <a:p>
            <a:r>
              <a:rPr lang="en-US" dirty="0"/>
              <a:t>Try at home</a:t>
            </a:r>
          </a:p>
        </p:txBody>
      </p:sp>
      <p:sp>
        <p:nvSpPr>
          <p:cNvPr id="3" name="Content Placeholder 2">
            <a:extLst>
              <a:ext uri="{FF2B5EF4-FFF2-40B4-BE49-F238E27FC236}">
                <a16:creationId xmlns:a16="http://schemas.microsoft.com/office/drawing/2014/main" id="{F92C4A8E-AA44-1B45-6CF6-2660836A9DAD}"/>
              </a:ext>
            </a:extLst>
          </p:cNvPr>
          <p:cNvSpPr>
            <a:spLocks noGrp="1"/>
          </p:cNvSpPr>
          <p:nvPr>
            <p:ph idx="1"/>
          </p:nvPr>
        </p:nvSpPr>
        <p:spPr/>
        <p:txBody>
          <a:bodyPr/>
          <a:lstStyle/>
          <a:p>
            <a:r>
              <a:rPr lang="en-US" dirty="0"/>
              <a:t>Ensure if you re-wrote the midterm you would be able to correctly answer all questions</a:t>
            </a:r>
          </a:p>
        </p:txBody>
      </p:sp>
    </p:spTree>
    <p:extLst>
      <p:ext uri="{BB962C8B-B14F-4D97-AF65-F5344CB8AC3E}">
        <p14:creationId xmlns:p14="http://schemas.microsoft.com/office/powerpoint/2010/main" val="1602405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71E18-B668-1A74-416C-8F940EF51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865E1-7F36-B257-BE2F-FCE5990925B3}"/>
              </a:ext>
            </a:extLst>
          </p:cNvPr>
          <p:cNvSpPr>
            <a:spLocks noGrp="1"/>
          </p:cNvSpPr>
          <p:nvPr>
            <p:ph type="title"/>
          </p:nvPr>
        </p:nvSpPr>
        <p:spPr/>
        <p:txBody>
          <a:bodyPr/>
          <a:lstStyle/>
          <a:p>
            <a:r>
              <a:rPr lang="en-US" dirty="0"/>
              <a:t>Self-Check</a:t>
            </a:r>
          </a:p>
        </p:txBody>
      </p:sp>
      <p:sp>
        <p:nvSpPr>
          <p:cNvPr id="3" name="Content Placeholder 2">
            <a:extLst>
              <a:ext uri="{FF2B5EF4-FFF2-40B4-BE49-F238E27FC236}">
                <a16:creationId xmlns:a16="http://schemas.microsoft.com/office/drawing/2014/main" id="{D3977794-E0B9-A2DF-DA33-015C2B3C5CA7}"/>
              </a:ext>
            </a:extLst>
          </p:cNvPr>
          <p:cNvSpPr>
            <a:spLocks noGrp="1"/>
          </p:cNvSpPr>
          <p:nvPr>
            <p:ph idx="1"/>
          </p:nvPr>
        </p:nvSpPr>
        <p:spPr/>
        <p:txBody>
          <a:bodyPr>
            <a:normAutofit lnSpcReduction="10000"/>
          </a:bodyPr>
          <a:lstStyle/>
          <a:p>
            <a:r>
              <a:rPr lang="en-US" dirty="0"/>
              <a:t>Consider the following code:</a:t>
            </a:r>
          </a:p>
          <a:p>
            <a:pPr>
              <a:buNone/>
            </a:pPr>
            <a:r>
              <a:rPr lang="en-US" sz="1800" i="1" dirty="0">
                <a:solidFill>
                  <a:srgbClr val="8C8C8C"/>
                </a:solidFill>
                <a:effectLst/>
                <a:latin typeface="JetBrains Mono"/>
              </a:rPr>
              <a:t>#Bug Code Example</a:t>
            </a:r>
            <a:br>
              <a:rPr lang="en-US" sz="1800" i="1" dirty="0">
                <a:solidFill>
                  <a:srgbClr val="8C8C8C"/>
                </a:solidFill>
                <a:effectLst/>
                <a:latin typeface="JetBrains Mono"/>
              </a:rPr>
            </a:br>
            <a:r>
              <a:rPr lang="en-US" sz="1800" dirty="0">
                <a:solidFill>
                  <a:srgbClr val="080808"/>
                </a:solidFill>
                <a:effectLst/>
                <a:latin typeface="JetBrains Mono"/>
              </a:rPr>
              <a:t>number1 = </a:t>
            </a:r>
            <a:r>
              <a:rPr lang="en-US" sz="1800" dirty="0">
                <a:solidFill>
                  <a:srgbClr val="000080"/>
                </a:solidFill>
                <a:effectLst/>
                <a:latin typeface="JetBrains Mono"/>
              </a:rPr>
              <a:t>input</a:t>
            </a:r>
            <a:r>
              <a:rPr lang="en-US" sz="1800" dirty="0">
                <a:solidFill>
                  <a:srgbClr val="080808"/>
                </a:solidFill>
                <a:effectLst/>
                <a:latin typeface="JetBrains Mono"/>
              </a:rPr>
              <a:t>(</a:t>
            </a:r>
            <a:r>
              <a:rPr lang="en-US" sz="1800" dirty="0">
                <a:solidFill>
                  <a:srgbClr val="067D17"/>
                </a:solidFill>
                <a:effectLst/>
                <a:latin typeface="JetBrains Mono"/>
              </a:rPr>
              <a:t>"Enter a number:"</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number2 = </a:t>
            </a:r>
            <a:r>
              <a:rPr lang="en-US" sz="1800" dirty="0">
                <a:solidFill>
                  <a:srgbClr val="000080"/>
                </a:solidFill>
                <a:effectLst/>
                <a:latin typeface="JetBrains Mono"/>
              </a:rPr>
              <a:t>input</a:t>
            </a:r>
            <a:r>
              <a:rPr lang="en-US" sz="1800" dirty="0">
                <a:solidFill>
                  <a:srgbClr val="080808"/>
                </a:solidFill>
                <a:effectLst/>
                <a:latin typeface="JetBrains Mono"/>
              </a:rPr>
              <a:t>(</a:t>
            </a:r>
            <a:r>
              <a:rPr lang="en-US" sz="1800" dirty="0">
                <a:solidFill>
                  <a:srgbClr val="067D17"/>
                </a:solidFill>
                <a:effectLst/>
                <a:latin typeface="JetBrains Mono"/>
              </a:rPr>
              <a:t>"Enter another number:"</a:t>
            </a:r>
            <a:r>
              <a:rPr lang="en-US" sz="1800" dirty="0">
                <a:solidFill>
                  <a:srgbClr val="080808"/>
                </a:solidFill>
                <a:effectLst/>
                <a:latin typeface="JetBrains Mono"/>
              </a:rPr>
              <a:t>)</a:t>
            </a:r>
            <a:br>
              <a:rPr lang="en-US" sz="1800" dirty="0">
                <a:solidFill>
                  <a:srgbClr val="080808"/>
                </a:solidFill>
                <a:effectLst/>
                <a:latin typeface="JetBrains Mono"/>
              </a:rPr>
            </a:br>
            <a:br>
              <a:rPr lang="en-US" sz="1800" dirty="0">
                <a:solidFill>
                  <a:srgbClr val="080808"/>
                </a:solidFill>
                <a:effectLst/>
                <a:latin typeface="JetBrains Mono"/>
              </a:rPr>
            </a:br>
            <a:r>
              <a:rPr lang="en-US" sz="1800" dirty="0" err="1">
                <a:solidFill>
                  <a:srgbClr val="080808"/>
                </a:solidFill>
                <a:effectLst/>
                <a:latin typeface="JetBrains Mono"/>
              </a:rPr>
              <a:t>sum_numbers</a:t>
            </a:r>
            <a:r>
              <a:rPr lang="en-US" sz="1800" dirty="0">
                <a:solidFill>
                  <a:srgbClr val="080808"/>
                </a:solidFill>
                <a:effectLst/>
                <a:latin typeface="JetBrains Mono"/>
              </a:rPr>
              <a:t> = number1+number2</a:t>
            </a:r>
            <a:br>
              <a:rPr lang="en-US" sz="1800" dirty="0">
                <a:solidFill>
                  <a:srgbClr val="080808"/>
                </a:solidFill>
                <a:effectLst/>
                <a:latin typeface="JetBrains Mono"/>
              </a:rPr>
            </a:b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err="1">
                <a:solidFill>
                  <a:srgbClr val="067D17"/>
                </a:solidFill>
                <a:effectLst/>
                <a:latin typeface="JetBrains Mono"/>
              </a:rPr>
              <a:t>f"Sum</a:t>
            </a:r>
            <a:r>
              <a:rPr lang="en-US" sz="1800" dirty="0">
                <a:solidFill>
                  <a:srgbClr val="067D17"/>
                </a:solidFill>
                <a:effectLst/>
                <a:latin typeface="JetBrains Mono"/>
              </a:rPr>
              <a:t> of numbers: </a:t>
            </a:r>
            <a:r>
              <a:rPr lang="en-US" sz="1800" dirty="0">
                <a:solidFill>
                  <a:srgbClr val="0037A6"/>
                </a:solidFill>
                <a:effectLst/>
                <a:latin typeface="JetBrains Mono"/>
              </a:rPr>
              <a:t>{</a:t>
            </a:r>
            <a:r>
              <a:rPr lang="en-US" sz="1800" dirty="0" err="1">
                <a:solidFill>
                  <a:srgbClr val="080808"/>
                </a:solidFill>
                <a:effectLst/>
                <a:latin typeface="JetBrains Mono"/>
              </a:rPr>
              <a:t>sum_numbers</a:t>
            </a:r>
            <a:r>
              <a:rPr lang="en-US" sz="1800" dirty="0">
                <a:solidFill>
                  <a:srgbClr val="0037A6"/>
                </a:solidFill>
                <a:effectLst/>
                <a:latin typeface="JetBrains Mono"/>
              </a:rPr>
              <a:t>}</a:t>
            </a:r>
            <a:r>
              <a:rPr lang="en-US" sz="1800" dirty="0">
                <a:solidFill>
                  <a:srgbClr val="067D17"/>
                </a:solidFill>
                <a:effectLst/>
                <a:latin typeface="JetBrains Mono"/>
              </a:rPr>
              <a:t>"</a:t>
            </a:r>
            <a:r>
              <a:rPr lang="en-US" sz="1800" dirty="0">
                <a:solidFill>
                  <a:srgbClr val="080808"/>
                </a:solidFill>
                <a:effectLst/>
                <a:latin typeface="JetBrains Mono"/>
              </a:rPr>
              <a:t>)</a:t>
            </a:r>
          </a:p>
          <a:p>
            <a:pPr>
              <a:buNone/>
            </a:pPr>
            <a:endParaRPr lang="en-US" dirty="0">
              <a:solidFill>
                <a:srgbClr val="080808"/>
              </a:solidFill>
              <a:latin typeface="JetBrains Mono"/>
            </a:endParaRPr>
          </a:p>
          <a:p>
            <a:pPr>
              <a:buNone/>
            </a:pPr>
            <a:r>
              <a:rPr lang="en-US" dirty="0">
                <a:solidFill>
                  <a:srgbClr val="080808"/>
                </a:solidFill>
                <a:latin typeface="JetBrains Mono"/>
              </a:rPr>
              <a:t>What type of error will I encounter?  </a:t>
            </a:r>
          </a:p>
          <a:p>
            <a:pPr>
              <a:buNone/>
            </a:pPr>
            <a:r>
              <a:rPr lang="en-US" sz="1800" dirty="0">
                <a:solidFill>
                  <a:srgbClr val="080808"/>
                </a:solidFill>
                <a:effectLst/>
                <a:latin typeface="JetBrains Mono"/>
              </a:rPr>
              <a:t>Think about your test data … </a:t>
            </a:r>
          </a:p>
          <a:p>
            <a:endParaRPr lang="en-US" dirty="0"/>
          </a:p>
        </p:txBody>
      </p:sp>
    </p:spTree>
    <p:extLst>
      <p:ext uri="{BB962C8B-B14F-4D97-AF65-F5344CB8AC3E}">
        <p14:creationId xmlns:p14="http://schemas.microsoft.com/office/powerpoint/2010/main" val="21999538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1530B-B289-7782-70BE-57D34AD3CAD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B3FF97E-087E-8DDD-5297-50D5212DFA5F}"/>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40786736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77885B-D295-63A4-C367-FEFEDCFE7121}"/>
              </a:ext>
            </a:extLst>
          </p:cNvPr>
          <p:cNvSpPr>
            <a:spLocks noGrp="1"/>
          </p:cNvSpPr>
          <p:nvPr>
            <p:ph type="ctrTitle"/>
          </p:nvPr>
        </p:nvSpPr>
        <p:spPr/>
        <p:txBody>
          <a:bodyPr/>
          <a:lstStyle/>
          <a:p>
            <a:r>
              <a:rPr lang="en-CA" dirty="0"/>
              <a:t>Additional Case Study</a:t>
            </a:r>
          </a:p>
        </p:txBody>
      </p:sp>
      <p:sp>
        <p:nvSpPr>
          <p:cNvPr id="5" name="Subtitle 4">
            <a:extLst>
              <a:ext uri="{FF2B5EF4-FFF2-40B4-BE49-F238E27FC236}">
                <a16:creationId xmlns:a16="http://schemas.microsoft.com/office/drawing/2014/main" id="{7E17D3AB-244A-6723-0CC0-7A38D3361E9F}"/>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546624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45325-CE6D-75C6-731C-CEC2C86588CB}"/>
              </a:ext>
            </a:extLst>
          </p:cNvPr>
          <p:cNvSpPr>
            <a:spLocks noGrp="1"/>
          </p:cNvSpPr>
          <p:nvPr>
            <p:ph type="title"/>
          </p:nvPr>
        </p:nvSpPr>
        <p:spPr>
          <a:xfrm>
            <a:off x="2231136" y="646847"/>
            <a:ext cx="7729728" cy="1188720"/>
          </a:xfrm>
        </p:spPr>
        <p:txBody>
          <a:bodyPr>
            <a:normAutofit/>
          </a:bodyPr>
          <a:lstStyle/>
          <a:p>
            <a:r>
              <a:rPr lang="en-US" dirty="0"/>
              <a:t>More Find A Partner:</a:t>
            </a:r>
            <a:br>
              <a:rPr lang="en-US" dirty="0"/>
            </a:br>
            <a:r>
              <a:rPr lang="en-US" dirty="0"/>
              <a:t>The Ants Go Marching</a:t>
            </a:r>
          </a:p>
        </p:txBody>
      </p:sp>
      <p:sp>
        <p:nvSpPr>
          <p:cNvPr id="3" name="Content Placeholder 2">
            <a:extLst>
              <a:ext uri="{FF2B5EF4-FFF2-40B4-BE49-F238E27FC236}">
                <a16:creationId xmlns:a16="http://schemas.microsoft.com/office/drawing/2014/main" id="{3905BB0A-2FFF-50D0-30A0-183E16084E74}"/>
              </a:ext>
            </a:extLst>
          </p:cNvPr>
          <p:cNvSpPr>
            <a:spLocks noGrp="1"/>
          </p:cNvSpPr>
          <p:nvPr>
            <p:ph idx="1"/>
          </p:nvPr>
        </p:nvSpPr>
        <p:spPr>
          <a:xfrm>
            <a:off x="2231136" y="2323250"/>
            <a:ext cx="7729728" cy="3101983"/>
          </a:xfrm>
        </p:spPr>
        <p:txBody>
          <a:bodyPr>
            <a:normAutofit lnSpcReduction="10000"/>
          </a:bodyPr>
          <a:lstStyle/>
          <a:p>
            <a:r>
              <a:rPr lang="en-US" dirty="0"/>
              <a:t>Consider that ants march on a stick</a:t>
            </a:r>
          </a:p>
          <a:p>
            <a:r>
              <a:rPr lang="en-US" dirty="0"/>
              <a:t>They travel in one direction but if they bump into another ant both ants reverse their direction and walk the other way</a:t>
            </a:r>
          </a:p>
          <a:p>
            <a:r>
              <a:rPr lang="en-US" dirty="0"/>
              <a:t>If they reach the end of the stick they fall off </a:t>
            </a:r>
          </a:p>
          <a:p>
            <a:r>
              <a:rPr lang="en-US" dirty="0"/>
              <a:t>Ants travel at 1cm/s and the stick is 9 cm long</a:t>
            </a:r>
          </a:p>
          <a:p>
            <a:r>
              <a:rPr lang="en-US" dirty="0"/>
              <a:t>What is the minimum or maximum amount of time until the stick has no ants on it </a:t>
            </a:r>
          </a:p>
          <a:p>
            <a:endParaRPr lang="en-US" dirty="0"/>
          </a:p>
          <a:p>
            <a:r>
              <a:rPr lang="en-US" dirty="0"/>
              <a:t>Input: the number of ants on the stick and the starting location for each ant</a:t>
            </a:r>
          </a:p>
          <a:p>
            <a:endParaRPr lang="en-US" dirty="0"/>
          </a:p>
        </p:txBody>
      </p:sp>
    </p:spTree>
    <p:extLst>
      <p:ext uri="{BB962C8B-B14F-4D97-AF65-F5344CB8AC3E}">
        <p14:creationId xmlns:p14="http://schemas.microsoft.com/office/powerpoint/2010/main" val="26230632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ED03601-4724-4293-A32A-3A0879C5D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433AC3-E189-483B-9E8C-DFD5D2A186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A56D02-26D5-1DA2-081B-523A751A00C4}"/>
              </a:ext>
            </a:extLst>
          </p:cNvPr>
          <p:cNvSpPr>
            <a:spLocks noGrp="1"/>
          </p:cNvSpPr>
          <p:nvPr>
            <p:ph type="title"/>
          </p:nvPr>
        </p:nvSpPr>
        <p:spPr>
          <a:xfrm>
            <a:off x="1600200" y="3773580"/>
            <a:ext cx="8991600" cy="1264762"/>
          </a:xfrm>
        </p:spPr>
        <p:txBody>
          <a:bodyPr vert="horz" lIns="274320" tIns="182880" rIns="274320" bIns="182880" rtlCol="0" anchor="ctr" anchorCtr="1">
            <a:normAutofit/>
          </a:bodyPr>
          <a:lstStyle/>
          <a:p>
            <a:r>
              <a:rPr lang="en-US" sz="3200"/>
              <a:t>Ants go marching</a:t>
            </a:r>
          </a:p>
        </p:txBody>
      </p:sp>
      <p:sp>
        <p:nvSpPr>
          <p:cNvPr id="3" name="Content Placeholder 2">
            <a:extLst>
              <a:ext uri="{FF2B5EF4-FFF2-40B4-BE49-F238E27FC236}">
                <a16:creationId xmlns:a16="http://schemas.microsoft.com/office/drawing/2014/main" id="{6D3DEB24-4441-A42E-FED6-E6C23C4BEF3D}"/>
              </a:ext>
            </a:extLst>
          </p:cNvPr>
          <p:cNvSpPr>
            <a:spLocks noGrp="1"/>
          </p:cNvSpPr>
          <p:nvPr>
            <p:ph idx="1"/>
          </p:nvPr>
        </p:nvSpPr>
        <p:spPr>
          <a:xfrm>
            <a:off x="2548329" y="5231567"/>
            <a:ext cx="7450110" cy="1484025"/>
          </a:xfrm>
        </p:spPr>
        <p:txBody>
          <a:bodyPr vert="horz" lIns="91440" tIns="45720" rIns="91440" bIns="45720" rtlCol="0">
            <a:normAutofit/>
          </a:bodyPr>
          <a:lstStyle/>
          <a:p>
            <a:pPr marL="0" indent="0" algn="ctr">
              <a:buNone/>
            </a:pPr>
            <a:r>
              <a:rPr lang="en-US" sz="2000" kern="1200" dirty="0">
                <a:solidFill>
                  <a:srgbClr val="FFFFFF"/>
                </a:solidFill>
                <a:latin typeface="+mn-lt"/>
                <a:ea typeface="+mn-ea"/>
                <a:cs typeface="+mn-cs"/>
              </a:rPr>
              <a:t>Input: the number of ants on the stick and the starting location for each ant</a:t>
            </a:r>
          </a:p>
          <a:p>
            <a:pPr marL="0" indent="0" algn="ctr">
              <a:buNone/>
            </a:pPr>
            <a:r>
              <a:rPr lang="en-US" sz="2000" dirty="0">
                <a:solidFill>
                  <a:srgbClr val="FFFFFF"/>
                </a:solidFill>
              </a:rPr>
              <a:t>Expected output: The minimum and maximum possible time for the stick to empty</a:t>
            </a:r>
            <a:endParaRPr lang="en-US" sz="2000" kern="1200" dirty="0">
              <a:solidFill>
                <a:srgbClr val="FFFFFF"/>
              </a:solidFill>
              <a:latin typeface="+mn-lt"/>
              <a:ea typeface="+mn-ea"/>
              <a:cs typeface="+mn-cs"/>
            </a:endParaRPr>
          </a:p>
        </p:txBody>
      </p:sp>
      <p:pic>
        <p:nvPicPr>
          <p:cNvPr id="5" name="Picture 4">
            <a:extLst>
              <a:ext uri="{FF2B5EF4-FFF2-40B4-BE49-F238E27FC236}">
                <a16:creationId xmlns:a16="http://schemas.microsoft.com/office/drawing/2014/main" id="{16683B76-8EC2-DAC8-1FA3-8843F7BA46CD}"/>
              </a:ext>
            </a:extLst>
          </p:cNvPr>
          <p:cNvPicPr>
            <a:picLocks noChangeAspect="1"/>
          </p:cNvPicPr>
          <p:nvPr/>
        </p:nvPicPr>
        <p:blipFill>
          <a:blip r:embed="rId2"/>
          <a:stretch>
            <a:fillRect/>
          </a:stretch>
        </p:blipFill>
        <p:spPr>
          <a:xfrm>
            <a:off x="2365219" y="794589"/>
            <a:ext cx="7251700" cy="2184400"/>
          </a:xfrm>
          <a:prstGeom prst="rect">
            <a:avLst/>
          </a:prstGeom>
        </p:spPr>
      </p:pic>
    </p:spTree>
    <p:extLst>
      <p:ext uri="{BB962C8B-B14F-4D97-AF65-F5344CB8AC3E}">
        <p14:creationId xmlns:p14="http://schemas.microsoft.com/office/powerpoint/2010/main" val="29233558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FA21C72-692C-49FD-9EB4-DDDDDEBD4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75405" y="950977"/>
            <a:ext cx="9041190" cy="4956047"/>
          </a:xfrm>
          <a:prstGeom prst="rect">
            <a:avLst/>
          </a:prstGeom>
          <a:solidFill>
            <a:srgbClr val="FFFFFF"/>
          </a:solidFill>
          <a:ln w="31750">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aph with red dots and a line&#10;&#10;AI-generated content may be incorrect.">
            <a:extLst>
              <a:ext uri="{FF2B5EF4-FFF2-40B4-BE49-F238E27FC236}">
                <a16:creationId xmlns:a16="http://schemas.microsoft.com/office/drawing/2014/main" id="{1C0E8E1C-C487-2AD0-0F09-F4BC0E70ABBD}"/>
              </a:ext>
            </a:extLst>
          </p:cNvPr>
          <p:cNvPicPr>
            <a:picLocks noGrp="1" noChangeAspect="1"/>
          </p:cNvPicPr>
          <p:nvPr>
            <p:ph idx="1"/>
          </p:nvPr>
        </p:nvPicPr>
        <p:blipFill>
          <a:blip r:embed="rId3"/>
          <a:stretch>
            <a:fillRect/>
          </a:stretch>
        </p:blipFill>
        <p:spPr>
          <a:xfrm>
            <a:off x="3446610" y="1271016"/>
            <a:ext cx="5754624" cy="4315968"/>
          </a:xfrm>
          <a:prstGeom prst="rect">
            <a:avLst/>
          </a:prstGeom>
        </p:spPr>
      </p:pic>
      <p:sp>
        <p:nvSpPr>
          <p:cNvPr id="12" name="Oval 11">
            <a:extLst>
              <a:ext uri="{FF2B5EF4-FFF2-40B4-BE49-F238E27FC236}">
                <a16:creationId xmlns:a16="http://schemas.microsoft.com/office/drawing/2014/main" id="{FBAF941A-6830-47A3-B63C-7C7B66AEA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380" y="624518"/>
            <a:ext cx="2157984" cy="2157984"/>
          </a:xfrm>
          <a:prstGeom prst="ellipse">
            <a:avLst/>
          </a:prstGeom>
          <a:solidFill>
            <a:srgbClr val="404040"/>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F51F43-0700-9F6D-B28F-4D4600B696CD}"/>
              </a:ext>
            </a:extLst>
          </p:cNvPr>
          <p:cNvSpPr>
            <a:spLocks noGrp="1"/>
          </p:cNvSpPr>
          <p:nvPr>
            <p:ph type="title"/>
          </p:nvPr>
        </p:nvSpPr>
        <p:spPr>
          <a:xfrm>
            <a:off x="796972" y="789110"/>
            <a:ext cx="1828800" cy="1828800"/>
          </a:xfrm>
          <a:prstGeom prst="ellipse">
            <a:avLst/>
          </a:prstGeom>
          <a:noFill/>
          <a:ln>
            <a:solidFill>
              <a:srgbClr val="FFFFFF"/>
            </a:solidFill>
          </a:ln>
        </p:spPr>
        <p:txBody>
          <a:bodyPr vert="horz" lIns="182880" tIns="182880" rIns="182880" bIns="182880" rtlCol="0" anchor="ctr">
            <a:normAutofit/>
          </a:bodyPr>
          <a:lstStyle/>
          <a:p>
            <a:r>
              <a:rPr lang="en-US" sz="2000" dirty="0">
                <a:solidFill>
                  <a:srgbClr val="FFFFFF"/>
                </a:solidFill>
              </a:rPr>
              <a:t>Ants on a Stick</a:t>
            </a:r>
          </a:p>
        </p:txBody>
      </p:sp>
    </p:spTree>
    <p:extLst>
      <p:ext uri="{BB962C8B-B14F-4D97-AF65-F5344CB8AC3E}">
        <p14:creationId xmlns:p14="http://schemas.microsoft.com/office/powerpoint/2010/main" val="13856569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866C4-35A6-E712-E44C-A74977DF436C}"/>
              </a:ext>
            </a:extLst>
          </p:cNvPr>
          <p:cNvSpPr>
            <a:spLocks noGrp="1"/>
          </p:cNvSpPr>
          <p:nvPr>
            <p:ph type="title"/>
          </p:nvPr>
        </p:nvSpPr>
        <p:spPr/>
        <p:txBody>
          <a:bodyPr/>
          <a:lstStyle/>
          <a:p>
            <a:r>
              <a:rPr lang="en-US" dirty="0"/>
              <a:t>Try at Home</a:t>
            </a:r>
          </a:p>
        </p:txBody>
      </p:sp>
      <p:sp>
        <p:nvSpPr>
          <p:cNvPr id="3" name="Content Placeholder 2">
            <a:extLst>
              <a:ext uri="{FF2B5EF4-FFF2-40B4-BE49-F238E27FC236}">
                <a16:creationId xmlns:a16="http://schemas.microsoft.com/office/drawing/2014/main" id="{0859A072-884A-FD0D-3A79-EFFC52E8F251}"/>
              </a:ext>
            </a:extLst>
          </p:cNvPr>
          <p:cNvSpPr>
            <a:spLocks noGrp="1"/>
          </p:cNvSpPr>
          <p:nvPr>
            <p:ph idx="1"/>
          </p:nvPr>
        </p:nvSpPr>
        <p:spPr/>
        <p:txBody>
          <a:bodyPr/>
          <a:lstStyle/>
          <a:p>
            <a:r>
              <a:rPr lang="en-US" dirty="0"/>
              <a:t>Parity </a:t>
            </a:r>
          </a:p>
          <a:p>
            <a:pPr lvl="1"/>
            <a:r>
              <a:rPr lang="en-US" dirty="0"/>
              <a:t>In Computer Science a bit is something that has 2 states (on and off). We represent bits with either 0 or 1</a:t>
            </a:r>
          </a:p>
          <a:p>
            <a:pPr lvl="1"/>
            <a:r>
              <a:rPr lang="en-US" dirty="0"/>
              <a:t>A bit string is a string containing only 0s and 1s e.g., “0100110”</a:t>
            </a:r>
          </a:p>
          <a:p>
            <a:pPr lvl="1"/>
            <a:r>
              <a:rPr lang="en-US" dirty="0"/>
              <a:t>Parity is a count of the number of 1’s in a bit string if there is an even number we say the bit string has even parity.</a:t>
            </a:r>
          </a:p>
          <a:p>
            <a:pPr lvl="1"/>
            <a:r>
              <a:rPr lang="en-US" dirty="0"/>
              <a:t>Suppose we always like our bit strings to have even parity. </a:t>
            </a:r>
          </a:p>
          <a:p>
            <a:pPr lvl="1"/>
            <a:r>
              <a:rPr lang="en-US" dirty="0"/>
              <a:t>Given a bit string your task is to concatenate a character to the end of the bit string but ensure the parity of the bit string you create is always even </a:t>
            </a:r>
          </a:p>
        </p:txBody>
      </p:sp>
      <p:sp>
        <p:nvSpPr>
          <p:cNvPr id="4" name="TextBox 3">
            <a:extLst>
              <a:ext uri="{FF2B5EF4-FFF2-40B4-BE49-F238E27FC236}">
                <a16:creationId xmlns:a16="http://schemas.microsoft.com/office/drawing/2014/main" id="{95B3FAFC-A9F0-9A92-98A9-DCD95655F3A3}"/>
              </a:ext>
            </a:extLst>
          </p:cNvPr>
          <p:cNvSpPr txBox="1"/>
          <p:nvPr/>
        </p:nvSpPr>
        <p:spPr>
          <a:xfrm>
            <a:off x="2730784" y="5737953"/>
            <a:ext cx="6730432" cy="369332"/>
          </a:xfrm>
          <a:prstGeom prst="rect">
            <a:avLst/>
          </a:prstGeom>
          <a:noFill/>
          <a:ln>
            <a:solidFill>
              <a:srgbClr val="404040"/>
            </a:solidFill>
          </a:ln>
        </p:spPr>
        <p:txBody>
          <a:bodyPr wrap="none" rtlCol="0">
            <a:spAutoFit/>
          </a:bodyPr>
          <a:lstStyle/>
          <a:p>
            <a:r>
              <a:rPr lang="en-US" dirty="0"/>
              <a:t>The solution is not the goal here. Follow the problem-solving process </a:t>
            </a:r>
          </a:p>
        </p:txBody>
      </p:sp>
    </p:spTree>
    <p:extLst>
      <p:ext uri="{BB962C8B-B14F-4D97-AF65-F5344CB8AC3E}">
        <p14:creationId xmlns:p14="http://schemas.microsoft.com/office/powerpoint/2010/main" val="844259013"/>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775</TotalTime>
  <Words>4000</Words>
  <Application>Microsoft Office PowerPoint</Application>
  <PresentationFormat>Widescreen</PresentationFormat>
  <Paragraphs>314</Paragraphs>
  <Slides>41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Aptos</vt:lpstr>
      <vt:lpstr>Arial</vt:lpstr>
      <vt:lpstr>Gill Sans MT</vt:lpstr>
      <vt:lpstr>JetBrains Mono</vt:lpstr>
      <vt:lpstr>Parcel</vt:lpstr>
      <vt:lpstr>Problem Solving  and Debugging</vt:lpstr>
      <vt:lpstr>Example Code</vt:lpstr>
      <vt:lpstr>Problem Solving</vt:lpstr>
      <vt:lpstr>4 Stage Problem Solving Model</vt:lpstr>
      <vt:lpstr>Computational Thinking</vt:lpstr>
      <vt:lpstr>Double Diamond</vt:lpstr>
      <vt:lpstr>Understand</vt:lpstr>
      <vt:lpstr>Design</vt:lpstr>
      <vt:lpstr>Find A Partner</vt:lpstr>
      <vt:lpstr>Find a Partner</vt:lpstr>
      <vt:lpstr>Implement</vt:lpstr>
      <vt:lpstr>Implementation  (here is one I did earlier!)</vt:lpstr>
      <vt:lpstr>Evaluation</vt:lpstr>
      <vt:lpstr>Evaluation Test Cases</vt:lpstr>
      <vt:lpstr>Test Cases Translate to Python</vt:lpstr>
      <vt:lpstr>Test Cases Run the cases</vt:lpstr>
      <vt:lpstr>Types of errors</vt:lpstr>
      <vt:lpstr>Runtime Error</vt:lpstr>
      <vt:lpstr>Semantic Error</vt:lpstr>
      <vt:lpstr>Debugging</vt:lpstr>
      <vt:lpstr>Debugging Techniques</vt:lpstr>
      <vt:lpstr>Debugging Techniques</vt:lpstr>
      <vt:lpstr>Debugging by Printing</vt:lpstr>
      <vt:lpstr>Identify the Bug</vt:lpstr>
      <vt:lpstr>Correct the bug</vt:lpstr>
      <vt:lpstr>Google CoLab State Information</vt:lpstr>
      <vt:lpstr>Google CoLab State Information</vt:lpstr>
      <vt:lpstr>Partner Work</vt:lpstr>
      <vt:lpstr>Class Participation</vt:lpstr>
      <vt:lpstr>debugger</vt:lpstr>
      <vt:lpstr>Colab Debugger</vt:lpstr>
      <vt:lpstr>Debugger</vt:lpstr>
      <vt:lpstr>PDB demo</vt:lpstr>
      <vt:lpstr>Try at home</vt:lpstr>
      <vt:lpstr>Self-Check</vt:lpstr>
      <vt:lpstr>PowerPoint Presentation</vt:lpstr>
      <vt:lpstr>Additional Case Study</vt:lpstr>
      <vt:lpstr>More Find A Partner: The Ants Go Marching</vt:lpstr>
      <vt:lpstr>Ants go marching</vt:lpstr>
      <vt:lpstr>Ants on a Stick</vt:lpstr>
      <vt:lpstr>Try at Home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Godbout</dc:creator>
  <cp:lastModifiedBy>Christopher Power</cp:lastModifiedBy>
  <cp:revision>2</cp:revision>
  <cp:lastPrinted>2025-10-29T14:53:41Z</cp:lastPrinted>
  <dcterms:created xsi:type="dcterms:W3CDTF">2025-10-29T11:58:26Z</dcterms:created>
  <dcterms:modified xsi:type="dcterms:W3CDTF">2026-07-23T02:16:29Z</dcterms:modified>
</cp:coreProperties>
</file>