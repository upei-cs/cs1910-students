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313" r:id="rId2"/>
    <p:sldId id="290" r:id="rId3"/>
    <p:sldId id="257" r:id="rId4"/>
    <p:sldId id="258" r:id="rId5"/>
    <p:sldId id="264" r:id="rId6"/>
    <p:sldId id="276" r:id="rId7"/>
    <p:sldId id="260" r:id="rId8"/>
    <p:sldId id="261" r:id="rId9"/>
    <p:sldId id="263" r:id="rId10"/>
    <p:sldId id="259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8" r:id="rId20"/>
    <p:sldId id="279" r:id="rId21"/>
    <p:sldId id="280" r:id="rId22"/>
    <p:sldId id="271" r:id="rId23"/>
    <p:sldId id="281" r:id="rId24"/>
    <p:sldId id="275" r:id="rId25"/>
    <p:sldId id="282" r:id="rId26"/>
    <p:sldId id="292" r:id="rId27"/>
    <p:sldId id="274" r:id="rId28"/>
    <p:sldId id="289" r:id="rId29"/>
    <p:sldId id="283" r:id="rId30"/>
    <p:sldId id="285" r:id="rId31"/>
    <p:sldId id="284" r:id="rId32"/>
    <p:sldId id="286" r:id="rId33"/>
    <p:sldId id="287" r:id="rId34"/>
    <p:sldId id="277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EBBBE-BBD6-492E-9828-B4D2F3D6950D}" v="1" dt="2026-07-23T02:14:35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658"/>
  </p:normalViewPr>
  <p:slideViewPr>
    <p:cSldViewPr snapToGrid="0">
      <p:cViewPr varScale="1">
        <p:scale>
          <a:sx n="120" d="100"/>
          <a:sy n="12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97D26654-64D5-4042-8583-A5886BB6B01E}"/>
    <pc:docChg chg="addSld delSld modSld">
      <pc:chgData name="Christopher Power" userId="83706efc-52ec-4aad-b93a-e27c6e901a30" providerId="ADAL" clId="{97D26654-64D5-4042-8583-A5886BB6B01E}" dt="2026-07-23T02:14:46.596" v="18" actId="47"/>
      <pc:docMkLst>
        <pc:docMk/>
      </pc:docMkLst>
      <pc:sldChg chg="del">
        <pc:chgData name="Christopher Power" userId="83706efc-52ec-4aad-b93a-e27c6e901a30" providerId="ADAL" clId="{97D26654-64D5-4042-8583-A5886BB6B01E}" dt="2026-07-23T02:14:43.331" v="16" actId="47"/>
        <pc:sldMkLst>
          <pc:docMk/>
          <pc:sldMk cId="1964762904" sldId="256"/>
        </pc:sldMkLst>
      </pc:sldChg>
      <pc:sldChg chg="del">
        <pc:chgData name="Christopher Power" userId="83706efc-52ec-4aad-b93a-e27c6e901a30" providerId="ADAL" clId="{97D26654-64D5-4042-8583-A5886BB6B01E}" dt="2026-07-23T02:14:45.865" v="17" actId="47"/>
        <pc:sldMkLst>
          <pc:docMk/>
          <pc:sldMk cId="3743179751" sldId="293"/>
        </pc:sldMkLst>
      </pc:sldChg>
      <pc:sldChg chg="del">
        <pc:chgData name="Christopher Power" userId="83706efc-52ec-4aad-b93a-e27c6e901a30" providerId="ADAL" clId="{97D26654-64D5-4042-8583-A5886BB6B01E}" dt="2026-07-23T02:14:46.596" v="18" actId="47"/>
        <pc:sldMkLst>
          <pc:docMk/>
          <pc:sldMk cId="798254766" sldId="294"/>
        </pc:sldMkLst>
      </pc:sldChg>
      <pc:sldChg chg="modSp add mod">
        <pc:chgData name="Christopher Power" userId="83706efc-52ec-4aad-b93a-e27c6e901a30" providerId="ADAL" clId="{97D26654-64D5-4042-8583-A5886BB6B01E}" dt="2026-07-23T02:14:40.542" v="15" actId="20577"/>
        <pc:sldMkLst>
          <pc:docMk/>
          <pc:sldMk cId="3002068836" sldId="313"/>
        </pc:sldMkLst>
        <pc:spChg chg="mod">
          <ac:chgData name="Christopher Power" userId="83706efc-52ec-4aad-b93a-e27c6e901a30" providerId="ADAL" clId="{97D26654-64D5-4042-8583-A5886BB6B01E}" dt="2026-07-23T02:14:40.542" v="15" actId="20577"/>
          <ac:spMkLst>
            <pc:docMk/>
            <pc:sldMk cId="3002068836" sldId="313"/>
            <ac:spMk id="2" creationId="{C93DC5BA-038A-1370-693A-933684213E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UPEI-CS/CS1910-Students/blob/main/lectures/08-Functions/CS1910_Functions_Workbook.ipyn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CS1910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B2CE-CA76-B4A9-A51B-54899A50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20C2-33B2-4D35-096A-966B9793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https://colab.research.google.com/github/UPEI-CS/CS1910-Students/blob/main/lectures/08-Functions/CS1910_Functions_Workbook.ipynb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6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7828-D3D3-5561-8513-4979A04C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ABC0-9EB7-6BB3-0EC8-9A68D11F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335" y="2638044"/>
            <a:ext cx="8610529" cy="3954142"/>
          </a:xfrm>
        </p:spPr>
        <p:txBody>
          <a:bodyPr>
            <a:normAutofit/>
          </a:bodyPr>
          <a:lstStyle/>
          <a:p>
            <a:r>
              <a:rPr lang="en-US" dirty="0"/>
              <a:t>We have been using functions since the start of the course</a:t>
            </a:r>
          </a:p>
          <a:p>
            <a:r>
              <a:rPr lang="en-US" dirty="0"/>
              <a:t>Examples: input(…), print(…), </a:t>
            </a:r>
            <a:r>
              <a:rPr lang="en-US" dirty="0" err="1"/>
              <a:t>len</a:t>
            </a:r>
            <a:r>
              <a:rPr lang="en-US" dirty="0"/>
              <a:t>(…), abs(…)</a:t>
            </a:r>
          </a:p>
          <a:p>
            <a:r>
              <a:rPr lang="en-US" dirty="0"/>
              <a:t>We can write our own functions </a:t>
            </a:r>
          </a:p>
          <a:p>
            <a:r>
              <a:rPr lang="en-US" dirty="0"/>
              <a:t>This is another form of abstraction</a:t>
            </a:r>
          </a:p>
          <a:p>
            <a:r>
              <a:rPr lang="en-US" dirty="0"/>
              <a:t>Recall from Computational Thinking</a:t>
            </a:r>
          </a:p>
          <a:p>
            <a:pPr lvl="1"/>
            <a:r>
              <a:rPr lang="en-US" dirty="0"/>
              <a:t>Abstraction is a mechanism to filter out specifics and generalize a process</a:t>
            </a:r>
          </a:p>
          <a:p>
            <a:pPr lvl="1"/>
            <a:r>
              <a:rPr lang="en-US" dirty="0"/>
              <a:t>The print method allows us to display information on a console but we don’t really know how it works</a:t>
            </a:r>
          </a:p>
          <a:p>
            <a:pPr lvl="2"/>
            <a:r>
              <a:rPr lang="en-US" dirty="0"/>
              <a:t>It accepts various common data types, lengths of output,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1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DFA1-C1FB-8255-F4F4-C36735A4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8D99C-68A0-5B23-7A74-1464EFEE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a set of command into a single reusable block of code</a:t>
            </a:r>
          </a:p>
          <a:p>
            <a:r>
              <a:rPr lang="en-US" dirty="0"/>
              <a:t>The code can be parameterized </a:t>
            </a:r>
          </a:p>
          <a:p>
            <a:pPr lvl="1"/>
            <a:r>
              <a:rPr lang="en-US" dirty="0"/>
              <a:t>i.e., it can accept details provided as variables</a:t>
            </a:r>
          </a:p>
          <a:p>
            <a:r>
              <a:rPr lang="en-US" dirty="0"/>
              <a:t>Simplifies code</a:t>
            </a:r>
          </a:p>
          <a:p>
            <a:r>
              <a:rPr lang="en-US" dirty="0"/>
              <a:t>Aids understanding, readability and maintenance</a:t>
            </a:r>
          </a:p>
          <a:p>
            <a:r>
              <a:rPr lang="en-US" dirty="0"/>
              <a:t>Increases efficiency</a:t>
            </a:r>
          </a:p>
          <a:p>
            <a:r>
              <a:rPr lang="en-US" dirty="0"/>
              <a:t>Hides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0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9ADB-5268-F3EC-56D0-F0F5595A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3C4CB-3D2B-4167-E51A-DFAEB91D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“return” or produce values </a:t>
            </a:r>
          </a:p>
          <a:p>
            <a:r>
              <a:rPr lang="en-US" dirty="0"/>
              <a:t>Variables declared within a function belong to the function (their scope is restricted to within the function</a:t>
            </a:r>
          </a:p>
          <a:p>
            <a:pPr lvl="1"/>
            <a:r>
              <a:rPr lang="en-US" dirty="0"/>
              <a:t>Variable names within a function do not obscure or collide with those from other areas of your code</a:t>
            </a:r>
          </a:p>
          <a:p>
            <a:r>
              <a:rPr lang="en-US" dirty="0"/>
              <a:t>When we call a function we may pass an argument to the function, but in the function definition we call those parameters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36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2F56-4BF5-2024-0DB1-73DD8F0A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3F705-2B12-8314-82A8-4CCFFD7A4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degree to which the code within a function (or grouped in general) fits together and contributes to a single purpose (singular responsibility)</a:t>
            </a:r>
          </a:p>
          <a:p>
            <a:r>
              <a:rPr lang="en-US" dirty="0"/>
              <a:t>High cohesion: code within a function accomplishes one task</a:t>
            </a:r>
          </a:p>
          <a:p>
            <a:pPr lvl="1"/>
            <a:r>
              <a:rPr lang="en-US" dirty="0"/>
              <a:t>Leads to easier testing, higher maintainability and higher readability and reuse</a:t>
            </a:r>
          </a:p>
          <a:p>
            <a:r>
              <a:rPr lang="en-US" dirty="0"/>
              <a:t>Low cohesion: code within a function accomplishes many tasks or unrelated tasks</a:t>
            </a:r>
          </a:p>
          <a:p>
            <a:pPr lvl="1"/>
            <a:r>
              <a:rPr lang="en-US" dirty="0"/>
              <a:t>Leads to more brittle solution, less reuse and less ability to maintain and understand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561E05-FC8E-A6DF-AD41-EC7CB8BF73A3}"/>
              </a:ext>
            </a:extLst>
          </p:cNvPr>
          <p:cNvCxnSpPr/>
          <p:nvPr/>
        </p:nvCxnSpPr>
        <p:spPr>
          <a:xfrm>
            <a:off x="1594884" y="3508744"/>
            <a:ext cx="636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158D826-63B9-4E83-4559-6A37277402FD}"/>
              </a:ext>
            </a:extLst>
          </p:cNvPr>
          <p:cNvSpPr txBox="1"/>
          <p:nvPr/>
        </p:nvSpPr>
        <p:spPr>
          <a:xfrm>
            <a:off x="577298" y="3324078"/>
            <a:ext cx="1017586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Our goal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E83CE-80D8-BEA0-A1E3-698213ADD267}"/>
              </a:ext>
            </a:extLst>
          </p:cNvPr>
          <p:cNvSpPr txBox="1"/>
          <p:nvPr/>
        </p:nvSpPr>
        <p:spPr>
          <a:xfrm>
            <a:off x="2073349" y="5886171"/>
            <a:ext cx="85158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Determining where to introduce functions and how to define them to improve cohesion </a:t>
            </a:r>
          </a:p>
          <a:p>
            <a:pPr algn="ctr"/>
            <a:r>
              <a:rPr lang="en-US" dirty="0"/>
              <a:t>is a skill that can be improved with practice</a:t>
            </a:r>
          </a:p>
        </p:txBody>
      </p:sp>
    </p:spTree>
    <p:extLst>
      <p:ext uri="{BB962C8B-B14F-4D97-AF65-F5344CB8AC3E}">
        <p14:creationId xmlns:p14="http://schemas.microsoft.com/office/powerpoint/2010/main" val="316337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3FE1-50B2-3FF9-7744-BA86B3AB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Draw a Polygon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5215-F2C0-A004-AACD-FFCC360F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our prior class examples drawing a regular polygon</a:t>
            </a:r>
          </a:p>
          <a:p>
            <a:r>
              <a:rPr lang="en-US" dirty="0"/>
              <a:t>We used aspects of computational thinking to create a beautiful program: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D73B2-94BF-DB87-339C-A7672A43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735681"/>
            <a:ext cx="7772400" cy="248897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F09B25-3B54-692A-8B8F-C130BB4DED5E}"/>
              </a:ext>
            </a:extLst>
          </p:cNvPr>
          <p:cNvCxnSpPr/>
          <p:nvPr/>
        </p:nvCxnSpPr>
        <p:spPr>
          <a:xfrm>
            <a:off x="1223682" y="4074459"/>
            <a:ext cx="1671918" cy="30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9977C4-DBD1-330C-7CC2-B09F47F9E9CD}"/>
              </a:ext>
            </a:extLst>
          </p:cNvPr>
          <p:cNvSpPr txBox="1"/>
          <p:nvPr/>
        </p:nvSpPr>
        <p:spPr>
          <a:xfrm>
            <a:off x="28823" y="3183412"/>
            <a:ext cx="2030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 want to draw different shapes I need to change these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0EDE3-C480-448E-E30A-C22107C636C6}"/>
              </a:ext>
            </a:extLst>
          </p:cNvPr>
          <p:cNvSpPr txBox="1"/>
          <p:nvPr/>
        </p:nvSpPr>
        <p:spPr>
          <a:xfrm>
            <a:off x="22203" y="4827182"/>
            <a:ext cx="2030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 want to draw 2 shapes I need to cut and paste this code multiple times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EF630C3-09A1-A5ED-8AA3-94A9A8B2B38D}"/>
              </a:ext>
            </a:extLst>
          </p:cNvPr>
          <p:cNvSpPr/>
          <p:nvPr/>
        </p:nvSpPr>
        <p:spPr>
          <a:xfrm>
            <a:off x="2059641" y="4383741"/>
            <a:ext cx="555968" cy="1695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99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5D5C-FB66-2809-9975-B1B05C30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polygon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E10A6-ADC1-A891-178D-F4851359B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 the code by wrapping it into a function</a:t>
            </a:r>
          </a:p>
          <a:p>
            <a:r>
              <a:rPr lang="en-US" dirty="0"/>
              <a:t>Parameterize the solution so we can draw different shapes by specifying what we want when we do the drawing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E8B66-8ADE-D8A1-3F95-C1D4BE52CC8D}"/>
              </a:ext>
            </a:extLst>
          </p:cNvPr>
          <p:cNvSpPr txBox="1"/>
          <p:nvPr/>
        </p:nvSpPr>
        <p:spPr>
          <a:xfrm>
            <a:off x="2658138" y="3879374"/>
            <a:ext cx="81804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Pseudo Code: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polygon (sides, 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side in 0 to sides: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right(angle)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polygon(6, 20) #draw a 6-sided polygon with side length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polygon(10, 6) #draw a 10-sided polygon with side length 6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5F112202-76D3-E3B8-DEA9-314D04A9A277}"/>
              </a:ext>
            </a:extLst>
          </p:cNvPr>
          <p:cNvSpPr/>
          <p:nvPr/>
        </p:nvSpPr>
        <p:spPr>
          <a:xfrm>
            <a:off x="2509284" y="4369981"/>
            <a:ext cx="148854" cy="12546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DE67A-A1DF-7C11-D900-4CB32C81D08D}"/>
              </a:ext>
            </a:extLst>
          </p:cNvPr>
          <p:cNvSpPr txBox="1"/>
          <p:nvPr/>
        </p:nvSpPr>
        <p:spPr>
          <a:xfrm>
            <a:off x="287928" y="4621398"/>
            <a:ext cx="223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Defining the function in pseudo-code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F2D05-B796-EE9C-5A5A-4BBC031C5F16}"/>
              </a:ext>
            </a:extLst>
          </p:cNvPr>
          <p:cNvSpPr txBox="1"/>
          <p:nvPr/>
        </p:nvSpPr>
        <p:spPr>
          <a:xfrm>
            <a:off x="213501" y="5965543"/>
            <a:ext cx="223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Calling the function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D818727-9872-7F1D-F96A-EF576B83DB63}"/>
              </a:ext>
            </a:extLst>
          </p:cNvPr>
          <p:cNvSpPr/>
          <p:nvPr/>
        </p:nvSpPr>
        <p:spPr>
          <a:xfrm>
            <a:off x="2444637" y="5965543"/>
            <a:ext cx="213501" cy="4990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95172D-2EB6-81B5-5AE5-89E001C9C434}"/>
              </a:ext>
            </a:extLst>
          </p:cNvPr>
          <p:cNvCxnSpPr/>
          <p:nvPr/>
        </p:nvCxnSpPr>
        <p:spPr>
          <a:xfrm flipH="1">
            <a:off x="5667153" y="3838353"/>
            <a:ext cx="428847" cy="382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81B0E8-7848-9CA3-A5E0-399FD618BEC4}"/>
              </a:ext>
            </a:extLst>
          </p:cNvPr>
          <p:cNvCxnSpPr/>
          <p:nvPr/>
        </p:nvCxnSpPr>
        <p:spPr>
          <a:xfrm>
            <a:off x="6422065" y="3838353"/>
            <a:ext cx="0" cy="35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676EAD-E3F4-A835-1999-54E826E2510B}"/>
              </a:ext>
            </a:extLst>
          </p:cNvPr>
          <p:cNvSpPr txBox="1"/>
          <p:nvPr/>
        </p:nvSpPr>
        <p:spPr>
          <a:xfrm>
            <a:off x="5881576" y="351004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Parameters that that function accepts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D80427-3733-BDA1-ECEF-A3A3B6A678A2}"/>
              </a:ext>
            </a:extLst>
          </p:cNvPr>
          <p:cNvCxnSpPr/>
          <p:nvPr/>
        </p:nvCxnSpPr>
        <p:spPr>
          <a:xfrm flipH="1">
            <a:off x="4189228" y="5172035"/>
            <a:ext cx="4635795" cy="69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8C904D-4FD8-C7FC-CAA7-28A9D01B4860}"/>
              </a:ext>
            </a:extLst>
          </p:cNvPr>
          <p:cNvSpPr txBox="1"/>
          <p:nvPr/>
        </p:nvSpPr>
        <p:spPr>
          <a:xfrm>
            <a:off x="7531065" y="4481241"/>
            <a:ext cx="407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Arguments passed to the function (take the place of the respective parameters)</a:t>
            </a:r>
          </a:p>
        </p:txBody>
      </p:sp>
    </p:spTree>
    <p:extLst>
      <p:ext uri="{BB962C8B-B14F-4D97-AF65-F5344CB8AC3E}">
        <p14:creationId xmlns:p14="http://schemas.microsoft.com/office/powerpoint/2010/main" val="1867922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E756-C64A-101F-9B62-4BB1275F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BCBE-3105-87F1-1C9A-93285BAF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polygon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181F6-6D0C-280E-FF39-B2781452F518}"/>
              </a:ext>
            </a:extLst>
          </p:cNvPr>
          <p:cNvSpPr txBox="1"/>
          <p:nvPr/>
        </p:nvSpPr>
        <p:spPr>
          <a:xfrm>
            <a:off x="531626" y="2571570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Pseudo Code: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polygon (sides, 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side in 0 to sides: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right(angle)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polygon(6, 20)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polygon(10, 6)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87683-A138-A07F-51C6-0A475631BA1F}"/>
              </a:ext>
            </a:extLst>
          </p:cNvPr>
          <p:cNvCxnSpPr>
            <a:cxnSpLocks/>
          </p:cNvCxnSpPr>
          <p:nvPr/>
        </p:nvCxnSpPr>
        <p:spPr>
          <a:xfrm flipV="1">
            <a:off x="2498651" y="3349256"/>
            <a:ext cx="3891516" cy="1860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C1BA04-3000-C9CB-AF54-7D1BB96C42A8}"/>
              </a:ext>
            </a:extLst>
          </p:cNvPr>
          <p:cNvSpPr txBox="1"/>
          <p:nvPr/>
        </p:nvSpPr>
        <p:spPr>
          <a:xfrm>
            <a:off x="6485860" y="2690336"/>
            <a:ext cx="33554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sides = 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side in 0 to sides: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right(angle)</a:t>
            </a:r>
          </a:p>
          <a:p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779547-22A7-44C5-B0FD-D9B19AF32459}"/>
              </a:ext>
            </a:extLst>
          </p:cNvPr>
          <p:cNvCxnSpPr>
            <a:cxnSpLocks/>
          </p:cNvCxnSpPr>
          <p:nvPr/>
        </p:nvCxnSpPr>
        <p:spPr>
          <a:xfrm flipV="1">
            <a:off x="2498651" y="5209953"/>
            <a:ext cx="3069523" cy="223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297CDF-6754-84C2-5F21-171FC6F6B518}"/>
              </a:ext>
            </a:extLst>
          </p:cNvPr>
          <p:cNvSpPr txBox="1"/>
          <p:nvPr/>
        </p:nvSpPr>
        <p:spPr>
          <a:xfrm>
            <a:off x="6390167" y="2246277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 code without functions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29D19024-22FC-ACCB-53F5-1CD3F3FF5879}"/>
              </a:ext>
            </a:extLst>
          </p:cNvPr>
          <p:cNvSpPr/>
          <p:nvPr/>
        </p:nvSpPr>
        <p:spPr>
          <a:xfrm>
            <a:off x="9750382" y="2892056"/>
            <a:ext cx="531302" cy="27325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10307-D1D9-9BB1-D535-8D8B52E09952}"/>
              </a:ext>
            </a:extLst>
          </p:cNvPr>
          <p:cNvSpPr txBox="1"/>
          <p:nvPr/>
        </p:nvSpPr>
        <p:spPr>
          <a:xfrm>
            <a:off x="10281684" y="3225291"/>
            <a:ext cx="1772094" cy="341632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Repeated code is something to watch for (Patterns) to indicate that functions can offer an improvement</a:t>
            </a:r>
          </a:p>
          <a:p>
            <a:endParaRPr lang="en-US" dirty="0"/>
          </a:p>
          <a:p>
            <a:r>
              <a:rPr lang="en-US" dirty="0"/>
              <a:t>Repeated code is double the maintenance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AC3279-E66F-AA2E-A140-2B488B604A3F}"/>
              </a:ext>
            </a:extLst>
          </p:cNvPr>
          <p:cNvSpPr txBox="1"/>
          <p:nvPr/>
        </p:nvSpPr>
        <p:spPr>
          <a:xfrm>
            <a:off x="6337943" y="4418229"/>
            <a:ext cx="33554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sides =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side in 0 to sides: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right(angle)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0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D4C7-F729-7C49-F410-A3FD7DF6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Calculate the area of a rectangle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087C-6B79-B292-FE8B-152CA8437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36027"/>
            <a:ext cx="7729728" cy="562356"/>
          </a:xfrm>
        </p:spPr>
        <p:txBody>
          <a:bodyPr/>
          <a:lstStyle/>
          <a:p>
            <a:r>
              <a:rPr lang="en-US" dirty="0"/>
              <a:t>Math formula: area = length x width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DB9FE-F491-6BDB-C633-5D1D9E36C25D}"/>
              </a:ext>
            </a:extLst>
          </p:cNvPr>
          <p:cNvSpPr txBox="1"/>
          <p:nvPr/>
        </p:nvSpPr>
        <p:spPr>
          <a:xfrm>
            <a:off x="1945448" y="3119849"/>
            <a:ext cx="556113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Pseudo Code: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rectangle_area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(length, width)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area = length * width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area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 FUNCTION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area1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rectangle_area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(length,20)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area2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rectangle_area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(5,6)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5BB40A-E87B-962B-BCE3-E1C42848A572}"/>
              </a:ext>
            </a:extLst>
          </p:cNvPr>
          <p:cNvCxnSpPr>
            <a:cxnSpLocks/>
          </p:cNvCxnSpPr>
          <p:nvPr/>
        </p:nvCxnSpPr>
        <p:spPr>
          <a:xfrm flipH="1" flipV="1">
            <a:off x="4061637" y="4146698"/>
            <a:ext cx="3359889" cy="11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5E925C-3BD7-B2BF-85CE-7B1060F45A92}"/>
              </a:ext>
            </a:extLst>
          </p:cNvPr>
          <p:cNvSpPr txBox="1"/>
          <p:nvPr/>
        </p:nvSpPr>
        <p:spPr>
          <a:xfrm>
            <a:off x="7506586" y="3968751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Send this value back to the calling site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C7D49C-60E8-70FC-634B-53B2F6C76E5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651174" y="5092995"/>
            <a:ext cx="1508475" cy="136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BC1187-28F2-CB7D-2E08-36898B893303}"/>
              </a:ext>
            </a:extLst>
          </p:cNvPr>
          <p:cNvSpPr txBox="1"/>
          <p:nvPr/>
        </p:nvSpPr>
        <p:spPr>
          <a:xfrm>
            <a:off x="8159649" y="49083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Calling site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769734-10BD-E24D-186F-492D02D3BF5C}"/>
              </a:ext>
            </a:extLst>
          </p:cNvPr>
          <p:cNvCxnSpPr/>
          <p:nvPr/>
        </p:nvCxnSpPr>
        <p:spPr>
          <a:xfrm>
            <a:off x="1371600" y="4784651"/>
            <a:ext cx="573848" cy="123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4C6B00-0683-DC49-8985-29E527B43F8A}"/>
              </a:ext>
            </a:extLst>
          </p:cNvPr>
          <p:cNvSpPr txBox="1"/>
          <p:nvPr/>
        </p:nvSpPr>
        <p:spPr>
          <a:xfrm>
            <a:off x="345713" y="4412510"/>
            <a:ext cx="1398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variable is unrelated to the length parameter</a:t>
            </a:r>
          </a:p>
        </p:txBody>
      </p:sp>
    </p:spTree>
    <p:extLst>
      <p:ext uri="{BB962C8B-B14F-4D97-AF65-F5344CB8AC3E}">
        <p14:creationId xmlns:p14="http://schemas.microsoft.com/office/powerpoint/2010/main" val="277509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DED847-34F1-4353-AA83-1525E9E40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476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07441-422E-F900-4A74-1A933546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599" y="4928136"/>
            <a:ext cx="7729728" cy="1134402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Python Function Syntax</a:t>
            </a:r>
          </a:p>
        </p:txBody>
      </p:sp>
      <p:pic>
        <p:nvPicPr>
          <p:cNvPr id="4" name="Content Placeholder 3" descr="A close up of a sign&#10;&#10;AI-generated content may be incorrect.">
            <a:extLst>
              <a:ext uri="{FF2B5EF4-FFF2-40B4-BE49-F238E27FC236}">
                <a16:creationId xmlns:a16="http://schemas.microsoft.com/office/drawing/2014/main" id="{25D0FC15-122D-41E3-E857-FC08320C8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942325"/>
            <a:ext cx="10271760" cy="159212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18222E-6E1A-5F5F-3ABA-031004018AD6}"/>
              </a:ext>
            </a:extLst>
          </p:cNvPr>
          <p:cNvCxnSpPr/>
          <p:nvPr/>
        </p:nvCxnSpPr>
        <p:spPr>
          <a:xfrm>
            <a:off x="1371600" y="1297172"/>
            <a:ext cx="0" cy="818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90C430-A5D3-BEE8-E155-CC59F980436C}"/>
              </a:ext>
            </a:extLst>
          </p:cNvPr>
          <p:cNvSpPr txBox="1"/>
          <p:nvPr/>
        </p:nvSpPr>
        <p:spPr>
          <a:xfrm>
            <a:off x="776176" y="876148"/>
            <a:ext cx="4582345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Function definitions start with the def keyword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65C34-6078-34A5-D3B9-A551629914F8}"/>
              </a:ext>
            </a:extLst>
          </p:cNvPr>
          <p:cNvCxnSpPr/>
          <p:nvPr/>
        </p:nvCxnSpPr>
        <p:spPr>
          <a:xfrm flipV="1">
            <a:off x="1733107" y="3534446"/>
            <a:ext cx="340242" cy="686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1BA8C3-AE54-A3E7-7E8A-E3F0DEBA929B}"/>
              </a:ext>
            </a:extLst>
          </p:cNvPr>
          <p:cNvSpPr txBox="1"/>
          <p:nvPr/>
        </p:nvSpPr>
        <p:spPr>
          <a:xfrm>
            <a:off x="960120" y="4179599"/>
            <a:ext cx="65133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Indented code block indicates the code that belongs to the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C2724-BE46-DD3B-DCEB-60C20A9F111E}"/>
              </a:ext>
            </a:extLst>
          </p:cNvPr>
          <p:cNvCxnSpPr/>
          <p:nvPr/>
        </p:nvCxnSpPr>
        <p:spPr>
          <a:xfrm flipH="1">
            <a:off x="5358521" y="1531088"/>
            <a:ext cx="737479" cy="659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DACDC2E-AC9A-00B5-CA6F-38F9B7FAA751}"/>
              </a:ext>
            </a:extLst>
          </p:cNvPr>
          <p:cNvSpPr txBox="1"/>
          <p:nvPr/>
        </p:nvSpPr>
        <p:spPr>
          <a:xfrm>
            <a:off x="5770001" y="1171895"/>
            <a:ext cx="1487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Parameter list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BEA469-367D-602C-7B7D-7445CB676F78}"/>
              </a:ext>
            </a:extLst>
          </p:cNvPr>
          <p:cNvCxnSpPr/>
          <p:nvPr/>
        </p:nvCxnSpPr>
        <p:spPr>
          <a:xfrm flipH="1">
            <a:off x="5770001" y="1706525"/>
            <a:ext cx="2023664" cy="59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D55B16-C4E6-80FF-DD70-08AFF8308B1A}"/>
              </a:ext>
            </a:extLst>
          </p:cNvPr>
          <p:cNvSpPr txBox="1"/>
          <p:nvPr/>
        </p:nvSpPr>
        <p:spPr>
          <a:xfrm>
            <a:off x="7689677" y="1358840"/>
            <a:ext cx="70564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colon</a:t>
            </a:r>
          </a:p>
        </p:txBody>
      </p:sp>
    </p:spTree>
    <p:extLst>
      <p:ext uri="{BB962C8B-B14F-4D97-AF65-F5344CB8AC3E}">
        <p14:creationId xmlns:p14="http://schemas.microsoft.com/office/powerpoint/2010/main" val="385762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CAAE-4BDD-9B2C-121A-CA9A8DBD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Parameters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8CF26B-4073-03C9-793D-545C1D3FF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2350" y="2779712"/>
            <a:ext cx="7607300" cy="281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FA4961-1440-5161-D90C-357456B49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50" y="5730112"/>
            <a:ext cx="47752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02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DA2-1543-09C2-73B0-E3459AD5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Return Value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994F0F-F990-20BD-7B8C-2CE75D5D7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438" y="2820476"/>
            <a:ext cx="7731125" cy="2737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6BA3D7-38DD-5B39-82CF-778A173B1303}"/>
              </a:ext>
            </a:extLst>
          </p:cNvPr>
          <p:cNvSpPr txBox="1"/>
          <p:nvPr/>
        </p:nvSpPr>
        <p:spPr>
          <a:xfrm>
            <a:off x="446567" y="6124353"/>
            <a:ext cx="714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*Functions that do not have a return statement will return the value None</a:t>
            </a:r>
          </a:p>
        </p:txBody>
      </p:sp>
    </p:spTree>
    <p:extLst>
      <p:ext uri="{BB962C8B-B14F-4D97-AF65-F5344CB8AC3E}">
        <p14:creationId xmlns:p14="http://schemas.microsoft.com/office/powerpoint/2010/main" val="122628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4700-A9A5-B019-128A-9F00068C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then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9CE9-C29A-8B70-C24B-5CDF0019E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must be defined before it is called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D98ED-9984-B1BE-C9A3-BDD6A3F1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010209"/>
            <a:ext cx="7772400" cy="2965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22FDA9-9329-4022-05C7-66FFCC7C431D}"/>
              </a:ext>
            </a:extLst>
          </p:cNvPr>
          <p:cNvSpPr txBox="1"/>
          <p:nvPr/>
        </p:nvSpPr>
        <p:spPr>
          <a:xfrm>
            <a:off x="2150745" y="6024847"/>
            <a:ext cx="7852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 that </a:t>
            </a:r>
            <a:r>
              <a:rPr lang="en-US" dirty="0" err="1"/>
              <a:t>colab</a:t>
            </a:r>
            <a:r>
              <a:rPr lang="en-US" dirty="0"/>
              <a:t> can produce some anomalies if you rerun code cells</a:t>
            </a:r>
          </a:p>
          <a:p>
            <a:r>
              <a:rPr lang="en-US" dirty="0"/>
              <a:t>Or edit code cells that are above other cells after those lower cells have been run</a:t>
            </a:r>
          </a:p>
        </p:txBody>
      </p:sp>
    </p:spTree>
    <p:extLst>
      <p:ext uri="{BB962C8B-B14F-4D97-AF65-F5344CB8AC3E}">
        <p14:creationId xmlns:p14="http://schemas.microsoft.com/office/powerpoint/2010/main" val="183445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44BF-6F99-F1F5-ADC1-5CD8AEB2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DEE324-9035-D8B7-C1C1-05BCDABD9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0053" y="2642228"/>
            <a:ext cx="3784600" cy="222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D75F6E-C8DA-C374-7B3D-CFD7212AEB73}"/>
              </a:ext>
            </a:extLst>
          </p:cNvPr>
          <p:cNvSpPr txBox="1"/>
          <p:nvPr/>
        </p:nvSpPr>
        <p:spPr>
          <a:xfrm>
            <a:off x="2094614" y="5156791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20172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B1E-2F93-F1FD-6D5D-E49D8C4C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94E4-6CBC-33D0-3A05-3DB99652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E3BBC0-0DE6-D6D6-E248-1401E88EC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0053" y="2642228"/>
            <a:ext cx="3784600" cy="222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915670-9B0A-5772-62B5-FC861B6B0B05}"/>
              </a:ext>
            </a:extLst>
          </p:cNvPr>
          <p:cNvSpPr txBox="1"/>
          <p:nvPr/>
        </p:nvSpPr>
        <p:spPr>
          <a:xfrm>
            <a:off x="2094614" y="5156791"/>
            <a:ext cx="2053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output?</a:t>
            </a:r>
          </a:p>
          <a:p>
            <a:endParaRPr lang="en-US" dirty="0"/>
          </a:p>
          <a:p>
            <a:r>
              <a:rPr lang="en-US" dirty="0"/>
              <a:t>0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C9F0C2-BBDF-85E2-C781-9EA1841CC894}"/>
              </a:ext>
            </a:extLst>
          </p:cNvPr>
          <p:cNvCxnSpPr>
            <a:cxnSpLocks/>
          </p:cNvCxnSpPr>
          <p:nvPr/>
        </p:nvCxnSpPr>
        <p:spPr>
          <a:xfrm flipH="1">
            <a:off x="6096000" y="2834704"/>
            <a:ext cx="1559442" cy="23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389B56-B9A3-5000-FEEC-D40686C69DED}"/>
              </a:ext>
            </a:extLst>
          </p:cNvPr>
          <p:cNvSpPr txBox="1"/>
          <p:nvPr/>
        </p:nvSpPr>
        <p:spPr>
          <a:xfrm>
            <a:off x="7743636" y="2511539"/>
            <a:ext cx="42739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This variable lives inside the function only</a:t>
            </a:r>
          </a:p>
          <a:p>
            <a:r>
              <a:rPr lang="en-US" dirty="0"/>
              <a:t>(its scope is just within the function block)</a:t>
            </a:r>
          </a:p>
        </p:txBody>
      </p:sp>
    </p:spTree>
    <p:extLst>
      <p:ext uri="{BB962C8B-B14F-4D97-AF65-F5344CB8AC3E}">
        <p14:creationId xmlns:p14="http://schemas.microsoft.com/office/powerpoint/2010/main" val="2711155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9A98C-1B3A-810C-4053-40BE341C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Class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BF7AE-1619-24F4-1767-55E65BE02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is wrong with the code?</a:t>
            </a:r>
          </a:p>
        </p:txBody>
      </p:sp>
      <p:pic>
        <p:nvPicPr>
          <p:cNvPr id="4" name="Picture 3" descr="A close up of a name&#10;&#10;AI-generated content may be incorrect.">
            <a:extLst>
              <a:ext uri="{FF2B5EF4-FFF2-40B4-BE49-F238E27FC236}">
                <a16:creationId xmlns:a16="http://schemas.microsoft.com/office/drawing/2014/main" id="{E511A8E4-642C-18E3-38AF-0596812D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2" y="640078"/>
            <a:ext cx="10823956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1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FF96C-19AE-988D-73FC-001B8B78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4E801-0AC8-422C-B9AB-51AA4C7FA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code to find spaces in a string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D999E-6915-7ABB-A7E4-DB3BED9C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0" y="3204106"/>
            <a:ext cx="7772400" cy="302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0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0B752-6DBF-C547-1373-968B7EB7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Generalizing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AAF3-695F-3C84-6E6B-0464AAA96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88" y="4352543"/>
            <a:ext cx="2668122" cy="13879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Count spaces in any string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959C34E-9683-0D59-ED61-9AA5FCCD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066" y="1414130"/>
            <a:ext cx="6411138" cy="38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1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AC1E-B6DE-7602-A3C7-A3790707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4812F-6FB1-22C8-8AF9-30CC90D1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Generalization is the process of modifying a function / algorithm so that it can solve a wider range of problems</a:t>
            </a:r>
          </a:p>
          <a:p>
            <a:pPr lvl="1"/>
            <a:r>
              <a:rPr lang="en-US" dirty="0"/>
              <a:t>Can we further generalize our counting spaces solution?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26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ABC0E-7A88-FB16-276B-EE625A2AC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F2439-41D7-3028-AA24-273EFFC3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Generalizing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3FA0C-066C-01A6-8B35-80C0363E4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88" y="4352543"/>
            <a:ext cx="2668122" cy="13879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Count any character in any string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837D4-E143-8F32-4745-BFF6286B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04" y="2126171"/>
            <a:ext cx="63881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5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61308-83EA-1286-82E0-6FFE69A4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14656-CAF2-9BC3-11D8-148D00E02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88" y="4352543"/>
            <a:ext cx="2668122" cy="138798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Consider the following code</a:t>
            </a:r>
          </a:p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patterns </a:t>
            </a:r>
            <a:r>
              <a:rPr lang="en-US" dirty="0">
                <a:solidFill>
                  <a:srgbClr val="FFFFFF"/>
                </a:solidFill>
              </a:rPr>
              <a:t>do you see?</a:t>
            </a:r>
          </a:p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Can you use functions to improve it?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597E9-5736-C12B-8BB4-A72D55C0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52" y="1694032"/>
            <a:ext cx="5925312" cy="31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6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3DCC-6000-208F-BE1D-115401E5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68D1-1A38-024E-6DC1-65388803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prime numbers between 25 and 75</a:t>
            </a:r>
          </a:p>
          <a:p>
            <a:r>
              <a:rPr lang="en-US" dirty="0"/>
              <a:t>The following code can print out if 8 is prime or not: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FF2BD-7930-71CB-7D12-8CA81BE0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03" y="3502287"/>
            <a:ext cx="3327400" cy="260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45AD0F-C035-B67B-B2FB-F2A4921405D5}"/>
              </a:ext>
            </a:extLst>
          </p:cNvPr>
          <p:cNvSpPr txBox="1"/>
          <p:nvPr/>
        </p:nvSpPr>
        <p:spPr>
          <a:xfrm>
            <a:off x="5865770" y="4480871"/>
            <a:ext cx="5613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Improve this approach through functions to generalize a solution</a:t>
            </a:r>
          </a:p>
        </p:txBody>
      </p:sp>
    </p:spTree>
    <p:extLst>
      <p:ext uri="{BB962C8B-B14F-4D97-AF65-F5344CB8AC3E}">
        <p14:creationId xmlns:p14="http://schemas.microsoft.com/office/powerpoint/2010/main" val="4130385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7BF0-B595-5E9C-3D12-78B9E263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31D9-12E6-AEDB-94B2-AF54709C7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Triple quotes denote a docstring “”” or ’’’ </a:t>
            </a:r>
          </a:p>
          <a:p>
            <a:r>
              <a:rPr lang="en-US" dirty="0"/>
              <a:t>Docstrings are used for general purpose documentation to other programmers who may want to make use of your code (as opposed to comments that might explain inner workings of code)</a:t>
            </a:r>
          </a:p>
          <a:p>
            <a:r>
              <a:rPr lang="en-US" dirty="0"/>
              <a:t>A docstring should be used on all methods to outline what the method does and how to use it </a:t>
            </a:r>
          </a:p>
          <a:p>
            <a:pPr lvl="1"/>
            <a:r>
              <a:rPr lang="en-US" dirty="0"/>
              <a:t>Each parameter should be documented</a:t>
            </a:r>
          </a:p>
          <a:p>
            <a:pPr lvl="1"/>
            <a:r>
              <a:rPr lang="en-US" dirty="0"/>
              <a:t>The return value and type should be documented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29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3F4A-AD54-9EE4-78B1-FB66998D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39D31-6FAD-9F79-AEC5-5D99EC699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69081"/>
            <a:ext cx="7729728" cy="3101983"/>
          </a:xfrm>
        </p:spPr>
        <p:txBody>
          <a:bodyPr/>
          <a:lstStyle/>
          <a:p>
            <a:r>
              <a:rPr lang="en-US" dirty="0"/>
              <a:t>Imagine if we had to read the implementation of function to understand how to use them … </a:t>
            </a:r>
          </a:p>
          <a:p>
            <a:r>
              <a:rPr lang="en-US" dirty="0"/>
              <a:t>Other programmers should be able to read a few lines of documentation to understand what your function does and what type of arguments you can pass to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4A49CF-8C87-EE35-6AA6-C11739F9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4" y="4725854"/>
            <a:ext cx="3340100" cy="8255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28A4EF-E630-01E9-0CC0-6FC9808BBFC0}"/>
              </a:ext>
            </a:extLst>
          </p:cNvPr>
          <p:cNvCxnSpPr/>
          <p:nvPr/>
        </p:nvCxnSpPr>
        <p:spPr>
          <a:xfrm flipH="1">
            <a:off x="4784651" y="5138604"/>
            <a:ext cx="1881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2E7BDF-F71B-46CD-526E-506AFA9C5978}"/>
              </a:ext>
            </a:extLst>
          </p:cNvPr>
          <p:cNvSpPr txBox="1"/>
          <p:nvPr/>
        </p:nvSpPr>
        <p:spPr>
          <a:xfrm>
            <a:off x="6666614" y="4061445"/>
            <a:ext cx="46357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reading the code someone might expect this to work with integers or floating point values</a:t>
            </a:r>
          </a:p>
          <a:p>
            <a:endParaRPr lang="en-US" dirty="0"/>
          </a:p>
          <a:p>
            <a:r>
              <a:rPr lang="en-US" dirty="0"/>
              <a:t>Reading the code to determine how to use something, is not a reasonable ask (nor desired)</a:t>
            </a:r>
          </a:p>
          <a:p>
            <a:r>
              <a:rPr lang="en-US" dirty="0"/>
              <a:t>Akin to disassembling your microwave and examining the circuitry to know how to heat up your food</a:t>
            </a:r>
          </a:p>
        </p:txBody>
      </p:sp>
    </p:spTree>
    <p:extLst>
      <p:ext uri="{BB962C8B-B14F-4D97-AF65-F5344CB8AC3E}">
        <p14:creationId xmlns:p14="http://schemas.microsoft.com/office/powerpoint/2010/main" val="4049262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2300-B303-5163-EC2E-757881CB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E45D-14B9-2ED8-8025-56653D5D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1F784F-9697-AB1D-CF64-2D01332AD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8AD9CB6-0C7D-AB12-6C1D-10C3B5D1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97" y="2230899"/>
            <a:ext cx="7845128" cy="40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24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4AF8-3D30-A3AC-ED04-3C8D8620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22C43-9F43-BF9A-D142-79EA0DCE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add a form of documentation called a hint to our methods (to any variable actually) </a:t>
            </a:r>
          </a:p>
          <a:p>
            <a:r>
              <a:rPr lang="en-US" dirty="0"/>
              <a:t>Indicate what type of variable is expected when using a function (or what the return value is) int, float, str,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Use the semi-colon after the variable name to indicate a type hint</a:t>
            </a:r>
          </a:p>
          <a:p>
            <a:r>
              <a:rPr lang="en-US" dirty="0"/>
              <a:t>For this course we mostly focus on built-in types like int, bool, float, str,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More advanced forms of type hinting are available</a:t>
            </a:r>
          </a:p>
        </p:txBody>
      </p:sp>
    </p:spTree>
    <p:extLst>
      <p:ext uri="{BB962C8B-B14F-4D97-AF65-F5344CB8AC3E}">
        <p14:creationId xmlns:p14="http://schemas.microsoft.com/office/powerpoint/2010/main" val="2594004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E4B9CA-E088-62E8-F836-7A56B5525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772" y="1993294"/>
            <a:ext cx="7915425" cy="312659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4A5F0-C12D-7B8A-34FE-4AAB05F7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Ex: Type hints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EF59D2-5F71-29DC-128B-BE31ADDB79A1}"/>
              </a:ext>
            </a:extLst>
          </p:cNvPr>
          <p:cNvCxnSpPr/>
          <p:nvPr/>
        </p:nvCxnSpPr>
        <p:spPr>
          <a:xfrm>
            <a:off x="5050465" y="1605516"/>
            <a:ext cx="0" cy="387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80DA09-FFA1-214B-2124-4D11342B44A2}"/>
              </a:ext>
            </a:extLst>
          </p:cNvPr>
          <p:cNvCxnSpPr/>
          <p:nvPr/>
        </p:nvCxnSpPr>
        <p:spPr>
          <a:xfrm>
            <a:off x="5819553" y="1605516"/>
            <a:ext cx="0" cy="387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A55F65-4BBF-6F9F-3B81-5FC435D0A0B4}"/>
              </a:ext>
            </a:extLst>
          </p:cNvPr>
          <p:cNvCxnSpPr/>
          <p:nvPr/>
        </p:nvCxnSpPr>
        <p:spPr>
          <a:xfrm>
            <a:off x="6576396" y="1632828"/>
            <a:ext cx="0" cy="387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E8305A-678F-7CC6-05D4-E3F3A6DC1D00}"/>
              </a:ext>
            </a:extLst>
          </p:cNvPr>
          <p:cNvSpPr txBox="1"/>
          <p:nvPr/>
        </p:nvSpPr>
        <p:spPr>
          <a:xfrm>
            <a:off x="5178056" y="110280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hints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8C5FC0-BE5E-1879-C827-26F7510FC041}"/>
              </a:ext>
            </a:extLst>
          </p:cNvPr>
          <p:cNvCxnSpPr/>
          <p:nvPr/>
        </p:nvCxnSpPr>
        <p:spPr>
          <a:xfrm flipH="1">
            <a:off x="6826102" y="1472136"/>
            <a:ext cx="1212112" cy="548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B889CA-AFCF-D1FB-ADB4-496F661F6429}"/>
              </a:ext>
            </a:extLst>
          </p:cNvPr>
          <p:cNvSpPr txBox="1"/>
          <p:nvPr/>
        </p:nvSpPr>
        <p:spPr>
          <a:xfrm>
            <a:off x="7901636" y="1145506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type</a:t>
            </a:r>
          </a:p>
        </p:txBody>
      </p:sp>
    </p:spTree>
    <p:extLst>
      <p:ext uri="{BB962C8B-B14F-4D97-AF65-F5344CB8AC3E}">
        <p14:creationId xmlns:p14="http://schemas.microsoft.com/office/powerpoint/2010/main" val="1334825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2E21-9BE9-E318-2B1B-538CE861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0A0F1-CA4A-5A9D-7931-632453740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arguments allow users to use your function without supplying some of the arguments. </a:t>
            </a:r>
          </a:p>
          <a:p>
            <a:r>
              <a:rPr lang="en-US" dirty="0"/>
              <a:t>In the case that an argument is omitted its default value is used</a:t>
            </a:r>
          </a:p>
          <a:p>
            <a:r>
              <a:rPr lang="en-US" dirty="0"/>
              <a:t>Default arguments must be placed at the end of the argument list</a:t>
            </a:r>
          </a:p>
          <a:p>
            <a:pPr lvl="1"/>
            <a:r>
              <a:rPr lang="en-US" dirty="0"/>
              <a:t>Once a default argument is intended all the rest of the arguments are left off as well</a:t>
            </a:r>
          </a:p>
          <a:p>
            <a:r>
              <a:rPr lang="en-US" dirty="0"/>
              <a:t>Improve function flexibility by allowing them to be called with fewer arguments</a:t>
            </a:r>
          </a:p>
        </p:txBody>
      </p:sp>
    </p:spTree>
    <p:extLst>
      <p:ext uri="{BB962C8B-B14F-4D97-AF65-F5344CB8AC3E}">
        <p14:creationId xmlns:p14="http://schemas.microsoft.com/office/powerpoint/2010/main" val="851931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5E8100-B320-E909-046B-D21A1B8A3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4927" y="2008800"/>
            <a:ext cx="7726270" cy="345750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A894E-DE18-37A6-E569-01924947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900" dirty="0">
                <a:solidFill>
                  <a:srgbClr val="FFFFFF"/>
                </a:solidFill>
              </a:rPr>
              <a:t>Default Arguments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F2BA66-45A3-BF16-8B50-627DED6FBBBA}"/>
              </a:ext>
            </a:extLst>
          </p:cNvPr>
          <p:cNvCxnSpPr/>
          <p:nvPr/>
        </p:nvCxnSpPr>
        <p:spPr>
          <a:xfrm flipH="1">
            <a:off x="5103628" y="1488558"/>
            <a:ext cx="531628" cy="52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DE6BD4-D233-F54B-661C-91B9D591641D}"/>
              </a:ext>
            </a:extLst>
          </p:cNvPr>
          <p:cNvSpPr txBox="1"/>
          <p:nvPr/>
        </p:nvSpPr>
        <p:spPr>
          <a:xfrm>
            <a:off x="5528930" y="1169581"/>
            <a:ext cx="44704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dirty="0" err="1"/>
              <a:t>ch</a:t>
            </a:r>
            <a:r>
              <a:rPr lang="en-US" dirty="0"/>
              <a:t> is not supplied as an argument “ ” is used</a:t>
            </a:r>
          </a:p>
        </p:txBody>
      </p:sp>
    </p:spTree>
    <p:extLst>
      <p:ext uri="{BB962C8B-B14F-4D97-AF65-F5344CB8AC3E}">
        <p14:creationId xmlns:p14="http://schemas.microsoft.com/office/powerpoint/2010/main" val="3081647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1BA0-195D-9B33-2182-27069476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42510-2DC3-BAEC-CD09-2B286898B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r>
              <a:rPr lang="en-US" dirty="0"/>
              <a:t>So far we have used what is called position arguments in our function calls</a:t>
            </a:r>
          </a:p>
          <a:p>
            <a:r>
              <a:rPr lang="en-US" dirty="0"/>
              <a:t>We supply the arguments left to right that match the parameters left to right (implicitly)</a:t>
            </a:r>
          </a:p>
          <a:p>
            <a:r>
              <a:rPr lang="en-US" dirty="0"/>
              <a:t>We can also supply arguments using the explicit parameter name of the argument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D886FC7-0C9B-D132-E882-6266CF22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9" y="2398797"/>
            <a:ext cx="4782312" cy="20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0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46EA-57CC-F15F-176B-5AD1A3B1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>
            <a:normAutofit/>
          </a:bodyPr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CDA2-6244-4BA3-9172-EB95F591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103" y="640079"/>
            <a:ext cx="6883072" cy="2959155"/>
          </a:xfrm>
        </p:spPr>
        <p:txBody>
          <a:bodyPr>
            <a:normAutofit/>
          </a:bodyPr>
          <a:lstStyle/>
          <a:p>
            <a:r>
              <a:rPr lang="en-US" dirty="0"/>
              <a:t>Can improve readability</a:t>
            </a:r>
          </a:p>
          <a:p>
            <a:pPr lvl="1"/>
            <a:r>
              <a:rPr lang="en-US" dirty="0"/>
              <a:t>For long argument lists explicitly stating the parameter names can aid readability</a:t>
            </a:r>
          </a:p>
          <a:p>
            <a:r>
              <a:rPr lang="en-US" dirty="0"/>
              <a:t>Can improve flexibility with default arguments</a:t>
            </a:r>
          </a:p>
          <a:p>
            <a:pPr lvl="1"/>
            <a:r>
              <a:rPr lang="en-US" dirty="0"/>
              <a:t>By explicitly naming some arguments you can leave others to default values with increased flexibility</a:t>
            </a:r>
          </a:p>
          <a:p>
            <a:r>
              <a:rPr lang="en-US" dirty="0"/>
              <a:t>Can be combined with positional arguments </a:t>
            </a:r>
          </a:p>
          <a:p>
            <a:pPr lvl="1"/>
            <a:r>
              <a:rPr lang="en-US" dirty="0"/>
              <a:t>BUT positional arguments must come first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4763E-1F5B-4192-9E84-267D8A649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223" y="3822192"/>
            <a:ext cx="6882951" cy="20684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013361-A314-4AA8-8C94-46622655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3905450"/>
            <a:ext cx="6720840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2C1CD-ECE4-1A64-A7BA-E1492403A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90" y="4170901"/>
            <a:ext cx="6528816" cy="137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04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00F68-4A39-B4AA-661F-4AE3EDF4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BCD7-DAE8-40FA-B17D-F5C721189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194" y="5688535"/>
            <a:ext cx="6801612" cy="53612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Can force the use of keyword arguments by placing an asterisk in the function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0DE06-F9DE-3762-60AF-4409CFF1A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1" y="640078"/>
            <a:ext cx="9107058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62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0889-BAA5-9354-F86F-3D475432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D54E-1161-053D-CD2C-76B017221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Convert our old turtle draw program to draw a square into a method (how can it be generalized?)</a:t>
            </a:r>
          </a:p>
          <a:p>
            <a:r>
              <a:rPr lang="en-CA" dirty="0"/>
              <a:t>Write a method that returns a reversed version of a string, i.e., if the input is "Madam" it will return "</a:t>
            </a:r>
            <a:r>
              <a:rPr lang="en-CA" dirty="0" err="1"/>
              <a:t>madaM</a:t>
            </a:r>
            <a:r>
              <a:rPr lang="en-CA" dirty="0"/>
              <a:t>"</a:t>
            </a:r>
          </a:p>
          <a:p>
            <a:r>
              <a:rPr lang="en-CA" dirty="0"/>
              <a:t>Write a method that converts an integer between 0 and 10 to the appropriate word for that value, e.g., 1 converts to "one”</a:t>
            </a:r>
          </a:p>
          <a:p>
            <a:r>
              <a:rPr lang="en-CA" dirty="0"/>
              <a:t>Write a program to repeatedly ask the user to input single letters (“A”, “B”, “C”,</a:t>
            </a:r>
            <a:r>
              <a:rPr lang="en-CA" dirty="0" err="1"/>
              <a:t>etc</a:t>
            </a:r>
            <a:r>
              <a:rPr lang="en-CA" dirty="0"/>
              <a:t>) but stop the program when the user enters a letter that they entered previously. Use methods with high cohesion.</a:t>
            </a:r>
          </a:p>
          <a:p>
            <a:pPr lvl="1"/>
            <a:r>
              <a:rPr lang="en-CA" dirty="0"/>
              <a:t>No list or dictionary required: concatenate the letters in a string</a:t>
            </a:r>
          </a:p>
          <a:p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58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C9F6-82D0-2228-A26D-9D354B9A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0FC0-C457-7F6F-5FF1-F0B5DFE02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Write a method to ask the user to enter ‘Y’ or ‘N’, return their choice</a:t>
            </a:r>
          </a:p>
          <a:p>
            <a:r>
              <a:rPr lang="en-US" dirty="0"/>
              <a:t>Find an old example from class, determine where and/or if methods could be used to improve the example</a:t>
            </a:r>
          </a:p>
          <a:p>
            <a:r>
              <a:rPr lang="en-US" dirty="0"/>
              <a:t>Create a method to determine the middle number from 3 numbers passed as arguments to the method, it should return the middle number. Use keyword arguments when calling the method</a:t>
            </a:r>
          </a:p>
        </p:txBody>
      </p:sp>
    </p:spTree>
    <p:extLst>
      <p:ext uri="{BB962C8B-B14F-4D97-AF65-F5344CB8AC3E}">
        <p14:creationId xmlns:p14="http://schemas.microsoft.com/office/powerpoint/2010/main" val="85854455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14524</TotalTime>
  <Words>1641</Words>
  <Application>Microsoft Macintosh PowerPoint</Application>
  <PresentationFormat>Widescreen</PresentationFormat>
  <Paragraphs>193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Courier New</vt:lpstr>
      <vt:lpstr>Gill Sans MT</vt:lpstr>
      <vt:lpstr>Parcel</vt:lpstr>
      <vt:lpstr>FUNCTIONS</vt:lpstr>
      <vt:lpstr>Example Code </vt:lpstr>
      <vt:lpstr>Functions</vt:lpstr>
      <vt:lpstr>Functions</vt:lpstr>
      <vt:lpstr>Functions</vt:lpstr>
      <vt:lpstr>Cohesion</vt:lpstr>
      <vt:lpstr>Example: Draw a Polygon</vt:lpstr>
      <vt:lpstr>Draw a polygon</vt:lpstr>
      <vt:lpstr>Draw a polygon</vt:lpstr>
      <vt:lpstr>Example: Calculate the area of a rectangle</vt:lpstr>
      <vt:lpstr>Python Function Syntax</vt:lpstr>
      <vt:lpstr>Function with Parameters</vt:lpstr>
      <vt:lpstr>Function with Return Value</vt:lpstr>
      <vt:lpstr>Define then Call</vt:lpstr>
      <vt:lpstr>Self-Check</vt:lpstr>
      <vt:lpstr>Self-Check</vt:lpstr>
      <vt:lpstr>Class Participation</vt:lpstr>
      <vt:lpstr>Generalizing Code</vt:lpstr>
      <vt:lpstr>Generalizing</vt:lpstr>
      <vt:lpstr>Generalizing</vt:lpstr>
      <vt:lpstr>Generalizing</vt:lpstr>
      <vt:lpstr>Find A Partner</vt:lpstr>
      <vt:lpstr>More Find a Partner</vt:lpstr>
      <vt:lpstr>Documenting Functions</vt:lpstr>
      <vt:lpstr>Documenting Functions</vt:lpstr>
      <vt:lpstr>Documentation</vt:lpstr>
      <vt:lpstr>Type Hints</vt:lpstr>
      <vt:lpstr>Ex: Type hints</vt:lpstr>
      <vt:lpstr>Default Arguments</vt:lpstr>
      <vt:lpstr>Default Arguments</vt:lpstr>
      <vt:lpstr>Keyword Arguments</vt:lpstr>
      <vt:lpstr>Keyword Arguments</vt:lpstr>
      <vt:lpstr>Keyword Arguments</vt:lpstr>
      <vt:lpstr>Try at Home</vt:lpstr>
      <vt:lpstr>More Try at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6</cp:revision>
  <cp:lastPrinted>2025-10-22T16:04:52Z</cp:lastPrinted>
  <dcterms:created xsi:type="dcterms:W3CDTF">2025-10-16T14:39:41Z</dcterms:created>
  <dcterms:modified xsi:type="dcterms:W3CDTF">2026-10-22T01:30:38Z</dcterms:modified>
</cp:coreProperties>
</file>