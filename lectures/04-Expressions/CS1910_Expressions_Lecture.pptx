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40"/>
  </p:notesMasterIdLst>
  <p:sldIdLst>
    <p:sldId id="313" r:id="rId2"/>
    <p:sldId id="260" r:id="rId3"/>
    <p:sldId id="258" r:id="rId4"/>
    <p:sldId id="259" r:id="rId5"/>
    <p:sldId id="261" r:id="rId6"/>
    <p:sldId id="281" r:id="rId7"/>
    <p:sldId id="282" r:id="rId8"/>
    <p:sldId id="293" r:id="rId9"/>
    <p:sldId id="295" r:id="rId10"/>
    <p:sldId id="297" r:id="rId11"/>
    <p:sldId id="298" r:id="rId12"/>
    <p:sldId id="304" r:id="rId13"/>
    <p:sldId id="344" r:id="rId14"/>
    <p:sldId id="345" r:id="rId15"/>
    <p:sldId id="305" r:id="rId16"/>
    <p:sldId id="307" r:id="rId17"/>
    <p:sldId id="346" r:id="rId18"/>
    <p:sldId id="308" r:id="rId19"/>
    <p:sldId id="306" r:id="rId20"/>
    <p:sldId id="299" r:id="rId21"/>
    <p:sldId id="300" r:id="rId22"/>
    <p:sldId id="303" r:id="rId23"/>
    <p:sldId id="262" r:id="rId24"/>
    <p:sldId id="265" r:id="rId25"/>
    <p:sldId id="347" r:id="rId26"/>
    <p:sldId id="348" r:id="rId27"/>
    <p:sldId id="349" r:id="rId28"/>
    <p:sldId id="269" r:id="rId29"/>
    <p:sldId id="350" r:id="rId30"/>
    <p:sldId id="271" r:id="rId31"/>
    <p:sldId id="268" r:id="rId32"/>
    <p:sldId id="273" r:id="rId33"/>
    <p:sldId id="266" r:id="rId34"/>
    <p:sldId id="280" r:id="rId35"/>
    <p:sldId id="310" r:id="rId36"/>
    <p:sldId id="311" r:id="rId37"/>
    <p:sldId id="291" r:id="rId38"/>
    <p:sldId id="31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38572-869D-654C-80E9-15D211BEE2C6}" v="2" dt="2026-09-17T00:53:28.216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79348" autoAdjust="0"/>
  </p:normalViewPr>
  <p:slideViewPr>
    <p:cSldViewPr snapToGrid="0">
      <p:cViewPr varScale="1">
        <p:scale>
          <a:sx n="87" d="100"/>
          <a:sy n="8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334A65D2-812A-5EDD-A5B2-F31A17A4407D}"/>
    <pc:docChg chg="delSld modSld">
      <pc:chgData name="Christopher Power" userId="83706efc-52ec-4aad-b93a-e27c6e901a30" providerId="ADAL" clId="{334A65D2-812A-5EDD-A5B2-F31A17A4407D}" dt="2026-09-17T00:53:28.207" v="2" actId="20577"/>
      <pc:docMkLst>
        <pc:docMk/>
      </pc:docMkLst>
      <pc:sldChg chg="del">
        <pc:chgData name="Christopher Power" userId="83706efc-52ec-4aad-b93a-e27c6e901a30" providerId="ADAL" clId="{334A65D2-812A-5EDD-A5B2-F31A17A4407D}" dt="2026-09-17T00:50:30.471" v="0" actId="2696"/>
        <pc:sldMkLst>
          <pc:docMk/>
          <pc:sldMk cId="2078530638" sldId="257"/>
        </pc:sldMkLst>
      </pc:sldChg>
      <pc:sldChg chg="modSp mod">
        <pc:chgData name="Christopher Power" userId="83706efc-52ec-4aad-b93a-e27c6e901a30" providerId="ADAL" clId="{334A65D2-812A-5EDD-A5B2-F31A17A4407D}" dt="2026-09-17T00:53:28.207" v="2" actId="20577"/>
        <pc:sldMkLst>
          <pc:docMk/>
          <pc:sldMk cId="645151527" sldId="260"/>
        </pc:sldMkLst>
        <pc:spChg chg="mod">
          <ac:chgData name="Christopher Power" userId="83706efc-52ec-4aad-b93a-e27c6e901a30" providerId="ADAL" clId="{334A65D2-812A-5EDD-A5B2-F31A17A4407D}" dt="2026-09-17T00:53:28.207" v="2" actId="20577"/>
          <ac:spMkLst>
            <pc:docMk/>
            <pc:sldMk cId="645151527" sldId="260"/>
            <ac:spMk id="3" creationId="{52BF1C45-1BC6-1344-58B8-103FD029F2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5323A-822E-E84A-9FEB-A103DD03B04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F92D9-E9D5-EA45-93E3-E28E893B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3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my_int</a:t>
            </a:r>
            <a:r>
              <a:rPr lang="en-US" dirty="0"/>
              <a:t> % 2 == 0 #T == even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F92D9-E9D5-EA45-93E3-E28E893B5A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8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Answers to questions:</a:t>
            </a:r>
          </a:p>
          <a:p>
            <a:pPr marL="228600" indent="-228600">
              <a:buAutoNum type="arabicParenR"/>
            </a:pPr>
            <a:r>
              <a:rPr lang="en-CA" dirty="0"/>
              <a:t>What are we trying to achieve?  Draw red, blue, red blue - We are trying to track if it is red and blue.  What does that mean really?  </a:t>
            </a:r>
          </a:p>
          <a:p>
            <a:pPr marL="228600" indent="-228600">
              <a:buAutoNum type="arabicParenR"/>
            </a:pPr>
            <a:r>
              <a:rPr lang="en-CA" dirty="0"/>
              <a:t>What do we know?  We know that red and blue are represented with combinations of 0 and 255.</a:t>
            </a:r>
          </a:p>
          <a:p>
            <a:pPr marL="228600" indent="-228600">
              <a:buAutoNum type="arabicParenR"/>
            </a:pPr>
            <a:r>
              <a:rPr lang="en-CA" dirty="0"/>
              <a:t>Can we break it down into smaller parts? :  Can we set the numbers to the right numbers?</a:t>
            </a:r>
          </a:p>
          <a:p>
            <a:pPr marL="228600" indent="-228600">
              <a:buAutoNum type="arabicParenR"/>
            </a:pPr>
            <a:r>
              <a:rPr lang="en-CA" dirty="0"/>
              <a:t>Decompose: What are we trying to achieved?  We need to know if the first number r should be 0 or 255.  We know g is 0.  We need to know if the number b should be 0 or 255.</a:t>
            </a:r>
          </a:p>
          <a:p>
            <a:pPr marL="228600" indent="-228600">
              <a:buAutoNum type="arabicParenR"/>
            </a:pPr>
            <a:r>
              <a:rPr lang="en-CA" dirty="0"/>
              <a:t>What are the patterns?  </a:t>
            </a:r>
            <a:r>
              <a:rPr lang="en-CA" dirty="0" err="1"/>
              <a:t>Atl</a:t>
            </a:r>
            <a:endParaRPr lang="en-CA" dirty="0"/>
          </a:p>
          <a:p>
            <a:pPr marL="228600" indent="-228600">
              <a:buAutoNum type="arabicParenR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F92D9-E9D5-EA45-93E3-E28E893B5AE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7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UPEI-CS/CS1910-Students/blob/main/lectures/04-Expressions/CS1910_Expressions_Workbook.ipyn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Expressions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CS1910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38C0-66AB-148B-AEB1-DE7475C0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1C45-1BC6-1344-58B8-103FD029F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https://colab.research.google.com/github/UPEI-CS/CS1910-Students/blob/main/lectures/04-Expressions/CS1910_Expressions_Workbook.ipynb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15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298F-A86B-A447-BDE2-C87F1B01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7075"/>
            <a:ext cx="7729728" cy="1188720"/>
          </a:xfrm>
        </p:spPr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12C5D-5398-8E2E-01A0-82C448B5F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66015"/>
            <a:ext cx="7729728" cy="3912881"/>
          </a:xfrm>
        </p:spPr>
        <p:txBody>
          <a:bodyPr>
            <a:normAutofit/>
          </a:bodyPr>
          <a:lstStyle/>
          <a:p>
            <a:r>
              <a:rPr lang="en-US" sz="2400" dirty="0"/>
              <a:t>Combinations of literal values, variables, operators and function calls that the python interpreter evaluates to produce a single value</a:t>
            </a:r>
          </a:p>
          <a:p>
            <a:pPr lvl="1"/>
            <a:r>
              <a:rPr lang="en-US" sz="2000" dirty="0"/>
              <a:t>Primarily compute and return results</a:t>
            </a:r>
          </a:p>
          <a:p>
            <a:r>
              <a:rPr lang="en-US" sz="2400" dirty="0"/>
              <a:t>Examples of Types of expressions</a:t>
            </a:r>
          </a:p>
          <a:p>
            <a:pPr lvl="1"/>
            <a:r>
              <a:rPr lang="en-US" sz="2000" dirty="0"/>
              <a:t>Arithmetic expressions ( + - * / // **, …)</a:t>
            </a:r>
          </a:p>
          <a:p>
            <a:pPr lvl="1"/>
            <a:r>
              <a:rPr lang="en-US" sz="2000" dirty="0"/>
              <a:t>Comparison expressions (&gt; &lt; &gt;= &lt;= ==, …)</a:t>
            </a:r>
          </a:p>
          <a:p>
            <a:pPr lvl="1"/>
            <a:r>
              <a:rPr lang="en-US" sz="2000" dirty="0"/>
              <a:t>Logical expressions (and or not )</a:t>
            </a:r>
          </a:p>
          <a:p>
            <a:pPr lvl="1"/>
            <a:r>
              <a:rPr lang="en-US" sz="2000" dirty="0"/>
              <a:t>Function call expression (abs( ), </a:t>
            </a:r>
            <a:r>
              <a:rPr lang="en-US" sz="2000" dirty="0" err="1"/>
              <a:t>len</a:t>
            </a:r>
            <a:r>
              <a:rPr lang="en-US" sz="2000" dirty="0"/>
              <a:t>( ), …)</a:t>
            </a:r>
          </a:p>
        </p:txBody>
      </p:sp>
    </p:spTree>
    <p:extLst>
      <p:ext uri="{BB962C8B-B14F-4D97-AF65-F5344CB8AC3E}">
        <p14:creationId xmlns:p14="http://schemas.microsoft.com/office/powerpoint/2010/main" val="800729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6DF5-BF40-0CEC-5545-A3222548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A038-3F53-2BA0-23DD-F10DAE60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Follows mathematical operator precedence (BEDMAS)</a:t>
            </a:r>
          </a:p>
          <a:p>
            <a:pPr lvl="1"/>
            <a:r>
              <a:rPr lang="en-US" sz="2000" dirty="0"/>
              <a:t>Left to right evaluation</a:t>
            </a:r>
          </a:p>
          <a:p>
            <a:r>
              <a:rPr lang="en-US" sz="2400" dirty="0"/>
              <a:t>Supports: + - * / // % **</a:t>
            </a:r>
          </a:p>
          <a:p>
            <a:r>
              <a:rPr lang="en-US" sz="2400" dirty="0"/>
              <a:t> Be mindful of the return type for the expression</a:t>
            </a:r>
          </a:p>
          <a:p>
            <a:pPr lvl="1"/>
            <a:r>
              <a:rPr lang="en-US" sz="2000" dirty="0"/>
              <a:t>Generally, if </a:t>
            </a:r>
            <a:r>
              <a:rPr lang="en-US" sz="2000" dirty="0" err="1"/>
              <a:t>ints</a:t>
            </a:r>
            <a:r>
              <a:rPr lang="en-US" sz="2000" dirty="0"/>
              <a:t> and floats are both involved then the result is “elevated” to float</a:t>
            </a:r>
          </a:p>
          <a:p>
            <a:r>
              <a:rPr lang="en-US" sz="2400" dirty="0"/>
              <a:t>String concatenation is supported with +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848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C603-3165-DA15-6251-B4D6774B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D934-EEA7-EF93-C861-66F16A99C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55848"/>
            <a:ext cx="7946808" cy="7116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do the following arithmetic expressions evaluate to? </a:t>
            </a:r>
          </a:p>
          <a:p>
            <a:pPr marL="0" indent="0" algn="ctr">
              <a:buNone/>
            </a:pPr>
            <a:r>
              <a:rPr lang="en-US" dirty="0"/>
              <a:t>(Be mindful of your return types)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BF6E7-1819-1ADD-0081-2741E0E36592}"/>
              </a:ext>
            </a:extLst>
          </p:cNvPr>
          <p:cNvSpPr txBox="1"/>
          <p:nvPr/>
        </p:nvSpPr>
        <p:spPr>
          <a:xfrm>
            <a:off x="2231136" y="3349684"/>
            <a:ext cx="5147563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int(“5” + “5”) + int(“5”) + int(“5”)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E8036-CC17-CD3F-90DE-2F7CB8BCDC66}"/>
              </a:ext>
            </a:extLst>
          </p:cNvPr>
          <p:cNvSpPr txBox="1"/>
          <p:nvPr/>
        </p:nvSpPr>
        <p:spPr>
          <a:xfrm>
            <a:off x="2231136" y="3929715"/>
            <a:ext cx="2114681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// 5 * 12345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87B62-8C9E-8028-CC65-CC9C42A9C141}"/>
              </a:ext>
            </a:extLst>
          </p:cNvPr>
          <p:cNvSpPr txBox="1"/>
          <p:nvPr/>
        </p:nvSpPr>
        <p:spPr>
          <a:xfrm>
            <a:off x="2231136" y="4663440"/>
            <a:ext cx="2528256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77 / 10 + 77 %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A3701-9CD5-9B60-7011-12FB339F6134}"/>
              </a:ext>
            </a:extLst>
          </p:cNvPr>
          <p:cNvSpPr txBox="1"/>
          <p:nvPr/>
        </p:nvSpPr>
        <p:spPr>
          <a:xfrm>
            <a:off x="7545547" y="4649986"/>
            <a:ext cx="2666114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“hello” + str(8/2)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BEA43-46D3-CA05-0F49-5167895C72BC}"/>
              </a:ext>
            </a:extLst>
          </p:cNvPr>
          <p:cNvSpPr txBox="1"/>
          <p:nvPr/>
        </p:nvSpPr>
        <p:spPr>
          <a:xfrm>
            <a:off x="7649688" y="3927510"/>
            <a:ext cx="2528256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“hello” + “world”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542FA-ED61-648B-3E15-01D353FB8AFF}"/>
              </a:ext>
            </a:extLst>
          </p:cNvPr>
          <p:cNvSpPr txBox="1"/>
          <p:nvPr/>
        </p:nvSpPr>
        <p:spPr>
          <a:xfrm>
            <a:off x="2270760" y="5394960"/>
            <a:ext cx="2114681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 + 4.2 + 0.8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12473-4C56-4877-CF2B-1F9F5DFA0A11}"/>
              </a:ext>
            </a:extLst>
          </p:cNvPr>
          <p:cNvSpPr txBox="1"/>
          <p:nvPr/>
        </p:nvSpPr>
        <p:spPr>
          <a:xfrm>
            <a:off x="7545547" y="5372462"/>
            <a:ext cx="873957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 /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65EEA-583D-11D0-1448-32FBA5EB2A79}"/>
              </a:ext>
            </a:extLst>
          </p:cNvPr>
          <p:cNvSpPr txBox="1"/>
          <p:nvPr/>
        </p:nvSpPr>
        <p:spPr>
          <a:xfrm>
            <a:off x="2270760" y="6126480"/>
            <a:ext cx="114967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7.0 %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2E8328-47BA-1E45-5BFC-45A9BEB78565}"/>
              </a:ext>
            </a:extLst>
          </p:cNvPr>
          <p:cNvCxnSpPr/>
          <p:nvPr/>
        </p:nvCxnSpPr>
        <p:spPr>
          <a:xfrm flipH="1">
            <a:off x="3687885" y="6314718"/>
            <a:ext cx="1117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685086A-09E0-9AB9-85AB-A97A2E0EB2A5}"/>
              </a:ext>
            </a:extLst>
          </p:cNvPr>
          <p:cNvSpPr txBox="1"/>
          <p:nvPr/>
        </p:nvSpPr>
        <p:spPr>
          <a:xfrm>
            <a:off x="4777652" y="6126480"/>
            <a:ext cx="5218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supports modulus with floating point numbers</a:t>
            </a:r>
          </a:p>
        </p:txBody>
      </p:sp>
    </p:spTree>
    <p:extLst>
      <p:ext uri="{BB962C8B-B14F-4D97-AF65-F5344CB8AC3E}">
        <p14:creationId xmlns:p14="http://schemas.microsoft.com/office/powerpoint/2010/main" val="270398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1022-5ABF-969D-4898-7EB00CE1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594AD-A0F6-49B5-7C08-68FA00A4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67556"/>
          </a:xfrm>
        </p:spPr>
        <p:txBody>
          <a:bodyPr>
            <a:normAutofit/>
          </a:bodyPr>
          <a:lstStyle/>
          <a:p>
            <a:r>
              <a:rPr lang="en-US" dirty="0"/>
              <a:t>Recall from last day that variables are assigned a value using =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29</a:t>
            </a:r>
          </a:p>
          <a:p>
            <a:endParaRPr lang="en-US" dirty="0"/>
          </a:p>
          <a:p>
            <a:r>
              <a:rPr lang="en-US" dirty="0"/>
              <a:t>Select Other Assignment Operators: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+= </a:t>
            </a:r>
            <a:r>
              <a:rPr lang="en-CA" dirty="0">
                <a:cs typeface="Courier New" panose="02070309020205020404" pitchFamily="49" charset="0"/>
              </a:rPr>
              <a:t>Addition Assignment (add and then assign)  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-= </a:t>
            </a:r>
            <a:r>
              <a:rPr lang="en-CA" dirty="0">
                <a:cs typeface="Courier New" panose="02070309020205020404" pitchFamily="49" charset="0"/>
              </a:rPr>
              <a:t>Subtraction Assignment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/= </a:t>
            </a:r>
            <a:r>
              <a:rPr lang="en-CA" dirty="0">
                <a:cs typeface="Courier New" panose="02070309020205020404" pitchFamily="49" charset="0"/>
              </a:rPr>
              <a:t>Division Assignment 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//=</a:t>
            </a:r>
            <a:r>
              <a:rPr lang="en-CA" dirty="0">
                <a:cs typeface="Courier New" panose="02070309020205020404" pitchFamily="49" charset="0"/>
              </a:rPr>
              <a:t> Floor Division Assignment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*= </a:t>
            </a:r>
            <a:r>
              <a:rPr lang="en-CA" dirty="0">
                <a:cs typeface="Courier New" panose="02070309020205020404" pitchFamily="49" charset="0"/>
              </a:rPr>
              <a:t>Multiplication Assignment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  <a:r>
              <a:rPr lang="en-CA" dirty="0">
                <a:cs typeface="Courier New" panose="02070309020205020404" pitchFamily="49" charset="0"/>
              </a:rPr>
              <a:t> Modulus Assignment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85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DD13-0A49-D0E1-13D8-65E2FD51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67640-B209-42AF-8C05-4A1B7C81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5" y="2628900"/>
            <a:ext cx="3416300" cy="160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D25BE-766C-406D-6935-78FD5859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515" y="2638044"/>
            <a:ext cx="3035300" cy="151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1A35F-497D-5F8A-C373-7D9F50688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314" y="4621762"/>
            <a:ext cx="1981200" cy="2057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E23BE3-66B4-14A8-6C46-3A5BDE8B83F9}"/>
              </a:ext>
            </a:extLst>
          </p:cNvPr>
          <p:cNvCxnSpPr>
            <a:cxnSpLocks/>
          </p:cNvCxnSpPr>
          <p:nvPr/>
        </p:nvCxnSpPr>
        <p:spPr>
          <a:xfrm>
            <a:off x="3258655" y="5711687"/>
            <a:ext cx="1316659" cy="71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69225F-D213-7807-AFA4-5678D7D2D816}"/>
              </a:ext>
            </a:extLst>
          </p:cNvPr>
          <p:cNvSpPr txBox="1"/>
          <p:nvPr/>
        </p:nvSpPr>
        <p:spPr>
          <a:xfrm>
            <a:off x="611079" y="5319025"/>
            <a:ext cx="3305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Predictions on what this outputs?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AD3EE8-E2B1-C6C3-8A49-7DDC00FF110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556514" y="5484239"/>
            <a:ext cx="1487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699F022-D384-026A-2AA3-A44E6BB28F0B}"/>
              </a:ext>
            </a:extLst>
          </p:cNvPr>
          <p:cNvSpPr txBox="1"/>
          <p:nvPr/>
        </p:nvSpPr>
        <p:spPr>
          <a:xfrm>
            <a:off x="8044070" y="5022574"/>
            <a:ext cx="332629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More on while loops later, essentially executes the indented code until the clause is False</a:t>
            </a:r>
          </a:p>
        </p:txBody>
      </p:sp>
    </p:spTree>
    <p:extLst>
      <p:ext uri="{BB962C8B-B14F-4D97-AF65-F5344CB8AC3E}">
        <p14:creationId xmlns:p14="http://schemas.microsoft.com/office/powerpoint/2010/main" val="339897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43A40-8BF6-A32C-1C24-E3DBC254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6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Pair Problem Solving /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07AFE-9FEF-6ECF-1F00-C9096B6B2D14}"/>
              </a:ext>
            </a:extLst>
          </p:cNvPr>
          <p:cNvSpPr txBox="1"/>
          <p:nvPr/>
        </p:nvSpPr>
        <p:spPr>
          <a:xfrm>
            <a:off x="5591695" y="1402080"/>
            <a:ext cx="5320696" cy="4053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 1: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can we determine if a number is even or odd?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C6CE7-3DAC-A617-0331-8811442BF609}"/>
              </a:ext>
            </a:extLst>
          </p:cNvPr>
          <p:cNvSpPr txBox="1"/>
          <p:nvPr/>
        </p:nvSpPr>
        <p:spPr>
          <a:xfrm>
            <a:off x="8038964" y="6370320"/>
            <a:ext cx="39992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Difficulty Estimate: fairly straight-forward</a:t>
            </a:r>
          </a:p>
        </p:txBody>
      </p:sp>
    </p:spTree>
    <p:extLst>
      <p:ext uri="{BB962C8B-B14F-4D97-AF65-F5344CB8AC3E}">
        <p14:creationId xmlns:p14="http://schemas.microsoft.com/office/powerpoint/2010/main" val="1694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F4FE0-3C7F-E749-2FBC-B976BFA9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CFF69-D55E-A196-66FD-40D15AFC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6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Pair Problem Solving /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13ACA-B4BE-0E3A-83CF-A117A438A6E5}"/>
              </a:ext>
            </a:extLst>
          </p:cNvPr>
          <p:cNvSpPr txBox="1"/>
          <p:nvPr/>
        </p:nvSpPr>
        <p:spPr>
          <a:xfrm>
            <a:off x="5610431" y="1146554"/>
            <a:ext cx="5320696" cy="2697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 2: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can we turtle draw a hexagon so that the sides alternate red and blue?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AD7C2-BB2C-B46B-D616-E1DEAEBAFD1E}"/>
              </a:ext>
            </a:extLst>
          </p:cNvPr>
          <p:cNvSpPr txBox="1"/>
          <p:nvPr/>
        </p:nvSpPr>
        <p:spPr>
          <a:xfrm>
            <a:off x="3916681" y="5775960"/>
            <a:ext cx="768096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Difficulty Estimate: same as previous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CC80B2-57AE-6C5A-4610-155F7193B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003" y="3497721"/>
            <a:ext cx="1914320" cy="17781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2F631B-2D3A-6EA9-2FBF-6838528B099D}"/>
              </a:ext>
            </a:extLst>
          </p:cNvPr>
          <p:cNvSpPr txBox="1"/>
          <p:nvPr/>
        </p:nvSpPr>
        <p:spPr>
          <a:xfrm>
            <a:off x="7631086" y="140014"/>
            <a:ext cx="42934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We aren’t using </a:t>
            </a:r>
            <a:r>
              <a:rPr lang="en-US" b="1" dirty="0"/>
              <a:t>if</a:t>
            </a:r>
            <a:r>
              <a:rPr lang="en-US" dirty="0"/>
              <a:t> statements just yet</a:t>
            </a:r>
          </a:p>
        </p:txBody>
      </p:sp>
    </p:spTree>
    <p:extLst>
      <p:ext uri="{BB962C8B-B14F-4D97-AF65-F5344CB8AC3E}">
        <p14:creationId xmlns:p14="http://schemas.microsoft.com/office/powerpoint/2010/main" val="10445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E997A-2346-F0D9-BBBD-34A5651C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Colored Hexagon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9ECB-F855-4D33-8653-1E1308A4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805" y="1443034"/>
            <a:ext cx="6959195" cy="4012885"/>
          </a:xfrm>
        </p:spPr>
        <p:txBody>
          <a:bodyPr anchor="ctr">
            <a:normAutofit/>
          </a:bodyPr>
          <a:lstStyle/>
          <a:p>
            <a:r>
              <a:rPr lang="en-US" sz="2400" dirty="0"/>
              <a:t>2 ways to change the Turtle’s color: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color(“red”)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color(r, g, b) e.g., color(255, 0, 0)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42B2D3-8E7B-550D-81E5-46831DD2916B}"/>
              </a:ext>
            </a:extLst>
          </p:cNvPr>
          <p:cNvCxnSpPr>
            <a:cxnSpLocks/>
          </p:cNvCxnSpPr>
          <p:nvPr/>
        </p:nvCxnSpPr>
        <p:spPr>
          <a:xfrm flipV="1">
            <a:off x="9485523" y="4362680"/>
            <a:ext cx="969117" cy="672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C290CB-7289-6DFD-435B-0365B9951391}"/>
              </a:ext>
            </a:extLst>
          </p:cNvPr>
          <p:cNvSpPr txBox="1"/>
          <p:nvPr/>
        </p:nvSpPr>
        <p:spPr>
          <a:xfrm>
            <a:off x="8228656" y="5034709"/>
            <a:ext cx="3323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values between 0 and 255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0BD3D5-C857-76AA-71D6-9A7518D6982A}"/>
              </a:ext>
            </a:extLst>
          </p:cNvPr>
          <p:cNvCxnSpPr/>
          <p:nvPr/>
        </p:nvCxnSpPr>
        <p:spPr>
          <a:xfrm flipH="1">
            <a:off x="7680960" y="3291840"/>
            <a:ext cx="1234440" cy="13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06CFB8-9FE1-185F-5F37-C1ED83BC1A89}"/>
              </a:ext>
            </a:extLst>
          </p:cNvPr>
          <p:cNvSpPr txBox="1"/>
          <p:nvPr/>
        </p:nvSpPr>
        <p:spPr>
          <a:xfrm>
            <a:off x="8898664" y="2960599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AC9585-673F-D0BF-2FFD-0C2CF2F1B374}"/>
              </a:ext>
            </a:extLst>
          </p:cNvPr>
          <p:cNvCxnSpPr/>
          <p:nvPr/>
        </p:nvCxnSpPr>
        <p:spPr>
          <a:xfrm flipV="1">
            <a:off x="6537960" y="4362680"/>
            <a:ext cx="472440" cy="109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035D3A-098D-FBD7-90B3-2EFFFCDB1F10}"/>
              </a:ext>
            </a:extLst>
          </p:cNvPr>
          <p:cNvSpPr txBox="1"/>
          <p:nvPr/>
        </p:nvSpPr>
        <p:spPr>
          <a:xfrm>
            <a:off x="6050280" y="5455919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integers</a:t>
            </a:r>
          </a:p>
        </p:txBody>
      </p:sp>
    </p:spTree>
    <p:extLst>
      <p:ext uri="{BB962C8B-B14F-4D97-AF65-F5344CB8AC3E}">
        <p14:creationId xmlns:p14="http://schemas.microsoft.com/office/powerpoint/2010/main" val="143368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AD0FD2-AF9A-4626-A717-49B02235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929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AFCFD-EAD7-8646-3971-5453554E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20" y="370657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Colored Triangle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9AF048-01BF-4742-B8D3-428C27C15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1B1012-541C-1480-7615-DA11E9E1FDC2}"/>
              </a:ext>
            </a:extLst>
          </p:cNvPr>
          <p:cNvCxnSpPr>
            <a:cxnSpLocks/>
          </p:cNvCxnSpPr>
          <p:nvPr/>
        </p:nvCxnSpPr>
        <p:spPr>
          <a:xfrm flipV="1">
            <a:off x="5867400" y="4312920"/>
            <a:ext cx="1894332" cy="1341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458821-A888-E4CF-7340-92096FA56049}"/>
              </a:ext>
            </a:extLst>
          </p:cNvPr>
          <p:cNvSpPr txBox="1"/>
          <p:nvPr/>
        </p:nvSpPr>
        <p:spPr>
          <a:xfrm>
            <a:off x="3692547" y="5469374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Color to BLUE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BC7DC-A174-51B5-5EDD-21A7A0BEA975}"/>
              </a:ext>
            </a:extLst>
          </p:cNvPr>
          <p:cNvSpPr txBox="1"/>
          <p:nvPr/>
        </p:nvSpPr>
        <p:spPr>
          <a:xfrm>
            <a:off x="865455" y="2341558"/>
            <a:ext cx="44866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code ”works” but it hasn’t taken full advantage of our computational thinking skills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There are a few variables (abstraction) but no patterns (we repeat the same code in a bunch of places) - this is not good for code maintenance nor readability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Can we take advantage of patterns?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AFE8E-0772-D244-5825-81F188C52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732" y="0"/>
            <a:ext cx="3314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9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230C-2FAD-C7B4-8E44-0BE8049C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5FD5-732A-2F76-984F-FD1F68E0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last day we know the pattern for the shape: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B6178-2E25-6BD1-49AA-1D8827B1A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152" y="2939461"/>
            <a:ext cx="3014963" cy="2800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0077F8-1B24-CA22-605C-64CED8E19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27" y="3080780"/>
            <a:ext cx="6468097" cy="324761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2052C1-ED5C-96DF-5435-6B3F9B2A0080}"/>
              </a:ext>
            </a:extLst>
          </p:cNvPr>
          <p:cNvCxnSpPr/>
          <p:nvPr/>
        </p:nvCxnSpPr>
        <p:spPr>
          <a:xfrm flipH="1">
            <a:off x="2592729" y="2939461"/>
            <a:ext cx="4444679" cy="2049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0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1783-28D9-0ED5-0A75-7A222A70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Questions to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A02B-FC27-0F17-7CB0-0293EABDF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dirty="0"/>
              <a:t>What are we trying to achieve? 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What do we know? 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What information is missing?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Can we break it down into smaller parts?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What are the patterns?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Can we represent it differently?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Have we solved it before?</a:t>
            </a:r>
          </a:p>
        </p:txBody>
      </p:sp>
    </p:spTree>
    <p:extLst>
      <p:ext uri="{BB962C8B-B14F-4D97-AF65-F5344CB8AC3E}">
        <p14:creationId xmlns:p14="http://schemas.microsoft.com/office/powerpoint/2010/main" val="3047993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B79B-B13E-42B1-83A1-384097AF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D775-60A3-78E2-F4E7-936E15D8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Questions to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8C0F-C0D9-8900-0AF3-221E68489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06299"/>
          </a:xfrm>
        </p:spPr>
        <p:txBody>
          <a:bodyPr>
            <a:normAutofit/>
          </a:bodyPr>
          <a:lstStyle/>
          <a:p>
            <a:r>
              <a:rPr lang="en-CA" dirty="0"/>
              <a:t>What are we trying to achieve?  </a:t>
            </a:r>
          </a:p>
          <a:p>
            <a:pPr lvl="1"/>
            <a:r>
              <a:rPr lang="en-CA" dirty="0"/>
              <a:t>Draw red, blue, red blue – but actually …We are trying to track if it is red and blue.  </a:t>
            </a:r>
          </a:p>
          <a:p>
            <a:r>
              <a:rPr lang="en-CA" dirty="0"/>
              <a:t>What do we know?  </a:t>
            </a:r>
          </a:p>
          <a:p>
            <a:pPr lvl="1"/>
            <a:r>
              <a:rPr lang="en-CA" dirty="0"/>
              <a:t>6 sides, 120 degree turn … and … first side is red.  </a:t>
            </a:r>
          </a:p>
          <a:p>
            <a:pPr lvl="1"/>
            <a:r>
              <a:rPr lang="en-CA" dirty="0"/>
              <a:t>We know that red and blue are represented with combinations of 0 and 255.</a:t>
            </a:r>
          </a:p>
          <a:p>
            <a:r>
              <a:rPr lang="en-CA" dirty="0"/>
              <a:t>Can we break it down into smaller parts? </a:t>
            </a:r>
          </a:p>
          <a:p>
            <a:pPr lvl="1"/>
            <a:r>
              <a:rPr lang="en-CA" dirty="0"/>
              <a:t>We need to know if the first number r should be 0 or 255.  We know g is 0.  We need to know if the number b should be 0 or 255.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759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2E56-A309-CD34-AACB-1F8845B4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patterns?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E1A7-AFA5-C523-3540-5C1FDC7C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5508607" cy="37627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colors have a pattern too that we can use.</a:t>
            </a:r>
          </a:p>
          <a:p>
            <a:r>
              <a:rPr lang="en-US" dirty="0"/>
              <a:t>Consider that the first side is the top side and call it </a:t>
            </a:r>
          </a:p>
          <a:p>
            <a:pPr lvl="2"/>
            <a:r>
              <a:rPr lang="en-US" dirty="0"/>
              <a:t>Side 1 – Red</a:t>
            </a:r>
          </a:p>
          <a:p>
            <a:pPr lvl="2"/>
            <a:r>
              <a:rPr lang="en-US" dirty="0"/>
              <a:t>Side 2 – Blue</a:t>
            </a:r>
          </a:p>
          <a:p>
            <a:pPr lvl="2"/>
            <a:r>
              <a:rPr lang="en-US" dirty="0"/>
              <a:t>Side 3 – Red …</a:t>
            </a:r>
          </a:p>
          <a:p>
            <a:pPr lvl="1"/>
            <a:r>
              <a:rPr lang="en-US" dirty="0"/>
              <a:t>Odd numbered sides are red</a:t>
            </a:r>
          </a:p>
          <a:p>
            <a:pPr lvl="1"/>
            <a:r>
              <a:rPr lang="en-US" dirty="0"/>
              <a:t>Even numbered sides are blue </a:t>
            </a:r>
          </a:p>
          <a:p>
            <a:r>
              <a:rPr lang="en-CA" dirty="0"/>
              <a:t>Pattern recognition:</a:t>
            </a:r>
          </a:p>
          <a:p>
            <a:pPr lvl="1"/>
            <a:r>
              <a:rPr lang="en-US" dirty="0"/>
              <a:t>Essentially the problem “Decomposes” drawing each side and keeping a count of the side we are on so we can determine if it is even or odd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BEB17-8122-E171-93CA-37572890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82" y="2788752"/>
            <a:ext cx="3014963" cy="28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53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4EC1-8886-7BE1-9005-E271534D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Represent it Differently?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8826-E331-0E0A-C750-15EEB87A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>
            <a:normAutofit/>
          </a:bodyPr>
          <a:lstStyle/>
          <a:p>
            <a:r>
              <a:rPr lang="en-US" dirty="0"/>
              <a:t>“Odd” sides are (255, 0, 0) &lt;- RED</a:t>
            </a:r>
          </a:p>
          <a:p>
            <a:r>
              <a:rPr lang="en-US" dirty="0"/>
              <a:t>“Even” sides are (0, 0, 255) &lt;- BLUE</a:t>
            </a:r>
          </a:p>
          <a:p>
            <a:r>
              <a:rPr lang="en-US" dirty="0"/>
              <a:t>Can we develop a formula that converts a side number like 2 into (0,0,255)?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39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B9CF-20F1-BFA5-EC86-548EC357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FDB9-C48F-70FA-7280-B10E430B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solved it before?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0FCA-7606-1549-D106-B5C0F72F2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/>
          <a:lstStyle/>
          <a:p>
            <a:r>
              <a:rPr lang="en-US" dirty="0"/>
              <a:t>We need to detect if something is even or odd.  How did we do that?</a:t>
            </a:r>
          </a:p>
          <a:p>
            <a:r>
              <a:rPr lang="en-US" dirty="0"/>
              <a:t>Modulo operator helps us with that – but that gives us 0 (even) and 1 (odd)</a:t>
            </a:r>
          </a:p>
          <a:p>
            <a:r>
              <a:rPr lang="en-US" dirty="0"/>
              <a:t>We need … </a:t>
            </a:r>
          </a:p>
          <a:p>
            <a:pPr lvl="1"/>
            <a:r>
              <a:rPr lang="en-US" dirty="0"/>
              <a:t>(255,0,0)</a:t>
            </a:r>
          </a:p>
          <a:p>
            <a:pPr lvl="1"/>
            <a:r>
              <a:rPr lang="en-US" dirty="0"/>
              <a:t>(0,0,255)</a:t>
            </a:r>
          </a:p>
          <a:p>
            <a:pPr lvl="1"/>
            <a:r>
              <a:rPr lang="en-US" dirty="0"/>
              <a:t>(255,0,0)</a:t>
            </a:r>
          </a:p>
          <a:p>
            <a:pPr lvl="1"/>
            <a:r>
              <a:rPr lang="en-US" dirty="0"/>
              <a:t>(0,0,255)</a:t>
            </a:r>
          </a:p>
        </p:txBody>
      </p:sp>
    </p:spTree>
    <p:extLst>
      <p:ext uri="{BB962C8B-B14F-4D97-AF65-F5344CB8AC3E}">
        <p14:creationId xmlns:p14="http://schemas.microsoft.com/office/powerpoint/2010/main" val="3252549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1F57-B333-28E1-8E98-CC56C706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solved it before?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2C50-8E4D-F225-62BB-021F5CD94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03527"/>
          </a:xfrm>
        </p:spPr>
        <p:txBody>
          <a:bodyPr>
            <a:normAutofit/>
          </a:bodyPr>
          <a:lstStyle/>
          <a:p>
            <a:r>
              <a:rPr lang="en-US" dirty="0"/>
              <a:t>Logic: We need the following:</a:t>
            </a:r>
          </a:p>
          <a:p>
            <a:pPr lvl="1"/>
            <a:r>
              <a:rPr lang="en-US" dirty="0"/>
              <a:t>If side is odd -1 remainder - then r is 255 and the rest are 0.</a:t>
            </a:r>
          </a:p>
          <a:p>
            <a:pPr lvl="1"/>
            <a:r>
              <a:rPr lang="en-US" dirty="0"/>
              <a:t>Else if side is even – 0 remainder – then b is 255 and the rest are 0. (255,0,0)</a:t>
            </a:r>
          </a:p>
          <a:p>
            <a:r>
              <a:rPr lang="en-US" dirty="0"/>
              <a:t>How do we get 0 and 1?  We did that before:</a:t>
            </a:r>
          </a:p>
          <a:p>
            <a:pPr lvl="1"/>
            <a:r>
              <a:rPr lang="en-US" dirty="0"/>
              <a:t>Count the sides in a loop with a variable – </a:t>
            </a:r>
            <a:r>
              <a:rPr lang="en-US" dirty="0" err="1"/>
              <a:t>side_count</a:t>
            </a:r>
            <a:endParaRPr lang="en-US" dirty="0"/>
          </a:p>
          <a:p>
            <a:pPr lvl="2"/>
            <a:r>
              <a:rPr lang="en-US" dirty="0" err="1"/>
              <a:t>side_count</a:t>
            </a:r>
            <a:r>
              <a:rPr lang="en-US" dirty="0"/>
              <a:t> % 2 * 255 – produces 0 or 255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39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6E61-6DD8-2FE1-525E-A00A0C66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D7DB-465A-4061-BAC0-2B323CE4A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have identified simple patterns and decomposed our problem into:</a:t>
            </a:r>
          </a:p>
          <a:p>
            <a:pPr lvl="1"/>
            <a:r>
              <a:rPr lang="en-US" sz="2000" dirty="0"/>
              <a:t>drawing each side (forward and rotate) </a:t>
            </a:r>
          </a:p>
          <a:p>
            <a:pPr lvl="1"/>
            <a:r>
              <a:rPr lang="en-US" sz="2000" dirty="0"/>
              <a:t>while using the count of side to set the color.</a:t>
            </a:r>
          </a:p>
        </p:txBody>
      </p:sp>
    </p:spTree>
    <p:extLst>
      <p:ext uri="{BB962C8B-B14F-4D97-AF65-F5344CB8AC3E}">
        <p14:creationId xmlns:p14="http://schemas.microsoft.com/office/powerpoint/2010/main" val="3629362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2EF4-B7D7-92F3-5641-9A65C5F4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3227"/>
            <a:ext cx="7729728" cy="1188720"/>
          </a:xfrm>
        </p:spPr>
        <p:txBody>
          <a:bodyPr/>
          <a:lstStyle/>
          <a:p>
            <a:r>
              <a:rPr lang="en-US" dirty="0"/>
              <a:t>Colored </a:t>
            </a:r>
            <a:r>
              <a:rPr lang="en-US" dirty="0" err="1"/>
              <a:t>HexaGON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A170A-609E-0134-DBEE-C83E8BFB6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06345"/>
            <a:ext cx="7729728" cy="3101983"/>
          </a:xfrm>
        </p:spPr>
        <p:txBody>
          <a:bodyPr/>
          <a:lstStyle/>
          <a:p>
            <a:r>
              <a:rPr lang="en-US" u="sng" dirty="0"/>
              <a:t>Pattern</a:t>
            </a:r>
          </a:p>
          <a:p>
            <a:pPr lvl="1"/>
            <a:r>
              <a:rPr lang="en-US" dirty="0"/>
              <a:t>The shape is just forward and rotate by 360 / 6 for each of the 6 sides</a:t>
            </a:r>
          </a:p>
          <a:p>
            <a:pPr lvl="1"/>
            <a:r>
              <a:rPr lang="en-US" dirty="0"/>
              <a:t>But the color?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BA48B-2CE1-9EB2-9855-A2AEFA5DD5F2}"/>
              </a:ext>
            </a:extLst>
          </p:cNvPr>
          <p:cNvSpPr txBox="1"/>
          <p:nvPr/>
        </p:nvSpPr>
        <p:spPr>
          <a:xfrm>
            <a:off x="2378724" y="3027996"/>
            <a:ext cx="383470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Pseudocode:</a:t>
            </a:r>
          </a:p>
          <a:p>
            <a:endParaRPr lang="en-US" dirty="0"/>
          </a:p>
          <a:p>
            <a:r>
              <a:rPr lang="en-US" dirty="0"/>
              <a:t>START </a:t>
            </a:r>
          </a:p>
          <a:p>
            <a:r>
              <a:rPr lang="en-US" dirty="0"/>
              <a:t>	SET FULL_CIRCLE = 360</a:t>
            </a:r>
          </a:p>
          <a:p>
            <a:r>
              <a:rPr lang="en-US" dirty="0"/>
              <a:t>	SET length = 100</a:t>
            </a:r>
          </a:p>
          <a:p>
            <a:r>
              <a:rPr lang="en-US" dirty="0"/>
              <a:t>	SET sides = 6</a:t>
            </a:r>
          </a:p>
          <a:p>
            <a:r>
              <a:rPr lang="en-US" dirty="0"/>
              <a:t>	SET angle = FULL_CIRCLE / sides</a:t>
            </a:r>
          </a:p>
          <a:p>
            <a:endParaRPr lang="en-US" dirty="0"/>
          </a:p>
          <a:p>
            <a:r>
              <a:rPr lang="en-US" dirty="0"/>
              <a:t>	For </a:t>
            </a:r>
            <a:r>
              <a:rPr lang="en-US" dirty="0" err="1"/>
              <a:t>side_count</a:t>
            </a:r>
            <a:r>
              <a:rPr lang="en-US" dirty="0"/>
              <a:t> = 0 to sides-1:</a:t>
            </a:r>
          </a:p>
          <a:p>
            <a:r>
              <a:rPr lang="en-US" dirty="0"/>
              <a:t>		SET the color = ( …)</a:t>
            </a:r>
          </a:p>
          <a:p>
            <a:r>
              <a:rPr lang="en-US" dirty="0"/>
              <a:t>		forward length</a:t>
            </a:r>
          </a:p>
          <a:p>
            <a:r>
              <a:rPr lang="en-US" dirty="0"/>
              <a:t>		rotate right angle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AB0D1D-FDDC-B579-EF35-6B4394F19B16}"/>
              </a:ext>
            </a:extLst>
          </p:cNvPr>
          <p:cNvCxnSpPr/>
          <p:nvPr/>
        </p:nvCxnSpPr>
        <p:spPr>
          <a:xfrm flipH="1">
            <a:off x="8199120" y="1619603"/>
            <a:ext cx="1013552" cy="352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70E533-5304-230C-B4BB-9A4902A68076}"/>
              </a:ext>
            </a:extLst>
          </p:cNvPr>
          <p:cNvSpPr txBox="1"/>
          <p:nvPr/>
        </p:nvSpPr>
        <p:spPr>
          <a:xfrm>
            <a:off x="9212672" y="1426541"/>
            <a:ext cx="226639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 did this previously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B69DA1-2AA6-9D88-E779-8A0430979D9D}"/>
              </a:ext>
            </a:extLst>
          </p:cNvPr>
          <p:cNvCxnSpPr/>
          <p:nvPr/>
        </p:nvCxnSpPr>
        <p:spPr>
          <a:xfrm flipH="1">
            <a:off x="4993426" y="3047136"/>
            <a:ext cx="3093720" cy="768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DDB74B-3BE3-06D4-407D-E5E84757FFE9}"/>
              </a:ext>
            </a:extLst>
          </p:cNvPr>
          <p:cNvSpPr txBox="1"/>
          <p:nvPr/>
        </p:nvSpPr>
        <p:spPr>
          <a:xfrm>
            <a:off x="8087146" y="2584069"/>
            <a:ext cx="374743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CONSTANT (should never change)</a:t>
            </a:r>
          </a:p>
          <a:p>
            <a:r>
              <a:rPr lang="en-US" dirty="0"/>
              <a:t>Use ALL_CAPS to denote constants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040095-B5CE-1058-5A4B-8DB8AC4BE06C}"/>
              </a:ext>
            </a:extLst>
          </p:cNvPr>
          <p:cNvCxnSpPr/>
          <p:nvPr/>
        </p:nvCxnSpPr>
        <p:spPr>
          <a:xfrm flipH="1">
            <a:off x="5135880" y="5471160"/>
            <a:ext cx="2951266" cy="167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C9F7C4-1A0D-74A8-6985-65DC9A48AE8B}"/>
              </a:ext>
            </a:extLst>
          </p:cNvPr>
          <p:cNvSpPr txBox="1"/>
          <p:nvPr/>
        </p:nvSpPr>
        <p:spPr>
          <a:xfrm>
            <a:off x="8087146" y="4969794"/>
            <a:ext cx="37474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There are other ways to do this, but today we develop a solution using expressions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5194EE-E018-FD9C-CFAD-F1E83D7844B5}"/>
              </a:ext>
            </a:extLst>
          </p:cNvPr>
          <p:cNvCxnSpPr>
            <a:cxnSpLocks/>
          </p:cNvCxnSpPr>
          <p:nvPr/>
        </p:nvCxnSpPr>
        <p:spPr>
          <a:xfrm flipH="1">
            <a:off x="4800600" y="4282440"/>
            <a:ext cx="3398520" cy="103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1CC4E2-DE6F-FF6D-816D-6FF621558B22}"/>
              </a:ext>
            </a:extLst>
          </p:cNvPr>
          <p:cNvSpPr txBox="1"/>
          <p:nvPr/>
        </p:nvSpPr>
        <p:spPr>
          <a:xfrm>
            <a:off x="8199120" y="3842326"/>
            <a:ext cx="32849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Small counting adjustment to start counting from 0</a:t>
            </a:r>
          </a:p>
        </p:txBody>
      </p:sp>
    </p:spTree>
    <p:extLst>
      <p:ext uri="{BB962C8B-B14F-4D97-AF65-F5344CB8AC3E}">
        <p14:creationId xmlns:p14="http://schemas.microsoft.com/office/powerpoint/2010/main" val="878294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C574-86F0-5714-8E16-094F1267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Colors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BDA8D-1D71-940F-3EF2-7A19969B8AF7}"/>
              </a:ext>
            </a:extLst>
          </p:cNvPr>
          <p:cNvSpPr txBox="1"/>
          <p:nvPr/>
        </p:nvSpPr>
        <p:spPr>
          <a:xfrm>
            <a:off x="1817265" y="2673264"/>
            <a:ext cx="52437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green =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side_count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 to sides-1: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SET red = (side + 1) % 2 * 255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SET blue = side % 2 * 255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color(red, green, blue)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forward length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rotate right angle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27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932F-0F40-E5E8-43FA-8153DACF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Colored Hexagon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C19EF-FA58-1277-E674-49191A456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90" y="232198"/>
            <a:ext cx="5231130" cy="639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15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EB20-6C47-AC17-DB04-9D37FC2B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99F8-18E7-9136-EFF4-A89CF6896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93364"/>
            <a:ext cx="7729728" cy="3101983"/>
          </a:xfrm>
        </p:spPr>
        <p:txBody>
          <a:bodyPr/>
          <a:lstStyle/>
          <a:p>
            <a:r>
              <a:rPr lang="en-US" dirty="0"/>
              <a:t>&gt; greater than</a:t>
            </a:r>
          </a:p>
          <a:p>
            <a:r>
              <a:rPr lang="en-US" dirty="0"/>
              <a:t>&lt; less than</a:t>
            </a:r>
          </a:p>
          <a:p>
            <a:r>
              <a:rPr lang="en-US" dirty="0"/>
              <a:t>== equal to</a:t>
            </a:r>
          </a:p>
          <a:p>
            <a:r>
              <a:rPr lang="en-US" dirty="0"/>
              <a:t>!= not equal to</a:t>
            </a:r>
          </a:p>
          <a:p>
            <a:r>
              <a:rPr lang="en-US" dirty="0"/>
              <a:t>&gt;= greater than or equal to</a:t>
            </a:r>
          </a:p>
          <a:p>
            <a:r>
              <a:rPr lang="en-US" dirty="0"/>
              <a:t>&lt;= Less than or equal to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5278B-6B1D-D5DA-5583-83BFAABF5E23}"/>
              </a:ext>
            </a:extLst>
          </p:cNvPr>
          <p:cNvSpPr txBox="1"/>
          <p:nvPr/>
        </p:nvSpPr>
        <p:spPr>
          <a:xfrm>
            <a:off x="2231136" y="2400222"/>
            <a:ext cx="5774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Expressions involving a comparison operator</a:t>
            </a:r>
          </a:p>
          <a:p>
            <a:r>
              <a:rPr lang="en-US" sz="2400" dirty="0"/>
              <a:t>Evaluate to True or 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971B9-3D3C-1347-97FA-F134FBCBE547}"/>
              </a:ext>
            </a:extLst>
          </p:cNvPr>
          <p:cNvSpPr txBox="1"/>
          <p:nvPr/>
        </p:nvSpPr>
        <p:spPr>
          <a:xfrm>
            <a:off x="7798381" y="3471749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output?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45278F-9F63-AF1A-8A66-8C14C1107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381" y="3903226"/>
            <a:ext cx="18161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60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048E-9042-4AB2-F1B8-B1B2AC13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Expressions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2B93406-E88C-C90E-7718-D5AA37131E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757486"/>
              </p:ext>
            </p:extLst>
          </p:nvPr>
        </p:nvGraphicFramePr>
        <p:xfrm>
          <a:off x="2231136" y="2566174"/>
          <a:ext cx="7729536" cy="27698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88256">
                  <a:extLst>
                    <a:ext uri="{9D8B030D-6E8A-4147-A177-3AD203B41FA5}">
                      <a16:colId xmlns:a16="http://schemas.microsoft.com/office/drawing/2014/main" val="2103772831"/>
                    </a:ext>
                  </a:extLst>
                </a:gridCol>
                <a:gridCol w="1288256">
                  <a:extLst>
                    <a:ext uri="{9D8B030D-6E8A-4147-A177-3AD203B41FA5}">
                      <a16:colId xmlns:a16="http://schemas.microsoft.com/office/drawing/2014/main" val="1418403261"/>
                    </a:ext>
                  </a:extLst>
                </a:gridCol>
                <a:gridCol w="1288256">
                  <a:extLst>
                    <a:ext uri="{9D8B030D-6E8A-4147-A177-3AD203B41FA5}">
                      <a16:colId xmlns:a16="http://schemas.microsoft.com/office/drawing/2014/main" val="3461109531"/>
                    </a:ext>
                  </a:extLst>
                </a:gridCol>
                <a:gridCol w="1288256">
                  <a:extLst>
                    <a:ext uri="{9D8B030D-6E8A-4147-A177-3AD203B41FA5}">
                      <a16:colId xmlns:a16="http://schemas.microsoft.com/office/drawing/2014/main" val="323740317"/>
                    </a:ext>
                  </a:extLst>
                </a:gridCol>
                <a:gridCol w="1288256">
                  <a:extLst>
                    <a:ext uri="{9D8B030D-6E8A-4147-A177-3AD203B41FA5}">
                      <a16:colId xmlns:a16="http://schemas.microsoft.com/office/drawing/2014/main" val="4019349017"/>
                    </a:ext>
                  </a:extLst>
                </a:gridCol>
                <a:gridCol w="1288256">
                  <a:extLst>
                    <a:ext uri="{9D8B030D-6E8A-4147-A177-3AD203B41FA5}">
                      <a16:colId xmlns:a16="http://schemas.microsoft.com/office/drawing/2014/main" val="3822811730"/>
                    </a:ext>
                  </a:extLst>
                </a:gridCol>
              </a:tblGrid>
              <a:tr h="553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X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Y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X and Y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X or Y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not(X)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 dirty="0">
                          <a:effectLst/>
                        </a:rPr>
                        <a:t>not(Y)</a:t>
                      </a:r>
                      <a:endParaRPr lang="en-CA" sz="1800" dirty="0">
                        <a:effectLst/>
                      </a:endParaRPr>
                    </a:p>
                  </a:txBody>
                  <a:tcPr marL="91421" marR="91421" marT="45711" marB="45711" anchor="ctr"/>
                </a:tc>
                <a:extLst>
                  <a:ext uri="{0D108BD9-81ED-4DB2-BD59-A6C34878D82A}">
                    <a16:rowId xmlns:a16="http://schemas.microsoft.com/office/drawing/2014/main" val="2462114076"/>
                  </a:ext>
                </a:extLst>
              </a:tr>
              <a:tr h="553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extLst>
                  <a:ext uri="{0D108BD9-81ED-4DB2-BD59-A6C34878D82A}">
                    <a16:rowId xmlns:a16="http://schemas.microsoft.com/office/drawing/2014/main" val="638247840"/>
                  </a:ext>
                </a:extLst>
              </a:tr>
              <a:tr h="553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extLst>
                  <a:ext uri="{0D108BD9-81ED-4DB2-BD59-A6C34878D82A}">
                    <a16:rowId xmlns:a16="http://schemas.microsoft.com/office/drawing/2014/main" val="249381318"/>
                  </a:ext>
                </a:extLst>
              </a:tr>
              <a:tr h="553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extLst>
                  <a:ext uri="{0D108BD9-81ED-4DB2-BD59-A6C34878D82A}">
                    <a16:rowId xmlns:a16="http://schemas.microsoft.com/office/drawing/2014/main" val="2364562752"/>
                  </a:ext>
                </a:extLst>
              </a:tr>
              <a:tr h="553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F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dirty="0">
                          <a:effectLst/>
                        </a:rPr>
                        <a:t>T</a:t>
                      </a:r>
                    </a:p>
                  </a:txBody>
                  <a:tcPr marL="91421" marR="91421" marT="45711" marB="45711" anchor="ctr"/>
                </a:tc>
                <a:extLst>
                  <a:ext uri="{0D108BD9-81ED-4DB2-BD59-A6C34878D82A}">
                    <a16:rowId xmlns:a16="http://schemas.microsoft.com/office/drawing/2014/main" val="13348297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00CFB2-C80B-14EE-7B54-B371D7F559BE}"/>
              </a:ext>
            </a:extLst>
          </p:cNvPr>
          <p:cNvSpPr txBox="1"/>
          <p:nvPr/>
        </p:nvSpPr>
        <p:spPr>
          <a:xfrm>
            <a:off x="365760" y="2638043"/>
            <a:ext cx="186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Truth Table for logical operators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88A57-E8FF-5983-B3CD-02FB9E9B4D27}"/>
              </a:ext>
            </a:extLst>
          </p:cNvPr>
          <p:cNvSpPr txBox="1"/>
          <p:nvPr/>
        </p:nvSpPr>
        <p:spPr>
          <a:xfrm>
            <a:off x="2639124" y="5915467"/>
            <a:ext cx="6913559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Operator precedence: Parenthesis first, then NOT then AND then OR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99E12-8729-BB02-4993-5EBBF0F7BAB6}"/>
              </a:ext>
            </a:extLst>
          </p:cNvPr>
          <p:cNvSpPr txBox="1"/>
          <p:nvPr/>
        </p:nvSpPr>
        <p:spPr>
          <a:xfrm>
            <a:off x="3785507" y="5361536"/>
            <a:ext cx="656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and</a:t>
            </a:r>
            <a:r>
              <a:rPr lang="en-US" dirty="0"/>
              <a:t> mimics multiply, while </a:t>
            </a:r>
            <a:r>
              <a:rPr lang="en-US" b="1" dirty="0"/>
              <a:t>or</a:t>
            </a:r>
            <a:r>
              <a:rPr lang="en-US" dirty="0"/>
              <a:t> mimics addition</a:t>
            </a:r>
          </a:p>
        </p:txBody>
      </p:sp>
    </p:spTree>
    <p:extLst>
      <p:ext uri="{BB962C8B-B14F-4D97-AF65-F5344CB8AC3E}">
        <p14:creationId xmlns:p14="http://schemas.microsoft.com/office/powerpoint/2010/main" val="325873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9700-C496-7076-3711-2C72D36B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Mimic of Multiply and Add</a:t>
            </a:r>
            <a:br>
              <a:rPr lang="en-CA" dirty="0"/>
            </a:br>
            <a:r>
              <a:rPr lang="en-CA" sz="1800" dirty="0"/>
              <a:t>(kind of)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A87E4D-86E0-52E3-4655-744CEA829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36827"/>
              </p:ext>
            </p:extLst>
          </p:nvPr>
        </p:nvGraphicFramePr>
        <p:xfrm>
          <a:off x="2229740" y="2319247"/>
          <a:ext cx="7731124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2781">
                  <a:extLst>
                    <a:ext uri="{9D8B030D-6E8A-4147-A177-3AD203B41FA5}">
                      <a16:colId xmlns:a16="http://schemas.microsoft.com/office/drawing/2014/main" val="2820931249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3919467127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2266942887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511348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X AND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1×1?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712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1×1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295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1×0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351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0×1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2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0×0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36388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9C9488-1099-DFE5-5DB9-25D2D8C4B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44081"/>
              </p:ext>
            </p:extLst>
          </p:nvPr>
        </p:nvGraphicFramePr>
        <p:xfrm>
          <a:off x="2229740" y="4313882"/>
          <a:ext cx="7731124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2781">
                  <a:extLst>
                    <a:ext uri="{9D8B030D-6E8A-4147-A177-3AD203B41FA5}">
                      <a16:colId xmlns:a16="http://schemas.microsoft.com/office/drawing/2014/main" val="149573221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457743926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2371517227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2203404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X OR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b="1" dirty="0">
                          <a:effectLst/>
                        </a:rPr>
                        <a:t>1+1?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16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1+1 → but OR caps at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633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1+0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448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0+1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951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0+0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55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734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E5E0-0745-C411-9413-6BDC6D78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True/False in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654FA-1AC0-9898-3A00-A7F96BBA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BEGIN</a:t>
            </a:r>
          </a:p>
          <a:p>
            <a:pPr marL="228600" lvl="1" indent="0">
              <a:buNone/>
            </a:pPr>
            <a:r>
              <a:rPr lang="en-US" dirty="0"/>
              <a:t>SET numerator = 10</a:t>
            </a:r>
          </a:p>
          <a:p>
            <a:pPr marL="228600" lvl="1" indent="0">
              <a:buNone/>
            </a:pPr>
            <a:r>
              <a:rPr lang="en-US" dirty="0"/>
              <a:t>SET denominator = 0</a:t>
            </a:r>
          </a:p>
          <a:p>
            <a:pPr marL="228600" lvl="1" indent="0">
              <a:buNone/>
            </a:pPr>
            <a:r>
              <a:rPr lang="en-US" dirty="0" err="1"/>
              <a:t>improper_fraction</a:t>
            </a:r>
            <a:r>
              <a:rPr lang="en-US" dirty="0"/>
              <a:t> = denominator &gt; 0 </a:t>
            </a:r>
          </a:p>
          <a:p>
            <a:pPr marL="228600" lvl="1" indent="0">
              <a:buNone/>
            </a:pPr>
            <a:r>
              <a:rPr lang="en-US" dirty="0"/>
              <a:t>print(</a:t>
            </a:r>
            <a:r>
              <a:rPr lang="en-US" dirty="0" err="1"/>
              <a:t>improper_fraction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END</a:t>
            </a:r>
            <a:br>
              <a:rPr lang="en-US" dirty="0"/>
            </a:br>
            <a:endParaRPr lang="en-US" dirty="0"/>
          </a:p>
          <a:p>
            <a:endParaRPr lang="en-CA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8A9935-D5F6-BBEB-1741-63BB764FC060}"/>
              </a:ext>
            </a:extLst>
          </p:cNvPr>
          <p:cNvCxnSpPr>
            <a:cxnSpLocks/>
          </p:cNvCxnSpPr>
          <p:nvPr/>
        </p:nvCxnSpPr>
        <p:spPr>
          <a:xfrm flipV="1">
            <a:off x="5497285" y="4191000"/>
            <a:ext cx="0" cy="47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0A4FBF-1185-61D3-9761-38D8FA1AE984}"/>
              </a:ext>
            </a:extLst>
          </p:cNvPr>
          <p:cNvSpPr txBox="1"/>
          <p:nvPr/>
        </p:nvSpPr>
        <p:spPr>
          <a:xfrm>
            <a:off x="5176524" y="5020333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F18000-8698-C05B-C995-1837B3E0E859}"/>
              </a:ext>
            </a:extLst>
          </p:cNvPr>
          <p:cNvCxnSpPr>
            <a:cxnSpLocks/>
          </p:cNvCxnSpPr>
          <p:nvPr/>
        </p:nvCxnSpPr>
        <p:spPr>
          <a:xfrm flipH="1" flipV="1">
            <a:off x="4354286" y="4484103"/>
            <a:ext cx="1142999" cy="185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465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D4B8-9E7D-D3FC-E98C-9F1D3126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ACA9-FC17-85CB-7CCC-3D4FC43B5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True/False in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C945B-F341-194E-6123-BB65669FF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36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BEGIN</a:t>
            </a:r>
          </a:p>
          <a:p>
            <a:pPr marL="228600" lvl="1" indent="0">
              <a:buNone/>
            </a:pPr>
            <a:r>
              <a:rPr lang="en-US" dirty="0"/>
              <a:t>SET numerator = 10</a:t>
            </a:r>
          </a:p>
          <a:p>
            <a:pPr marL="228600" lvl="1" indent="0">
              <a:buNone/>
            </a:pPr>
            <a:r>
              <a:rPr lang="en-US" dirty="0"/>
              <a:t>SET denominator = 0</a:t>
            </a:r>
          </a:p>
          <a:p>
            <a:pPr marL="228600" lvl="1" indent="0">
              <a:buNone/>
            </a:pPr>
            <a:r>
              <a:rPr lang="en-US" dirty="0" err="1"/>
              <a:t>improper_fraction</a:t>
            </a:r>
            <a:r>
              <a:rPr lang="en-US" dirty="0"/>
              <a:t> = denominator &gt; 0 and (numerator/denominator) &gt; 1</a:t>
            </a:r>
          </a:p>
          <a:p>
            <a:pPr marL="228600" lvl="1" indent="0">
              <a:buNone/>
            </a:pPr>
            <a:r>
              <a:rPr lang="en-US" dirty="0"/>
              <a:t>print(</a:t>
            </a:r>
            <a:r>
              <a:rPr lang="en-US" dirty="0" err="1"/>
              <a:t>improper_fraction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END</a:t>
            </a:r>
            <a:br>
              <a:rPr lang="en-US" dirty="0"/>
            </a:br>
            <a:endParaRPr lang="en-US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But wait … it has to evaluate the divide by 0 and will fail – why doesn’t it fail when we run it?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1BB1BB-8490-16AF-EAAC-9AA2ED5BF1CE}"/>
              </a:ext>
            </a:extLst>
          </p:cNvPr>
          <p:cNvCxnSpPr>
            <a:cxnSpLocks/>
          </p:cNvCxnSpPr>
          <p:nvPr/>
        </p:nvCxnSpPr>
        <p:spPr>
          <a:xfrm flipV="1">
            <a:off x="5497285" y="4191000"/>
            <a:ext cx="0" cy="11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BCB3F-C675-1CA7-9803-F546589127B0}"/>
              </a:ext>
            </a:extLst>
          </p:cNvPr>
          <p:cNvCxnSpPr>
            <a:cxnSpLocks/>
          </p:cNvCxnSpPr>
          <p:nvPr/>
        </p:nvCxnSpPr>
        <p:spPr>
          <a:xfrm flipV="1">
            <a:off x="8371114" y="4191000"/>
            <a:ext cx="0" cy="11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37EC005-FC80-4EFA-FAFE-E35DC71AFC00}"/>
              </a:ext>
            </a:extLst>
          </p:cNvPr>
          <p:cNvSpPr txBox="1"/>
          <p:nvPr/>
        </p:nvSpPr>
        <p:spPr>
          <a:xfrm>
            <a:off x="5176524" y="53781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AC2C4-135D-3F30-BE63-1C3608846BE4}"/>
              </a:ext>
            </a:extLst>
          </p:cNvPr>
          <p:cNvSpPr txBox="1"/>
          <p:nvPr/>
        </p:nvSpPr>
        <p:spPr>
          <a:xfrm>
            <a:off x="8116101" y="5378157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569166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50B-741C-CF3E-E053-EAA9C3B7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110C1-972F-A8DD-F5B8-1B01EA180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426" y="2606540"/>
            <a:ext cx="7729728" cy="3195546"/>
          </a:xfrm>
        </p:spPr>
        <p:txBody>
          <a:bodyPr/>
          <a:lstStyle/>
          <a:p>
            <a:r>
              <a:rPr lang="en-US" dirty="0"/>
              <a:t>Once a result is known python stops processing the logical expression</a:t>
            </a:r>
          </a:p>
          <a:p>
            <a:r>
              <a:rPr lang="en-US" dirty="0"/>
              <a:t>Example:  result = True or False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Example: False and True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3DE8CB-997E-9C90-E4DB-3A39775A2C40}"/>
              </a:ext>
            </a:extLst>
          </p:cNvPr>
          <p:cNvCxnSpPr>
            <a:cxnSpLocks/>
          </p:cNvCxnSpPr>
          <p:nvPr/>
        </p:nvCxnSpPr>
        <p:spPr>
          <a:xfrm flipV="1">
            <a:off x="5049078" y="3428999"/>
            <a:ext cx="0" cy="917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F778F7-51D7-4432-0D3B-F15351A453E7}"/>
              </a:ext>
            </a:extLst>
          </p:cNvPr>
          <p:cNvSpPr txBox="1"/>
          <p:nvPr/>
        </p:nvSpPr>
        <p:spPr>
          <a:xfrm>
            <a:off x="4532245" y="4162047"/>
            <a:ext cx="6758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Processing left to right the result is known after processing the left operand, no need to proceed the result is already True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88EF12-4877-8F23-D851-1029BF571CC4}"/>
              </a:ext>
            </a:extLst>
          </p:cNvPr>
          <p:cNvCxnSpPr>
            <a:cxnSpLocks/>
          </p:cNvCxnSpPr>
          <p:nvPr/>
        </p:nvCxnSpPr>
        <p:spPr>
          <a:xfrm flipV="1">
            <a:off x="4441843" y="5343229"/>
            <a:ext cx="0" cy="662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475B1D-7000-A707-B8DC-60F1AC9734E4}"/>
              </a:ext>
            </a:extLst>
          </p:cNvPr>
          <p:cNvSpPr txBox="1"/>
          <p:nvPr/>
        </p:nvSpPr>
        <p:spPr>
          <a:xfrm>
            <a:off x="2716696" y="6005355"/>
            <a:ext cx="6758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Processing left to right the result is known after processing the left operand, no need to proceed, the result is already False</a:t>
            </a:r>
          </a:p>
        </p:txBody>
      </p:sp>
    </p:spTree>
    <p:extLst>
      <p:ext uri="{BB962C8B-B14F-4D97-AF65-F5344CB8AC3E}">
        <p14:creationId xmlns:p14="http://schemas.microsoft.com/office/powerpoint/2010/main" val="3597717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055E-EC4D-48F3-827D-0C6A5C1E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1735-EE67-9F7F-E916-3B40035D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True/False in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46C8-0BE3-78C9-F703-5B88DA24B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36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BEGIN</a:t>
            </a:r>
          </a:p>
          <a:p>
            <a:pPr marL="228600" lvl="1" indent="0">
              <a:buNone/>
            </a:pPr>
            <a:r>
              <a:rPr lang="en-US" dirty="0"/>
              <a:t>SET numerator = 10</a:t>
            </a:r>
          </a:p>
          <a:p>
            <a:pPr marL="228600" lvl="1" indent="0">
              <a:buNone/>
            </a:pPr>
            <a:r>
              <a:rPr lang="en-US" dirty="0"/>
              <a:t>SET denominator = 0</a:t>
            </a:r>
          </a:p>
          <a:p>
            <a:pPr marL="228600" lvl="1" indent="0">
              <a:buNone/>
            </a:pPr>
            <a:r>
              <a:rPr lang="en-US" dirty="0" err="1"/>
              <a:t>improper_fraction</a:t>
            </a:r>
            <a:r>
              <a:rPr lang="en-US" dirty="0"/>
              <a:t> = denominator &gt; 0 and (numerator/denominator) &gt; 1</a:t>
            </a:r>
          </a:p>
          <a:p>
            <a:pPr marL="228600" lvl="1" indent="0">
              <a:buNone/>
            </a:pPr>
            <a:r>
              <a:rPr lang="en-US" dirty="0"/>
              <a:t>print(</a:t>
            </a:r>
            <a:r>
              <a:rPr lang="en-US" dirty="0" err="1"/>
              <a:t>improper_fraction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END</a:t>
            </a:r>
            <a:br>
              <a:rPr lang="en-US" dirty="0"/>
            </a:br>
            <a:endParaRPr lang="en-US" dirty="0"/>
          </a:p>
          <a:p>
            <a:endParaRPr lang="en-CA" dirty="0"/>
          </a:p>
          <a:p>
            <a:endParaRPr lang="en-CA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4BCB64-93BF-CF8C-BEC4-E98FE7E12964}"/>
              </a:ext>
            </a:extLst>
          </p:cNvPr>
          <p:cNvCxnSpPr>
            <a:cxnSpLocks/>
          </p:cNvCxnSpPr>
          <p:nvPr/>
        </p:nvCxnSpPr>
        <p:spPr>
          <a:xfrm flipV="1">
            <a:off x="5497285" y="4191000"/>
            <a:ext cx="0" cy="11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523463-ACA7-0853-E932-3D96646AEC8D}"/>
              </a:ext>
            </a:extLst>
          </p:cNvPr>
          <p:cNvCxnSpPr>
            <a:cxnSpLocks/>
          </p:cNvCxnSpPr>
          <p:nvPr/>
        </p:nvCxnSpPr>
        <p:spPr>
          <a:xfrm flipV="1">
            <a:off x="8371114" y="4191000"/>
            <a:ext cx="0" cy="11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FDCDFEA-BAF6-FE31-9FCD-A339F87C6725}"/>
              </a:ext>
            </a:extLst>
          </p:cNvPr>
          <p:cNvSpPr txBox="1"/>
          <p:nvPr/>
        </p:nvSpPr>
        <p:spPr>
          <a:xfrm>
            <a:off x="5176523" y="5378157"/>
            <a:ext cx="2269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denominator is zero this expression stops evaluating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12A45-BA33-F77F-AF32-F9E8CBD90338}"/>
              </a:ext>
            </a:extLst>
          </p:cNvPr>
          <p:cNvSpPr txBox="1"/>
          <p:nvPr/>
        </p:nvSpPr>
        <p:spPr>
          <a:xfrm>
            <a:off x="8116101" y="5378157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to run</a:t>
            </a:r>
          </a:p>
        </p:txBody>
      </p:sp>
    </p:spTree>
    <p:extLst>
      <p:ext uri="{BB962C8B-B14F-4D97-AF65-F5344CB8AC3E}">
        <p14:creationId xmlns:p14="http://schemas.microsoft.com/office/powerpoint/2010/main" val="1791067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991B-4535-20C1-9E3D-075E1B88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97661-FD58-FCAA-9E69-08B9F6B7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58203"/>
            <a:ext cx="7729728" cy="3101983"/>
          </a:xfrm>
        </p:spPr>
        <p:txBody>
          <a:bodyPr/>
          <a:lstStyle/>
          <a:p>
            <a:r>
              <a:rPr lang="en-US" dirty="0"/>
              <a:t>In Python dividing by zero will crash a program (</a:t>
            </a:r>
            <a:r>
              <a:rPr lang="en-US" dirty="0" err="1"/>
              <a:t>ZeroDivisionError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A94B8-3957-373F-1B03-F7EC48DF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004" y="5442728"/>
            <a:ext cx="6883400" cy="134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CB6ED-B8C6-03B8-52B6-14AC72DD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4" y="2828314"/>
            <a:ext cx="4572000" cy="17907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189919-737A-9235-2BA7-611F448EBCEA}"/>
              </a:ext>
            </a:extLst>
          </p:cNvPr>
          <p:cNvCxnSpPr/>
          <p:nvPr/>
        </p:nvCxnSpPr>
        <p:spPr>
          <a:xfrm flipH="1">
            <a:off x="4399722" y="5115339"/>
            <a:ext cx="2438400" cy="1000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586AD3-C854-A428-3553-34A8A448789E}"/>
              </a:ext>
            </a:extLst>
          </p:cNvPr>
          <p:cNvSpPr txBox="1"/>
          <p:nvPr/>
        </p:nvSpPr>
        <p:spPr>
          <a:xfrm>
            <a:off x="6761101" y="4729387"/>
            <a:ext cx="501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dirty="0" err="1"/>
              <a:t>test_value</a:t>
            </a:r>
            <a:r>
              <a:rPr lang="en-US" dirty="0"/>
              <a:t> is zero this expression stops evaluating</a:t>
            </a:r>
          </a:p>
        </p:txBody>
      </p:sp>
    </p:spTree>
    <p:extLst>
      <p:ext uri="{BB962C8B-B14F-4D97-AF65-F5344CB8AC3E}">
        <p14:creationId xmlns:p14="http://schemas.microsoft.com/office/powerpoint/2010/main" val="3962015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BA0-8961-A514-500A-64C80271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486D-9D67-5B1F-D9C7-AE23A179B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result of the following logical expression?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C16D1-F5D8-6EC0-EE59-7B93C4849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2" y="3537621"/>
            <a:ext cx="11241155" cy="49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61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B4D3-3D49-4CB0-5CAB-973E776B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A9E5-9210-9E9C-8C4C-0DCD17D5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DF254-AF30-5388-F787-B6FA0D5A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result of the following logical expression?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85F39-CE0C-29CE-2F57-5D5078076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2" y="3537621"/>
            <a:ext cx="11241155" cy="4923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EE10C8-57A5-39FE-D037-8D546C5542B1}"/>
              </a:ext>
            </a:extLst>
          </p:cNvPr>
          <p:cNvCxnSpPr>
            <a:cxnSpLocks/>
          </p:cNvCxnSpPr>
          <p:nvPr/>
        </p:nvCxnSpPr>
        <p:spPr>
          <a:xfrm flipV="1">
            <a:off x="4791919" y="4030009"/>
            <a:ext cx="6291427" cy="1606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6B93CB-C393-FB4E-48FD-0EE39EC100E7}"/>
              </a:ext>
            </a:extLst>
          </p:cNvPr>
          <p:cNvSpPr txBox="1"/>
          <p:nvPr/>
        </p:nvSpPr>
        <p:spPr>
          <a:xfrm>
            <a:off x="2231136" y="5740027"/>
            <a:ext cx="248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Hint: use short circuiting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E1CE9-C559-D3B1-1F86-248C9BA26AE7}"/>
              </a:ext>
            </a:extLst>
          </p:cNvPr>
          <p:cNvSpPr txBox="1"/>
          <p:nvPr/>
        </p:nvSpPr>
        <p:spPr>
          <a:xfrm>
            <a:off x="1775792" y="6224659"/>
            <a:ext cx="7699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it helps you can think of the Ors like addition and the And’s like multiplication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44CA2-482C-5C57-894B-30807252A500}"/>
              </a:ext>
            </a:extLst>
          </p:cNvPr>
          <p:cNvSpPr txBox="1"/>
          <p:nvPr/>
        </p:nvSpPr>
        <p:spPr>
          <a:xfrm>
            <a:off x="9753600" y="74062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midtermquestion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61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281F-492B-E78D-89B1-2327C516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2083"/>
            <a:ext cx="7729728" cy="1188720"/>
          </a:xfrm>
        </p:spPr>
        <p:txBody>
          <a:bodyPr/>
          <a:lstStyle/>
          <a:p>
            <a:r>
              <a:rPr lang="en-US" dirty="0"/>
              <a:t>Python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956C-8FA2-0E1B-78A3-BCD2BA080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09174"/>
            <a:ext cx="9218742" cy="4465122"/>
          </a:xfrm>
        </p:spPr>
        <p:txBody>
          <a:bodyPr>
            <a:normAutofit/>
          </a:bodyPr>
          <a:lstStyle/>
          <a:p>
            <a:r>
              <a:rPr lang="en-US" sz="2000" dirty="0"/>
              <a:t>Combining operators can be misleading </a:t>
            </a:r>
          </a:p>
          <a:p>
            <a:pPr lvl="1"/>
            <a:r>
              <a:rPr lang="en-US" sz="1800" dirty="0"/>
              <a:t>Consider: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 &lt; 5 == True</a:t>
            </a:r>
          </a:p>
          <a:p>
            <a:pPr lvl="1"/>
            <a:r>
              <a:rPr lang="en-US" sz="1800" dirty="0">
                <a:cs typeface="Courier New" panose="02070309020205020404" pitchFamily="49" charset="0"/>
              </a:rPr>
              <a:t>Python translates this to: 3 &lt; 5 and 5 == True </a:t>
            </a:r>
          </a:p>
          <a:p>
            <a:pPr lvl="1"/>
            <a:r>
              <a:rPr lang="en-US" sz="1800" dirty="0">
                <a:cs typeface="Courier New" panose="02070309020205020404" pitchFamily="49" charset="0"/>
              </a:rPr>
              <a:t>Convenient for: </a:t>
            </a:r>
          </a:p>
          <a:p>
            <a:pPr lvl="2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b_grade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70 &lt; grade  and grade &lt; 80</a:t>
            </a:r>
          </a:p>
          <a:p>
            <a:pPr lvl="2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70 &lt; grade &lt; 80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cs typeface="Courier New" panose="02070309020205020404" pitchFamily="49" charset="0"/>
              </a:rPr>
              <a:t>Programmers never write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== True</a:t>
            </a:r>
          </a:p>
          <a:p>
            <a:pPr lvl="1"/>
            <a:r>
              <a:rPr lang="en-US" sz="1800" dirty="0">
                <a:cs typeface="Courier New" panose="02070309020205020404" pitchFamily="49" charset="0"/>
              </a:rPr>
              <a:t>Just write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sz="1800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pass_course</a:t>
            </a:r>
            <a:r>
              <a:rPr lang="en-US" sz="1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testgrades</a:t>
            </a:r>
            <a:r>
              <a:rPr lang="en-US" sz="1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&gt; 50 == True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pass_course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testgrades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50 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03F227D7-53C5-95DC-C4F0-DA8473734FD1}"/>
              </a:ext>
            </a:extLst>
          </p:cNvPr>
          <p:cNvSpPr/>
          <p:nvPr/>
        </p:nvSpPr>
        <p:spPr>
          <a:xfrm rot="18677720">
            <a:off x="7898296" y="5194853"/>
            <a:ext cx="278295" cy="291548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2F3130-5121-4428-933F-3D3E53928B58}"/>
              </a:ext>
            </a:extLst>
          </p:cNvPr>
          <p:cNvCxnSpPr/>
          <p:nvPr/>
        </p:nvCxnSpPr>
        <p:spPr>
          <a:xfrm flipH="1">
            <a:off x="5128591" y="4028661"/>
            <a:ext cx="3273287" cy="106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59B77A-9617-007F-4A53-DE6896A16F11}"/>
              </a:ext>
            </a:extLst>
          </p:cNvPr>
          <p:cNvSpPr txBox="1"/>
          <p:nvPr/>
        </p:nvSpPr>
        <p:spPr>
          <a:xfrm>
            <a:off x="8401878" y="3712337"/>
            <a:ext cx="26608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Handy compressed format</a:t>
            </a:r>
          </a:p>
        </p:txBody>
      </p:sp>
    </p:spTree>
    <p:extLst>
      <p:ext uri="{BB962C8B-B14F-4D97-AF65-F5344CB8AC3E}">
        <p14:creationId xmlns:p14="http://schemas.microsoft.com/office/powerpoint/2010/main" val="3570195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408B-17CB-DCC0-D22D-3E295A90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37B4-6F82-E18D-C5B5-465415FC4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1708669"/>
          </a:xfrm>
        </p:spPr>
        <p:txBody>
          <a:bodyPr/>
          <a:lstStyle/>
          <a:p>
            <a:r>
              <a:rPr lang="en-US" dirty="0"/>
              <a:t>All functions in Python return a value </a:t>
            </a:r>
          </a:p>
          <a:p>
            <a:r>
              <a:rPr lang="en-US" dirty="0"/>
              <a:t>The function is evaluated, and a value comes back in the place where the function is called </a:t>
            </a:r>
          </a:p>
          <a:p>
            <a:pPr lvl="1"/>
            <a:r>
              <a:rPr lang="en-US" dirty="0"/>
              <a:t>Many functions return None (which really means they haven’t returned anything)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4F25F-E731-DF1F-97FA-5A19A4CE1D4C}"/>
              </a:ext>
            </a:extLst>
          </p:cNvPr>
          <p:cNvSpPr txBox="1"/>
          <p:nvPr/>
        </p:nvSpPr>
        <p:spPr>
          <a:xfrm>
            <a:off x="1245704" y="4553990"/>
            <a:ext cx="58368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Examples: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sq_root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(9 + 16)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positive_value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abs(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ph_num_jenny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str(867) + “-” + str(5309)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max_ =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max_ = max(max_, 12)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93184-9E98-E387-AC05-2E59779E3A35}"/>
              </a:ext>
            </a:extLst>
          </p:cNvPr>
          <p:cNvSpPr txBox="1"/>
          <p:nvPr/>
        </p:nvSpPr>
        <p:spPr>
          <a:xfrm>
            <a:off x="7460974" y="6361043"/>
            <a:ext cx="4485715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More on functions and built-in functions later</a:t>
            </a:r>
          </a:p>
        </p:txBody>
      </p:sp>
    </p:spTree>
    <p:extLst>
      <p:ext uri="{BB962C8B-B14F-4D97-AF65-F5344CB8AC3E}">
        <p14:creationId xmlns:p14="http://schemas.microsoft.com/office/powerpoint/2010/main" val="2019943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6F3C6-EDB1-4352-0C4C-E7956F6A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FC8D35-1CB7-89E5-C424-50B134A39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1635443"/>
            <a:ext cx="10921466" cy="13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70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57B6F-7018-A2CA-817F-DF66F656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44804-BFE8-FC68-F6B3-73B41E76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58BCCF-00CE-8CAF-B612-8AA9CCEEC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1635443"/>
            <a:ext cx="10921466" cy="1310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48C90C-FA84-EDDE-B22B-F512936FA745}"/>
              </a:ext>
            </a:extLst>
          </p:cNvPr>
          <p:cNvSpPr txBox="1"/>
          <p:nvPr/>
        </p:nvSpPr>
        <p:spPr>
          <a:xfrm>
            <a:off x="5591773" y="311487"/>
            <a:ext cx="11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Answer: 5</a:t>
            </a:r>
          </a:p>
        </p:txBody>
      </p:sp>
    </p:spTree>
    <p:extLst>
      <p:ext uri="{BB962C8B-B14F-4D97-AF65-F5344CB8AC3E}">
        <p14:creationId xmlns:p14="http://schemas.microsoft.com/office/powerpoint/2010/main" val="20803241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08CF3D2-8F71-C8AA-FF1B-2732B11A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" r="40219" b="-1"/>
          <a:stretch>
            <a:fillRect/>
          </a:stretch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A1E0EA-3E98-22C0-9D15-101FF8E1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A6D9-894E-2C8B-B3D3-621A14423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>
            <a:normAutofit/>
          </a:bodyPr>
          <a:lstStyle/>
          <a:p>
            <a:r>
              <a:rPr lang="en-US" dirty="0"/>
              <a:t>What do programmers write in place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== False?</a:t>
            </a:r>
          </a:p>
          <a:p>
            <a:r>
              <a:rPr lang="en-US" dirty="0"/>
              <a:t>Write a program to compute the area of a circle</a:t>
            </a:r>
          </a:p>
          <a:p>
            <a:r>
              <a:rPr lang="en-US" dirty="0"/>
              <a:t>Write a program to average 5 numbers</a:t>
            </a:r>
          </a:p>
          <a:p>
            <a:r>
              <a:rPr lang="en-US" dirty="0"/>
              <a:t>In trigonometry (cos x)</a:t>
            </a:r>
            <a:r>
              <a:rPr lang="en-US" baseline="30000" dirty="0"/>
              <a:t>2 </a:t>
            </a:r>
            <a:r>
              <a:rPr lang="en-US" dirty="0"/>
              <a:t>+ (sin x)</a:t>
            </a:r>
            <a:r>
              <a:rPr lang="en-US" baseline="30000" dirty="0"/>
              <a:t>2 </a:t>
            </a:r>
            <a:r>
              <a:rPr lang="en-US" dirty="0"/>
              <a:t>= 1 </a:t>
            </a:r>
          </a:p>
          <a:p>
            <a:pPr lvl="1"/>
            <a:r>
              <a:rPr lang="en-US" dirty="0"/>
              <a:t>Write a program to prove this is true for x = 42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math.cos</a:t>
            </a:r>
            <a:r>
              <a:rPr lang="en-US" dirty="0"/>
              <a:t> and </a:t>
            </a:r>
            <a:r>
              <a:rPr lang="en-US" dirty="0" err="1"/>
              <a:t>math.sin</a:t>
            </a:r>
            <a:r>
              <a:rPr lang="en-US" dirty="0"/>
              <a:t> (don’t forget to import math)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787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67D2-02F3-AF7A-480F-3518479D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E52A-387D-78F6-A152-0AF0F29D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During the US Open Tennis Tournament all the players descend on the city of NY. They stay in hotels. Tennis players are notoriously superstitious. They will pay a premium if the digits in the room number of their hotel room add up to 1 or they add up to a multi digit number that then sums to 1. </a:t>
            </a:r>
          </a:p>
          <a:p>
            <a:r>
              <a:rPr lang="en-US" dirty="0"/>
              <a:t>For example: Room 100 has 3 digits: 1, 0, and 0. These add up to 1 (1+0+0). But also consider 532: These add up to 10 but then 10 has digits that sum to 1. So tennis players will pay a premium to stay in room 100 and/or room 532.</a:t>
            </a:r>
          </a:p>
          <a:p>
            <a:r>
              <a:rPr lang="en-US" dirty="0"/>
              <a:t>Assume all hotel rooms have 3 digits in their room number. Write a program to output the sum of the digits of the room number as a single digit. </a:t>
            </a:r>
          </a:p>
          <a:p>
            <a:r>
              <a:rPr lang="en-US" dirty="0"/>
              <a:t>Your program should output 1 if the room number is 532 and 9 if the room number is 999.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F9874-DE8A-6974-4E81-2D74CF0FCB33}"/>
              </a:ext>
            </a:extLst>
          </p:cNvPr>
          <p:cNvSpPr txBox="1"/>
          <p:nvPr/>
        </p:nvSpPr>
        <p:spPr>
          <a:xfrm>
            <a:off x="2784389" y="6128951"/>
            <a:ext cx="261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Hint: make use of // and %</a:t>
            </a:r>
          </a:p>
        </p:txBody>
      </p:sp>
    </p:spTree>
    <p:extLst>
      <p:ext uri="{BB962C8B-B14F-4D97-AF65-F5344CB8AC3E}">
        <p14:creationId xmlns:p14="http://schemas.microsoft.com/office/powerpoint/2010/main" val="17897856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17473</TotalTime>
  <Words>2208</Words>
  <Application>Microsoft Macintosh PowerPoint</Application>
  <PresentationFormat>Widescreen</PresentationFormat>
  <Paragraphs>338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Courier New</vt:lpstr>
      <vt:lpstr>Gill Sans MT</vt:lpstr>
      <vt:lpstr>Parcel</vt:lpstr>
      <vt:lpstr>Expressions</vt:lpstr>
      <vt:lpstr>Code Examples</vt:lpstr>
      <vt:lpstr>Expressions</vt:lpstr>
      <vt:lpstr>Arithmetic Expressions</vt:lpstr>
      <vt:lpstr>Self Check</vt:lpstr>
      <vt:lpstr>Assignment Operators</vt:lpstr>
      <vt:lpstr>Assignment Operators Examples</vt:lpstr>
      <vt:lpstr>Pair Problem Solving / Discussion</vt:lpstr>
      <vt:lpstr>Pair Problem Solving / Discussion</vt:lpstr>
      <vt:lpstr>Colored Hexagon</vt:lpstr>
      <vt:lpstr>Colored Triangle</vt:lpstr>
      <vt:lpstr>Pattern Recognition</vt:lpstr>
      <vt:lpstr>Questions to Ask</vt:lpstr>
      <vt:lpstr>Questions to Ask</vt:lpstr>
      <vt:lpstr>What are the patterns?</vt:lpstr>
      <vt:lpstr>Can we Represent it Differently?</vt:lpstr>
      <vt:lpstr>Have we solved it before?</vt:lpstr>
      <vt:lpstr>Have we solved it before?</vt:lpstr>
      <vt:lpstr>Decomposition</vt:lpstr>
      <vt:lpstr>Colored HexaGON</vt:lpstr>
      <vt:lpstr>Setting Colors</vt:lpstr>
      <vt:lpstr>Colored Hexagon Solution</vt:lpstr>
      <vt:lpstr>Comparison Expressions</vt:lpstr>
      <vt:lpstr>Logical Expressions</vt:lpstr>
      <vt:lpstr>Mimic of Multiply and Add (kind of)</vt:lpstr>
      <vt:lpstr>True/False in Expressions</vt:lpstr>
      <vt:lpstr>True/False in Expressions</vt:lpstr>
      <vt:lpstr>Short Circuits</vt:lpstr>
      <vt:lpstr>True/False in Expressions</vt:lpstr>
      <vt:lpstr>Short Circuits</vt:lpstr>
      <vt:lpstr>Self-Check</vt:lpstr>
      <vt:lpstr>Self-Check</vt:lpstr>
      <vt:lpstr>Python Notes</vt:lpstr>
      <vt:lpstr>Function Call Expressions</vt:lpstr>
      <vt:lpstr>Self-check</vt:lpstr>
      <vt:lpstr>Self-check</vt:lpstr>
      <vt:lpstr>Try at Home</vt:lpstr>
      <vt:lpstr>Try at Home (advanced)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1</cp:revision>
  <dcterms:created xsi:type="dcterms:W3CDTF">2025-06-27T17:31:36Z</dcterms:created>
  <dcterms:modified xsi:type="dcterms:W3CDTF">2026-09-17T00:59:45Z</dcterms:modified>
</cp:coreProperties>
</file>