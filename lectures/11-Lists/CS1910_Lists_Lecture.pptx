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313" r:id="rId2"/>
    <p:sldId id="269" r:id="rId3"/>
    <p:sldId id="257" r:id="rId4"/>
    <p:sldId id="262" r:id="rId5"/>
    <p:sldId id="260" r:id="rId6"/>
    <p:sldId id="259" r:id="rId7"/>
    <p:sldId id="292" r:id="rId8"/>
    <p:sldId id="290" r:id="rId9"/>
    <p:sldId id="291" r:id="rId10"/>
    <p:sldId id="261" r:id="rId11"/>
    <p:sldId id="275" r:id="rId12"/>
    <p:sldId id="293" r:id="rId13"/>
    <p:sldId id="279" r:id="rId14"/>
    <p:sldId id="280" r:id="rId15"/>
    <p:sldId id="294" r:id="rId16"/>
    <p:sldId id="299" r:id="rId17"/>
    <p:sldId id="300" r:id="rId18"/>
    <p:sldId id="301" r:id="rId19"/>
    <p:sldId id="302" r:id="rId20"/>
    <p:sldId id="311" r:id="rId21"/>
    <p:sldId id="264" r:id="rId22"/>
    <p:sldId id="265" r:id="rId23"/>
    <p:sldId id="263" r:id="rId24"/>
    <p:sldId id="281" r:id="rId25"/>
    <p:sldId id="283" r:id="rId26"/>
    <p:sldId id="284" r:id="rId27"/>
    <p:sldId id="286" r:id="rId28"/>
    <p:sldId id="303" r:id="rId29"/>
    <p:sldId id="278" r:id="rId30"/>
    <p:sldId id="308" r:id="rId31"/>
    <p:sldId id="309" r:id="rId32"/>
    <p:sldId id="310" r:id="rId33"/>
    <p:sldId id="304" r:id="rId34"/>
    <p:sldId id="267" r:id="rId35"/>
    <p:sldId id="266" r:id="rId36"/>
    <p:sldId id="26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1E7E8F-2C83-4417-BB61-804F564451F6}" v="1" dt="2026-07-23T02:16:40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05" d="100"/>
          <a:sy n="10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97D26654-64D5-4042-8583-A5886BB6B01E}"/>
    <pc:docChg chg="undo redo custSel addSld delSld modSld sldOrd">
      <pc:chgData name="Christopher Power" userId="83706efc-52ec-4aad-b93a-e27c6e901a30" providerId="ADAL" clId="{97D26654-64D5-4042-8583-A5886BB6B01E}" dt="2026-07-23T02:16:54.306" v="11707" actId="47"/>
      <pc:docMkLst>
        <pc:docMk/>
      </pc:docMkLst>
      <pc:sldChg chg="del">
        <pc:chgData name="Christopher Power" userId="83706efc-52ec-4aad-b93a-e27c6e901a30" providerId="ADAL" clId="{97D26654-64D5-4042-8583-A5886BB6B01E}" dt="2026-07-23T02:16:51.870" v="11706" actId="47"/>
        <pc:sldMkLst>
          <pc:docMk/>
          <pc:sldMk cId="2017907570" sldId="256"/>
        </pc:sldMkLst>
      </pc:sldChg>
      <pc:sldChg chg="del">
        <pc:chgData name="Christopher Power" userId="83706efc-52ec-4aad-b93a-e27c6e901a30" providerId="ADAL" clId="{97D26654-64D5-4042-8583-A5886BB6B01E}" dt="2026-07-23T02:16:54.306" v="11707" actId="47"/>
        <pc:sldMkLst>
          <pc:docMk/>
          <pc:sldMk cId="4028129315" sldId="288"/>
        </pc:sldMkLst>
      </pc:sldChg>
      <pc:sldChg chg="modSp add mod">
        <pc:chgData name="Christopher Power" userId="83706efc-52ec-4aad-b93a-e27c6e901a30" providerId="ADAL" clId="{97D26654-64D5-4042-8583-A5886BB6B01E}" dt="2026-07-23T02:16:47.705" v="11705" actId="20577"/>
        <pc:sldMkLst>
          <pc:docMk/>
          <pc:sldMk cId="3002068836" sldId="313"/>
        </pc:sldMkLst>
        <pc:spChg chg="mod">
          <ac:chgData name="Christopher Power" userId="83706efc-52ec-4aad-b93a-e27c6e901a30" providerId="ADAL" clId="{97D26654-64D5-4042-8583-A5886BB6B01E}" dt="2026-07-23T02:16:47.705" v="11705" actId="20577"/>
          <ac:spMkLst>
            <pc:docMk/>
            <pc:sldMk cId="3002068836" sldId="313"/>
            <ac:spMk id="2" creationId="{C93DC5BA-038A-1370-693A-933684213E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Lists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CS1910</a:t>
            </a: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Science I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160E-26CD-3A5C-8076-547B3078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251EA-EF11-92A0-2041-00FA284CD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https://colab.research.google.com/github/cdspower-upei/2026W-CS1910-Students/blob/main/Lectures/L11/CS1910-Lists-Examples</a:t>
            </a:r>
            <a:r>
              <a:rPr lang="en-US"/>
              <a:t>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4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8F2D-532E-B3BD-8FA7-7FEE665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/>
              <a:t>Mutable Sequences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8C51-F3AB-B733-08BC-78964286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858" y="2361598"/>
            <a:ext cx="3449779" cy="421995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Lists are sequences (like strings and ranges)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They represent ordered data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We can use indexing on sequences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hold items of different data types (even in the same list)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Lists are mutable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The contents can be modified (without creating a new list)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Strings and ranges are immutable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8314F-C48C-08FA-C6C3-F855D49D9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873404"/>
              </p:ext>
            </p:extLst>
          </p:nvPr>
        </p:nvGraphicFramePr>
        <p:xfrm>
          <a:off x="6684060" y="3000400"/>
          <a:ext cx="4481925" cy="74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275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713613565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3409914706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423197609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553616554"/>
                    </a:ext>
                  </a:extLst>
                </a:gridCol>
              </a:tblGrid>
              <a:tr h="373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  <a:tr h="373843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0324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EBF9F2-C31D-4D4B-3ACA-BC86B7D79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217435"/>
              </p:ext>
            </p:extLst>
          </p:nvPr>
        </p:nvGraphicFramePr>
        <p:xfrm>
          <a:off x="5689758" y="3003403"/>
          <a:ext cx="4755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35">
                  <a:extLst>
                    <a:ext uri="{9D8B030D-6E8A-4147-A177-3AD203B41FA5}">
                      <a16:colId xmlns:a16="http://schemas.microsoft.com/office/drawing/2014/main" val="784706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057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60E26F-A51F-640A-002C-703E799C7394}"/>
              </a:ext>
            </a:extLst>
          </p:cNvPr>
          <p:cNvSpPr txBox="1"/>
          <p:nvPr/>
        </p:nvSpPr>
        <p:spPr>
          <a:xfrm>
            <a:off x="4903774" y="2971554"/>
            <a:ext cx="785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scores</a:t>
            </a:r>
            <a:endParaRPr lang="en-C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7E400F-D6F7-1AB7-A12A-0BB6F13205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165293" y="3188823"/>
            <a:ext cx="518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51A0B4-28B0-5ED8-D99C-675B8E50C29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5296766" y="3340886"/>
            <a:ext cx="0" cy="8074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3124B7-77AF-703C-EF75-8DB6BBF792A0}"/>
              </a:ext>
            </a:extLst>
          </p:cNvPr>
          <p:cNvCxnSpPr>
            <a:cxnSpLocks/>
          </p:cNvCxnSpPr>
          <p:nvPr/>
        </p:nvCxnSpPr>
        <p:spPr>
          <a:xfrm flipV="1">
            <a:off x="8731862" y="3868190"/>
            <a:ext cx="0" cy="3990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0809D1E-B669-F9F0-D21D-68E4F797BB88}"/>
              </a:ext>
            </a:extLst>
          </p:cNvPr>
          <p:cNvSpPr txBox="1"/>
          <p:nvPr/>
        </p:nvSpPr>
        <p:spPr>
          <a:xfrm>
            <a:off x="4657802" y="4263733"/>
            <a:ext cx="149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Variable name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3DDCC5-489D-9D7C-6C9D-5575937D2B44}"/>
              </a:ext>
            </a:extLst>
          </p:cNvPr>
          <p:cNvSpPr txBox="1"/>
          <p:nvPr/>
        </p:nvSpPr>
        <p:spPr>
          <a:xfrm>
            <a:off x="7334136" y="4202670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Index values (0 to length n-1)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B64C-B58B-8202-CC97-6DF6D5DF14F8}"/>
              </a:ext>
            </a:extLst>
          </p:cNvPr>
          <p:cNvSpPr txBox="1"/>
          <p:nvPr/>
        </p:nvSpPr>
        <p:spPr>
          <a:xfrm>
            <a:off x="5689758" y="4879631"/>
            <a:ext cx="1446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Points at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57FB37-A8E3-31A8-FA1E-3BED3C4888B3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413194" y="3188823"/>
            <a:ext cx="8719" cy="169080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5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22B5-9814-50C8-CADB-1A9B0B03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5D25F6-1D8C-AF28-632E-55B9FDE99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632759"/>
              </p:ext>
            </p:extLst>
          </p:nvPr>
        </p:nvGraphicFramePr>
        <p:xfrm>
          <a:off x="4520678" y="2610162"/>
          <a:ext cx="4481925" cy="373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275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713613565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3409914706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423197609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553616554"/>
                    </a:ext>
                  </a:extLst>
                </a:gridCol>
              </a:tblGrid>
              <a:tr h="373843"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35CA8A-E408-27BB-CEF9-306709695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031628"/>
              </p:ext>
            </p:extLst>
          </p:nvPr>
        </p:nvGraphicFramePr>
        <p:xfrm>
          <a:off x="4520678" y="3723508"/>
          <a:ext cx="45667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676">
                  <a:extLst>
                    <a:ext uri="{9D8B030D-6E8A-4147-A177-3AD203B41FA5}">
                      <a16:colId xmlns:a16="http://schemas.microsoft.com/office/drawing/2014/main" val="3505709883"/>
                    </a:ext>
                  </a:extLst>
                </a:gridCol>
              </a:tblGrid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78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430511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87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4896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94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196851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83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604468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67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760199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98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23378"/>
                  </a:ext>
                </a:extLst>
              </a:tr>
              <a:tr h="36136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87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27156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3E77C6-32A7-E5AC-74C0-898C320B6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02798"/>
              </p:ext>
            </p:extLst>
          </p:nvPr>
        </p:nvGraphicFramePr>
        <p:xfrm>
          <a:off x="3343897" y="2609951"/>
          <a:ext cx="4755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35">
                  <a:extLst>
                    <a:ext uri="{9D8B030D-6E8A-4147-A177-3AD203B41FA5}">
                      <a16:colId xmlns:a16="http://schemas.microsoft.com/office/drawing/2014/main" val="784706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0576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B955D13-CDD4-7CBF-7203-38EFBCBEA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08725"/>
              </p:ext>
            </p:extLst>
          </p:nvPr>
        </p:nvGraphicFramePr>
        <p:xfrm>
          <a:off x="3343897" y="3749040"/>
          <a:ext cx="4755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35">
                  <a:extLst>
                    <a:ext uri="{9D8B030D-6E8A-4147-A177-3AD203B41FA5}">
                      <a16:colId xmlns:a16="http://schemas.microsoft.com/office/drawing/2014/main" val="784706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057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8E2C4CA-D817-465B-5067-E9D6299186B0}"/>
              </a:ext>
            </a:extLst>
          </p:cNvPr>
          <p:cNvSpPr txBox="1"/>
          <p:nvPr/>
        </p:nvSpPr>
        <p:spPr>
          <a:xfrm>
            <a:off x="2576772" y="2581316"/>
            <a:ext cx="785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scores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3525A-D711-9C4F-1E2A-E3400D8FEE0E}"/>
              </a:ext>
            </a:extLst>
          </p:cNvPr>
          <p:cNvSpPr txBox="1"/>
          <p:nvPr/>
        </p:nvSpPr>
        <p:spPr>
          <a:xfrm>
            <a:off x="2576772" y="3749040"/>
            <a:ext cx="785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scores</a:t>
            </a:r>
            <a:endParaRPr lang="en-CA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B430BD-B9A1-9F52-E8E7-70B55B33500F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3819432" y="2795371"/>
            <a:ext cx="701246" cy="1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34447C-5509-FE43-8816-79D4CA7811D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19432" y="3934460"/>
            <a:ext cx="701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7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B2BB-451C-6112-4ABF-976DF189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378452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Mutable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4BFFE-9CCE-C5B0-88BA-322550F4E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04672"/>
            <a:ext cx="6028944" cy="524865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Expressions with list values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scores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78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87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94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83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67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98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87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sub_scores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slice index 2 and 3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mean = (scores[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+ 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])/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b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(mean)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86.0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b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mean = (scores[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+ 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])/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b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(mean)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41.5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highest = 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lowest = 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]+=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#100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highest +=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#99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"High: "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str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]))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High: 100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67D17"/>
                </a:solidFill>
                <a:effectLst/>
                <a:latin typeface="JetBrains Mono"/>
              </a:rPr>
              <a:t>f"High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 Variable: 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highest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Low: 99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67D17"/>
                </a:solidFill>
                <a:effectLst/>
                <a:latin typeface="JetBrains Mono"/>
              </a:rPr>
              <a:t>f"Low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scores[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Low: 67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67D17"/>
                </a:solidFill>
                <a:effectLst/>
                <a:latin typeface="JetBrains Mono"/>
              </a:rPr>
              <a:t>f"Sub_scores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sub_scores</a:t>
            </a:r>
            <a:r>
              <a:rPr lang="en-CA" sz="1800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#Sub_scores: [94, 83]</a:t>
            </a:r>
            <a:endParaRPr lang="en-CA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1B73B-5573-A6B3-DD09-8093808A0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9620" y="1779531"/>
            <a:ext cx="4680204" cy="3298938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CA" sz="1800" dirty="0"/>
              <a:t>Can change the indexed internal values of the list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CA" sz="1800" dirty="0"/>
              <a:t>Indexed values can be used in expressions and function arguments like variables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CA" sz="1800" dirty="0"/>
              <a:t>Can use the values directly or assign them to variables to be used separate from the list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CA" sz="1800" dirty="0"/>
              <a:t>Variable values are separate copies of the value in the list – they can be modified separately if they are atomic types</a:t>
            </a:r>
          </a:p>
        </p:txBody>
      </p:sp>
    </p:spTree>
    <p:extLst>
      <p:ext uri="{BB962C8B-B14F-4D97-AF65-F5344CB8AC3E}">
        <p14:creationId xmlns:p14="http://schemas.microsoft.com/office/powerpoint/2010/main" val="95570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F2CACB-3B79-FCF9-F4A8-5FB353A7B1E1}"/>
              </a:ext>
            </a:extLst>
          </p:cNvPr>
          <p:cNvSpPr txBox="1"/>
          <p:nvPr/>
        </p:nvSpPr>
        <p:spPr>
          <a:xfrm>
            <a:off x="4221786" y="957405"/>
            <a:ext cx="74551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Creating an empty list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List with strings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fruits = [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"cherry"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['apple', 'banana', 'cherry']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List with integers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numbers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[1, 2, 3, 4, 5]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List with mixed values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Each value in each index has its own type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mixed_list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"hello"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3.14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[10, 'hello', 3.14, True]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Convert a string to a list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title_list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 err="1">
                <a:solidFill>
                  <a:srgbClr val="067D17"/>
                </a:solidFill>
                <a:effectLst/>
                <a:latin typeface="JetBrains Mono"/>
              </a:rPr>
              <a:t>Logicomix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['L', 'o', 'g', '</a:t>
            </a:r>
            <a:r>
              <a:rPr lang="en-CA" sz="1800" i="1" dirty="0" err="1">
                <a:solidFill>
                  <a:srgbClr val="8C8C8C"/>
                </a:solidFill>
                <a:effectLst/>
                <a:latin typeface="JetBrains Mono"/>
              </a:rPr>
              <a:t>i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', 'c', 'o', 'm', '</a:t>
            </a:r>
            <a:r>
              <a:rPr lang="en-CA" sz="1800" i="1" dirty="0" err="1">
                <a:solidFill>
                  <a:srgbClr val="8C8C8C"/>
                </a:solidFill>
                <a:effectLst/>
                <a:latin typeface="JetBrains Mono"/>
              </a:rPr>
              <a:t>i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', 'x']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List with one value in it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small_list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[0]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Ten zeros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zeros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*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10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[0, 0, 0, 0, 0, 0, 0, 0, 0, 0]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Ten empty strings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empty_strings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 *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10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['', '', '', '', '', '', '', '', '', '']</a:t>
            </a:r>
            <a:endParaRPr lang="en-CA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6C840-B256-7251-B1FC-F8CD2F37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0079"/>
            <a:ext cx="3402531" cy="5272242"/>
          </a:xfrm>
        </p:spPr>
        <p:txBody>
          <a:bodyPr>
            <a:normAutofit/>
          </a:bodyPr>
          <a:lstStyle/>
          <a:p>
            <a:r>
              <a:rPr lang="en-US" dirty="0"/>
              <a:t>Creating Lists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1801D4-4F3C-77D0-9625-0684B70F38A5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074152" y="2710148"/>
            <a:ext cx="1219464" cy="563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A7DA93-0413-FBC2-0746-0CD562DEA295}"/>
              </a:ext>
            </a:extLst>
          </p:cNvPr>
          <p:cNvSpPr txBox="1"/>
          <p:nvPr/>
        </p:nvSpPr>
        <p:spPr>
          <a:xfrm>
            <a:off x="9293616" y="2386982"/>
            <a:ext cx="2562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all programming languages allow this</a:t>
            </a:r>
          </a:p>
        </p:txBody>
      </p:sp>
    </p:spTree>
    <p:extLst>
      <p:ext uri="{BB962C8B-B14F-4D97-AF65-F5344CB8AC3E}">
        <p14:creationId xmlns:p14="http://schemas.microsoft.com/office/powerpoint/2010/main" val="162906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7A0D-2B7D-FE69-DF8E-05C8E641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to Lists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D9E48-B474-D0BA-FCB1-752AC885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42108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	08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Adding Items to Lists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Creates an empty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 = []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[]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Mutation Methods for Adding to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#Append - Add to empty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my_list.append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[1]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Append - Add to end of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my_list.append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[1,23]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Append - Add to end of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my_list.append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067D17"/>
                </a:solidFill>
                <a:effectLst/>
                <a:latin typeface="JetBrains Mono"/>
              </a:rPr>
              <a:t>"!"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[1, 23, "!"]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18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Insert - Add specific value at specific index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19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my_list.insert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2000" dirty="0">
                <a:solidFill>
                  <a:srgbClr val="067D17"/>
                </a:solidFill>
                <a:effectLst/>
                <a:latin typeface="JetBrains Mono"/>
              </a:rPr>
              <a:t>"orange"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#[1, "orange", 23, "!"]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20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Insert - Add to the front of the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21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my_list.insert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 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2000" dirty="0">
                <a:solidFill>
                  <a:srgbClr val="067D17"/>
                </a:solidFill>
                <a:effectLst/>
                <a:latin typeface="JetBrains Mono"/>
              </a:rPr>
              <a:t>"banana"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#["banana", 1, "orange", 23, "!"]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22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Insert - Add specific value at end of list specific index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23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Equivalent to .append(23)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24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my_list.insert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#["banana", 1, "orange", 23, "!", 23]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25   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 Insert - Add specific value well beyond the end of the list - goes to end of list</a:t>
            </a:r>
            <a:b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2000" b="0" i="0" dirty="0">
                <a:solidFill>
                  <a:srgbClr val="080808"/>
                </a:solidFill>
                <a:effectLst/>
                <a:latin typeface="JetBrains Mono"/>
              </a:rPr>
              <a:t>26    </a:t>
            </a:r>
            <a:r>
              <a:rPr lang="en-CA" sz="2000" dirty="0" err="1">
                <a:solidFill>
                  <a:srgbClr val="080808"/>
                </a:solidFill>
                <a:effectLst/>
                <a:latin typeface="JetBrains Mono"/>
              </a:rPr>
              <a:t>my_list.insert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2000" dirty="0">
                <a:solidFill>
                  <a:srgbClr val="1750EB"/>
                </a:solidFill>
                <a:effectLst/>
                <a:latin typeface="JetBrains Mono"/>
              </a:rPr>
              <a:t>99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2000" dirty="0">
                <a:solidFill>
                  <a:srgbClr val="067D17"/>
                </a:solidFill>
                <a:effectLst/>
                <a:latin typeface="JetBrains Mono"/>
              </a:rPr>
              <a:t>"apple"</a:t>
            </a:r>
            <a:r>
              <a:rPr lang="en-CA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2000" i="1" dirty="0">
                <a:solidFill>
                  <a:srgbClr val="8C8C8C"/>
                </a:solidFill>
                <a:effectLst/>
                <a:latin typeface="JetBrains Mono"/>
              </a:rPr>
              <a:t>#["banana", 1, "orange", 23, "!", 23, "apple"]</a:t>
            </a:r>
            <a:endParaRPr lang="en-CA" sz="20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7797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0E47-93E9-1378-D65A-11D30015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Removal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DB5C-1DE1-AE98-2800-D17EC9BC3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3" y="2638044"/>
            <a:ext cx="3429000" cy="3101982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Many different ways to remove items from the list</a:t>
            </a:r>
          </a:p>
          <a:p>
            <a:pPr lvl="1"/>
            <a:r>
              <a:rPr lang="en-US" dirty="0">
                <a:solidFill>
                  <a:srgbClr val="080808"/>
                </a:solidFill>
                <a:latin typeface="JetBrains Mono"/>
              </a:rPr>
              <a:t>remove – removes by value</a:t>
            </a:r>
          </a:p>
          <a:p>
            <a:pPr lvl="1"/>
            <a:r>
              <a:rPr lang="en-US" dirty="0">
                <a:solidFill>
                  <a:srgbClr val="080808"/>
                </a:solidFill>
                <a:latin typeface="JetBrains Mono"/>
              </a:rPr>
              <a:t>p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op – removes at index and returns the value for later use</a:t>
            </a:r>
          </a:p>
          <a:p>
            <a:pPr lvl="1"/>
            <a:r>
              <a:rPr lang="en-US" dirty="0">
                <a:solidFill>
                  <a:srgbClr val="0033B3"/>
                </a:solidFill>
                <a:latin typeface="JetBrains Mono"/>
              </a:rPr>
              <a:t>del</a:t>
            </a:r>
            <a:r>
              <a:rPr lang="en-US" dirty="0">
                <a:solidFill>
                  <a:srgbClr val="080808"/>
                </a:solidFill>
                <a:latin typeface="JetBrains Mono"/>
              </a:rPr>
              <a:t> – removes item(s) from list but does not return anything to use later </a:t>
            </a:r>
          </a:p>
          <a:p>
            <a:pPr lvl="2"/>
            <a:r>
              <a:rPr lang="en-US" dirty="0">
                <a:solidFill>
                  <a:srgbClr val="0033B3"/>
                </a:solidFill>
                <a:latin typeface="JetBrains Mono"/>
              </a:rPr>
              <a:t>del</a:t>
            </a:r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 is a Python keyword not a method or function (thus no parentheses)</a:t>
            </a:r>
          </a:p>
          <a:p>
            <a:r>
              <a:rPr lang="en-US" dirty="0">
                <a:solidFill>
                  <a:srgbClr val="080808"/>
                </a:solidFill>
                <a:latin typeface="JetBrains Mono"/>
              </a:rPr>
              <a:t>Why are these all so different?</a:t>
            </a:r>
          </a:p>
          <a:p>
            <a:pPr lvl="1"/>
            <a:r>
              <a:rPr lang="en-US" dirty="0">
                <a:solidFill>
                  <a:srgbClr val="080808"/>
                </a:solidFill>
                <a:effectLst/>
                <a:latin typeface="JetBrains Mono"/>
              </a:rPr>
              <a:t>Function?</a:t>
            </a:r>
          </a:p>
          <a:p>
            <a:pPr lvl="1"/>
            <a:r>
              <a:rPr lang="en-US" dirty="0">
                <a:solidFill>
                  <a:srgbClr val="080808"/>
                </a:solidFill>
                <a:latin typeface="JetBrains Mono"/>
              </a:rPr>
              <a:t>Method?</a:t>
            </a:r>
          </a:p>
          <a:p>
            <a:pPr lvl="1"/>
            <a:r>
              <a:rPr lang="en-US" dirty="0">
                <a:solidFill>
                  <a:srgbClr val="080808"/>
                </a:solidFill>
                <a:latin typeface="JetBrains Mono"/>
              </a:rPr>
              <a:t>Keyword?</a:t>
            </a:r>
            <a:endParaRPr lang="en-US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00ABD-3065-DE52-5A12-859F91ADE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8968" y="2638044"/>
            <a:ext cx="6464809" cy="310198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Removing Items from Lists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Remove the first instance of an item from the lists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my_list.remove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#["banana", 1, "orange", "!", 23, "apple"]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Remove apple and store for later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last_item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my_list.pop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#["banana", 1,"orange", "!", 23]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last_item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# apple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Pop - Optional parameter to remove index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Remove first item banana for later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first_item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my_list.pop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#[1,"orange", "!", 23]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first_item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i="1" dirty="0">
                <a:solidFill>
                  <a:srgbClr val="8C8C8C"/>
                </a:solidFill>
                <a:latin typeface="JetBrains Mono"/>
              </a:rPr>
              <a:t># banana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Delete an index without knowing the value contained within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del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#["orange", "!", 23]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Delete a range of indices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del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#Removes inclusive 0 and 1 - [23]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20624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D5AE-6639-D573-B20E-3EDBFB4D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are Objects?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B0BBF9-5124-EAAB-22CD-29368366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21992"/>
            <a:ext cx="7729728" cy="4480560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Up until strings, we always used functions as: </a:t>
            </a:r>
            <a:r>
              <a:rPr lang="en-CA" i="1" dirty="0">
                <a:latin typeface="JetBrains Mono"/>
                <a:cs typeface="Courier New" panose="02070309020205020404" pitchFamily="49" charset="0"/>
              </a:rPr>
              <a:t>function(variable)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Examples:  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abs(-34), max(3,4)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cs typeface="Courier New" panose="02070309020205020404" pitchFamily="49" charset="0"/>
              </a:rPr>
              <a:t>even then we used some functions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len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(“hello”)</a:t>
            </a:r>
          </a:p>
          <a:p>
            <a:r>
              <a:rPr lang="en-CA" dirty="0"/>
              <a:t>When we introduced strings, we had functions that could be accessed through a dot notation  </a:t>
            </a:r>
          </a:p>
          <a:p>
            <a:pPr lvl="1"/>
            <a:r>
              <a:rPr lang="en-CA" dirty="0"/>
              <a:t>Example: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my_string.upper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() </a:t>
            </a:r>
          </a:p>
          <a:p>
            <a:r>
              <a:rPr lang="en-CA" dirty="0"/>
              <a:t>That is because strings are what is called </a:t>
            </a:r>
            <a:r>
              <a:rPr lang="en-CA" i="1" dirty="0"/>
              <a:t>Objects </a:t>
            </a:r>
            <a:r>
              <a:rPr lang="en-CA" dirty="0"/>
              <a:t>in python and other languages</a:t>
            </a:r>
          </a:p>
          <a:p>
            <a:pPr lvl="1"/>
            <a:r>
              <a:rPr lang="en-CA" dirty="0"/>
              <a:t>Objects are compound data types that have data that they maintain</a:t>
            </a:r>
          </a:p>
          <a:p>
            <a:pPr lvl="1"/>
            <a:r>
              <a:rPr lang="en-CA" dirty="0"/>
              <a:t>Objects also have functions called </a:t>
            </a:r>
            <a:r>
              <a:rPr lang="en-CA" i="1" dirty="0"/>
              <a:t>methods</a:t>
            </a:r>
            <a:r>
              <a:rPr lang="en-CA" dirty="0"/>
              <a:t> that work on the data in the object</a:t>
            </a:r>
          </a:p>
          <a:p>
            <a:r>
              <a:rPr lang="en-CA" dirty="0"/>
              <a:t>Example: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my_string.upper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CA" dirty="0"/>
              <a:t>String object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my_string</a:t>
            </a:r>
            <a:r>
              <a:rPr lang="en-CA" i="1" dirty="0">
                <a:latin typeface="JetBrains Mono"/>
              </a:rPr>
              <a:t> </a:t>
            </a:r>
            <a:r>
              <a:rPr lang="en-CA" dirty="0"/>
              <a:t>has a set data in a sequence</a:t>
            </a:r>
          </a:p>
          <a:p>
            <a:pPr lvl="1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.upper() </a:t>
            </a:r>
            <a:r>
              <a:rPr lang="en-CA" dirty="0"/>
              <a:t>is a method that only works on those characters that are the data contained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my_string</a:t>
            </a:r>
            <a:endParaRPr lang="en-CA" dirty="0">
              <a:latin typeface="JetBrains Mono"/>
              <a:cs typeface="Courier New" panose="02070309020205020404" pitchFamily="49" charset="0"/>
            </a:endParaRPr>
          </a:p>
          <a:p>
            <a:r>
              <a:rPr lang="en-CA" dirty="0">
                <a:cs typeface="Courier New" panose="02070309020205020404" pitchFamily="49" charset="0"/>
              </a:rPr>
              <a:t>Why is there things like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len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(“hello”) </a:t>
            </a:r>
            <a:r>
              <a:rPr lang="en-CA" dirty="0">
                <a:cs typeface="Courier New" panose="02070309020205020404" pitchFamily="49" charset="0"/>
              </a:rPr>
              <a:t>instead of </a:t>
            </a:r>
            <a:r>
              <a:rPr lang="en-CA" dirty="0" err="1">
                <a:latin typeface="JetBrains Mono"/>
                <a:cs typeface="Courier New" panose="02070309020205020404" pitchFamily="49" charset="0"/>
              </a:rPr>
              <a:t>my_string.length</a:t>
            </a:r>
            <a:r>
              <a:rPr lang="en-CA" dirty="0">
                <a:latin typeface="JetBrains Mono"/>
                <a:cs typeface="Courier New" panose="02070309020205020404" pitchFamily="49" charset="0"/>
              </a:rPr>
              <a:t>()</a:t>
            </a:r>
            <a:r>
              <a:rPr lang="en-CA" dirty="0">
                <a:cs typeface="Courier New" panose="02070309020205020404" pitchFamily="49" charset="0"/>
              </a:rPr>
              <a:t>?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Python has predefined object methods that allow you to use those functions for consistency with atomic types</a:t>
            </a:r>
          </a:p>
          <a:p>
            <a:r>
              <a:rPr lang="en-CA" dirty="0">
                <a:cs typeface="Courier New" panose="02070309020205020404" pitchFamily="49" charset="0"/>
              </a:rPr>
              <a:t>NB: Objects are a key concept that will be important in CS1920 where you build your own types.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In CS1910 you just need to know that objects have data, and functions that work on that data</a:t>
            </a:r>
          </a:p>
        </p:txBody>
      </p:sp>
    </p:spTree>
    <p:extLst>
      <p:ext uri="{BB962C8B-B14F-4D97-AF65-F5344CB8AC3E}">
        <p14:creationId xmlns:p14="http://schemas.microsoft.com/office/powerpoint/2010/main" val="21152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B45BF-F48D-513C-915D-F6E632DE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92096-C282-7035-9E0A-018582C2C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200" dirty="0"/>
              <a:t>Lists have many built-in methods</a:t>
            </a:r>
          </a:p>
          <a:p>
            <a:r>
              <a:rPr lang="en-US" sz="1200" dirty="0"/>
              <a:t>Some useful methods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(list)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Returns the number of items in the list.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list.sort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Sorts the list in ascending order (in-place).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list.reverse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Reverses the order of items in the list (in-place).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list.count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(item)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Returns the number of times an item appears in the list.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list.index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(item)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Returns the index of the first occurrence of an item.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list.clear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CA" sz="1200" b="0" i="0" dirty="0">
                <a:solidFill>
                  <a:srgbClr val="1F1F1F"/>
                </a:solidFill>
                <a:effectLst/>
                <a:latin typeface="Google Sans Text"/>
              </a:rPr>
              <a:t>: Removes all items from the list.</a:t>
            </a:r>
          </a:p>
          <a:p>
            <a:pPr lvl="1"/>
            <a:endParaRPr lang="en-US" sz="1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84C1A-9E8E-6C85-90BE-D92F49E56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3683" y="2635638"/>
            <a:ext cx="5366005" cy="31019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75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#length of the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my_list.count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count occurrences of 3 - 2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my_list.index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index of first 3 - index 3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my_list.sort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sorted list in place (same variable)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6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sorted </a:t>
            </a:r>
            <a:r>
              <a:rPr lang="en-US" sz="1800" i="1" dirty="0" err="1">
                <a:solidFill>
                  <a:srgbClr val="8C8C8C"/>
                </a:solidFill>
                <a:effectLst/>
                <a:latin typeface="JetBrains Mono"/>
              </a:rPr>
              <a:t>my_list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= [1, 2, 3, 3, 4, 75]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7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my_list.index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index of first 3 - index 2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8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my_list.reverse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reverse list [75, 4, 3, 3, 2, 1]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9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my_list.clear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List emptied - []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509093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9131-AF9C-AB09-E4FC-EBE3ED66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C89F-9072-826C-4D57-36F3A9D8B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2363" y="2638043"/>
            <a:ext cx="3633903" cy="3649635"/>
          </a:xfrm>
        </p:spPr>
        <p:txBody>
          <a:bodyPr>
            <a:normAutofit/>
          </a:bodyPr>
          <a:lstStyle/>
          <a:p>
            <a:r>
              <a:rPr lang="en-US" dirty="0"/>
              <a:t>Mutable objects behave differently than immutable values like int and float</a:t>
            </a:r>
          </a:p>
          <a:p>
            <a:r>
              <a:rPr lang="en-US" dirty="0"/>
              <a:t>They are passed around as object references – a pointer – rather than a true “copy” of a list</a:t>
            </a:r>
          </a:p>
          <a:p>
            <a:r>
              <a:rPr lang="en-US" dirty="0"/>
              <a:t>Each is an </a:t>
            </a:r>
            <a:r>
              <a:rPr lang="en-US" i="1" dirty="0"/>
              <a:t>alias </a:t>
            </a:r>
            <a:r>
              <a:rPr lang="en-US" dirty="0"/>
              <a:t>for the other one</a:t>
            </a:r>
          </a:p>
          <a:p>
            <a:pPr lvl="1"/>
            <a:r>
              <a:rPr lang="en-US" dirty="0"/>
              <a:t>Like a secret identity for a superhero – both names refer to the same person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26E26C-34FB-1351-F2C0-C828817B5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0831" y="2769412"/>
            <a:ext cx="6707735" cy="3101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names_1 = [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"Clark"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"Diana"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"Bruce"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0</a:t>
            </a: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names_2 = names_1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names_2 = ["Clark", "Diana", "Bruce"]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JetBrains Mono"/>
              </a:rPr>
              <a:t>0</a:t>
            </a: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names_1[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“Oliver" </a:t>
            </a:r>
          </a:p>
          <a:p>
            <a:pPr>
              <a:buNone/>
            </a:pPr>
            <a:r>
              <a:rPr lang="en-US" i="1" dirty="0">
                <a:solidFill>
                  <a:srgbClr val="067D17"/>
                </a:solidFill>
                <a:latin typeface="JetBrains Mono"/>
              </a:rPr>
              <a:t>	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#Both lists are now ["Clark, "Diana", “Oliver"]</a:t>
            </a:r>
          </a:p>
          <a:p>
            <a:pPr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>
              <a:buNone/>
            </a:pPr>
            <a:endParaRPr lang="en-US" sz="1800" i="1" dirty="0">
              <a:solidFill>
                <a:srgbClr val="8C8C8C"/>
              </a:solidFill>
              <a:effectLst/>
              <a:latin typeface="JetBrains Mono"/>
            </a:endParaRPr>
          </a:p>
          <a:p>
            <a:pPr>
              <a:buNone/>
            </a:pPr>
            <a:endParaRPr lang="en-US" i="1" dirty="0">
              <a:solidFill>
                <a:srgbClr val="8C8C8C"/>
              </a:solidFill>
              <a:latin typeface="JetBrains Mono"/>
            </a:endParaRPr>
          </a:p>
          <a:p>
            <a:pPr>
              <a:buNone/>
            </a:pPr>
            <a:endParaRPr lang="en-US" sz="1800" i="1" dirty="0">
              <a:solidFill>
                <a:srgbClr val="8C8C8C"/>
              </a:solidFill>
              <a:effectLst/>
              <a:latin typeface="JetBrains Mono"/>
            </a:endParaRPr>
          </a:p>
          <a:p>
            <a:r>
              <a:rPr lang="en-US" dirty="0">
                <a:solidFill>
                  <a:schemeClr val="tx1"/>
                </a:solidFill>
                <a:latin typeface="JetBrains Mono"/>
              </a:rPr>
              <a:t>After line 03 – Bruce is updated to Oliver and both lists refer to it</a:t>
            </a:r>
            <a:endParaRPr lang="en-US" sz="1800" dirty="0">
              <a:solidFill>
                <a:schemeClr val="tx1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35EDC-5906-2CC4-4A65-BC8AB6ED5839}"/>
              </a:ext>
            </a:extLst>
          </p:cNvPr>
          <p:cNvSpPr txBox="1"/>
          <p:nvPr/>
        </p:nvSpPr>
        <p:spPr>
          <a:xfrm>
            <a:off x="5208116" y="168378"/>
            <a:ext cx="670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Technically integers (floats, bool) are objects but they are not mutable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96E261-9AD8-7F52-2D0E-0ABB02AE9462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6292748" y="4322869"/>
            <a:ext cx="696810" cy="598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FF53E2-613D-E010-B901-D5AAFACB3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76958"/>
              </p:ext>
            </p:extLst>
          </p:nvPr>
        </p:nvGraphicFramePr>
        <p:xfrm>
          <a:off x="6989558" y="4135948"/>
          <a:ext cx="3260865" cy="373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955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1086955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1086955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</a:tblGrid>
              <a:tr h="373843">
                <a:tc>
                  <a:txBody>
                    <a:bodyPr/>
                    <a:lstStyle/>
                    <a:p>
                      <a:r>
                        <a:rPr lang="en-US" dirty="0"/>
                        <a:t>Clark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Diana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Bruce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5CA154-BBD8-5162-463C-176775126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55215"/>
              </p:ext>
            </p:extLst>
          </p:nvPr>
        </p:nvGraphicFramePr>
        <p:xfrm>
          <a:off x="5812777" y="4135737"/>
          <a:ext cx="4755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35">
                  <a:extLst>
                    <a:ext uri="{9D8B030D-6E8A-4147-A177-3AD203B41FA5}">
                      <a16:colId xmlns:a16="http://schemas.microsoft.com/office/drawing/2014/main" val="784706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057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B190CB0-EB3A-214D-9FB1-565772369E58}"/>
              </a:ext>
            </a:extLst>
          </p:cNvPr>
          <p:cNvSpPr txBox="1"/>
          <p:nvPr/>
        </p:nvSpPr>
        <p:spPr>
          <a:xfrm>
            <a:off x="4830780" y="4135737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names_1</a:t>
            </a:r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FE3DC1-5832-8F24-0068-42B7537B7D47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6288312" y="4321157"/>
            <a:ext cx="701246" cy="1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9C2BC6-D124-9AB2-4B73-EBF3838CF8BB}"/>
              </a:ext>
            </a:extLst>
          </p:cNvPr>
          <p:cNvSpPr txBox="1"/>
          <p:nvPr/>
        </p:nvSpPr>
        <p:spPr>
          <a:xfrm>
            <a:off x="4830780" y="4735340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names_2</a:t>
            </a:r>
            <a:endParaRPr lang="en-CA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3925A42-B7BC-48A1-4449-0650C32E7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35656"/>
              </p:ext>
            </p:extLst>
          </p:nvPr>
        </p:nvGraphicFramePr>
        <p:xfrm>
          <a:off x="5817213" y="4736254"/>
          <a:ext cx="4755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535">
                  <a:extLst>
                    <a:ext uri="{9D8B030D-6E8A-4147-A177-3AD203B41FA5}">
                      <a16:colId xmlns:a16="http://schemas.microsoft.com/office/drawing/2014/main" val="784706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05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358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FB7F-25B9-C132-FEC8-363D25A8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Copying Lists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5203A4-D48F-BFB5-4897-99DF88F20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371" y="2572057"/>
            <a:ext cx="8718223" cy="31019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Ways to copy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Aliasing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original_list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75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copied_list_1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original_list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Yet another way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copied_list_2 =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original_list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Specify range of slice - defaults are 0 and </a:t>
            </a:r>
            <a:r>
              <a:rPr lang="en-CA" sz="1800" i="1" dirty="0" err="1">
                <a:solidFill>
                  <a:srgbClr val="8C8C8C"/>
                </a:solidFill>
                <a:effectLst/>
                <a:latin typeface="JetBrains Mono"/>
              </a:rPr>
              <a:t>len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(list)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copied_list_3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original_list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[:]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Alternative - imported library – remember this one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80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copy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#imports a library with another copy method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copied_list_4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copy.copy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original_list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916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6ADD-FF72-4315-6ADD-1784352D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- Shallow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5B7BD-9076-209F-C0C4-AFD64D1A0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330" y="2313202"/>
            <a:ext cx="4979585" cy="41698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All of the above are ways of doing a </a:t>
            </a:r>
            <a:r>
              <a:rPr lang="en-US" i="1" dirty="0"/>
              <a:t>shallow copy </a:t>
            </a:r>
            <a:r>
              <a:rPr lang="en-US" dirty="0"/>
              <a:t>gives a listing containing a copy of all immutable values</a:t>
            </a:r>
          </a:p>
          <a:p>
            <a:r>
              <a:rPr lang="en-US" dirty="0"/>
              <a:t>But when a list contains other objects, it is a pointer to a complex structure that is copied – not the data in the structure</a:t>
            </a:r>
          </a:p>
          <a:p>
            <a:pPr>
              <a:lnSpc>
                <a:spcPct val="110000"/>
              </a:lnSpc>
              <a:buNone/>
            </a:pPr>
            <a:r>
              <a:rPr lang="en-CA" sz="1600" dirty="0">
                <a:solidFill>
                  <a:srgbClr val="080808"/>
                </a:solidFill>
                <a:latin typeface="JetBrains Mono"/>
              </a:rPr>
              <a:t>	</a:t>
            </a: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01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first index position containing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copy the list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outer_list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75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inner_list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"C"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"D"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"B"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outer_list.insert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,inner_list)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</a:t>
            </a:r>
            <a:r>
              <a:rPr lang="en-CA" sz="1600" i="1" dirty="0" err="1">
                <a:solidFill>
                  <a:srgbClr val="8C8C8C"/>
                </a:solidFill>
                <a:effectLst/>
                <a:latin typeface="JetBrains Mono"/>
              </a:rPr>
              <a:t>outer_list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 -&gt; [['C', 'D', 'B'], 1, 2, 75, 3, 3, 4]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copied_list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outer_list.copy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</a:t>
            </a:r>
            <a:r>
              <a:rPr lang="en-CA" sz="1600" i="1" dirty="0" err="1">
                <a:solidFill>
                  <a:srgbClr val="8C8C8C"/>
                </a:solidFill>
                <a:effectLst/>
                <a:latin typeface="JetBrains Mono"/>
              </a:rPr>
              <a:t>copied_list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 -&gt; [['C', 'D', 'B'], 1, 2, 75, 3, 3, 4]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inner_list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"O"</a:t>
            </a:r>
            <a:b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</a:t>
            </a:r>
            <a:r>
              <a:rPr lang="en-CA" sz="1600" i="1" dirty="0" err="1">
                <a:solidFill>
                  <a:srgbClr val="8C8C8C"/>
                </a:solidFill>
                <a:effectLst/>
                <a:latin typeface="JetBrains Mono"/>
              </a:rPr>
              <a:t>outer_list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 -&gt; [['C', 'O', 'B'], 1, 2, 75, 3, 3, 4]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</a:t>
            </a:r>
            <a:r>
              <a:rPr lang="en-CA" sz="1600" i="1" dirty="0" err="1">
                <a:solidFill>
                  <a:srgbClr val="8C8C8C"/>
                </a:solidFill>
                <a:effectLst/>
                <a:latin typeface="JetBrains Mono"/>
              </a:rPr>
              <a:t>copied_list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 -&gt; [['C', 'O', 'B'], 1, 2, 75, 3, 3, 4]</a:t>
            </a:r>
          </a:p>
          <a:p>
            <a:r>
              <a:rPr lang="en-CA" sz="1600" dirty="0">
                <a:solidFill>
                  <a:schemeClr val="tx1"/>
                </a:solidFill>
                <a:cs typeface="Courier New" panose="02070309020205020404" pitchFamily="49" charset="0"/>
              </a:rPr>
              <a:t>In this case Line 09 updates the inner list referred to by both</a:t>
            </a:r>
          </a:p>
          <a:p>
            <a:r>
              <a:rPr lang="en-CA" sz="1600" dirty="0">
                <a:solidFill>
                  <a:schemeClr val="tx1"/>
                </a:solidFill>
                <a:cs typeface="Courier New" panose="02070309020205020404" pitchFamily="49" charset="0"/>
              </a:rPr>
              <a:t>“D” is updated to “O” – but if we only want one of </a:t>
            </a:r>
            <a:r>
              <a:rPr lang="en-CA" sz="1600" dirty="0" err="1">
                <a:solidFill>
                  <a:schemeClr val="tx1"/>
                </a:solidFill>
                <a:cs typeface="Courier New" panose="02070309020205020404" pitchFamily="49" charset="0"/>
              </a:rPr>
              <a:t>outer_list</a:t>
            </a:r>
            <a:r>
              <a:rPr lang="en-CA" sz="1600" dirty="0">
                <a:solidFill>
                  <a:schemeClr val="tx1"/>
                </a:solidFill>
                <a:cs typeface="Courier New" panose="02070309020205020404" pitchFamily="49" charset="0"/>
              </a:rPr>
              <a:t> or </a:t>
            </a:r>
            <a:r>
              <a:rPr lang="en-CA" sz="1600" dirty="0" err="1">
                <a:solidFill>
                  <a:schemeClr val="tx1"/>
                </a:solidFill>
                <a:cs typeface="Courier New" panose="02070309020205020404" pitchFamily="49" charset="0"/>
              </a:rPr>
              <a:t>copied_list</a:t>
            </a:r>
            <a:r>
              <a:rPr lang="en-CA" sz="1600" dirty="0">
                <a:solidFill>
                  <a:schemeClr val="tx1"/>
                </a:solidFill>
                <a:cs typeface="Courier New" panose="02070309020205020404" pitchFamily="49" charset="0"/>
              </a:rPr>
              <a:t> to be updated we cannot do it.</a:t>
            </a:r>
          </a:p>
          <a:p>
            <a:endParaRPr lang="en-CA" sz="160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CA" sz="1600" dirty="0">
              <a:solidFill>
                <a:schemeClr val="tx1"/>
              </a:solidFill>
              <a:effectLst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AA647D-E8B8-E88E-25B6-F5298E746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097025"/>
              </p:ext>
            </p:extLst>
          </p:nvPr>
        </p:nvGraphicFramePr>
        <p:xfrm>
          <a:off x="7406635" y="247203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A331F4-C433-91E5-B7BD-30E793EE108A}"/>
              </a:ext>
            </a:extLst>
          </p:cNvPr>
          <p:cNvCxnSpPr>
            <a:cxnSpLocks/>
            <a:stCxn id="30" idx="3"/>
            <a:endCxn id="10" idx="1"/>
          </p:cNvCxnSpPr>
          <p:nvPr/>
        </p:nvCxnSpPr>
        <p:spPr>
          <a:xfrm flipV="1">
            <a:off x="7096659" y="2822648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4FA003-09E5-47AA-E20B-FDE6038542C3}"/>
              </a:ext>
            </a:extLst>
          </p:cNvPr>
          <p:cNvGrpSpPr/>
          <p:nvPr/>
        </p:nvGrpSpPr>
        <p:grpSpPr>
          <a:xfrm>
            <a:off x="7527834" y="3684739"/>
            <a:ext cx="1761744" cy="502920"/>
            <a:chOff x="3721608" y="5522976"/>
            <a:chExt cx="1761744" cy="50292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3BC5DBE-1CE9-0E6F-3E92-720E7E6659C3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E2401E1-CF2A-C2B7-3F00-C665CB1EC0CD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8170D6-D430-7A86-E724-009D5CFA5542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B8F6614-BBAD-79BC-4568-9DFD437878C6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2DC10937-6124-8FC5-6DAD-E0051A557616}"/>
              </a:ext>
            </a:extLst>
          </p:cNvPr>
          <p:cNvSpPr/>
          <p:nvPr/>
        </p:nvSpPr>
        <p:spPr>
          <a:xfrm>
            <a:off x="7716611" y="259044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2AE7F1-82DB-74A7-70E7-B6B9862DFA31}"/>
              </a:ext>
            </a:extLst>
          </p:cNvPr>
          <p:cNvSpPr/>
          <p:nvPr/>
        </p:nvSpPr>
        <p:spPr>
          <a:xfrm>
            <a:off x="5779970" y="2590449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outer_list</a:t>
            </a:r>
            <a:endParaRPr lang="en-CA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B8E5C7D-DF03-E0B7-300A-C30ABFD22AB0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8408706" y="3058449"/>
            <a:ext cx="0" cy="626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43D47B1-1E12-818A-6AF9-E473B48A8B02}"/>
              </a:ext>
            </a:extLst>
          </p:cNvPr>
          <p:cNvSpPr/>
          <p:nvPr/>
        </p:nvSpPr>
        <p:spPr>
          <a:xfrm>
            <a:off x="5779970" y="495483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copied_list</a:t>
            </a:r>
            <a:endParaRPr lang="en-CA" dirty="0"/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C3CD2E35-A76C-5D46-EA8F-DC8EA8B3D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42125"/>
              </p:ext>
            </p:extLst>
          </p:nvPr>
        </p:nvGraphicFramePr>
        <p:xfrm>
          <a:off x="7416063" y="4825300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99240B0B-5220-F3EA-C36A-038149366444}"/>
              </a:ext>
            </a:extLst>
          </p:cNvPr>
          <p:cNvSpPr/>
          <p:nvPr/>
        </p:nvSpPr>
        <p:spPr>
          <a:xfrm>
            <a:off x="7726039" y="4943715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BE5640C-BD51-25D5-3854-7D98DCF37338}"/>
              </a:ext>
            </a:extLst>
          </p:cNvPr>
          <p:cNvCxnSpPr>
            <a:cxnSpLocks/>
          </p:cNvCxnSpPr>
          <p:nvPr/>
        </p:nvCxnSpPr>
        <p:spPr>
          <a:xfrm flipV="1">
            <a:off x="7106087" y="5177506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EDD0BB-0205-69E9-07CF-BD5301DB5726}"/>
              </a:ext>
            </a:extLst>
          </p:cNvPr>
          <p:cNvCxnSpPr>
            <a:cxnSpLocks/>
            <a:stCxn id="49" idx="0"/>
            <a:endCxn id="21" idx="2"/>
          </p:cNvCxnSpPr>
          <p:nvPr/>
        </p:nvCxnSpPr>
        <p:spPr>
          <a:xfrm flipH="1" flipV="1">
            <a:off x="8408706" y="4187659"/>
            <a:ext cx="9428" cy="756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FE1949D-DBED-CDA1-3C1B-A9EA869FCE26}"/>
              </a:ext>
            </a:extLst>
          </p:cNvPr>
          <p:cNvCxnSpPr>
            <a:cxnSpLocks/>
          </p:cNvCxnSpPr>
          <p:nvPr/>
        </p:nvCxnSpPr>
        <p:spPr>
          <a:xfrm flipV="1">
            <a:off x="2432304" y="3968685"/>
            <a:ext cx="5835003" cy="1207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518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0E3B-623E-EAA8-509D-999117B5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A16A0-84BB-07EA-CE5F-39FEE6C9B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371562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dirty="0">
                <a:solidFill>
                  <a:srgbClr val="080808"/>
                </a:solidFill>
                <a:latin typeface="JetBrains Mono"/>
              </a:rPr>
              <a:t>	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[2] = "H"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[2] = "O"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= "Z"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[0][1] = "B"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647AB7-B69A-25EB-6461-65B066F48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029009"/>
              </p:ext>
            </p:extLst>
          </p:nvPr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5A31C3-CA5F-F576-91F1-436A8DC34CF2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AC9B0CC-ADF6-58C2-5270-786187CF06D5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B685F8-F29D-0AE0-024E-2770344A348F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88B74FC-CB5C-10B8-29E3-4067AFA63254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BB761-BCDC-CFE1-DB57-79D936FDB9FF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ECA88A-ACF3-98C3-4211-8E52718CA5DA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3CC6C09-1619-3F89-D18D-2B299BDE68D5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8DE7F-6A7F-923B-97E0-5E1071A4B3F8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4C0E78-F184-63B3-F3B0-8FA9CCE1B49E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D11DBD-B9C1-9F91-D191-E8EDCC1A2651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A1B94A-EC05-C1DB-8FC7-E20F449B1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483384"/>
              </p:ext>
            </p:extLst>
          </p:nvPr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6F029C8-944D-7E70-7E67-E03D43507238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27E9B5-2771-EEC5-7125-9CC3C19FBAAA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A7A29C-F95A-9E4C-406D-33DAC54DDC92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D168F9-B504-319A-123F-F552102DCD0F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2573FF2-9C03-3028-FCA9-076E6B73AC3B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F95D1F-39AD-914D-E714-B6869A6B532E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84C16E-1517-5A52-B93A-63F6FB3387E6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709515-AD8A-C0C7-24FF-1034AE080555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668480D-CFF8-83DD-6FE9-7BE7D183325D}"/>
              </a:ext>
            </a:extLst>
          </p:cNvPr>
          <p:cNvSpPr txBox="1"/>
          <p:nvPr/>
        </p:nvSpPr>
        <p:spPr>
          <a:xfrm>
            <a:off x="5065776" y="6013039"/>
            <a:ext cx="2710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Unnamed copy of inner list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DF4242E-0A9F-9633-4D6B-96A4215383B7}"/>
              </a:ext>
            </a:extLst>
          </p:cNvPr>
          <p:cNvCxnSpPr>
            <a:stCxn id="27" idx="0"/>
          </p:cNvCxnSpPr>
          <p:nvPr/>
        </p:nvCxnSpPr>
        <p:spPr>
          <a:xfrm flipV="1">
            <a:off x="6421211" y="5569137"/>
            <a:ext cx="1857955" cy="44390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013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CCC45-1565-7F26-E286-BEFA2D6B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E502-1B29-0683-7DC6-81CE5D66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878A-C3F2-CDF9-1DAF-B0590E9C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4221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[2] = "H"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[2] = "O"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= "Z"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[0][1] = "B"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438220-2735-3A35-C7CB-676817F72F85}"/>
              </a:ext>
            </a:extLst>
          </p:cNvPr>
          <p:cNvGraphicFramePr>
            <a:graphicFrameLocks noGrp="1"/>
          </p:cNvGraphicFramePr>
          <p:nvPr/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0D68A2-F2CF-BA81-9E6A-BDE30A6EEF6D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0603229-88FC-5957-1501-FDF3E2B18C08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52F81C-B567-7479-67B4-72136BFD3DC3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435C70-A3E9-64A4-A48B-9660134F8E93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080228-21AE-C1C8-BE4E-3C4ECC20C619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3FD8B-A5B7-EB11-F1C5-D6E9AB395130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86C94AC-F6DA-32DD-2F5D-1B9F55843056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63FD1C-8D07-20E5-D154-A089DFF32490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C8F83A-5061-C7E4-23D1-5EA1AB633A72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6EF75F2-BF45-2B38-D923-9B901C2622FC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6146C75-4E6E-A48A-B545-A564D3E20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76414"/>
              </p:ext>
            </p:extLst>
          </p:nvPr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3774B17-4169-70C7-04AF-31377A392994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92ED90-EABA-D940-E5F0-6713BCD6B30F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1C276C-61A3-B59A-8564-6A060444FA05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EE457E-3FC6-9FC2-F969-E573FBD5670D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1522C0-78C5-73A4-5435-3DA6761C30B1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986664D-6174-2DF1-1D4A-B33484844B70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9296BD-20D8-C9C7-580B-4F828DFA1C4D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5844E4-7FC0-CBC2-5B1C-D1E2B8E0FE34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2483A7D-5584-C2BC-3F58-5B0795260C53}"/>
              </a:ext>
            </a:extLst>
          </p:cNvPr>
          <p:cNvSpPr txBox="1"/>
          <p:nvPr/>
        </p:nvSpPr>
        <p:spPr>
          <a:xfrm>
            <a:off x="9346121" y="3616266"/>
            <a:ext cx="2710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Line 08/Line09 – create alias for each inner list copy by accessing [0] of outer lists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853A11-78C7-C263-5AF1-C9DAF4BF2296}"/>
              </a:ext>
            </a:extLst>
          </p:cNvPr>
          <p:cNvSpPr/>
          <p:nvPr/>
        </p:nvSpPr>
        <p:spPr>
          <a:xfrm>
            <a:off x="5642809" y="3591234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ol_inner_list</a:t>
            </a:r>
            <a:endParaRPr lang="en-CA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ED15AD-CA3C-CD0D-6A46-F01A0CFD0DA6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6959498" y="3825234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53C637E-3815-8771-E778-60E831CBE058}"/>
              </a:ext>
            </a:extLst>
          </p:cNvPr>
          <p:cNvSpPr/>
          <p:nvPr/>
        </p:nvSpPr>
        <p:spPr>
          <a:xfrm>
            <a:off x="5644166" y="4211715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dcl_inner_list</a:t>
            </a:r>
            <a:endParaRPr lang="en-CA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098227-3CAC-7545-FD5B-DCBB56502217}"/>
              </a:ext>
            </a:extLst>
          </p:cNvPr>
          <p:cNvCxnSpPr>
            <a:cxnSpLocks/>
          </p:cNvCxnSpPr>
          <p:nvPr/>
        </p:nvCxnSpPr>
        <p:spPr>
          <a:xfrm>
            <a:off x="6967113" y="4444478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C008-B100-478D-E083-079B9F18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F5E6-4B92-E993-4B33-71332772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9A0F-FB1D-4A29-4876-9E2BAA690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4221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"H"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[2] = "O"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= "Z"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[0][1] = "B"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26856C-B62F-FB89-2FD7-FF0C7B16EB01}"/>
              </a:ext>
            </a:extLst>
          </p:cNvPr>
          <p:cNvGraphicFramePr>
            <a:graphicFrameLocks noGrp="1"/>
          </p:cNvGraphicFramePr>
          <p:nvPr/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5B45280-DEAD-CA39-B228-4D4ACBA982D1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F2B2896-052F-6660-B541-4E2310900563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575331-4E5E-EA2B-48BC-BB89B2529513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2DA07D8-3958-6BC7-3633-CC25A6113B91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01D1B2-1A75-6B41-13DF-FB0DF4CABE55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AE4AED-3F30-123C-10B2-EE9C3811AB53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rgbClr val="7030A0"/>
                  </a:solidFill>
                </a:rPr>
                <a:t>H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64F95CF-7922-3BC4-AAE2-DA82EA173FA1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C9CA8-D2C3-3603-65AD-3C8BC3D085FE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31207A-B7DF-E9BF-3DF7-236D09A949E9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E0BC56E-3F2C-D60D-4637-7AE5D32E4220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BE77BB-4562-87FD-257B-791941FD3C08}"/>
              </a:ext>
            </a:extLst>
          </p:cNvPr>
          <p:cNvGraphicFramePr>
            <a:graphicFrameLocks noGrp="1"/>
          </p:cNvGraphicFramePr>
          <p:nvPr/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0FF20F3-5DD1-7CD0-D6A8-59F67D3275DC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C9A4F0-ACA0-76FE-24E7-810637049AC9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39368B-DBE6-7EDF-1452-A80637E63008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4D29A4-987E-D31F-1893-1681C1F4A6E0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FE4032-C3FA-83D8-A3EA-7007869819D1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F16727-E219-2A1D-FF45-1753A0032A24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02B73B-DE12-CE2F-38E3-00761F3685D1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34AECD-396E-63BD-DBDB-B6F2DA74BA96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B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B0236C-04E8-D516-F6C6-263129B15459}"/>
              </a:ext>
            </a:extLst>
          </p:cNvPr>
          <p:cNvSpPr txBox="1"/>
          <p:nvPr/>
        </p:nvSpPr>
        <p:spPr>
          <a:xfrm>
            <a:off x="9346121" y="3616266"/>
            <a:ext cx="2710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JetBrains Mono"/>
              </a:rPr>
              <a:t>Line 10 accesses index 2 of </a:t>
            </a:r>
            <a:r>
              <a:rPr lang="en-CA" dirty="0" err="1">
                <a:latin typeface="JetBrains Mono"/>
              </a:rPr>
              <a:t>inner_list</a:t>
            </a:r>
            <a:r>
              <a:rPr lang="en-CA" dirty="0">
                <a:latin typeface="JetBrains Mono"/>
              </a:rPr>
              <a:t> via the alias – modifies the original</a:t>
            </a:r>
            <a:endParaRPr lang="en-CA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B804BD-29D6-3703-95E5-D72C133AFBBB}"/>
              </a:ext>
            </a:extLst>
          </p:cNvPr>
          <p:cNvSpPr/>
          <p:nvPr/>
        </p:nvSpPr>
        <p:spPr>
          <a:xfrm>
            <a:off x="5642809" y="3591234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ol_inner_list</a:t>
            </a:r>
            <a:endParaRPr lang="en-CA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57F7CA-8B4B-7C58-E09F-00B6FAFE6CEE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6959498" y="3825234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0FB89D4-BB45-C416-D898-F32298F5F13D}"/>
              </a:ext>
            </a:extLst>
          </p:cNvPr>
          <p:cNvSpPr/>
          <p:nvPr/>
        </p:nvSpPr>
        <p:spPr>
          <a:xfrm>
            <a:off x="5644166" y="4211715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dcl_inner_list</a:t>
            </a:r>
            <a:endParaRPr lang="en-CA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3728C0-7AC5-D443-B56B-4F677C5B326B}"/>
              </a:ext>
            </a:extLst>
          </p:cNvPr>
          <p:cNvCxnSpPr>
            <a:cxnSpLocks/>
          </p:cNvCxnSpPr>
          <p:nvPr/>
        </p:nvCxnSpPr>
        <p:spPr>
          <a:xfrm>
            <a:off x="6967113" y="4444478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476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4423A-0D17-0E3C-8E9F-43865A4D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BE6A-601D-1BED-99D2-31AF87D3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5D1B-6AE2-6E23-9AAB-611906EF7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4221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"H"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"O"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 = "Z"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[0][1] = "B"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65E02A-76F7-5DA9-5CAD-18269DD5B52C}"/>
              </a:ext>
            </a:extLst>
          </p:cNvPr>
          <p:cNvGraphicFramePr>
            <a:graphicFrameLocks noGrp="1"/>
          </p:cNvGraphicFramePr>
          <p:nvPr/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69DCED-3A8E-8D4A-1BC8-BAEC2EDF463D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8CCE040-08F7-C877-05FE-EF595CD5DEDE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90D9D0-C042-D4B7-F026-85A64FD9A3AB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A146FB-F0ED-3600-FB5D-B72FA7039575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113BA9-AFB5-9B69-E4A6-1A006CB65C2C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4F720E-294F-DF9D-7B5F-E354EB44B26A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H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F35EC5D-9319-120B-AF4D-6E05291D6215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5A5840-81A1-7828-901A-0B101E8AEE30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765715-A045-23C1-094B-A88B8DECD894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8C19A13-F71F-0931-1C33-1B0C04949B89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D06F50-9FD1-8494-CFDE-838B223AF186}"/>
              </a:ext>
            </a:extLst>
          </p:cNvPr>
          <p:cNvGraphicFramePr>
            <a:graphicFrameLocks noGrp="1"/>
          </p:cNvGraphicFramePr>
          <p:nvPr/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0D9362B6-2023-CA46-416A-2059261B04D5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A2879-11CC-C190-1809-DE472FE04E5A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D2EF27-F46F-0754-4254-0B7DE8CF645E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F8640B7-4390-E1B2-FE6E-3BB3656FBEE2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A8D1E-4A84-A7F3-18DE-D3053449CA60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59E5D0-B9CF-08F4-642F-C629C7C8005E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EFB81F6-E90D-C57B-5B4D-6715BD92661D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BA745C7-F332-E387-A635-D64CB6EF2F7C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rgbClr val="7030A0"/>
                  </a:solidFill>
                </a:rPr>
                <a:t>O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17A7FD2-810C-D750-5F24-6851C6D18A1A}"/>
              </a:ext>
            </a:extLst>
          </p:cNvPr>
          <p:cNvSpPr txBox="1"/>
          <p:nvPr/>
        </p:nvSpPr>
        <p:spPr>
          <a:xfrm>
            <a:off x="9346121" y="3616266"/>
            <a:ext cx="2710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JetBrains Mono"/>
              </a:rPr>
              <a:t>Line 11 accesses index 2 of the copy of the inner list via the alias – modifies the copy only</a:t>
            </a:r>
            <a:endParaRPr lang="en-CA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E1AB66-EB5B-C5BE-C071-F1BE5EEA373F}"/>
              </a:ext>
            </a:extLst>
          </p:cNvPr>
          <p:cNvSpPr/>
          <p:nvPr/>
        </p:nvSpPr>
        <p:spPr>
          <a:xfrm>
            <a:off x="5642809" y="3591234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ol_inner_list</a:t>
            </a:r>
            <a:endParaRPr lang="en-CA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1DDD9E-616F-4402-64C5-E9BAB32FC06F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6959498" y="3825234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556FC6A6-8BAE-32FC-C3DE-A60F90D4EE02}"/>
              </a:ext>
            </a:extLst>
          </p:cNvPr>
          <p:cNvSpPr/>
          <p:nvPr/>
        </p:nvSpPr>
        <p:spPr>
          <a:xfrm>
            <a:off x="5644166" y="4211715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dcl_inner_list</a:t>
            </a:r>
            <a:endParaRPr lang="en-CA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A52C65-A882-F3EA-44E5-63F78CC9AFBF}"/>
              </a:ext>
            </a:extLst>
          </p:cNvPr>
          <p:cNvCxnSpPr>
            <a:cxnSpLocks/>
          </p:cNvCxnSpPr>
          <p:nvPr/>
        </p:nvCxnSpPr>
        <p:spPr>
          <a:xfrm>
            <a:off x="6967113" y="4444478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48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E608-CF83-6649-1858-BB677D4D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36C5-49DD-F9D6-F138-EC700866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7F35-8D10-910C-97D3-CA75D874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4221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"H"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"O"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"Z"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[0][1] = "B"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1D399D-1B36-98AC-829D-DE0559CF8287}"/>
              </a:ext>
            </a:extLst>
          </p:cNvPr>
          <p:cNvGraphicFramePr>
            <a:graphicFrameLocks noGrp="1"/>
          </p:cNvGraphicFramePr>
          <p:nvPr/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B95AC5-CEE3-19D3-EF34-179E70C2E198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C3BBE00-D57D-4FDC-40A6-2AC8F776F28D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E11AF5-BCDE-4934-78FE-D133C739F502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0514C9-491E-1DE4-563A-F7CAE0AE4BF7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rgbClr val="7030A0"/>
                  </a:solidFill>
                </a:rPr>
                <a:t>Z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214BEF-8115-9FCB-C208-04CD506424BB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898085-12F3-4495-449B-DE2C78BF2D3A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H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0BEED-6C31-EAA7-C512-844C287918A2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EF1176-CC5C-7992-517C-5887E9582980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E2873F-FB1F-29A9-6A72-10A9B627DE45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431AA-FACB-292C-EF03-EC9FC8EB04EB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00C4DF7-B72D-F455-7740-B7F7CE9FDB52}"/>
              </a:ext>
            </a:extLst>
          </p:cNvPr>
          <p:cNvGraphicFramePr>
            <a:graphicFrameLocks noGrp="1"/>
          </p:cNvGraphicFramePr>
          <p:nvPr/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EEC2F01-470E-E7E5-20FB-4C93B449EA02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A1071E-86AC-D5DE-5963-F9B33FD3234C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23D105-2E56-9E66-BF4A-4E096B8367CA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5EE3C2-3EA6-9E6C-49ED-1B5E767F61E6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8933930-4367-E4E3-D46B-83529196F41C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BB5660-EE0D-E2EC-0BDA-F9733A026D33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8DFD4D1-3774-E74C-FF49-F076B0C7B78E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66DD0B4-4EA3-9873-5581-4A4FA64E3311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76C9235-C0DA-20F7-B47B-B56F63B8180F}"/>
              </a:ext>
            </a:extLst>
          </p:cNvPr>
          <p:cNvSpPr txBox="1"/>
          <p:nvPr/>
        </p:nvSpPr>
        <p:spPr>
          <a:xfrm>
            <a:off x="9346121" y="3616266"/>
            <a:ext cx="2710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JetBrains Mono"/>
              </a:rPr>
              <a:t>Line 12 accesses the original </a:t>
            </a:r>
            <a:r>
              <a:rPr lang="en-CA" dirty="0" err="1">
                <a:latin typeface="JetBrains Mono"/>
              </a:rPr>
              <a:t>inner_list</a:t>
            </a:r>
            <a:r>
              <a:rPr lang="en-CA" dirty="0">
                <a:latin typeface="JetBrains Mono"/>
              </a:rPr>
              <a:t> – modifies only the original</a:t>
            </a:r>
            <a:endParaRPr lang="en-CA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4C08C2-C8C0-B2D6-2ED2-AA12A9F1C16E}"/>
              </a:ext>
            </a:extLst>
          </p:cNvPr>
          <p:cNvSpPr/>
          <p:nvPr/>
        </p:nvSpPr>
        <p:spPr>
          <a:xfrm>
            <a:off x="5642809" y="3591234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ol_inner_list</a:t>
            </a:r>
            <a:endParaRPr lang="en-CA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B487F7-6D79-4167-3798-F23EA1CD41A2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6959498" y="3825234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807503A-1356-F717-A554-426C5679E986}"/>
              </a:ext>
            </a:extLst>
          </p:cNvPr>
          <p:cNvSpPr/>
          <p:nvPr/>
        </p:nvSpPr>
        <p:spPr>
          <a:xfrm>
            <a:off x="5644166" y="4211715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dcl_inner_list</a:t>
            </a:r>
            <a:endParaRPr lang="en-CA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A26E6E-4211-ECE7-931F-27DEFFE6DB55}"/>
              </a:ext>
            </a:extLst>
          </p:cNvPr>
          <p:cNvCxnSpPr>
            <a:cxnSpLocks/>
          </p:cNvCxnSpPr>
          <p:nvPr/>
        </p:nvCxnSpPr>
        <p:spPr>
          <a:xfrm>
            <a:off x="6967113" y="4444478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857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4DFF-5942-F937-6A61-D48A8B33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2E3A-7662-F64D-4D53-9E71F0CE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F14B-F726-B478-9CDB-352C24628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09" y="2462436"/>
            <a:ext cx="5852160" cy="42218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CA" sz="12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01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Deep copy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02   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Creates a full copy that can be manipulated independent of the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03    </a:t>
            </a:r>
            <a:r>
              <a:rPr lang="en-CA" sz="1200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copy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04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75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3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4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05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[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"C"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"D"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</a:t>
            </a:r>
            <a:br>
              <a:rPr lang="en-CA" sz="1200" dirty="0">
                <a:solidFill>
                  <a:srgbClr val="080808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06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original_list.insert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,inner_list)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#insert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07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copy.deepcopy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#deep copy by method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08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get the inner list from original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09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#get the inner list from deep copy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10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ol_inner_list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"H"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11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dcl_inner_list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2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"O"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copy inner list via alias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12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inner_list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"Z"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the original inner list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rgbClr val="080808"/>
                </a:solidFill>
                <a:latin typeface="JetBrains Mono"/>
              </a:rPr>
              <a:t>13    </a:t>
            </a:r>
            <a:r>
              <a:rPr lang="en-CA" sz="1200" dirty="0" err="1">
                <a:solidFill>
                  <a:srgbClr val="080808"/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][</a:t>
            </a:r>
            <a:r>
              <a:rPr lang="en-CA" sz="1200" dirty="0">
                <a:solidFill>
                  <a:srgbClr val="1750EB"/>
                </a:solidFill>
                <a:latin typeface="JetBrains Mono"/>
              </a:rPr>
              <a:t>1</a:t>
            </a:r>
            <a:r>
              <a:rPr lang="en-CA" sz="1200" dirty="0">
                <a:solidFill>
                  <a:srgbClr val="080808"/>
                </a:solidFill>
                <a:latin typeface="JetBrains Mono"/>
              </a:rPr>
              <a:t>] = </a:t>
            </a:r>
            <a:r>
              <a:rPr lang="en-CA" sz="1200" dirty="0">
                <a:solidFill>
                  <a:srgbClr val="067D17"/>
                </a:solidFill>
                <a:latin typeface="JetBrains Mono"/>
              </a:rPr>
              <a:t>"B" </a:t>
            </a:r>
            <a:r>
              <a:rPr lang="en-CA" sz="1200" i="1" dirty="0">
                <a:solidFill>
                  <a:srgbClr val="8C8C8C"/>
                </a:solidFill>
                <a:latin typeface="JetBrains Mono"/>
              </a:rPr>
              <a:t># update copy inner list via indexing</a:t>
            </a:r>
            <a:br>
              <a:rPr lang="en-CA" sz="1200" i="1" dirty="0">
                <a:solidFill>
                  <a:srgbClr val="8C8C8C"/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14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['Z', 'D', 'H']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15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[0])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['C', 'B', 'O']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16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original_list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[['Z', 'D', 'H'], 1, 2, 75, 3, 3, 4]</a:t>
            </a:r>
            <a:b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</a:b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17    print(</a:t>
            </a:r>
            <a:r>
              <a:rPr lang="en-CA" sz="1200" dirty="0" err="1">
                <a:solidFill>
                  <a:schemeClr val="bg1">
                    <a:lumMod val="95000"/>
                  </a:schemeClr>
                </a:solidFill>
                <a:latin typeface="JetBrains Mono"/>
              </a:rPr>
              <a:t>deep_copied_list</a:t>
            </a:r>
            <a:r>
              <a:rPr lang="en-CA" sz="1200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) </a:t>
            </a:r>
            <a:r>
              <a:rPr lang="en-CA" sz="1200" i="1" dirty="0">
                <a:solidFill>
                  <a:schemeClr val="bg1">
                    <a:lumMod val="95000"/>
                  </a:schemeClr>
                </a:solidFill>
                <a:latin typeface="JetBrains Mono"/>
              </a:rPr>
              <a:t># [['C', 'B', 'O'], 1, 2, 75, 3, 3, 4]</a:t>
            </a:r>
            <a:endParaRPr lang="en-CA" sz="1200" dirty="0">
              <a:solidFill>
                <a:schemeClr val="bg1">
                  <a:lumMod val="95000"/>
                </a:schemeClr>
              </a:solidFill>
              <a:latin typeface="JetBrains Mon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F17509-03B4-205A-5980-D34C10C0E079}"/>
              </a:ext>
            </a:extLst>
          </p:cNvPr>
          <p:cNvGraphicFramePr>
            <a:graphicFrameLocks noGrp="1"/>
          </p:cNvGraphicFramePr>
          <p:nvPr/>
        </p:nvGraphicFramePr>
        <p:xfrm>
          <a:off x="7269475" y="2618338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9D26AE-B748-2A5E-5D55-0EDC496D7383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6959499" y="2968952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DE1EDEB-412F-7094-3654-47A96CE58D8A}"/>
              </a:ext>
            </a:extLst>
          </p:cNvPr>
          <p:cNvGrpSpPr/>
          <p:nvPr/>
        </p:nvGrpSpPr>
        <p:grpSpPr>
          <a:xfrm>
            <a:off x="7390674" y="3575011"/>
            <a:ext cx="1761744" cy="502920"/>
            <a:chOff x="3721608" y="5522976"/>
            <a:chExt cx="1761744" cy="502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144DA5-DA7D-B217-F58A-073F59F9433B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328569-C703-FAEA-985A-A922D8FC46C7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Z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E786FF-5946-01A7-C5BC-3C6A22330791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BD43C6-60A6-5B29-5D07-9226F8000F17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H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6FEE72F-A215-C20B-CD22-6C9B36C3914D}"/>
              </a:ext>
            </a:extLst>
          </p:cNvPr>
          <p:cNvSpPr/>
          <p:nvPr/>
        </p:nvSpPr>
        <p:spPr>
          <a:xfrm>
            <a:off x="7579451" y="2736753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>
                <a:solidFill>
                  <a:schemeClr val="bg1"/>
                </a:solidFill>
              </a:rPr>
              <a:t>inner_list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55882A-8972-8E8B-38D4-B29945D8178D}"/>
              </a:ext>
            </a:extLst>
          </p:cNvPr>
          <p:cNvSpPr/>
          <p:nvPr/>
        </p:nvSpPr>
        <p:spPr>
          <a:xfrm>
            <a:off x="5642810" y="2736753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original_list</a:t>
            </a:r>
            <a:endParaRPr lang="en-CA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F0268A-EE6B-3519-40E8-F6FED8AB94A4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8271546" y="3204753"/>
            <a:ext cx="0" cy="37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15207E5-D209-ECCA-702A-0231C2C6A8DC}"/>
              </a:ext>
            </a:extLst>
          </p:cNvPr>
          <p:cNvSpPr/>
          <p:nvPr/>
        </p:nvSpPr>
        <p:spPr>
          <a:xfrm>
            <a:off x="5642810" y="5101137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 err="1"/>
              <a:t>deep_copied_list</a:t>
            </a:r>
            <a:endParaRPr lang="en-CA" sz="12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6887BB9-941D-7165-F4BD-59CF0107EF35}"/>
              </a:ext>
            </a:extLst>
          </p:cNvPr>
          <p:cNvGraphicFramePr>
            <a:graphicFrameLocks noGrp="1"/>
          </p:cNvGraphicFramePr>
          <p:nvPr/>
        </p:nvGraphicFramePr>
        <p:xfrm>
          <a:off x="7278903" y="4971604"/>
          <a:ext cx="4638556" cy="70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650">
                  <a:extLst>
                    <a:ext uri="{9D8B030D-6E8A-4147-A177-3AD203B41FA5}">
                      <a16:colId xmlns:a16="http://schemas.microsoft.com/office/drawing/2014/main" val="224200412"/>
                    </a:ext>
                  </a:extLst>
                </a:gridCol>
                <a:gridCol w="465911">
                  <a:extLst>
                    <a:ext uri="{9D8B030D-6E8A-4147-A177-3AD203B41FA5}">
                      <a16:colId xmlns:a16="http://schemas.microsoft.com/office/drawing/2014/main" val="2201584611"/>
                    </a:ext>
                  </a:extLst>
                </a:gridCol>
                <a:gridCol w="469546">
                  <a:extLst>
                    <a:ext uri="{9D8B030D-6E8A-4147-A177-3AD203B41FA5}">
                      <a16:colId xmlns:a16="http://schemas.microsoft.com/office/drawing/2014/main" val="3473226309"/>
                    </a:ext>
                  </a:extLst>
                </a:gridCol>
                <a:gridCol w="479129">
                  <a:extLst>
                    <a:ext uri="{9D8B030D-6E8A-4147-A177-3AD203B41FA5}">
                      <a16:colId xmlns:a16="http://schemas.microsoft.com/office/drawing/2014/main" val="221386599"/>
                    </a:ext>
                  </a:extLst>
                </a:gridCol>
                <a:gridCol w="431218">
                  <a:extLst>
                    <a:ext uri="{9D8B030D-6E8A-4147-A177-3AD203B41FA5}">
                      <a16:colId xmlns:a16="http://schemas.microsoft.com/office/drawing/2014/main" val="1919167425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2475275438"/>
                    </a:ext>
                  </a:extLst>
                </a:gridCol>
                <a:gridCol w="412051">
                  <a:extLst>
                    <a:ext uri="{9D8B030D-6E8A-4147-A177-3AD203B41FA5}">
                      <a16:colId xmlns:a16="http://schemas.microsoft.com/office/drawing/2014/main" val="1513087343"/>
                    </a:ext>
                  </a:extLst>
                </a:gridCol>
              </a:tblGrid>
              <a:tr h="70122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90036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4C87C9D9-4184-673C-0002-1057776FFE67}"/>
              </a:ext>
            </a:extLst>
          </p:cNvPr>
          <p:cNvSpPr/>
          <p:nvPr/>
        </p:nvSpPr>
        <p:spPr>
          <a:xfrm>
            <a:off x="7588879" y="5090019"/>
            <a:ext cx="1384190" cy="46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36CD17-2000-5D7C-C355-8741C3534AA5}"/>
              </a:ext>
            </a:extLst>
          </p:cNvPr>
          <p:cNvCxnSpPr>
            <a:cxnSpLocks/>
          </p:cNvCxnSpPr>
          <p:nvPr/>
        </p:nvCxnSpPr>
        <p:spPr>
          <a:xfrm flipV="1">
            <a:off x="6968927" y="5323810"/>
            <a:ext cx="309976" cy="1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167CEE-D89B-9B98-5776-16FC87AF1A23}"/>
              </a:ext>
            </a:extLst>
          </p:cNvPr>
          <p:cNvCxnSpPr>
            <a:cxnSpLocks/>
            <a:stCxn id="16" idx="0"/>
            <a:endCxn id="23" idx="2"/>
          </p:cNvCxnSpPr>
          <p:nvPr/>
        </p:nvCxnSpPr>
        <p:spPr>
          <a:xfrm flipH="1" flipV="1">
            <a:off x="8279166" y="4699136"/>
            <a:ext cx="1808" cy="390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3DB97E-01CF-7821-0FA9-9560D22A7185}"/>
              </a:ext>
            </a:extLst>
          </p:cNvPr>
          <p:cNvGrpSpPr/>
          <p:nvPr/>
        </p:nvGrpSpPr>
        <p:grpSpPr>
          <a:xfrm>
            <a:off x="7398294" y="4196216"/>
            <a:ext cx="1761744" cy="502920"/>
            <a:chOff x="3721608" y="5522976"/>
            <a:chExt cx="1761744" cy="5029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11BBE37-EBA5-C985-04DD-9E52005640E2}"/>
                </a:ext>
              </a:extLst>
            </p:cNvPr>
            <p:cNvSpPr/>
            <p:nvPr/>
          </p:nvSpPr>
          <p:spPr>
            <a:xfrm>
              <a:off x="3721608" y="5522976"/>
              <a:ext cx="1761744" cy="502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12FC24-49F6-BEA8-89F9-48FD08658E86}"/>
                </a:ext>
              </a:extLst>
            </p:cNvPr>
            <p:cNvSpPr/>
            <p:nvPr/>
          </p:nvSpPr>
          <p:spPr>
            <a:xfrm>
              <a:off x="3721608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C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231E65-8BA8-815E-7729-7865D68803FD}"/>
                </a:ext>
              </a:extLst>
            </p:cNvPr>
            <p:cNvSpPr/>
            <p:nvPr/>
          </p:nvSpPr>
          <p:spPr>
            <a:xfrm>
              <a:off x="4314444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rgbClr val="7030A0"/>
                  </a:solidFill>
                </a:rPr>
                <a:t>B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25BD59-DFD6-EF4E-2273-EBAA6CF8B79F}"/>
                </a:ext>
              </a:extLst>
            </p:cNvPr>
            <p:cNvSpPr/>
            <p:nvPr/>
          </p:nvSpPr>
          <p:spPr>
            <a:xfrm>
              <a:off x="4907280" y="5522976"/>
              <a:ext cx="576072" cy="5029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871A059-22CF-EB9F-DBEE-A31F4DCDB5D5}"/>
              </a:ext>
            </a:extLst>
          </p:cNvPr>
          <p:cNvSpPr txBox="1"/>
          <p:nvPr/>
        </p:nvSpPr>
        <p:spPr>
          <a:xfrm>
            <a:off x="9281237" y="3413707"/>
            <a:ext cx="2710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JetBrains Mono"/>
              </a:rPr>
              <a:t>Line 13 uses the </a:t>
            </a:r>
            <a:r>
              <a:rPr lang="en-CA" dirty="0" err="1">
                <a:latin typeface="JetBrains Mono"/>
              </a:rPr>
              <a:t>deep_copied_list</a:t>
            </a:r>
            <a:r>
              <a:rPr lang="en-CA" dirty="0">
                <a:latin typeface="JetBrains Mono"/>
              </a:rPr>
              <a:t> – accesses its index 0, and then the index 1 of the copy of the inner list</a:t>
            </a:r>
            <a:endParaRPr lang="en-CA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E93DC0-CCD9-21A5-7987-D8D2F449F5B2}"/>
              </a:ext>
            </a:extLst>
          </p:cNvPr>
          <p:cNvSpPr/>
          <p:nvPr/>
        </p:nvSpPr>
        <p:spPr>
          <a:xfrm>
            <a:off x="5642809" y="3591234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ol_inner_list</a:t>
            </a:r>
            <a:endParaRPr lang="en-CA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89E68A-0AA4-A0E5-8286-6FB79D7ABA4A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>
            <a:off x="6959498" y="3825234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F7A33F6-57F9-0065-EEB4-9F47A7CA47EB}"/>
              </a:ext>
            </a:extLst>
          </p:cNvPr>
          <p:cNvSpPr/>
          <p:nvPr/>
        </p:nvSpPr>
        <p:spPr>
          <a:xfrm>
            <a:off x="5644166" y="4211715"/>
            <a:ext cx="1316689" cy="46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/>
              <a:t>dcl_inner_list</a:t>
            </a:r>
            <a:endParaRPr lang="en-CA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6C7F0C-7BCE-70E4-2C65-195E62872E73}"/>
              </a:ext>
            </a:extLst>
          </p:cNvPr>
          <p:cNvCxnSpPr>
            <a:cxnSpLocks/>
          </p:cNvCxnSpPr>
          <p:nvPr/>
        </p:nvCxnSpPr>
        <p:spPr>
          <a:xfrm>
            <a:off x="6967113" y="4444478"/>
            <a:ext cx="431176" cy="1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950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37687-6489-CE1D-ADAC-43C01BEB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Accessing 2-Dimensional </a:t>
            </a:r>
            <a:r>
              <a:rPr lang="en-CA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EE7D-FFC6-31A9-B8A1-D35D63A23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rgbClr val="080808"/>
                </a:solidFill>
                <a:latin typeface="JetBrains Mono"/>
              </a:rPr>
              <a:t>Recall strings:</a:t>
            </a:r>
          </a:p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Recall Strings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name 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"Stephanie"</a:t>
            </a:r>
            <a:b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Offset [3] accesses string "p"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(name[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p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Offset [0] is applied to string "p"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(name[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 p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Similar for lists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Offset [0] accesses the pointer to the list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deep_copied_list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['C', 'B', 'O']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Offset [1] is applied to the list accessed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deep_copied_list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B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CA" dirty="0">
              <a:solidFill>
                <a:srgbClr val="080808"/>
              </a:solidFill>
              <a:latin typeface="JetBrains Mono"/>
            </a:endParaRPr>
          </a:p>
          <a:p>
            <a:pPr marL="0" indent="0">
              <a:buNone/>
            </a:pPr>
            <a:endParaRPr lang="en-CA" i="1" dirty="0">
              <a:solidFill>
                <a:srgbClr val="8C8C8C"/>
              </a:solidFill>
              <a:latin typeface="JetBrains Mono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8605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DC69-8805-BF7B-385C-6DCC833D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DBD8-2819-16BA-D658-64C5A4A0F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What is the output?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[1,2,75,3]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my_list.sort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071676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F71B83-FBD5-7393-91D6-3A0131FB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D8E1-79F7-4DCB-20B0-5C54A1E1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C8FCA-16FE-F59C-7BA5-F2E651A6C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What is the output?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[1,2,75,3]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my_list.sort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80A74-67B3-22D2-E4FF-767E66EDFEB2}"/>
              </a:ext>
            </a:extLst>
          </p:cNvPr>
          <p:cNvSpPr txBox="1"/>
          <p:nvPr/>
        </p:nvSpPr>
        <p:spPr>
          <a:xfrm>
            <a:off x="2231136" y="4545106"/>
            <a:ext cx="98417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None </a:t>
            </a:r>
          </a:p>
          <a:p>
            <a:endParaRPr lang="en-US" dirty="0"/>
          </a:p>
          <a:p>
            <a:r>
              <a:rPr lang="en-US" dirty="0"/>
              <a:t>In-place means the sort is done on the list itself (no copy returned) – in fact this doesn’t return anything</a:t>
            </a:r>
          </a:p>
          <a:p>
            <a:r>
              <a:rPr lang="en-US" dirty="0"/>
              <a:t>This differs from operations on strings (immutable) where generally copies are returned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E952F1-8B01-A26A-A247-9732DFFA0FD6}"/>
              </a:ext>
            </a:extLst>
          </p:cNvPr>
          <p:cNvCxnSpPr>
            <a:cxnSpLocks/>
          </p:cNvCxnSpPr>
          <p:nvPr/>
        </p:nvCxnSpPr>
        <p:spPr>
          <a:xfrm flipH="1" flipV="1">
            <a:off x="4961965" y="4168588"/>
            <a:ext cx="1385047" cy="255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D39CDC-0DF2-CA1E-18DC-B33F494B69D5}"/>
              </a:ext>
            </a:extLst>
          </p:cNvPr>
          <p:cNvSpPr txBox="1"/>
          <p:nvPr/>
        </p:nvSpPr>
        <p:spPr>
          <a:xfrm>
            <a:off x="6302435" y="4195954"/>
            <a:ext cx="3142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Method doesn’t return anything</a:t>
            </a:r>
          </a:p>
        </p:txBody>
      </p:sp>
    </p:spTree>
    <p:extLst>
      <p:ext uri="{BB962C8B-B14F-4D97-AF65-F5344CB8AC3E}">
        <p14:creationId xmlns:p14="http://schemas.microsoft.com/office/powerpoint/2010/main" val="2012432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42BFB-BD2B-2E02-DA18-BC4D4CB1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Iterating through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0D10-4881-C5F6-3838-60B8BB5C8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3" y="4487014"/>
            <a:ext cx="3044949" cy="16277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 the for loop to iterate over each item in a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D60BA-DF09-2B83-9E9D-C0011CCD3C0A}"/>
              </a:ext>
            </a:extLst>
          </p:cNvPr>
          <p:cNvSpPr txBox="1"/>
          <p:nvPr/>
        </p:nvSpPr>
        <p:spPr>
          <a:xfrm>
            <a:off x="5335571" y="1510608"/>
            <a:ext cx="56937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Iterating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Can iterate the same way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75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Access by value - no access to index information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item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use of second parameter to remove the default \n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(item,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end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used to print a single newline at end of loop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Access by index - access to both value and index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00080"/>
                </a:solidFill>
                <a:effectLst/>
                <a:latin typeface="JetBrains Mono"/>
              </a:rPr>
              <a:t>len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)):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my_list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], </a:t>
            </a:r>
            <a:r>
              <a:rPr lang="en-US" sz="1800" dirty="0">
                <a:solidFill>
                  <a:srgbClr val="660099"/>
                </a:solidFill>
                <a:effectLst/>
                <a:latin typeface="JetBrains Mono"/>
              </a:rPr>
              <a:t>end 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 dirty="0"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26059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ED98-0B19-C0BB-BBEB-417E84DC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+ 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4C8BE-8AEF-0BD6-F4FC-9CA0DBDAA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58568"/>
            <a:ext cx="8476488" cy="4242816"/>
          </a:xfrm>
        </p:spPr>
        <p:txBody>
          <a:bodyPr>
            <a:noAutofit/>
          </a:bodyPr>
          <a:lstStyle/>
          <a:p>
            <a:r>
              <a:rPr lang="en-US" sz="1600" dirty="0"/>
              <a:t>You can concatenate lists together using the + operator (just like strings)</a:t>
            </a:r>
            <a:endParaRPr lang="en-US" sz="1400" dirty="0"/>
          </a:p>
          <a:p>
            <a:pPr>
              <a:buNone/>
            </a:pP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Concatenating Two lists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names_1 = [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"Clark"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"Diana"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"Bruce"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names_2 = [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"Conner"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"Donna"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"Tim"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all_names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 = names_1 + names_2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6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all_names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all immutable types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#['Clark', 'Diana', 'Bruce', 'Conner', 'Donna', 'Tim’]</a:t>
            </a:r>
          </a:p>
          <a:p>
            <a:r>
              <a:rPr lang="en-US" sz="1600" dirty="0"/>
              <a:t>Performs a shallow copy – so need to be careful if we are going to use the original variables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names_2[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 = [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600" dirty="0" err="1">
                <a:solidFill>
                  <a:srgbClr val="067D17"/>
                </a:solidFill>
                <a:effectLst/>
                <a:latin typeface="JetBrains Mono"/>
              </a:rPr>
              <a:t>Richard"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CA" sz="1600" dirty="0" err="1">
                <a:solidFill>
                  <a:srgbClr val="067D17"/>
                </a:solidFill>
                <a:effectLst/>
                <a:latin typeface="JetBrains Mono"/>
              </a:rPr>
              <a:t>"Tim"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CA" sz="1600" dirty="0" err="1">
                <a:solidFill>
                  <a:srgbClr val="067D17"/>
                </a:solidFill>
                <a:effectLst/>
                <a:latin typeface="JetBrains Mono"/>
              </a:rPr>
              <a:t>"Damien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make names 2 have a nested list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all_names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 = names_1 + names_2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concatenate again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6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all_names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['Clark', 'Diana', 'Bruce', 'Conner', 'Donna', ['Richard', 'Tim', 'Damien']]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names_2[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][</a:t>
            </a:r>
            <a:r>
              <a:rPr lang="en-CA" sz="1600" dirty="0"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] = </a:t>
            </a:r>
            <a:r>
              <a:rPr lang="en-CA" sz="1600" dirty="0">
                <a:solidFill>
                  <a:srgbClr val="067D17"/>
                </a:solidFill>
                <a:effectLst/>
                <a:latin typeface="JetBrains Mono"/>
              </a:rPr>
              <a:t>"Stephanie"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update last item of inner list</a:t>
            </a:r>
            <a:b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16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600" dirty="0" err="1">
                <a:solidFill>
                  <a:srgbClr val="080808"/>
                </a:solidFill>
                <a:effectLst/>
                <a:latin typeface="JetBrains Mono"/>
              </a:rPr>
              <a:t>all_names</a:t>
            </a:r>
            <a: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CA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6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1600" i="1" dirty="0">
                <a:solidFill>
                  <a:srgbClr val="8C8C8C"/>
                </a:solidFill>
                <a:effectLst/>
                <a:latin typeface="JetBrains Mono"/>
              </a:rPr>
              <a:t># ['Clark', 'Diana', 'Bruce', 'Conner', 'Donna', ['Richard', 'Tim', 'Stephanie']]</a:t>
            </a:r>
            <a:endParaRPr lang="en-CA" sz="1600" dirty="0">
              <a:solidFill>
                <a:srgbClr val="080808"/>
              </a:solidFill>
              <a:effectLst/>
              <a:latin typeface="JetBrains Mono"/>
            </a:endParaRPr>
          </a:p>
          <a:p>
            <a:pPr marL="0" indent="0">
              <a:buNone/>
            </a:pPr>
            <a:r>
              <a:rPr lang="en-CA" sz="1600" dirty="0">
                <a:solidFill>
                  <a:srgbClr val="080808"/>
                </a:solidFill>
                <a:latin typeface="JetBrains Mono"/>
              </a:rPr>
              <a:t>	</a:t>
            </a:r>
            <a:endParaRPr lang="en-CA" sz="16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9703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D681-EBF8-7571-C90D-CF6CD9AC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Unpacking operator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ABAF-8050-F5AD-ED37-5CF4CA6C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32384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elements of a list can be unpacked into their single element variables using the * operator</a:t>
            </a:r>
          </a:p>
          <a:p>
            <a:pPr>
              <a:lnSpc>
                <a:spcPct val="110000"/>
              </a:lnSpc>
              <a:buNone/>
            </a:pP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Unpacking Nested Lists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team_1 = [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"Clark"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"Diana"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"Bruce"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team_2 = [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"Conner"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"Donna"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"Tim"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Create 2 nested lists inside a list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teams = []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teams.append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(team_1)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teams.append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(team_2)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(teams)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#[['Clark', 'Diana', 'Bruce'], ['Conner', 'Donna', 'Tim']]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team_up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[*team_1, *team_2]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Unpack the nested lists inside a new list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team_up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['Clark', 'Diana', 'Bruce', 'Conner', 'Donna', 'Tim']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Unpack the nested lists and insert some new items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big_team_up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"Oliver,"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,*team_1, 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"Dinah"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, *team_2]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big_team_up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['Oliver,', 'Clark', 'Diana', 'Bruce', 'Dinah', 'Conner', 'Donna', 'Tim']</a:t>
            </a:r>
            <a:endParaRPr lang="en-CA" sz="1800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3F6C-1866-F986-0496-D70185C7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9DC6-B569-84AA-3E53-018D1B86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47305"/>
            <a:ext cx="7729728" cy="1306107"/>
          </a:xfrm>
        </p:spPr>
        <p:txBody>
          <a:bodyPr/>
          <a:lstStyle/>
          <a:p>
            <a:r>
              <a:rPr lang="en-US" dirty="0"/>
              <a:t>Searching within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3EB2-FD3C-CE8C-E99D-61670FBCE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1912" y="2331720"/>
            <a:ext cx="4271771" cy="3408306"/>
          </a:xfrm>
        </p:spPr>
        <p:txBody>
          <a:bodyPr>
            <a:noAutofit/>
          </a:bodyPr>
          <a:lstStyle/>
          <a:p>
            <a:r>
              <a:rPr lang="en-US" sz="1400" dirty="0"/>
              <a:t>Challenge using .index() – if the string is not in the list it, it fails</a:t>
            </a:r>
          </a:p>
          <a:p>
            <a:pPr>
              <a:buNone/>
            </a:pP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Membership in lists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Concatenating Two lists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names_1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"Clark"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"Diana"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"Bruce"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names_2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"Conner"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"Donna"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"Tim"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5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Alternate - Index searching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6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names_1.index(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"Conner"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 lvl="1">
              <a:buNone/>
            </a:pPr>
            <a:r>
              <a:rPr lang="en-US" sz="1050" dirty="0">
                <a:solidFill>
                  <a:srgbClr val="C00000"/>
                </a:solidFill>
                <a:latin typeface="JetBrains Mono"/>
              </a:rPr>
              <a:t>---------------------------------------------------------------------------</a:t>
            </a:r>
          </a:p>
          <a:p>
            <a:pPr lvl="1">
              <a:buNone/>
            </a:pPr>
            <a:r>
              <a:rPr lang="en-US" sz="1050" dirty="0" err="1">
                <a:solidFill>
                  <a:srgbClr val="C00000"/>
                </a:solidFill>
                <a:latin typeface="JetBrains Mono"/>
              </a:rPr>
              <a:t>ValueError</a:t>
            </a:r>
            <a:r>
              <a:rPr lang="en-US" sz="1050" dirty="0">
                <a:solidFill>
                  <a:srgbClr val="C00000"/>
                </a:solidFill>
                <a:latin typeface="JetBrains Mono"/>
              </a:rPr>
              <a:t>                                Traceback (most recent call last)</a:t>
            </a:r>
          </a:p>
          <a:p>
            <a:pPr lvl="1">
              <a:buNone/>
            </a:pPr>
            <a:r>
              <a:rPr lang="en-US" sz="1050" dirty="0">
                <a:solidFill>
                  <a:srgbClr val="C00000"/>
                </a:solidFill>
                <a:latin typeface="JetBrains Mono"/>
              </a:rPr>
              <a:t>Cell In[51], line 12</a:t>
            </a:r>
          </a:p>
          <a:p>
            <a:pPr lvl="1">
              <a:buNone/>
            </a:pPr>
            <a:r>
              <a:rPr lang="en-US" sz="1050" dirty="0">
                <a:solidFill>
                  <a:srgbClr val="C00000"/>
                </a:solidFill>
                <a:latin typeface="JetBrains Mono"/>
              </a:rPr>
              <a:t>      9     print("Up </a:t>
            </a:r>
            <a:r>
              <a:rPr lang="en-US" sz="1050" dirty="0" err="1">
                <a:solidFill>
                  <a:srgbClr val="C00000"/>
                </a:solidFill>
                <a:latin typeface="JetBrains Mono"/>
              </a:rPr>
              <a:t>Up</a:t>
            </a:r>
            <a:r>
              <a:rPr lang="en-US" sz="1050" dirty="0">
                <a:solidFill>
                  <a:srgbClr val="C00000"/>
                </a:solidFill>
                <a:latin typeface="JetBrains Mono"/>
              </a:rPr>
              <a:t> and Away")</a:t>
            </a:r>
          </a:p>
          <a:p>
            <a:pPr lvl="1">
              <a:buNone/>
            </a:pPr>
            <a:r>
              <a:rPr lang="en-US" sz="1050" dirty="0">
                <a:solidFill>
                  <a:srgbClr val="C00000"/>
                </a:solidFill>
                <a:latin typeface="JetBrains Mono"/>
              </a:rPr>
              <a:t>     11 # Alternate - Index searching</a:t>
            </a:r>
          </a:p>
          <a:p>
            <a:pPr lvl="1">
              <a:buNone/>
            </a:pPr>
            <a:r>
              <a:rPr lang="en-US" sz="1050" dirty="0">
                <a:solidFill>
                  <a:srgbClr val="C00000"/>
                </a:solidFill>
                <a:latin typeface="JetBrains Mono"/>
              </a:rPr>
              <a:t>---&gt; 12 names_1.index("Conner")</a:t>
            </a:r>
          </a:p>
          <a:p>
            <a:pPr lvl="1">
              <a:buNone/>
            </a:pPr>
            <a:r>
              <a:rPr lang="en-US" sz="1050" dirty="0" err="1">
                <a:solidFill>
                  <a:srgbClr val="C00000"/>
                </a:solidFill>
                <a:latin typeface="JetBrains Mono"/>
              </a:rPr>
              <a:t>ValueError</a:t>
            </a:r>
            <a:r>
              <a:rPr lang="en-US" sz="1050" dirty="0">
                <a:solidFill>
                  <a:srgbClr val="C00000"/>
                </a:solidFill>
                <a:latin typeface="JetBrains Mono"/>
              </a:rPr>
              <a:t>: </a:t>
            </a:r>
            <a:r>
              <a:rPr lang="en-US" sz="1050" dirty="0" err="1">
                <a:solidFill>
                  <a:srgbClr val="C00000"/>
                </a:solidFill>
                <a:latin typeface="JetBrains Mono"/>
              </a:rPr>
              <a:t>list.index</a:t>
            </a:r>
            <a:r>
              <a:rPr lang="en-US" sz="1050" dirty="0">
                <a:solidFill>
                  <a:srgbClr val="C00000"/>
                </a:solidFill>
                <a:latin typeface="JetBrains Mono"/>
              </a:rPr>
              <a:t>(x): x not in list</a:t>
            </a:r>
            <a:endParaRPr lang="en-US" sz="1050" dirty="0">
              <a:solidFill>
                <a:srgbClr val="C00000"/>
              </a:solidFill>
              <a:effectLst/>
              <a:latin typeface="JetBrains Mono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F8AF34-E323-C1E5-D0DA-1A85E4A6F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315" y="2331720"/>
            <a:ext cx="4270247" cy="3408306"/>
          </a:xfrm>
        </p:spPr>
        <p:txBody>
          <a:bodyPr>
            <a:normAutofit/>
          </a:bodyPr>
          <a:lstStyle/>
          <a:p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Alternative is to use the </a:t>
            </a:r>
            <a:r>
              <a:rPr lang="en-US" sz="1400" dirty="0">
                <a:solidFill>
                  <a:srgbClr val="0033B3"/>
                </a:solidFill>
                <a:latin typeface="JetBrains Mono"/>
              </a:rPr>
              <a:t>in </a:t>
            </a:r>
            <a:r>
              <a:rPr lang="en-US" sz="1400" dirty="0">
                <a:solidFill>
                  <a:schemeClr val="tx1"/>
                </a:solidFill>
                <a:latin typeface="JetBrains Mono"/>
              </a:rPr>
              <a:t>keyword</a:t>
            </a: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</a:p>
          <a:p>
            <a:pPr>
              <a:buNone/>
            </a:pP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1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"Clark"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names_1: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2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"Hi Clark!"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3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4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"Where did he go?"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80808"/>
              </a:solidFill>
              <a:effectLst/>
              <a:latin typeface="JetBrains Mono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343091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79D24-0066-4D05-0CFF-C7AFD535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E8AB-BB7B-F172-AF35-184BDB59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DCAE-A246-47B4-CD3C-A1A3C65C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For a given list </a:t>
            </a:r>
            <a:r>
              <a:rPr lang="en-CA" dirty="0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S</a:t>
            </a:r>
            <a:r>
              <a:rPr lang="en-CA" dirty="0"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: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max(S):</a:t>
            </a:r>
            <a:r>
              <a:rPr lang="en-CA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CA" dirty="0">
                <a:solidFill>
                  <a:srgbClr val="000000"/>
                </a:solidFill>
                <a:effectLst/>
                <a:latin typeface="Helvetica" pitchFamily="2" charset="0"/>
              </a:rPr>
              <a:t>returns the largest item in the sequence;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min(S): </a:t>
            </a:r>
            <a:r>
              <a:rPr lang="en-CA" dirty="0">
                <a:solidFill>
                  <a:srgbClr val="000000"/>
                </a:solidFill>
                <a:effectLst/>
                <a:latin typeface="Helvetica" pitchFamily="2" charset="0"/>
              </a:rPr>
              <a:t>returns the smallest item in the sequence;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sum(S): </a:t>
            </a:r>
            <a:r>
              <a:rPr lang="en-CA" dirty="0">
                <a:solidFill>
                  <a:srgbClr val="000000"/>
                </a:solidFill>
                <a:effectLst/>
                <a:latin typeface="Helvetica" pitchFamily="2" charset="0"/>
              </a:rPr>
              <a:t>returns the sum of the items in the sequence </a:t>
            </a:r>
          </a:p>
          <a:p>
            <a:pPr lvl="1"/>
            <a:r>
              <a:rPr lang="en-CA" dirty="0">
                <a:solidFill>
                  <a:srgbClr val="000000"/>
                </a:solidFill>
                <a:latin typeface="Helvetica" pitchFamily="2" charset="0"/>
              </a:rPr>
              <a:t>Sequence needs to be something that can have a sum calculated</a:t>
            </a:r>
            <a:endParaRPr lang="en-CA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CA" dirty="0" err="1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len</a:t>
            </a:r>
            <a:r>
              <a:rPr lang="en-CA" dirty="0">
                <a:solidFill>
                  <a:srgbClr val="000000"/>
                </a:solidFill>
                <a:effectLst/>
                <a:latin typeface="JetBrains Mono"/>
                <a:cs typeface="Courier New" panose="02070309020205020404" pitchFamily="49" charset="0"/>
              </a:rPr>
              <a:t>(S): </a:t>
            </a:r>
            <a:r>
              <a:rPr lang="en-CA" dirty="0">
                <a:solidFill>
                  <a:srgbClr val="000000"/>
                </a:solidFill>
                <a:effectLst/>
                <a:latin typeface="Helvetica" pitchFamily="2" charset="0"/>
              </a:rPr>
              <a:t>returns the number of items in the sequence.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1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D430-0F05-64EC-C2AF-7F1FB651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5272-79DA-FD47-DAE8-5DCD0333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Mutable Objects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422C-F7E9-247D-BBFD-DBD3BBD5B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lists (and other mutable objects) are passed into functions, the reference (pointer) is passed — not a copy of the data</a:t>
            </a:r>
          </a:p>
          <a:p>
            <a:r>
              <a:rPr lang="en-US" dirty="0"/>
              <a:t>This is the same issue as copying lists: both variables refer to the same underlying object</a:t>
            </a:r>
          </a:p>
          <a:p>
            <a:r>
              <a:rPr lang="en-US" dirty="0"/>
              <a:t>Modifying the list inside a function will also modify the original list in the program</a:t>
            </a:r>
          </a:p>
          <a:p>
            <a:r>
              <a:rPr lang="en-US" dirty="0"/>
              <a:t>This differs from immutable atomic types (e.g., integers), which cannot be modified in place – if you try to modify a parameter the value in the main program remains the same</a:t>
            </a:r>
          </a:p>
        </p:txBody>
      </p:sp>
    </p:spTree>
    <p:extLst>
      <p:ext uri="{BB962C8B-B14F-4D97-AF65-F5344CB8AC3E}">
        <p14:creationId xmlns:p14="http://schemas.microsoft.com/office/powerpoint/2010/main" val="2872803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DA4A-3CB5-576E-99F4-9CDFB61B9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3A8A-809F-5734-20F0-824AAC18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2400" dirty="0"/>
              <a:t>Mutable Objects in Functions</a:t>
            </a:r>
            <a:br>
              <a:rPr lang="en-US" sz="2400" dirty="0"/>
            </a:br>
            <a:r>
              <a:rPr lang="en-US" sz="2400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4D63E-1D00-7CB0-43C2-F101003C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999128"/>
            <a:ext cx="7900416" cy="48597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 Mutable Objects in Functions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en-US" sz="1600" dirty="0" err="1">
                <a:solidFill>
                  <a:srgbClr val="00627A"/>
                </a:solidFill>
                <a:effectLst/>
                <a:latin typeface="JetBrains Mono"/>
              </a:rPr>
              <a:t>add_team_member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new_member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""" Adds a team member if they are not on the team.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   :param team: the list of team members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   :param add: the person to add to the team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   :return: true if added, else false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   """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new_member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not in </a:t>
            </a:r>
            <a:r>
              <a:rPr lang="en-US" sz="1600" dirty="0">
                <a:solidFill>
                  <a:srgbClr val="000000"/>
                </a:solidFill>
                <a:effectLst/>
                <a:latin typeface="JetBrains Mono"/>
              </a:rPr>
              <a:t>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team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.append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JetBrains Mono"/>
              </a:rPr>
              <a:t>new_member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True</a:t>
            </a:r>
            <a:b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    else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b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br>
              <a:rPr lang="en-US" sz="1600" dirty="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original_team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 = [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"Diana"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"Arthur"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"John"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"Harold"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"Barry"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US" sz="16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original_team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 ['Diana', 'Arthur', 'John', 'Harold', 'Barry']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b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add_team_member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original_team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"Clark"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18    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add_team_member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original_team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600" dirty="0">
                <a:solidFill>
                  <a:srgbClr val="067D17"/>
                </a:solidFill>
                <a:effectLst/>
                <a:latin typeface="JetBrains Mono"/>
              </a:rPr>
              <a:t>"Bruce"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600" b="0" i="0" dirty="0">
                <a:solidFill>
                  <a:srgbClr val="080808"/>
                </a:solidFill>
                <a:effectLst/>
                <a:latin typeface="JetBrains Mono"/>
              </a:rPr>
              <a:t>19    </a:t>
            </a:r>
            <a:r>
              <a:rPr lang="en-US" sz="16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600" dirty="0" err="1">
                <a:solidFill>
                  <a:srgbClr val="080808"/>
                </a:solidFill>
                <a:effectLst/>
                <a:latin typeface="JetBrains Mono"/>
              </a:rPr>
              <a:t>original_team</a:t>
            </a:r>
            <a:r>
              <a:rPr lang="en-US" sz="16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600" i="1" dirty="0">
                <a:solidFill>
                  <a:srgbClr val="8C8C8C"/>
                </a:solidFill>
                <a:effectLst/>
                <a:latin typeface="JetBrains Mono"/>
              </a:rPr>
              <a:t># ['Diana', 'Arthur', 'John', 'Harold', 'Barry', 'Clark', 'Bruce']</a:t>
            </a:r>
            <a:endParaRPr lang="en-US" sz="16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80885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20C7-83E3-63A7-3F31-8F508A3D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B0BF-A56C-C27E-142C-BFC865F3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3200" dirty="0"/>
              <a:t>In Class Example: Deck of Cards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13CBF0B-5484-8A93-19DE-0F35B47ED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52" y="1929384"/>
            <a:ext cx="6175248" cy="356616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Creating a deck of cards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highest to lowest rankings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suit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♠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♥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♦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♣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rank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"A"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"K"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"Q"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"J"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"10"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"9"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"8"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"7"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"6"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"5"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"4"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"3"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"2"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05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#10 of hearts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06   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= rank[4] + suit[1]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07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print(f"10 of hearts: {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}")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08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create a deck of cards with all cards grouped by suit and ordered by rank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09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deck = []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10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using value based for loop as I do not need the index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11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for s in suit: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12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for card in rank: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13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add it to the end of the deck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14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   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deck.append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(card + s)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15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print(deck)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full deck</a:t>
            </a:r>
            <a:endParaRPr lang="en-US" sz="1400" dirty="0">
              <a:solidFill>
                <a:schemeClr val="bg1">
                  <a:lumMod val="95000"/>
                </a:schemeClr>
              </a:solidFill>
              <a:effectLst/>
              <a:latin typeface="JetBrains Mon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5470D-677C-FE3D-6EF8-01D483834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2376" y="3604782"/>
            <a:ext cx="4568952" cy="2194036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 a list containing all possible the cards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card is a string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Example:  “J</a:t>
            </a:r>
            <a:r>
              <a:rPr lang="en-US" sz="950" dirty="0">
                <a:solidFill>
                  <a:schemeClr val="bg1"/>
                </a:solidFill>
              </a:rPr>
              <a:t>♥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 I create a single card like the one above?</a:t>
            </a:r>
          </a:p>
        </p:txBody>
      </p:sp>
    </p:spTree>
    <p:extLst>
      <p:ext uri="{BB962C8B-B14F-4D97-AF65-F5344CB8AC3E}">
        <p14:creationId xmlns:p14="http://schemas.microsoft.com/office/powerpoint/2010/main" val="3136755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19B8-E074-B39A-3930-45CD5D18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1C17-CEDB-D37C-582C-5BC97DA1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3200" dirty="0"/>
              <a:t>In Class Example: Deck of Cards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3AEF59-5C6C-FF07-F1D4-2189888F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52" y="1929384"/>
            <a:ext cx="6175248" cy="356616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Creating a deck of cards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highest to lowest rankings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suit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♠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♥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♦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♣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rank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"A"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"K"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"Q"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"J"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"10"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"9"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"8"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"7"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"6"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"5"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"4"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"3"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"2"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#10 of hearts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= rank[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 + suit[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f"10 of hearts: </a:t>
            </a:r>
            <a:r>
              <a:rPr lang="en-US" sz="1400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08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create a deck of cards with all cards grouped by suit and ordered by rank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09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deck = []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10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using value based for loop as I do not need the index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11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for s in suit: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12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for card in rank: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13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add it to the end of the deck</a:t>
            </a:r>
            <a:b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14   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       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deck.append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(card + s)</a:t>
            </a:r>
            <a:b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15   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print(deck) </a:t>
            </a: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effectLst/>
                <a:latin typeface="JetBrains Mono"/>
              </a:rPr>
              <a:t># full deck</a:t>
            </a:r>
            <a:endParaRPr lang="en-US" sz="1400" dirty="0">
              <a:solidFill>
                <a:schemeClr val="bg1">
                  <a:lumMod val="95000"/>
                </a:schemeClr>
              </a:solidFill>
              <a:effectLst/>
              <a:latin typeface="JetBrains Mon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D0B45-1656-2682-36C3-951B7DE67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2376" y="3604782"/>
            <a:ext cx="4568952" cy="2194036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 a list containing all possible the cards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card is a string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Example:  “J</a:t>
            </a:r>
            <a:r>
              <a:rPr lang="en-US" sz="950" dirty="0">
                <a:solidFill>
                  <a:schemeClr val="bg1"/>
                </a:solidFill>
              </a:rPr>
              <a:t>♥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 I create a single card like the one above?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Concatenate operation using the indices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 I create the deck?</a:t>
            </a:r>
          </a:p>
        </p:txBody>
      </p:sp>
    </p:spTree>
    <p:extLst>
      <p:ext uri="{BB962C8B-B14F-4D97-AF65-F5344CB8AC3E}">
        <p14:creationId xmlns:p14="http://schemas.microsoft.com/office/powerpoint/2010/main" val="2498333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520C-C956-D85D-21E5-A4E0952D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D0E9-8309-7B23-127F-70C12597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3200" dirty="0"/>
              <a:t>In Class Example: Deck of Cards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79B0E7-E63E-2080-320D-DE219F89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752" y="1929384"/>
            <a:ext cx="6175248" cy="356616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Creating a deck of cards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highest to lowest rankings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suit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♠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♥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♦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♣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rank = [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"A"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"K"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"Q"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"J"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"10"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"9"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"8"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"7"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"6"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"5"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"4"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"3"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"2"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#10 of hearts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= rank[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 + suit[</a:t>
            </a:r>
            <a:r>
              <a:rPr lang="en-US" sz="1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US" sz="1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f"10 of hearts: </a:t>
            </a:r>
            <a:r>
              <a:rPr lang="en-US" sz="1400" dirty="0"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ten_hearts</a:t>
            </a:r>
            <a:r>
              <a:rPr lang="en-US" sz="1400" dirty="0"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lang="en-US" sz="1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create a deck of cards with all cards grouped by suit and ordered by rank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deck = []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using value based for loop as I do not need the index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s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suit: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card </a:t>
            </a:r>
            <a:r>
              <a:rPr lang="en-US" sz="140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rank: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add it to the end of the deck</a:t>
            </a:r>
            <a:b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US" sz="1400" dirty="0" err="1">
                <a:solidFill>
                  <a:srgbClr val="080808"/>
                </a:solidFill>
                <a:effectLst/>
                <a:latin typeface="JetBrains Mono"/>
              </a:rPr>
              <a:t>deck.append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(card + s)</a:t>
            </a:r>
            <a:b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4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US" sz="14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1400" dirty="0">
                <a:solidFill>
                  <a:srgbClr val="080808"/>
                </a:solidFill>
                <a:effectLst/>
                <a:latin typeface="JetBrains Mono"/>
              </a:rPr>
              <a:t>(deck) </a:t>
            </a:r>
            <a:r>
              <a:rPr lang="en-US" sz="1400" i="1" dirty="0">
                <a:solidFill>
                  <a:srgbClr val="8C8C8C"/>
                </a:solidFill>
                <a:effectLst/>
                <a:latin typeface="JetBrains Mono"/>
              </a:rPr>
              <a:t># full deck</a:t>
            </a:r>
            <a:endParaRPr lang="en-US" sz="14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7AEF-5502-3D2D-8B00-966917CAA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2376" y="3604782"/>
            <a:ext cx="4568952" cy="2194036"/>
          </a:xfrm>
        </p:spPr>
        <p:txBody>
          <a:bodyPr>
            <a:normAutofit fontScale="92500" lnSpcReduction="20000"/>
          </a:bodyPr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 a list containing all possible the cards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card is a string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Example:  “J</a:t>
            </a:r>
            <a:r>
              <a:rPr lang="en-US" sz="950" dirty="0">
                <a:solidFill>
                  <a:schemeClr val="bg1"/>
                </a:solidFill>
              </a:rPr>
              <a:t>♥</a:t>
            </a:r>
            <a:r>
              <a:rPr lang="en-US" dirty="0">
                <a:solidFill>
                  <a:schemeClr val="bg1"/>
                </a:solidFill>
              </a:rPr>
              <a:t>”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 I create a single card like the one above?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Concatenate operation using the indices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 I create the deck?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Loop through each list and append a concatenation</a:t>
            </a:r>
            <a:r>
              <a:rPr lang="en-CA" dirty="0">
                <a:solidFill>
                  <a:schemeClr val="bg1"/>
                </a:solidFill>
              </a:rPr>
              <a:t> for each combination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15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2756-73AC-8B04-9903-3430D91B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7037-55F2-2798-620A-61A5B980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3200" dirty="0"/>
              <a:t>In Class Example: Swap Cards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67E9C1-C987-BE7F-A0BA-77C1C9324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04672"/>
            <a:ext cx="6010656" cy="5248656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	01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Swapping Places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02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Get index of first (and only) 2 of hearts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03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idx_2h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deck.index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"2</a:t>
            </a:r>
            <a:r>
              <a:rPr lang="en-CA" sz="1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♥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04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Get index of first (and only) 2 of clubs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05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idx_2c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deck.index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"2</a:t>
            </a:r>
            <a:r>
              <a:rPr lang="en-CA" sz="1800" dirty="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♣</a:t>
            </a:r>
            <a:r>
              <a:rPr lang="en-CA" sz="18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06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Key pattern - Holding temporary variable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07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Swap method 2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08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temp_card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deck[idx_2h]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card 1 to temp variable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09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deck[idx_2h] = deck[idx_2c]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card 2 to card 1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10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deck[idx_2c]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temp_card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temp to card 2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11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(deck)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12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Swap back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13   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temp_card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= deck[idx_2c]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card 1 to temp variable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14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deck[idx_2c] = deck[idx_2h]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card 2 to card 1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15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deck[idx_2h] = </a:t>
            </a:r>
            <a:r>
              <a:rPr lang="en-CA" sz="1800" dirty="0" err="1">
                <a:solidFill>
                  <a:srgbClr val="080808"/>
                </a:solidFill>
                <a:effectLst/>
                <a:latin typeface="JetBrains Mono"/>
              </a:rPr>
              <a:t>temp_card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 move temp to card 2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16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(deck)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17    </a:t>
            </a:r>
            <a: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  <a:t>#Python Specific Swap Expression</a:t>
            </a:r>
            <a:br>
              <a:rPr lang="en-CA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18    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deck[idx_2h], deck[idx_2c] = deck[idx_2c], deck[idx_2h]</a:t>
            </a:r>
            <a:b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CA" sz="1800" b="0" i="0" dirty="0">
                <a:solidFill>
                  <a:srgbClr val="080808"/>
                </a:solidFill>
                <a:effectLst/>
                <a:latin typeface="JetBrains Mono"/>
              </a:rPr>
              <a:t>19    </a:t>
            </a:r>
            <a:r>
              <a:rPr lang="en-CA" sz="180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CA" sz="1800" dirty="0">
                <a:solidFill>
                  <a:srgbClr val="080808"/>
                </a:solidFill>
                <a:effectLst/>
                <a:latin typeface="JetBrains Mono"/>
              </a:rPr>
              <a:t>(deck)</a:t>
            </a:r>
          </a:p>
          <a:p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839CF-8862-99BF-976B-879EF7F5D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Suppose we want to swap a card with another one, what do we do?</a:t>
            </a:r>
          </a:p>
        </p:txBody>
      </p:sp>
    </p:spTree>
    <p:extLst>
      <p:ext uri="{BB962C8B-B14F-4D97-AF65-F5344CB8AC3E}">
        <p14:creationId xmlns:p14="http://schemas.microsoft.com/office/powerpoint/2010/main" val="4065079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7B9F-3B16-E359-2C15-3D381AC1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2DEC-576F-52C6-3B56-AEAECCE36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Given a list of integers find the median value</a:t>
            </a:r>
          </a:p>
          <a:p>
            <a:r>
              <a:rPr lang="en-US" dirty="0"/>
              <a:t>If we want to do this in a function:</a:t>
            </a:r>
          </a:p>
          <a:p>
            <a:r>
              <a:rPr lang="en-US" dirty="0"/>
              <a:t>	What are the parameters?</a:t>
            </a:r>
          </a:p>
          <a:p>
            <a:r>
              <a:rPr lang="en-US" dirty="0"/>
              <a:t>	What is the return type?</a:t>
            </a:r>
          </a:p>
          <a:p>
            <a:r>
              <a:rPr lang="en-US" dirty="0"/>
              <a:t>	What is our function called?</a:t>
            </a:r>
          </a:p>
          <a:p>
            <a:r>
              <a:rPr lang="en-US" u="sng" dirty="0"/>
              <a:t>Questions to start?</a:t>
            </a:r>
            <a:endParaRPr lang="en-US" dirty="0"/>
          </a:p>
          <a:p>
            <a:pPr lvl="1"/>
            <a:r>
              <a:rPr lang="en-US" dirty="0"/>
              <a:t>What more do you need to know about the list?</a:t>
            </a:r>
          </a:p>
          <a:p>
            <a:pPr lvl="2"/>
            <a:r>
              <a:rPr lang="en-US" dirty="0"/>
              <a:t>What if the list has an even number of items?</a:t>
            </a:r>
          </a:p>
          <a:p>
            <a:pPr lvl="2"/>
            <a:r>
              <a:rPr lang="en-US" dirty="0"/>
              <a:t>What do we do if the list has strings, or Booleans or other things?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910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89EE-E4E1-2FBF-56F8-CBC5A3A3D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6F8A-5DF2-6F3E-0F70-C9D527A58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function to determine how many unique items are in a list</a:t>
            </a:r>
          </a:p>
          <a:p>
            <a:r>
              <a:rPr lang="en-US" dirty="0"/>
              <a:t>Write a function  that takes as input parameters 2 lists and returns a single list containing their combined contents </a:t>
            </a:r>
          </a:p>
          <a:p>
            <a:pPr lvl="1"/>
            <a:r>
              <a:rPr lang="en-US" dirty="0"/>
              <a:t>I would do this a couple of different ways to learn the variety of options you have available.</a:t>
            </a:r>
          </a:p>
          <a:p>
            <a:r>
              <a:rPr lang="en-US" dirty="0"/>
              <a:t>Write a function called </a:t>
            </a:r>
            <a:r>
              <a:rPr lang="en-US" dirty="0" err="1"/>
              <a:t>contains_duplicates</a:t>
            </a:r>
            <a:r>
              <a:rPr lang="en-US" dirty="0"/>
              <a:t> that takes as an argument a list and returns True if the list contains any duplicates, or False otherwise</a:t>
            </a:r>
          </a:p>
          <a:p>
            <a:r>
              <a:rPr lang="en-US" dirty="0"/>
              <a:t>Write a function called </a:t>
            </a:r>
            <a:r>
              <a:rPr lang="en-US" dirty="0" err="1"/>
              <a:t>sub_search</a:t>
            </a:r>
            <a:r>
              <a:rPr lang="en-US" dirty="0"/>
              <a:t> that takes as arguments two lists (</a:t>
            </a:r>
            <a:r>
              <a:rPr lang="en-US" dirty="0" err="1"/>
              <a:t>lst</a:t>
            </a:r>
            <a:r>
              <a:rPr lang="en-US" dirty="0"/>
              <a:t> and </a:t>
            </a:r>
            <a:r>
              <a:rPr lang="en-US" dirty="0" err="1"/>
              <a:t>sub_lst</a:t>
            </a:r>
            <a:r>
              <a:rPr lang="en-US" dirty="0"/>
              <a:t>) and returns the smallest index position of a sub list within a list (or -1 if not found)</a:t>
            </a:r>
          </a:p>
        </p:txBody>
      </p:sp>
    </p:spTree>
    <p:extLst>
      <p:ext uri="{BB962C8B-B14F-4D97-AF65-F5344CB8AC3E}">
        <p14:creationId xmlns:p14="http://schemas.microsoft.com/office/powerpoint/2010/main" val="1118077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FCD5-46F7-1B1D-B7AF-F9293B971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AE7-3E31-2D91-E75C-F6D218BEF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993" y="2371598"/>
            <a:ext cx="9212311" cy="3991356"/>
          </a:xfrm>
        </p:spPr>
        <p:txBody>
          <a:bodyPr>
            <a:normAutofit/>
          </a:bodyPr>
          <a:lstStyle/>
          <a:p>
            <a:r>
              <a:rPr lang="en-US" dirty="0"/>
              <a:t>Given a list of classroom capacities (integers) and a list of course enrolment numbers, where the courses are all scheduled at the same time.</a:t>
            </a:r>
          </a:p>
          <a:p>
            <a:r>
              <a:rPr lang="en-US" dirty="0"/>
              <a:t>Determine if there are any courses that cannot be accommodated.</a:t>
            </a:r>
          </a:p>
          <a:p>
            <a:r>
              <a:rPr lang="en-US" dirty="0"/>
              <a:t>To accommodate a course any classroom must have enough capacity (seats)</a:t>
            </a:r>
          </a:p>
          <a:p>
            <a:r>
              <a:rPr lang="en-US" dirty="0"/>
              <a:t>For example: </a:t>
            </a:r>
          </a:p>
          <a:p>
            <a:pPr lvl="1"/>
            <a:r>
              <a:rPr lang="en-US" dirty="0"/>
              <a:t>Capacities = [4,10, 5] (a classroom that holds 4 students, another for 10 students and another for 5 students) </a:t>
            </a:r>
          </a:p>
          <a:p>
            <a:pPr lvl="1"/>
            <a:r>
              <a:rPr lang="en-US" dirty="0"/>
              <a:t>Enrolments = [7, 1, 2, 3] (a course with 7 students, 1 student, 2 students and 3 students)</a:t>
            </a:r>
          </a:p>
          <a:p>
            <a:pPr lvl="1"/>
            <a:r>
              <a:rPr lang="en-US" dirty="0"/>
              <a:t>Then one of the courses cannot be accommodated </a:t>
            </a:r>
          </a:p>
          <a:p>
            <a:pPr lvl="1"/>
            <a:r>
              <a:rPr lang="en-US" dirty="0"/>
              <a:t>Advanced answer: the least students that could possibly be inconvenienced is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8336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899</TotalTime>
  <Words>7271</Words>
  <Application>Microsoft Office PowerPoint</Application>
  <PresentationFormat>Widescreen</PresentationFormat>
  <Paragraphs>410</Paragraphs>
  <Slides>36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Courier New</vt:lpstr>
      <vt:lpstr>Gill Sans MT</vt:lpstr>
      <vt:lpstr>Google Sans Text</vt:lpstr>
      <vt:lpstr>Helvetica</vt:lpstr>
      <vt:lpstr>JetBrains Mono</vt:lpstr>
      <vt:lpstr>Parcel</vt:lpstr>
      <vt:lpstr>Lists</vt:lpstr>
      <vt:lpstr>Example code</vt:lpstr>
      <vt:lpstr>Mutable Sequences</vt:lpstr>
      <vt:lpstr>Visualization of Lists</vt:lpstr>
      <vt:lpstr>Mutable Sequences</vt:lpstr>
      <vt:lpstr>Creating Lists</vt:lpstr>
      <vt:lpstr>Adding to Lists</vt:lpstr>
      <vt:lpstr>Removal From Lists</vt:lpstr>
      <vt:lpstr>What are Objects?</vt:lpstr>
      <vt:lpstr>List Methods</vt:lpstr>
      <vt:lpstr>Aliasing Lists</vt:lpstr>
      <vt:lpstr>Copying Lists</vt:lpstr>
      <vt:lpstr>Problem - Shallow Copy</vt:lpstr>
      <vt:lpstr>Deep Copy (1)</vt:lpstr>
      <vt:lpstr>Deep Copy (2)</vt:lpstr>
      <vt:lpstr>Deep Copy(3)</vt:lpstr>
      <vt:lpstr>Deep Copy (4)</vt:lpstr>
      <vt:lpstr>Deep Copy (5)</vt:lpstr>
      <vt:lpstr>Deep Copy (5)</vt:lpstr>
      <vt:lpstr>Accessing 2-Dimensional Lists</vt:lpstr>
      <vt:lpstr>Self Check</vt:lpstr>
      <vt:lpstr>Self Check</vt:lpstr>
      <vt:lpstr>Iterating through lists</vt:lpstr>
      <vt:lpstr>+ on Lists</vt:lpstr>
      <vt:lpstr>Unpacking operator *</vt:lpstr>
      <vt:lpstr>Searching within Lists</vt:lpstr>
      <vt:lpstr>Helpful Functions </vt:lpstr>
      <vt:lpstr>Passing Mutable Objects to Functions</vt:lpstr>
      <vt:lpstr>Mutable Objects in Functions Example</vt:lpstr>
      <vt:lpstr>In Class Example: Deck of Cards</vt:lpstr>
      <vt:lpstr>In Class Example: Deck of Cards</vt:lpstr>
      <vt:lpstr>In Class Example: Deck of Cards</vt:lpstr>
      <vt:lpstr>In Class Example: Swap Cards</vt:lpstr>
      <vt:lpstr>Find a Partner</vt:lpstr>
      <vt:lpstr>Try at Home</vt:lpstr>
      <vt:lpstr>Try At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2</cp:revision>
  <dcterms:created xsi:type="dcterms:W3CDTF">2025-10-29T14:53:55Z</dcterms:created>
  <dcterms:modified xsi:type="dcterms:W3CDTF">2026-07-23T02:16:54Z</dcterms:modified>
</cp:coreProperties>
</file>