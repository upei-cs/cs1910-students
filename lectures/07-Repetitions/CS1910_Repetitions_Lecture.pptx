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8"/>
  </p:notesMasterIdLst>
  <p:sldIdLst>
    <p:sldId id="313" r:id="rId2"/>
    <p:sldId id="260" r:id="rId3"/>
    <p:sldId id="275" r:id="rId4"/>
    <p:sldId id="349" r:id="rId5"/>
    <p:sldId id="314" r:id="rId6"/>
    <p:sldId id="350" r:id="rId7"/>
    <p:sldId id="351" r:id="rId8"/>
    <p:sldId id="353" r:id="rId9"/>
    <p:sldId id="357" r:id="rId10"/>
    <p:sldId id="356" r:id="rId11"/>
    <p:sldId id="358" r:id="rId12"/>
    <p:sldId id="359" r:id="rId13"/>
    <p:sldId id="377" r:id="rId14"/>
    <p:sldId id="363" r:id="rId15"/>
    <p:sldId id="364" r:id="rId16"/>
    <p:sldId id="360" r:id="rId17"/>
    <p:sldId id="371" r:id="rId18"/>
    <p:sldId id="372" r:id="rId19"/>
    <p:sldId id="373" r:id="rId20"/>
    <p:sldId id="361" r:id="rId21"/>
    <p:sldId id="352" r:id="rId22"/>
    <p:sldId id="369" r:id="rId23"/>
    <p:sldId id="365" r:id="rId24"/>
    <p:sldId id="366" r:id="rId25"/>
    <p:sldId id="367" r:id="rId26"/>
    <p:sldId id="35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641169-399D-4713-81E2-6D5718656363}" v="1" dt="2026-07-23T02:14:05.2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68"/>
    <p:restoredTop sz="71027"/>
  </p:normalViewPr>
  <p:slideViewPr>
    <p:cSldViewPr snapToGrid="0">
      <p:cViewPr>
        <p:scale>
          <a:sx n="80" d="100"/>
          <a:sy n="80" d="100"/>
        </p:scale>
        <p:origin x="144"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Power" userId="83706efc-52ec-4aad-b93a-e27c6e901a30" providerId="ADAL" clId="{97D26654-64D5-4042-8583-A5886BB6B01E}"/>
    <pc:docChg chg="undo redo custSel addSld delSld modSld">
      <pc:chgData name="Christopher Power" userId="83706efc-52ec-4aad-b93a-e27c6e901a30" providerId="ADAL" clId="{97D26654-64D5-4042-8583-A5886BB6B01E}" dt="2026-07-23T02:14:19.200" v="714" actId="47"/>
      <pc:docMkLst>
        <pc:docMk/>
      </pc:docMkLst>
      <pc:sldChg chg="del">
        <pc:chgData name="Christopher Power" userId="83706efc-52ec-4aad-b93a-e27c6e901a30" providerId="ADAL" clId="{97D26654-64D5-4042-8583-A5886BB6B01E}" dt="2026-07-23T02:14:19.200" v="714" actId="47"/>
        <pc:sldMkLst>
          <pc:docMk/>
          <pc:sldMk cId="540613930" sldId="256"/>
        </pc:sldMkLst>
      </pc:sldChg>
      <pc:sldChg chg="modSp add mod">
        <pc:chgData name="Christopher Power" userId="83706efc-52ec-4aad-b93a-e27c6e901a30" providerId="ADAL" clId="{97D26654-64D5-4042-8583-A5886BB6B01E}" dt="2026-07-23T02:14:16.071" v="713" actId="20577"/>
        <pc:sldMkLst>
          <pc:docMk/>
          <pc:sldMk cId="3002068836" sldId="313"/>
        </pc:sldMkLst>
        <pc:spChg chg="mod">
          <ac:chgData name="Christopher Power" userId="83706efc-52ec-4aad-b93a-e27c6e901a30" providerId="ADAL" clId="{97D26654-64D5-4042-8583-A5886BB6B01E}" dt="2026-07-23T02:14:16.071" v="713" actId="20577"/>
          <ac:spMkLst>
            <pc:docMk/>
            <pc:sldMk cId="3002068836" sldId="313"/>
            <ac:spMk id="2" creationId="{C93DC5BA-038A-1370-693A-933684213ED6}"/>
          </ac:spMkLst>
        </pc:spChg>
      </pc:sldChg>
      <pc:sldChg chg="addSp delSp modSp new del mod modShow chgLayout">
        <pc:chgData name="Christopher Power" userId="83706efc-52ec-4aad-b93a-e27c6e901a30" providerId="ADAL" clId="{97D26654-64D5-4042-8583-A5886BB6B01E}" dt="2026-07-23T02:14:00.365" v="674" actId="47"/>
        <pc:sldMkLst>
          <pc:docMk/>
          <pc:sldMk cId="1275557587" sldId="375"/>
        </pc:sldMkLst>
      </pc:sldChg>
      <pc:sldChg chg="modSp new del mod modShow">
        <pc:chgData name="Christopher Power" userId="83706efc-52ec-4aad-b93a-e27c6e901a30" providerId="ADAL" clId="{97D26654-64D5-4042-8583-A5886BB6B01E}" dt="2026-07-23T02:14:00.942" v="675" actId="47"/>
        <pc:sldMkLst>
          <pc:docMk/>
          <pc:sldMk cId="1698591216" sldId="3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85323A-822E-E84A-9FEB-A103DD03B04F}" type="datetimeFigureOut">
              <a:rPr lang="en-US" smtClean="0"/>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F92D9-E9D5-EA45-93E3-E28E893B5AE2}" type="slidenum">
              <a:rPr lang="en-US" smtClean="0"/>
              <a:t>‹#›</a:t>
            </a:fld>
            <a:endParaRPr lang="en-US"/>
          </a:p>
        </p:txBody>
      </p:sp>
    </p:spTree>
    <p:extLst>
      <p:ext uri="{BB962C8B-B14F-4D97-AF65-F5344CB8AC3E}">
        <p14:creationId xmlns:p14="http://schemas.microsoft.com/office/powerpoint/2010/main" val="1505437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4F92D9-E9D5-EA45-93E3-E28E893B5AE2}" type="slidenum">
              <a:rPr lang="en-US" smtClean="0"/>
              <a:t>23</a:t>
            </a:fld>
            <a:endParaRPr lang="en-US"/>
          </a:p>
        </p:txBody>
      </p:sp>
    </p:spTree>
    <p:extLst>
      <p:ext uri="{BB962C8B-B14F-4D97-AF65-F5344CB8AC3E}">
        <p14:creationId xmlns:p14="http://schemas.microsoft.com/office/powerpoint/2010/main" val="644825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CA" dirty="0"/>
              <a:t>“Let’s turn the dart thinking exercise into a formula. Remember the key assumption: every point in the square is equally likely to be hit.”</a:t>
            </a:r>
          </a:p>
          <a:p>
            <a:pPr lvl="0" rtl="0"/>
            <a:r>
              <a:rPr lang="en-CA" dirty="0"/>
              <a:t>“Because of that, the fraction of darts landing in the circle should match the fraction of the square the circle covers. That’s area of circle divided by area of square.”</a:t>
            </a:r>
          </a:p>
          <a:p>
            <a:pPr lvl="0" rtl="0"/>
            <a:r>
              <a:rPr lang="en-CA" dirty="0"/>
              <a:t>“The circle’s area is πr². The square’s side is the circle’s diameter, 2r, so its area is (2r)², or 4r². The r² cancels, and we get π/4. That holds for any size of dartboard, as long as the square fits snugly around it.”</a:t>
            </a:r>
          </a:p>
          <a:p>
            <a:pPr lvl="0" rtl="0"/>
            <a:r>
              <a:rPr lang="en-CA" dirty="0"/>
              <a:t>“Now look at the experiment side. Say we throw </a:t>
            </a:r>
            <a:r>
              <a:rPr lang="en-CA" i="1" dirty="0"/>
              <a:t>n</a:t>
            </a:r>
            <a:r>
              <a:rPr lang="en-CA" dirty="0"/>
              <a:t> darts in total and </a:t>
            </a:r>
            <a:r>
              <a:rPr lang="en-CA" i="1" dirty="0"/>
              <a:t>c</a:t>
            </a:r>
            <a:r>
              <a:rPr lang="en-CA" dirty="0"/>
              <a:t> of them land in the circle. The observed fraction is c/n.”</a:t>
            </a:r>
          </a:p>
          <a:p>
            <a:pPr lvl="0" rtl="0"/>
            <a:r>
              <a:rPr lang="en-CA" dirty="0"/>
              <a:t>“If the darts really are uniform, </a:t>
            </a:r>
            <a:r>
              <a:rPr lang="en-CA" dirty="0" err="1"/>
              <a:t>c/n</a:t>
            </a:r>
            <a:r>
              <a:rPr lang="en-CA" dirty="0"/>
              <a:t> should be close to π/4. It’s approximately equal, not exactly equal, because it depends on how the darts happened to fall.”</a:t>
            </a:r>
          </a:p>
          <a:p>
            <a:pPr lvl="0" rtl="0"/>
            <a:r>
              <a:rPr lang="en-CA" dirty="0"/>
              <a:t>“Multiply both sides by 4, and we get π ≈ 4c/n. So we can estimate one of the most famous constants in maths just by counting random dart throws.”</a:t>
            </a:r>
          </a:p>
          <a:p>
            <a:pPr lvl="0" rtl="0"/>
            <a:r>
              <a:rPr lang="en-CA" i="1" dirty="0"/>
              <a:t>Optional question for the class:</a:t>
            </a:r>
            <a:r>
              <a:rPr lang="en-CA" dirty="0"/>
              <a:t> “Will we get exactly 3.14159… every time? Why not?” This sets up the idea that randomness gives a different answer each run, and more darts gives a better estimate.</a:t>
            </a:r>
          </a:p>
          <a:p>
            <a:endParaRPr lang="en-US" dirty="0"/>
          </a:p>
        </p:txBody>
      </p:sp>
      <p:sp>
        <p:nvSpPr>
          <p:cNvPr id="4" name="Slide Number Placeholder 3"/>
          <p:cNvSpPr>
            <a:spLocks noGrp="1"/>
          </p:cNvSpPr>
          <p:nvPr>
            <p:ph type="sldNum" sz="quarter" idx="5"/>
          </p:nvPr>
        </p:nvSpPr>
        <p:spPr/>
        <p:txBody>
          <a:bodyPr/>
          <a:lstStyle/>
          <a:p>
            <a:fld id="{7B4F92D9-E9D5-EA45-93E3-E28E893B5AE2}" type="slidenum">
              <a:rPr lang="en-US" smtClean="0"/>
              <a:t>24</a:t>
            </a:fld>
            <a:endParaRPr lang="en-US"/>
          </a:p>
        </p:txBody>
      </p:sp>
    </p:spTree>
    <p:extLst>
      <p:ext uri="{BB962C8B-B14F-4D97-AF65-F5344CB8AC3E}">
        <p14:creationId xmlns:p14="http://schemas.microsoft.com/office/powerpoint/2010/main" val="294282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CA" dirty="0"/>
              <a:t>“Now let’s turn this into steps a computer can follow. A computer can’t throw darts, but it can generate random numbers. A random (x, y) pair is our dart.”</a:t>
            </a:r>
          </a:p>
          <a:p>
            <a:pPr lvl="0" rtl="0"/>
            <a:r>
              <a:rPr lang="en-CA" dirty="0"/>
              <a:t>“Notice that x and y here go from 0 to 1, not −1 to 1 like the full board. We’re only looking at the top-right quarter: a unit square containing a quarter of the circle.” </a:t>
            </a:r>
          </a:p>
          <a:p>
            <a:pPr lvl="1" rtl="0"/>
            <a:r>
              <a:rPr lang="en-CA" dirty="0"/>
              <a:t>“Does that break our formula? The quarter circle’s area is π/4, and the unit square’s area is 1. So the ratio is still π/4. Same answer, and the code is a bit simpler.”</a:t>
            </a:r>
          </a:p>
          <a:p>
            <a:pPr lvl="0" rtl="0"/>
            <a:r>
              <a:rPr lang="en-CA" dirty="0"/>
              <a:t>“</a:t>
            </a:r>
            <a:r>
              <a:rPr lang="en-CA" b="1" dirty="0"/>
              <a:t>Step A:</a:t>
            </a:r>
            <a:r>
              <a:rPr lang="en-CA" dirty="0"/>
              <a:t> pick a random x and a random y. That’s where the dart lands.”</a:t>
            </a:r>
          </a:p>
          <a:p>
            <a:pPr lvl="0" rtl="0"/>
            <a:r>
              <a:rPr lang="en-CA" dirty="0"/>
              <a:t>“</a:t>
            </a:r>
            <a:r>
              <a:rPr lang="en-CA" b="1" dirty="0"/>
              <a:t>Step B:</a:t>
            </a:r>
            <a:r>
              <a:rPr lang="en-CA" dirty="0"/>
              <a:t> find how far that point is from the origin, the centre of the dartboard. That’s Pythagoras: the square root of x² + y².”</a:t>
            </a:r>
          </a:p>
          <a:p>
            <a:pPr lvl="0" rtl="0"/>
            <a:r>
              <a:rPr lang="en-CA" dirty="0"/>
              <a:t>“</a:t>
            </a:r>
            <a:r>
              <a:rPr lang="en-CA" b="1" dirty="0"/>
              <a:t>Step C:</a:t>
            </a:r>
            <a:r>
              <a:rPr lang="en-CA" dirty="0"/>
              <a:t> if the distance is 1 or less, the dart is inside the circle, so we add one to our circle counter. That’s our </a:t>
            </a:r>
            <a:r>
              <a:rPr lang="en-CA" i="1" dirty="0"/>
              <a:t>c</a:t>
            </a:r>
            <a:r>
              <a:rPr lang="en-CA" dirty="0"/>
              <a:t>.”</a:t>
            </a:r>
          </a:p>
          <a:p>
            <a:pPr lvl="0" rtl="0"/>
            <a:r>
              <a:rPr lang="en-CA" dirty="0"/>
              <a:t>“</a:t>
            </a:r>
            <a:r>
              <a:rPr lang="en-CA" b="1" dirty="0"/>
              <a:t>Step D:</a:t>
            </a:r>
            <a:r>
              <a:rPr lang="en-CA" dirty="0"/>
              <a:t> either way, add one to the total counter. That’s our </a:t>
            </a:r>
            <a:r>
              <a:rPr lang="en-CA" i="1" dirty="0"/>
              <a:t>n</a:t>
            </a:r>
            <a:r>
              <a:rPr lang="en-CA" dirty="0"/>
              <a:t>.”</a:t>
            </a:r>
          </a:p>
          <a:p>
            <a:pPr lvl="0" rtl="0"/>
            <a:r>
              <a:rPr lang="en-CA" dirty="0"/>
              <a:t>“We repeat this X times, as many darts as we like. Then </a:t>
            </a:r>
            <a:r>
              <a:rPr lang="en-CA" b="1" dirty="0"/>
              <a:t>step 1</a:t>
            </a:r>
            <a:r>
              <a:rPr lang="en-CA" dirty="0"/>
              <a:t> prints 4 × c/n, our estimate of π.”</a:t>
            </a:r>
          </a:p>
          <a:p>
            <a:pPr lvl="0" rtl="0"/>
            <a:r>
              <a:rPr lang="en-CA" i="1" dirty="0"/>
              <a:t>Points to draw out:</a:t>
            </a:r>
            <a:r>
              <a:rPr lang="en-CA" dirty="0"/>
              <a:t> </a:t>
            </a:r>
          </a:p>
          <a:p>
            <a:pPr lvl="1" rtl="0"/>
            <a:r>
              <a:rPr lang="en-CA" dirty="0"/>
              <a:t>“Notice there are two counters. Keeping a running count is a pattern you’ll use constantly in programming.”</a:t>
            </a:r>
          </a:p>
          <a:p>
            <a:pPr lvl="1" rtl="0"/>
            <a:r>
              <a:rPr lang="en-CA" dirty="0"/>
              <a:t>“Small trick: since we’re only comparing against 1, we can skip the square root and just check whether x² + y² ≤ 1. It gives the same answer with less work.”</a:t>
            </a:r>
          </a:p>
          <a:p>
            <a:pPr lvl="1" rtl="0"/>
            <a:r>
              <a:rPr lang="en-CA" dirty="0"/>
              <a:t>“Try it with 10 darts, then 1,000, then 1,000,000. The estimate gets closer, but slowly. Each extra correct digit takes roughly 100 times more darts.”</a:t>
            </a:r>
          </a:p>
          <a:p>
            <a:pPr lvl="0" rtl="0"/>
            <a:r>
              <a:rPr lang="en-CA" i="1" dirty="0"/>
              <a:t>Bridge to the next activity:</a:t>
            </a:r>
            <a:r>
              <a:rPr lang="en-CA" dirty="0"/>
              <a:t> “This approach of using lots of random trials to estimate something is called a </a:t>
            </a:r>
            <a:r>
              <a:rPr lang="en-CA" b="1" dirty="0"/>
              <a:t>Monte Carlo simulation</a:t>
            </a:r>
            <a:r>
              <a:rPr lang="en-CA" dirty="0"/>
              <a:t>. It’s used in physics, finance, weather modelling and even video-game graphics.”</a:t>
            </a:r>
          </a:p>
          <a:p>
            <a:endParaRPr lang="en-US" dirty="0"/>
          </a:p>
        </p:txBody>
      </p:sp>
      <p:sp>
        <p:nvSpPr>
          <p:cNvPr id="4" name="Slide Number Placeholder 3"/>
          <p:cNvSpPr>
            <a:spLocks noGrp="1"/>
          </p:cNvSpPr>
          <p:nvPr>
            <p:ph type="sldNum" sz="quarter" idx="5"/>
          </p:nvPr>
        </p:nvSpPr>
        <p:spPr/>
        <p:txBody>
          <a:bodyPr/>
          <a:lstStyle/>
          <a:p>
            <a:fld id="{7B4F92D9-E9D5-EA45-93E3-E28E893B5AE2}" type="slidenum">
              <a:rPr lang="en-US" smtClean="0"/>
              <a:t>25</a:t>
            </a:fld>
            <a:endParaRPr lang="en-US"/>
          </a:p>
        </p:txBody>
      </p:sp>
    </p:spTree>
    <p:extLst>
      <p:ext uri="{BB962C8B-B14F-4D97-AF65-F5344CB8AC3E}">
        <p14:creationId xmlns:p14="http://schemas.microsoft.com/office/powerpoint/2010/main" val="2291478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10/19/26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10/19/26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10/19/26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10/19/26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10/19/26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10/19/26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10/19/26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10/19/26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10/19/26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10/19/26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C5BA-038A-1370-693A-933684213ED6}"/>
              </a:ext>
            </a:extLst>
          </p:cNvPr>
          <p:cNvSpPr>
            <a:spLocks noGrp="1"/>
          </p:cNvSpPr>
          <p:nvPr>
            <p:ph type="ctrTitle"/>
          </p:nvPr>
        </p:nvSpPr>
        <p:spPr>
          <a:xfrm>
            <a:off x="965198" y="2474895"/>
            <a:ext cx="6212764" cy="1908215"/>
          </a:xfrm>
          <a:noFill/>
          <a:ln>
            <a:solidFill>
              <a:schemeClr val="tx1"/>
            </a:solidFill>
          </a:ln>
        </p:spPr>
        <p:txBody>
          <a:bodyPr wrap="square">
            <a:normAutofit/>
          </a:bodyPr>
          <a:lstStyle/>
          <a:p>
            <a:r>
              <a:rPr lang="en-US" sz="4000" dirty="0">
                <a:solidFill>
                  <a:schemeClr val="tx1"/>
                </a:solidFill>
              </a:rPr>
              <a:t>Repetitions</a:t>
            </a:r>
            <a:br>
              <a:rPr lang="en-US" sz="4000" dirty="0">
                <a:solidFill>
                  <a:schemeClr val="tx1"/>
                </a:solidFill>
              </a:rPr>
            </a:br>
            <a:r>
              <a:rPr lang="en-US" sz="4000" dirty="0">
                <a:solidFill>
                  <a:schemeClr val="tx1"/>
                </a:solidFill>
              </a:rPr>
              <a:t>(Loops)</a:t>
            </a:r>
          </a:p>
        </p:txBody>
      </p:sp>
      <p:sp>
        <p:nvSpPr>
          <p:cNvPr id="8" name="Rectangle 7">
            <a:extLst>
              <a:ext uri="{FF2B5EF4-FFF2-40B4-BE49-F238E27FC236}">
                <a16:creationId xmlns:a16="http://schemas.microsoft.com/office/drawing/2014/main" id="{157A82F3-F6C4-4325-8C9C-7DF1AD06B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2" y="0"/>
            <a:ext cx="4062128"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3" name="Subtitle 2">
            <a:extLst>
              <a:ext uri="{FF2B5EF4-FFF2-40B4-BE49-F238E27FC236}">
                <a16:creationId xmlns:a16="http://schemas.microsoft.com/office/drawing/2014/main" id="{C5AB9C7C-BEF1-C07A-6A77-DBDD71480AAD}"/>
              </a:ext>
            </a:extLst>
          </p:cNvPr>
          <p:cNvSpPr>
            <a:spLocks noGrp="1"/>
          </p:cNvSpPr>
          <p:nvPr>
            <p:ph type="subTitle" idx="1"/>
          </p:nvPr>
        </p:nvSpPr>
        <p:spPr>
          <a:xfrm>
            <a:off x="8533732" y="2173266"/>
            <a:ext cx="3254408" cy="2511468"/>
          </a:xfrm>
        </p:spPr>
        <p:txBody>
          <a:bodyPr anchor="ctr">
            <a:normAutofit/>
          </a:bodyPr>
          <a:lstStyle/>
          <a:p>
            <a:r>
              <a:rPr lang="en-US" sz="2400" dirty="0">
                <a:solidFill>
                  <a:schemeClr val="tx2">
                    <a:lumMod val="90000"/>
                  </a:schemeClr>
                </a:solidFill>
              </a:rPr>
              <a:t>CS1910</a:t>
            </a:r>
          </a:p>
          <a:p>
            <a:r>
              <a:rPr lang="en-US" sz="2400" dirty="0">
                <a:solidFill>
                  <a:schemeClr val="tx2">
                    <a:lumMod val="90000"/>
                  </a:schemeClr>
                </a:solidFill>
              </a:rPr>
              <a:t>Computer Science I</a:t>
            </a:r>
          </a:p>
        </p:txBody>
      </p:sp>
    </p:spTree>
    <p:extLst>
      <p:ext uri="{BB962C8B-B14F-4D97-AF65-F5344CB8AC3E}">
        <p14:creationId xmlns:p14="http://schemas.microsoft.com/office/powerpoint/2010/main" val="300206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E338C0-66AB-148B-AEB1-DE7475C0332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Code Examples</a:t>
            </a:r>
          </a:p>
        </p:txBody>
      </p:sp>
      <p:sp>
        <p:nvSpPr>
          <p:cNvPr id="3" name="Content Placeholder 2">
            <a:extLst>
              <a:ext uri="{FF2B5EF4-FFF2-40B4-BE49-F238E27FC236}">
                <a16:creationId xmlns:a16="http://schemas.microsoft.com/office/drawing/2014/main" id="{52BF1C45-1BC6-1344-58B8-103FD029F2E3}"/>
              </a:ext>
            </a:extLst>
          </p:cNvPr>
          <p:cNvSpPr>
            <a:spLocks noGrp="1"/>
          </p:cNvSpPr>
          <p:nvPr>
            <p:ph idx="1"/>
          </p:nvPr>
        </p:nvSpPr>
        <p:spPr>
          <a:xfrm>
            <a:off x="5591695" y="1402080"/>
            <a:ext cx="5320696" cy="4053840"/>
          </a:xfrm>
        </p:spPr>
        <p:txBody>
          <a:bodyPr anchor="ctr">
            <a:normAutofit/>
          </a:bodyPr>
          <a:lstStyle/>
          <a:p>
            <a:r>
              <a:rPr lang="en-US" dirty="0"/>
              <a:t>https://</a:t>
            </a:r>
            <a:r>
              <a:rPr lang="en-US" dirty="0" err="1"/>
              <a:t>colab.research.google.com</a:t>
            </a:r>
            <a:r>
              <a:rPr lang="en-US" dirty="0"/>
              <a:t>/</a:t>
            </a:r>
            <a:r>
              <a:rPr lang="en-US" dirty="0" err="1"/>
              <a:t>github</a:t>
            </a:r>
            <a:r>
              <a:rPr lang="en-US" dirty="0"/>
              <a:t>/UPEI-CS/CS1910-Students/blob/main/lectures/07-Repetitions/CS1910_Repetitions_Workbook.ipynb</a:t>
            </a:r>
          </a:p>
        </p:txBody>
      </p:sp>
    </p:spTree>
    <p:extLst>
      <p:ext uri="{BB962C8B-B14F-4D97-AF65-F5344CB8AC3E}">
        <p14:creationId xmlns:p14="http://schemas.microsoft.com/office/powerpoint/2010/main" val="645151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28E99-D03E-B2D7-7AE3-F9AA098DC4D6}"/>
              </a:ext>
            </a:extLst>
          </p:cNvPr>
          <p:cNvSpPr>
            <a:spLocks noGrp="1"/>
          </p:cNvSpPr>
          <p:nvPr>
            <p:ph type="title"/>
          </p:nvPr>
        </p:nvSpPr>
        <p:spPr/>
        <p:txBody>
          <a:bodyPr/>
          <a:lstStyle/>
          <a:p>
            <a:r>
              <a:rPr lang="en-US" dirty="0"/>
              <a:t>Repetitions</a:t>
            </a:r>
          </a:p>
        </p:txBody>
      </p:sp>
      <p:sp>
        <p:nvSpPr>
          <p:cNvPr id="3" name="Content Placeholder 2">
            <a:extLst>
              <a:ext uri="{FF2B5EF4-FFF2-40B4-BE49-F238E27FC236}">
                <a16:creationId xmlns:a16="http://schemas.microsoft.com/office/drawing/2014/main" id="{61181D14-9B5C-A053-7CF1-DC60C8083B85}"/>
              </a:ext>
            </a:extLst>
          </p:cNvPr>
          <p:cNvSpPr>
            <a:spLocks noGrp="1"/>
          </p:cNvSpPr>
          <p:nvPr>
            <p:ph idx="1"/>
          </p:nvPr>
        </p:nvSpPr>
        <p:spPr>
          <a:xfrm>
            <a:off x="2231136" y="2638044"/>
            <a:ext cx="7729728" cy="3851655"/>
          </a:xfrm>
        </p:spPr>
        <p:txBody>
          <a:bodyPr>
            <a:normAutofit/>
          </a:bodyPr>
          <a:lstStyle/>
          <a:p>
            <a:r>
              <a:rPr lang="en-US" sz="2400" dirty="0"/>
              <a:t>We have seen and been using Repetitions since early in the course but not specifically in Python</a:t>
            </a:r>
          </a:p>
          <a:p>
            <a:r>
              <a:rPr lang="en-US" sz="2400" dirty="0"/>
              <a:t>Repetitions (AKA) loops allow us to execute code multiple times</a:t>
            </a:r>
          </a:p>
          <a:p>
            <a:r>
              <a:rPr lang="en-US" sz="2400" dirty="0"/>
              <a:t>When paired with concepts from computational thinking: </a:t>
            </a:r>
            <a:r>
              <a:rPr lang="en-US" sz="2400" i="1" dirty="0"/>
              <a:t>decomposition</a:t>
            </a:r>
            <a:r>
              <a:rPr lang="en-US" sz="2400" dirty="0"/>
              <a:t> and </a:t>
            </a:r>
            <a:r>
              <a:rPr lang="en-US" sz="2400" i="1" dirty="0"/>
              <a:t>patterns</a:t>
            </a:r>
          </a:p>
          <a:p>
            <a:pPr lvl="1"/>
            <a:r>
              <a:rPr lang="en-US" sz="2000" dirty="0"/>
              <a:t>It allows us to write elegant efficient solutions that are easy to read and maintain</a:t>
            </a:r>
          </a:p>
        </p:txBody>
      </p:sp>
      <p:cxnSp>
        <p:nvCxnSpPr>
          <p:cNvPr id="5" name="Straight Arrow Connector 4">
            <a:extLst>
              <a:ext uri="{FF2B5EF4-FFF2-40B4-BE49-F238E27FC236}">
                <a16:creationId xmlns:a16="http://schemas.microsoft.com/office/drawing/2014/main" id="{6EC72FE0-99F8-1E87-B0DC-8408311FBDB0}"/>
              </a:ext>
            </a:extLst>
          </p:cNvPr>
          <p:cNvCxnSpPr/>
          <p:nvPr/>
        </p:nvCxnSpPr>
        <p:spPr>
          <a:xfrm flipH="1">
            <a:off x="9461500" y="4381500"/>
            <a:ext cx="1181100" cy="889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62D5F0F-40B4-60A2-877A-8FDC86EBAD24}"/>
              </a:ext>
            </a:extLst>
          </p:cNvPr>
          <p:cNvSpPr txBox="1"/>
          <p:nvPr/>
        </p:nvSpPr>
        <p:spPr>
          <a:xfrm>
            <a:off x="10490200" y="3735169"/>
            <a:ext cx="1485900" cy="646331"/>
          </a:xfrm>
          <a:prstGeom prst="rect">
            <a:avLst/>
          </a:prstGeom>
          <a:noFill/>
          <a:ln>
            <a:solidFill>
              <a:srgbClr val="404040"/>
            </a:solidFill>
          </a:ln>
        </p:spPr>
        <p:txBody>
          <a:bodyPr wrap="square" rtlCol="0">
            <a:spAutoFit/>
          </a:bodyPr>
          <a:lstStyle/>
          <a:p>
            <a:r>
              <a:rPr lang="en-US" dirty="0"/>
              <a:t>With a bit of experience</a:t>
            </a:r>
          </a:p>
        </p:txBody>
      </p:sp>
    </p:spTree>
    <p:extLst>
      <p:ext uri="{BB962C8B-B14F-4D97-AF65-F5344CB8AC3E}">
        <p14:creationId xmlns:p14="http://schemas.microsoft.com/office/powerpoint/2010/main" val="2403898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63367B-492A-182D-2212-767432F4DA03}"/>
              </a:ext>
            </a:extLst>
          </p:cNvPr>
          <p:cNvSpPr>
            <a:spLocks noGrp="1"/>
          </p:cNvSpPr>
          <p:nvPr>
            <p:ph type="title"/>
          </p:nvPr>
        </p:nvSpPr>
        <p:spPr>
          <a:xfrm>
            <a:off x="643468" y="820010"/>
            <a:ext cx="3415288" cy="3212654"/>
          </a:xfrm>
          <a:noFill/>
          <a:ln>
            <a:solidFill>
              <a:schemeClr val="bg1"/>
            </a:solidFill>
          </a:ln>
        </p:spPr>
        <p:txBody>
          <a:bodyPr vert="horz" lIns="274320" tIns="182880" rIns="274320" bIns="182880" rtlCol="0" anchor="ctr" anchorCtr="1">
            <a:normAutofit/>
          </a:bodyPr>
          <a:lstStyle/>
          <a:p>
            <a:r>
              <a:rPr lang="en-US" sz="3800">
                <a:solidFill>
                  <a:schemeClr val="bg1"/>
                </a:solidFill>
              </a:rPr>
              <a:t>While Loops</a:t>
            </a:r>
          </a:p>
        </p:txBody>
      </p:sp>
      <p:sp>
        <p:nvSpPr>
          <p:cNvPr id="3" name="Content Placeholder 2">
            <a:extLst>
              <a:ext uri="{FF2B5EF4-FFF2-40B4-BE49-F238E27FC236}">
                <a16:creationId xmlns:a16="http://schemas.microsoft.com/office/drawing/2014/main" id="{0E5F6FA6-846D-E6B9-AB04-7C31DB00C5DD}"/>
              </a:ext>
            </a:extLst>
          </p:cNvPr>
          <p:cNvSpPr>
            <a:spLocks noGrp="1"/>
          </p:cNvSpPr>
          <p:nvPr>
            <p:ph idx="1"/>
          </p:nvPr>
        </p:nvSpPr>
        <p:spPr>
          <a:xfrm>
            <a:off x="699777" y="4352544"/>
            <a:ext cx="3415288" cy="1239894"/>
          </a:xfrm>
        </p:spPr>
        <p:txBody>
          <a:bodyPr vert="horz" lIns="91440" tIns="45720" rIns="91440" bIns="45720" rtlCol="0">
            <a:normAutofit lnSpcReduction="10000"/>
          </a:bodyPr>
          <a:lstStyle/>
          <a:p>
            <a:pPr marL="0" indent="0" algn="ctr">
              <a:buNone/>
            </a:pPr>
            <a:r>
              <a:rPr lang="en-US" sz="2000" kern="1200" dirty="0">
                <a:solidFill>
                  <a:schemeClr val="bg1"/>
                </a:solidFill>
                <a:latin typeface="+mn-lt"/>
                <a:ea typeface="+mn-ea"/>
                <a:cs typeface="+mn-cs"/>
              </a:rPr>
              <a:t>Controlled by a Boolean expression, execute specific code until the condition is False</a:t>
            </a:r>
          </a:p>
        </p:txBody>
      </p:sp>
      <p:pic>
        <p:nvPicPr>
          <p:cNvPr id="4" name="Picture 3">
            <a:extLst>
              <a:ext uri="{FF2B5EF4-FFF2-40B4-BE49-F238E27FC236}">
                <a16:creationId xmlns:a16="http://schemas.microsoft.com/office/drawing/2014/main" id="{4B57C119-85F4-293D-8CE1-61D5DC5F2963}"/>
              </a:ext>
            </a:extLst>
          </p:cNvPr>
          <p:cNvPicPr>
            <a:picLocks noChangeAspect="1"/>
          </p:cNvPicPr>
          <p:nvPr/>
        </p:nvPicPr>
        <p:blipFill>
          <a:blip r:embed="rId2"/>
          <a:stretch>
            <a:fillRect/>
          </a:stretch>
        </p:blipFill>
        <p:spPr>
          <a:xfrm>
            <a:off x="4702222" y="1039822"/>
            <a:ext cx="4385794" cy="5733065"/>
          </a:xfrm>
          <a:prstGeom prst="rect">
            <a:avLst/>
          </a:prstGeom>
        </p:spPr>
      </p:pic>
      <p:pic>
        <p:nvPicPr>
          <p:cNvPr id="5" name="Picture 4">
            <a:extLst>
              <a:ext uri="{FF2B5EF4-FFF2-40B4-BE49-F238E27FC236}">
                <a16:creationId xmlns:a16="http://schemas.microsoft.com/office/drawing/2014/main" id="{49AEED79-2AC0-041D-2909-93C3B0D83588}"/>
              </a:ext>
            </a:extLst>
          </p:cNvPr>
          <p:cNvPicPr>
            <a:picLocks noChangeAspect="1"/>
          </p:cNvPicPr>
          <p:nvPr/>
        </p:nvPicPr>
        <p:blipFill>
          <a:blip r:embed="rId3"/>
          <a:stretch>
            <a:fillRect/>
          </a:stretch>
        </p:blipFill>
        <p:spPr>
          <a:xfrm>
            <a:off x="6783209" y="0"/>
            <a:ext cx="5374061" cy="2220686"/>
          </a:xfrm>
          <a:prstGeom prst="rect">
            <a:avLst/>
          </a:prstGeom>
        </p:spPr>
      </p:pic>
    </p:spTree>
    <p:extLst>
      <p:ext uri="{BB962C8B-B14F-4D97-AF65-F5344CB8AC3E}">
        <p14:creationId xmlns:p14="http://schemas.microsoft.com/office/powerpoint/2010/main" val="2892760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B9C1D-4D78-64DC-91F5-64BE86DB3210}"/>
              </a:ext>
            </a:extLst>
          </p:cNvPr>
          <p:cNvSpPr>
            <a:spLocks noGrp="1"/>
          </p:cNvSpPr>
          <p:nvPr>
            <p:ph type="title"/>
          </p:nvPr>
        </p:nvSpPr>
        <p:spPr/>
        <p:txBody>
          <a:bodyPr/>
          <a:lstStyle/>
          <a:p>
            <a:r>
              <a:rPr lang="en-US" dirty="0"/>
              <a:t>Quick Hitter</a:t>
            </a:r>
          </a:p>
        </p:txBody>
      </p:sp>
      <p:sp>
        <p:nvSpPr>
          <p:cNvPr id="3" name="Content Placeholder 2">
            <a:extLst>
              <a:ext uri="{FF2B5EF4-FFF2-40B4-BE49-F238E27FC236}">
                <a16:creationId xmlns:a16="http://schemas.microsoft.com/office/drawing/2014/main" id="{6CE38026-67C0-3152-BFAF-A93FD8654DCB}"/>
              </a:ext>
            </a:extLst>
          </p:cNvPr>
          <p:cNvSpPr>
            <a:spLocks noGrp="1"/>
          </p:cNvSpPr>
          <p:nvPr>
            <p:ph idx="1"/>
          </p:nvPr>
        </p:nvSpPr>
        <p:spPr/>
        <p:txBody>
          <a:bodyPr/>
          <a:lstStyle/>
          <a:p>
            <a:r>
              <a:rPr lang="en-US" dirty="0"/>
              <a:t>What is the minimum number of times the code inside a while loop must execute?</a:t>
            </a:r>
          </a:p>
          <a:p>
            <a:endParaRPr lang="en-US" dirty="0"/>
          </a:p>
        </p:txBody>
      </p:sp>
      <p:pic>
        <p:nvPicPr>
          <p:cNvPr id="5" name="Picture 4">
            <a:extLst>
              <a:ext uri="{FF2B5EF4-FFF2-40B4-BE49-F238E27FC236}">
                <a16:creationId xmlns:a16="http://schemas.microsoft.com/office/drawing/2014/main" id="{E9A65EAA-000A-F304-8BDB-6301E7FAD6D7}"/>
              </a:ext>
            </a:extLst>
          </p:cNvPr>
          <p:cNvPicPr>
            <a:picLocks noChangeAspect="1"/>
          </p:cNvPicPr>
          <p:nvPr/>
        </p:nvPicPr>
        <p:blipFill>
          <a:blip r:embed="rId2"/>
          <a:stretch>
            <a:fillRect/>
          </a:stretch>
        </p:blipFill>
        <p:spPr>
          <a:xfrm>
            <a:off x="3592140" y="3672622"/>
            <a:ext cx="5374061" cy="2220686"/>
          </a:xfrm>
          <a:prstGeom prst="rect">
            <a:avLst/>
          </a:prstGeom>
        </p:spPr>
      </p:pic>
    </p:spTree>
    <p:extLst>
      <p:ext uri="{BB962C8B-B14F-4D97-AF65-F5344CB8AC3E}">
        <p14:creationId xmlns:p14="http://schemas.microsoft.com/office/powerpoint/2010/main" val="4224106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D2A95-31BB-7379-F944-D4C925627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3EBE5-C184-2E39-B929-5E656D9360BD}"/>
              </a:ext>
            </a:extLst>
          </p:cNvPr>
          <p:cNvSpPr>
            <a:spLocks noGrp="1"/>
          </p:cNvSpPr>
          <p:nvPr>
            <p:ph type="title"/>
          </p:nvPr>
        </p:nvSpPr>
        <p:spPr/>
        <p:txBody>
          <a:bodyPr/>
          <a:lstStyle/>
          <a:p>
            <a:r>
              <a:rPr lang="en-US" dirty="0"/>
              <a:t>Quick Hitter</a:t>
            </a:r>
          </a:p>
        </p:txBody>
      </p:sp>
      <p:sp>
        <p:nvSpPr>
          <p:cNvPr id="3" name="Content Placeholder 2">
            <a:extLst>
              <a:ext uri="{FF2B5EF4-FFF2-40B4-BE49-F238E27FC236}">
                <a16:creationId xmlns:a16="http://schemas.microsoft.com/office/drawing/2014/main" id="{BB827465-21D2-DEBB-1A4B-689910095C6D}"/>
              </a:ext>
            </a:extLst>
          </p:cNvPr>
          <p:cNvSpPr>
            <a:spLocks noGrp="1"/>
          </p:cNvSpPr>
          <p:nvPr>
            <p:ph idx="1"/>
          </p:nvPr>
        </p:nvSpPr>
        <p:spPr>
          <a:xfrm>
            <a:off x="2231136" y="2197395"/>
            <a:ext cx="7729728" cy="3101983"/>
          </a:xfrm>
        </p:spPr>
        <p:txBody>
          <a:bodyPr>
            <a:normAutofit/>
          </a:bodyPr>
          <a:lstStyle/>
          <a:p>
            <a:r>
              <a:rPr lang="en-US" sz="2400" dirty="0"/>
              <a:t>What is the minimum number of times the code inside a while loop must execute?</a:t>
            </a:r>
          </a:p>
          <a:p>
            <a:endParaRPr lang="en-US" sz="2400" dirty="0"/>
          </a:p>
        </p:txBody>
      </p:sp>
      <p:pic>
        <p:nvPicPr>
          <p:cNvPr id="5" name="Picture 4">
            <a:extLst>
              <a:ext uri="{FF2B5EF4-FFF2-40B4-BE49-F238E27FC236}">
                <a16:creationId xmlns:a16="http://schemas.microsoft.com/office/drawing/2014/main" id="{9ACC55E5-49DF-CC88-0C6E-E87A55F1FF48}"/>
              </a:ext>
            </a:extLst>
          </p:cNvPr>
          <p:cNvPicPr>
            <a:picLocks noChangeAspect="1"/>
          </p:cNvPicPr>
          <p:nvPr/>
        </p:nvPicPr>
        <p:blipFill>
          <a:blip r:embed="rId2"/>
          <a:stretch>
            <a:fillRect/>
          </a:stretch>
        </p:blipFill>
        <p:spPr>
          <a:xfrm>
            <a:off x="3522678" y="3283324"/>
            <a:ext cx="5374061" cy="2220686"/>
          </a:xfrm>
          <a:prstGeom prst="rect">
            <a:avLst/>
          </a:prstGeom>
        </p:spPr>
      </p:pic>
      <p:sp>
        <p:nvSpPr>
          <p:cNvPr id="4" name="TextBox 3">
            <a:extLst>
              <a:ext uri="{FF2B5EF4-FFF2-40B4-BE49-F238E27FC236}">
                <a16:creationId xmlns:a16="http://schemas.microsoft.com/office/drawing/2014/main" id="{B6D306E9-6B35-6D5E-50C7-4862B5DF2848}"/>
              </a:ext>
            </a:extLst>
          </p:cNvPr>
          <p:cNvSpPr txBox="1"/>
          <p:nvPr/>
        </p:nvSpPr>
        <p:spPr>
          <a:xfrm>
            <a:off x="3777416" y="5708642"/>
            <a:ext cx="4637167" cy="369332"/>
          </a:xfrm>
          <a:prstGeom prst="rect">
            <a:avLst/>
          </a:prstGeom>
          <a:noFill/>
        </p:spPr>
        <p:txBody>
          <a:bodyPr wrap="none" rtlCol="0">
            <a:spAutoFit/>
          </a:bodyPr>
          <a:lstStyle/>
          <a:p>
            <a:r>
              <a:rPr lang="en-US" dirty="0"/>
              <a:t>No times! The condition might be initially False </a:t>
            </a:r>
          </a:p>
        </p:txBody>
      </p:sp>
    </p:spTree>
    <p:extLst>
      <p:ext uri="{BB962C8B-B14F-4D97-AF65-F5344CB8AC3E}">
        <p14:creationId xmlns:p14="http://schemas.microsoft.com/office/powerpoint/2010/main" val="3213864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BDBE0-0D57-B07B-6FFF-C4B3FF86A58F}"/>
              </a:ext>
            </a:extLst>
          </p:cNvPr>
          <p:cNvSpPr>
            <a:spLocks noGrp="1"/>
          </p:cNvSpPr>
          <p:nvPr>
            <p:ph type="title"/>
          </p:nvPr>
        </p:nvSpPr>
        <p:spPr/>
        <p:txBody>
          <a:bodyPr/>
          <a:lstStyle/>
          <a:p>
            <a:r>
              <a:rPr lang="en-US" dirty="0"/>
              <a:t>WHILE </a:t>
            </a:r>
            <a:r>
              <a:rPr lang="en-US" dirty="0" err="1"/>
              <a:t>LooPs</a:t>
            </a:r>
            <a:endParaRPr lang="en-US" dirty="0"/>
          </a:p>
        </p:txBody>
      </p:sp>
      <p:sp>
        <p:nvSpPr>
          <p:cNvPr id="3" name="Content Placeholder 2">
            <a:extLst>
              <a:ext uri="{FF2B5EF4-FFF2-40B4-BE49-F238E27FC236}">
                <a16:creationId xmlns:a16="http://schemas.microsoft.com/office/drawing/2014/main" id="{558E8837-74E4-22D4-E8B5-BD119D61E015}"/>
              </a:ext>
            </a:extLst>
          </p:cNvPr>
          <p:cNvSpPr>
            <a:spLocks noGrp="1"/>
          </p:cNvSpPr>
          <p:nvPr>
            <p:ph idx="1"/>
          </p:nvPr>
        </p:nvSpPr>
        <p:spPr/>
        <p:txBody>
          <a:bodyPr/>
          <a:lstStyle/>
          <a:p>
            <a:r>
              <a:rPr lang="en-US" dirty="0"/>
              <a:t>Example: SENTINEL Loop </a:t>
            </a:r>
          </a:p>
        </p:txBody>
      </p:sp>
      <p:cxnSp>
        <p:nvCxnSpPr>
          <p:cNvPr id="5" name="Straight Arrow Connector 4">
            <a:extLst>
              <a:ext uri="{FF2B5EF4-FFF2-40B4-BE49-F238E27FC236}">
                <a16:creationId xmlns:a16="http://schemas.microsoft.com/office/drawing/2014/main" id="{39CE7D1B-E1D1-24D4-40AC-0195A6729CA7}"/>
              </a:ext>
            </a:extLst>
          </p:cNvPr>
          <p:cNvCxnSpPr>
            <a:cxnSpLocks/>
          </p:cNvCxnSpPr>
          <p:nvPr/>
        </p:nvCxnSpPr>
        <p:spPr>
          <a:xfrm flipH="1">
            <a:off x="5084064" y="2803567"/>
            <a:ext cx="5227478" cy="20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95EEB1A-35B2-CB59-E4D8-23E29BC56B04}"/>
              </a:ext>
            </a:extLst>
          </p:cNvPr>
          <p:cNvSpPr txBox="1"/>
          <p:nvPr/>
        </p:nvSpPr>
        <p:spPr>
          <a:xfrm>
            <a:off x="10311542" y="2364006"/>
            <a:ext cx="17526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 sentinel is something that watches for a specific occurrence</a:t>
            </a:r>
          </a:p>
        </p:txBody>
      </p:sp>
      <p:pic>
        <p:nvPicPr>
          <p:cNvPr id="7" name="Picture 6">
            <a:extLst>
              <a:ext uri="{FF2B5EF4-FFF2-40B4-BE49-F238E27FC236}">
                <a16:creationId xmlns:a16="http://schemas.microsoft.com/office/drawing/2014/main" id="{E7B7B1FF-1694-D330-461A-6A180D4F3696}"/>
              </a:ext>
            </a:extLst>
          </p:cNvPr>
          <p:cNvPicPr>
            <a:picLocks noChangeAspect="1"/>
          </p:cNvPicPr>
          <p:nvPr/>
        </p:nvPicPr>
        <p:blipFill>
          <a:blip r:embed="rId2"/>
          <a:stretch>
            <a:fillRect/>
          </a:stretch>
        </p:blipFill>
        <p:spPr>
          <a:xfrm>
            <a:off x="10571892" y="512989"/>
            <a:ext cx="1231900" cy="1638300"/>
          </a:xfrm>
          <a:prstGeom prst="rect">
            <a:avLst/>
          </a:prstGeom>
        </p:spPr>
      </p:pic>
      <p:sp>
        <p:nvSpPr>
          <p:cNvPr id="8" name="TextBox 7">
            <a:extLst>
              <a:ext uri="{FF2B5EF4-FFF2-40B4-BE49-F238E27FC236}">
                <a16:creationId xmlns:a16="http://schemas.microsoft.com/office/drawing/2014/main" id="{C87B7C34-2554-FDC0-BB21-13F663CC94D4}"/>
              </a:ext>
            </a:extLst>
          </p:cNvPr>
          <p:cNvSpPr txBox="1"/>
          <p:nvPr/>
        </p:nvSpPr>
        <p:spPr>
          <a:xfrm>
            <a:off x="10542741" y="235990"/>
            <a:ext cx="1261051" cy="276999"/>
          </a:xfrm>
          <a:prstGeom prst="rect">
            <a:avLst/>
          </a:prstGeom>
          <a:noFill/>
        </p:spPr>
        <p:txBody>
          <a:bodyPr wrap="none" rtlCol="0">
            <a:spAutoFit/>
          </a:bodyPr>
          <a:lstStyle/>
          <a:p>
            <a:r>
              <a:rPr lang="en-US" sz="1200" dirty="0"/>
              <a:t>Credit: Wikipedia</a:t>
            </a:r>
          </a:p>
        </p:txBody>
      </p:sp>
      <p:pic>
        <p:nvPicPr>
          <p:cNvPr id="11" name="Picture 10">
            <a:extLst>
              <a:ext uri="{FF2B5EF4-FFF2-40B4-BE49-F238E27FC236}">
                <a16:creationId xmlns:a16="http://schemas.microsoft.com/office/drawing/2014/main" id="{23C2D12B-0840-FCFA-6604-A5FE60E7AB86}"/>
              </a:ext>
            </a:extLst>
          </p:cNvPr>
          <p:cNvPicPr>
            <a:picLocks noChangeAspect="1"/>
          </p:cNvPicPr>
          <p:nvPr/>
        </p:nvPicPr>
        <p:blipFill>
          <a:blip r:embed="rId3"/>
          <a:stretch>
            <a:fillRect/>
          </a:stretch>
        </p:blipFill>
        <p:spPr>
          <a:xfrm>
            <a:off x="2243845" y="3102670"/>
            <a:ext cx="7848338" cy="2481460"/>
          </a:xfrm>
          <a:prstGeom prst="rect">
            <a:avLst/>
          </a:prstGeom>
        </p:spPr>
      </p:pic>
      <p:cxnSp>
        <p:nvCxnSpPr>
          <p:cNvPr id="13" name="Straight Arrow Connector 12">
            <a:extLst>
              <a:ext uri="{FF2B5EF4-FFF2-40B4-BE49-F238E27FC236}">
                <a16:creationId xmlns:a16="http://schemas.microsoft.com/office/drawing/2014/main" id="{ED2AC3B9-DEAA-ED5E-0F7D-8601948A8184}"/>
              </a:ext>
            </a:extLst>
          </p:cNvPr>
          <p:cNvCxnSpPr>
            <a:cxnSpLocks/>
          </p:cNvCxnSpPr>
          <p:nvPr/>
        </p:nvCxnSpPr>
        <p:spPr>
          <a:xfrm flipH="1">
            <a:off x="5535827" y="4189035"/>
            <a:ext cx="47892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586AF27-C8D3-C867-8D2B-71059E973F39}"/>
              </a:ext>
            </a:extLst>
          </p:cNvPr>
          <p:cNvSpPr txBox="1"/>
          <p:nvPr/>
        </p:nvSpPr>
        <p:spPr>
          <a:xfrm>
            <a:off x="10311542" y="4054051"/>
            <a:ext cx="1752600" cy="1477328"/>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After the while loop we know that </a:t>
            </a:r>
            <a:r>
              <a:rPr lang="en-US" dirty="0">
                <a:latin typeface="Courier New" panose="02070309020205020404" pitchFamily="49" charset="0"/>
                <a:cs typeface="Courier New" panose="02070309020205020404" pitchFamily="49" charset="0"/>
              </a:rPr>
              <a:t>choice</a:t>
            </a:r>
            <a:r>
              <a:rPr lang="en-US" dirty="0"/>
              <a:t> must be either 1 or 2</a:t>
            </a:r>
          </a:p>
        </p:txBody>
      </p:sp>
    </p:spTree>
    <p:extLst>
      <p:ext uri="{BB962C8B-B14F-4D97-AF65-F5344CB8AC3E}">
        <p14:creationId xmlns:p14="http://schemas.microsoft.com/office/powerpoint/2010/main" val="2645781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E01C-CE1B-860B-8614-09C24A08B208}"/>
              </a:ext>
            </a:extLst>
          </p:cNvPr>
          <p:cNvSpPr>
            <a:spLocks noGrp="1"/>
          </p:cNvSpPr>
          <p:nvPr>
            <p:ph type="title"/>
          </p:nvPr>
        </p:nvSpPr>
        <p:spPr>
          <a:xfrm>
            <a:off x="804672" y="2386744"/>
            <a:ext cx="4486656" cy="1645920"/>
          </a:xfrm>
        </p:spPr>
        <p:txBody>
          <a:bodyPr vert="horz" lIns="274320" tIns="182880" rIns="274320" bIns="182880" rtlCol="0" anchor="ctr" anchorCtr="1">
            <a:normAutofit/>
          </a:bodyPr>
          <a:lstStyle/>
          <a:p>
            <a:r>
              <a:rPr lang="en-US" sz="3200"/>
              <a:t>While Loop Examples</a:t>
            </a:r>
          </a:p>
        </p:txBody>
      </p:sp>
      <p:sp>
        <p:nvSpPr>
          <p:cNvPr id="13" name="Rectangle 12">
            <a:extLst>
              <a:ext uri="{FF2B5EF4-FFF2-40B4-BE49-F238E27FC236}">
                <a16:creationId xmlns:a16="http://schemas.microsoft.com/office/drawing/2014/main" id="{2F0F143B-3981-4FC2-BB15-0C5867633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A04D4D1-58F1-B5B4-D694-5B5E81794569}"/>
              </a:ext>
            </a:extLst>
          </p:cNvPr>
          <p:cNvPicPr>
            <a:picLocks noChangeAspect="1"/>
          </p:cNvPicPr>
          <p:nvPr/>
        </p:nvPicPr>
        <p:blipFill>
          <a:blip r:embed="rId2"/>
          <a:srcRect r="1328"/>
          <a:stretch>
            <a:fillRect/>
          </a:stretch>
        </p:blipFill>
        <p:spPr>
          <a:xfrm>
            <a:off x="6224355" y="719242"/>
            <a:ext cx="5836239" cy="2232832"/>
          </a:xfrm>
          <a:prstGeom prst="rect">
            <a:avLst/>
          </a:prstGeom>
        </p:spPr>
      </p:pic>
      <p:pic>
        <p:nvPicPr>
          <p:cNvPr id="12" name="Picture 11">
            <a:extLst>
              <a:ext uri="{FF2B5EF4-FFF2-40B4-BE49-F238E27FC236}">
                <a16:creationId xmlns:a16="http://schemas.microsoft.com/office/drawing/2014/main" id="{F7A3CF7A-CF55-D5DE-836F-A064E3B0753E}"/>
              </a:ext>
            </a:extLst>
          </p:cNvPr>
          <p:cNvPicPr>
            <a:picLocks noChangeAspect="1"/>
          </p:cNvPicPr>
          <p:nvPr/>
        </p:nvPicPr>
        <p:blipFill>
          <a:blip r:embed="rId3"/>
          <a:stretch>
            <a:fillRect/>
          </a:stretch>
        </p:blipFill>
        <p:spPr>
          <a:xfrm>
            <a:off x="6156419" y="3515497"/>
            <a:ext cx="5904175" cy="2403389"/>
          </a:xfrm>
          <a:prstGeom prst="rect">
            <a:avLst/>
          </a:prstGeom>
        </p:spPr>
      </p:pic>
    </p:spTree>
    <p:extLst>
      <p:ext uri="{BB962C8B-B14F-4D97-AF65-F5344CB8AC3E}">
        <p14:creationId xmlns:p14="http://schemas.microsoft.com/office/powerpoint/2010/main" val="178217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FA21C72-692C-49FD-9EB4-DDDDDEBD4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75405" y="950977"/>
            <a:ext cx="9041190" cy="4956047"/>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8B0CD893-6404-935B-27B4-4FFB4AFF0E5D}"/>
              </a:ext>
            </a:extLst>
          </p:cNvPr>
          <p:cNvPicPr>
            <a:picLocks noGrp="1" noChangeAspect="1"/>
          </p:cNvPicPr>
          <p:nvPr>
            <p:ph idx="1"/>
          </p:nvPr>
        </p:nvPicPr>
        <p:blipFill>
          <a:blip r:embed="rId2"/>
          <a:stretch>
            <a:fillRect/>
          </a:stretch>
        </p:blipFill>
        <p:spPr>
          <a:xfrm>
            <a:off x="2662777" y="1324217"/>
            <a:ext cx="7915425" cy="4209566"/>
          </a:xfrm>
          <a:prstGeom prst="rect">
            <a:avLst/>
          </a:prstGeom>
        </p:spPr>
      </p:pic>
      <p:sp>
        <p:nvSpPr>
          <p:cNvPr id="14" name="Oval 13">
            <a:extLst>
              <a:ext uri="{FF2B5EF4-FFF2-40B4-BE49-F238E27FC236}">
                <a16:creationId xmlns:a16="http://schemas.microsoft.com/office/drawing/2014/main" id="{FBAF941A-6830-47A3-B63C-7C7B66AEA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380" y="624518"/>
            <a:ext cx="2157984" cy="2157984"/>
          </a:xfrm>
          <a:prstGeom prst="ellipse">
            <a:avLst/>
          </a:prstGeom>
          <a:solidFill>
            <a:srgbClr val="40404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7C3196-BF08-266B-D707-AEE853CD4784}"/>
              </a:ext>
            </a:extLst>
          </p:cNvPr>
          <p:cNvSpPr>
            <a:spLocks noGrp="1"/>
          </p:cNvSpPr>
          <p:nvPr>
            <p:ph type="title"/>
          </p:nvPr>
        </p:nvSpPr>
        <p:spPr>
          <a:xfrm>
            <a:off x="796972" y="789110"/>
            <a:ext cx="1828800" cy="1828800"/>
          </a:xfrm>
          <a:prstGeom prst="ellipse">
            <a:avLst/>
          </a:prstGeom>
          <a:noFill/>
          <a:ln>
            <a:solidFill>
              <a:srgbClr val="FFFFFF"/>
            </a:solidFill>
          </a:ln>
        </p:spPr>
        <p:txBody>
          <a:bodyPr vert="horz" lIns="182880" tIns="182880" rIns="182880" bIns="182880" rtlCol="0" anchor="ctr">
            <a:normAutofit/>
          </a:bodyPr>
          <a:lstStyle/>
          <a:p>
            <a:r>
              <a:rPr lang="en-US" sz="1300">
                <a:solidFill>
                  <a:srgbClr val="FFFFFF"/>
                </a:solidFill>
              </a:rPr>
              <a:t>Tracing a While Loop</a:t>
            </a:r>
          </a:p>
        </p:txBody>
      </p:sp>
    </p:spTree>
    <p:extLst>
      <p:ext uri="{BB962C8B-B14F-4D97-AF65-F5344CB8AC3E}">
        <p14:creationId xmlns:p14="http://schemas.microsoft.com/office/powerpoint/2010/main" val="1130443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5D94-1872-21E3-35A3-FF671261BC84}"/>
              </a:ext>
            </a:extLst>
          </p:cNvPr>
          <p:cNvSpPr>
            <a:spLocks noGrp="1"/>
          </p:cNvSpPr>
          <p:nvPr>
            <p:ph type="title"/>
          </p:nvPr>
        </p:nvSpPr>
        <p:spPr/>
        <p:txBody>
          <a:bodyPr/>
          <a:lstStyle/>
          <a:p>
            <a:r>
              <a:rPr lang="en-US" dirty="0"/>
              <a:t>For Loops</a:t>
            </a:r>
          </a:p>
        </p:txBody>
      </p:sp>
      <p:pic>
        <p:nvPicPr>
          <p:cNvPr id="4" name="Content Placeholder 3">
            <a:extLst>
              <a:ext uri="{FF2B5EF4-FFF2-40B4-BE49-F238E27FC236}">
                <a16:creationId xmlns:a16="http://schemas.microsoft.com/office/drawing/2014/main" id="{9FFC6438-AC2C-95F3-D26A-560D79BE68E0}"/>
              </a:ext>
            </a:extLst>
          </p:cNvPr>
          <p:cNvPicPr>
            <a:picLocks noGrp="1" noChangeAspect="1"/>
          </p:cNvPicPr>
          <p:nvPr>
            <p:ph idx="1"/>
          </p:nvPr>
        </p:nvPicPr>
        <p:blipFill>
          <a:blip r:embed="rId2"/>
          <a:stretch>
            <a:fillRect/>
          </a:stretch>
        </p:blipFill>
        <p:spPr>
          <a:xfrm>
            <a:off x="2235255" y="2824438"/>
            <a:ext cx="7725609" cy="1441827"/>
          </a:xfrm>
          <a:prstGeom prst="rect">
            <a:avLst/>
          </a:prstGeom>
        </p:spPr>
      </p:pic>
    </p:spTree>
    <p:extLst>
      <p:ext uri="{BB962C8B-B14F-4D97-AF65-F5344CB8AC3E}">
        <p14:creationId xmlns:p14="http://schemas.microsoft.com/office/powerpoint/2010/main" val="423309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61F3C-A871-C308-A8E6-68FBD6D1EDF9}"/>
              </a:ext>
            </a:extLst>
          </p:cNvPr>
          <p:cNvSpPr>
            <a:spLocks noGrp="1"/>
          </p:cNvSpPr>
          <p:nvPr>
            <p:ph type="title"/>
          </p:nvPr>
        </p:nvSpPr>
        <p:spPr/>
        <p:txBody>
          <a:bodyPr/>
          <a:lstStyle/>
          <a:p>
            <a:r>
              <a:rPr lang="en-US" dirty="0"/>
              <a:t>Range</a:t>
            </a:r>
          </a:p>
        </p:txBody>
      </p:sp>
      <p:sp>
        <p:nvSpPr>
          <p:cNvPr id="3" name="Content Placeholder 2">
            <a:extLst>
              <a:ext uri="{FF2B5EF4-FFF2-40B4-BE49-F238E27FC236}">
                <a16:creationId xmlns:a16="http://schemas.microsoft.com/office/drawing/2014/main" id="{A0C7B7C9-2DB1-C418-2335-E2E3C638FDE4}"/>
              </a:ext>
            </a:extLst>
          </p:cNvPr>
          <p:cNvSpPr>
            <a:spLocks noGrp="1"/>
          </p:cNvSpPr>
          <p:nvPr>
            <p:ph idx="1"/>
          </p:nvPr>
        </p:nvSpPr>
        <p:spPr>
          <a:xfrm>
            <a:off x="1575878" y="2334613"/>
            <a:ext cx="9040244" cy="2369976"/>
          </a:xfrm>
        </p:spPr>
        <p:txBody>
          <a:bodyPr>
            <a:normAutofit fontScale="77500" lnSpcReduction="20000"/>
          </a:bodyPr>
          <a:lstStyle/>
          <a:p>
            <a:r>
              <a:rPr lang="en-US" sz="2400" b="1" dirty="0"/>
              <a:t>Range </a:t>
            </a:r>
            <a:r>
              <a:rPr lang="en-US" sz="2400" dirty="0"/>
              <a:t>a sequence of integers starting from some integer </a:t>
            </a:r>
            <a:r>
              <a:rPr lang="en-US" sz="2400" b="1" dirty="0"/>
              <a:t>start</a:t>
            </a:r>
            <a:r>
              <a:rPr lang="en-US" sz="2400" dirty="0"/>
              <a:t>, continuing up to but not including some ending integer </a:t>
            </a:r>
            <a:r>
              <a:rPr lang="en-US" sz="2400" b="1" dirty="0"/>
              <a:t>stop, </a:t>
            </a:r>
            <a:r>
              <a:rPr lang="en-US" sz="2400" dirty="0"/>
              <a:t>advancing </a:t>
            </a:r>
            <a:r>
              <a:rPr lang="en-US" sz="2400" b="1" dirty="0"/>
              <a:t>step</a:t>
            </a:r>
            <a:r>
              <a:rPr lang="en-US" sz="2400" dirty="0"/>
              <a:t> integers at a time</a:t>
            </a:r>
          </a:p>
          <a:p>
            <a:r>
              <a:rPr lang="en-US" sz="2400" dirty="0"/>
              <a:t>Built-in python function:</a:t>
            </a:r>
            <a:endParaRPr lang="en-US" sz="2200" dirty="0"/>
          </a:p>
          <a:p>
            <a:pPr marL="1654175" lvl="8" indent="0">
              <a:buNone/>
            </a:pPr>
            <a:r>
              <a:rPr lang="en-US" sz="2200" b="1" dirty="0">
                <a:latin typeface="Courier New" panose="02070309020205020404" pitchFamily="49" charset="0"/>
                <a:cs typeface="Courier New" panose="02070309020205020404" pitchFamily="49" charset="0"/>
              </a:rPr>
              <a:t>range(stop)</a:t>
            </a:r>
          </a:p>
          <a:p>
            <a:pPr marL="1654175" lvl="8" indent="0">
              <a:buNone/>
            </a:pPr>
            <a:r>
              <a:rPr lang="en-US" sz="2200" b="1" dirty="0">
                <a:latin typeface="Courier New" panose="02070309020205020404" pitchFamily="49" charset="0"/>
                <a:cs typeface="Courier New" panose="02070309020205020404" pitchFamily="49" charset="0"/>
              </a:rPr>
              <a:t>range(start, stop[,step])</a:t>
            </a:r>
          </a:p>
          <a:p>
            <a:r>
              <a:rPr lang="en-US" sz="2400" dirty="0"/>
              <a:t>The stop value is not included (exclusive of the stop)</a:t>
            </a:r>
          </a:p>
          <a:p>
            <a:r>
              <a:rPr lang="en-US" sz="2400" dirty="0"/>
              <a:t>Used to with for loops to execute an exact number of times (counting loop)</a:t>
            </a:r>
          </a:p>
          <a:p>
            <a:endParaRPr lang="en-US" sz="2400" dirty="0"/>
          </a:p>
        </p:txBody>
      </p:sp>
      <p:cxnSp>
        <p:nvCxnSpPr>
          <p:cNvPr id="6" name="Straight Arrow Connector 5">
            <a:extLst>
              <a:ext uri="{FF2B5EF4-FFF2-40B4-BE49-F238E27FC236}">
                <a16:creationId xmlns:a16="http://schemas.microsoft.com/office/drawing/2014/main" id="{3A7CF5D2-1F96-8EAD-3BF7-2D5EB0C90718}"/>
              </a:ext>
            </a:extLst>
          </p:cNvPr>
          <p:cNvCxnSpPr>
            <a:cxnSpLocks/>
            <a:stCxn id="7" idx="1"/>
          </p:cNvCxnSpPr>
          <p:nvPr/>
        </p:nvCxnSpPr>
        <p:spPr>
          <a:xfrm flipH="1">
            <a:off x="6572504" y="3724626"/>
            <a:ext cx="1997586" cy="16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E503BEF-EE77-5033-5598-1E0A2DDD7FA5}"/>
              </a:ext>
            </a:extLst>
          </p:cNvPr>
          <p:cNvSpPr txBox="1"/>
          <p:nvPr/>
        </p:nvSpPr>
        <p:spPr>
          <a:xfrm>
            <a:off x="8570090" y="3262961"/>
            <a:ext cx="2044700" cy="923330"/>
          </a:xfrm>
          <a:prstGeom prst="rect">
            <a:avLst/>
          </a:prstGeom>
          <a:noFill/>
          <a:ln>
            <a:solidFill>
              <a:srgbClr val="FFC000"/>
            </a:solidFill>
          </a:ln>
        </p:spPr>
        <p:txBody>
          <a:bodyPr wrap="square" rtlCol="0">
            <a:spAutoFit/>
          </a:bodyPr>
          <a:lstStyle/>
          <a:p>
            <a:r>
              <a:rPr lang="en-US" dirty="0"/>
              <a:t>Step is optional, if omitted it defaults to 1</a:t>
            </a:r>
          </a:p>
        </p:txBody>
      </p:sp>
      <p:cxnSp>
        <p:nvCxnSpPr>
          <p:cNvPr id="10" name="Straight Arrow Connector 9">
            <a:extLst>
              <a:ext uri="{FF2B5EF4-FFF2-40B4-BE49-F238E27FC236}">
                <a16:creationId xmlns:a16="http://schemas.microsoft.com/office/drawing/2014/main" id="{490587D8-C80F-428C-98DA-8BB7D0D2A308}"/>
              </a:ext>
            </a:extLst>
          </p:cNvPr>
          <p:cNvCxnSpPr>
            <a:cxnSpLocks/>
            <a:stCxn id="11" idx="3"/>
          </p:cNvCxnSpPr>
          <p:nvPr/>
        </p:nvCxnSpPr>
        <p:spPr>
          <a:xfrm flipV="1">
            <a:off x="2767005" y="3429000"/>
            <a:ext cx="463875" cy="157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63519F1-AEC0-E20F-A11F-31D04D4BACFC}"/>
              </a:ext>
            </a:extLst>
          </p:cNvPr>
          <p:cNvSpPr txBox="1"/>
          <p:nvPr/>
        </p:nvSpPr>
        <p:spPr>
          <a:xfrm>
            <a:off x="384750" y="3262961"/>
            <a:ext cx="2382255" cy="646331"/>
          </a:xfrm>
          <a:prstGeom prst="rect">
            <a:avLst/>
          </a:prstGeom>
          <a:noFill/>
          <a:ln>
            <a:solidFill>
              <a:schemeClr val="accent1"/>
            </a:solidFill>
          </a:ln>
        </p:spPr>
        <p:txBody>
          <a:bodyPr wrap="square" rtlCol="0">
            <a:spAutoFit/>
          </a:bodyPr>
          <a:lstStyle/>
          <a:p>
            <a:r>
              <a:rPr lang="en-US" dirty="0"/>
              <a:t>Start defaults to 0 and step to 1</a:t>
            </a:r>
          </a:p>
        </p:txBody>
      </p:sp>
    </p:spTree>
    <p:extLst>
      <p:ext uri="{BB962C8B-B14F-4D97-AF65-F5344CB8AC3E}">
        <p14:creationId xmlns:p14="http://schemas.microsoft.com/office/powerpoint/2010/main" val="1330118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5EAEC-9970-47BB-656D-71E42ADC6008}"/>
              </a:ext>
            </a:extLst>
          </p:cNvPr>
          <p:cNvSpPr>
            <a:spLocks noGrp="1"/>
          </p:cNvSpPr>
          <p:nvPr>
            <p:ph type="title"/>
          </p:nvPr>
        </p:nvSpPr>
        <p:spPr/>
        <p:txBody>
          <a:bodyPr/>
          <a:lstStyle/>
          <a:p>
            <a:r>
              <a:rPr lang="en-US" dirty="0"/>
              <a:t>Range Examples</a:t>
            </a:r>
          </a:p>
        </p:txBody>
      </p:sp>
      <p:pic>
        <p:nvPicPr>
          <p:cNvPr id="4" name="Content Placeholder 3">
            <a:extLst>
              <a:ext uri="{FF2B5EF4-FFF2-40B4-BE49-F238E27FC236}">
                <a16:creationId xmlns:a16="http://schemas.microsoft.com/office/drawing/2014/main" id="{5CFFB0D0-C376-5A5B-9D01-CB88C59AAE90}"/>
              </a:ext>
            </a:extLst>
          </p:cNvPr>
          <p:cNvPicPr>
            <a:picLocks noGrp="1" noChangeAspect="1"/>
          </p:cNvPicPr>
          <p:nvPr>
            <p:ph idx="1"/>
          </p:nvPr>
        </p:nvPicPr>
        <p:blipFill>
          <a:blip r:embed="rId2"/>
          <a:stretch>
            <a:fillRect/>
          </a:stretch>
        </p:blipFill>
        <p:spPr>
          <a:xfrm>
            <a:off x="2231136" y="2747362"/>
            <a:ext cx="7729728" cy="1614845"/>
          </a:xfrm>
          <a:prstGeom prst="rect">
            <a:avLst/>
          </a:prstGeom>
        </p:spPr>
      </p:pic>
    </p:spTree>
    <p:extLst>
      <p:ext uri="{BB962C8B-B14F-4D97-AF65-F5344CB8AC3E}">
        <p14:creationId xmlns:p14="http://schemas.microsoft.com/office/powerpoint/2010/main" val="2368560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097E-9BBB-5748-5806-59041941E7F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3E1EF9D-62A9-A936-147F-A85596374FB0}"/>
              </a:ext>
            </a:extLst>
          </p:cNvPr>
          <p:cNvPicPr>
            <a:picLocks noChangeAspect="1"/>
          </p:cNvPicPr>
          <p:nvPr/>
        </p:nvPicPr>
        <p:blipFill>
          <a:blip r:embed="rId2"/>
          <a:stretch>
            <a:fillRect/>
          </a:stretch>
        </p:blipFill>
        <p:spPr>
          <a:xfrm>
            <a:off x="2166259" y="3795226"/>
            <a:ext cx="3048000" cy="723900"/>
          </a:xfrm>
          <a:prstGeom prst="rect">
            <a:avLst/>
          </a:prstGeom>
        </p:spPr>
      </p:pic>
      <p:sp>
        <p:nvSpPr>
          <p:cNvPr id="12" name="Text Placeholder 11">
            <a:extLst>
              <a:ext uri="{FF2B5EF4-FFF2-40B4-BE49-F238E27FC236}">
                <a16:creationId xmlns:a16="http://schemas.microsoft.com/office/drawing/2014/main" id="{0B8CFACB-0F19-86CB-A9D7-B15B472BB383}"/>
              </a:ext>
            </a:extLst>
          </p:cNvPr>
          <p:cNvSpPr>
            <a:spLocks noGrp="1"/>
          </p:cNvSpPr>
          <p:nvPr>
            <p:ph type="body" idx="1"/>
          </p:nvPr>
        </p:nvSpPr>
        <p:spPr/>
        <p:txBody>
          <a:bodyPr/>
          <a:lstStyle/>
          <a:p>
            <a:r>
              <a:rPr lang="en-CA" dirty="0"/>
              <a:t>For Loop with Range</a:t>
            </a:r>
          </a:p>
          <a:p>
            <a:endParaRPr lang="en-CA" dirty="0"/>
          </a:p>
        </p:txBody>
      </p:sp>
      <p:pic>
        <p:nvPicPr>
          <p:cNvPr id="4" name="Content Placeholder 3">
            <a:extLst>
              <a:ext uri="{FF2B5EF4-FFF2-40B4-BE49-F238E27FC236}">
                <a16:creationId xmlns:a16="http://schemas.microsoft.com/office/drawing/2014/main" id="{C19FB4BD-C5C8-448E-BB36-A1016B2E6A17}"/>
              </a:ext>
            </a:extLst>
          </p:cNvPr>
          <p:cNvPicPr>
            <a:picLocks noGrp="1" noChangeAspect="1"/>
          </p:cNvPicPr>
          <p:nvPr>
            <p:ph sz="half" idx="2"/>
          </p:nvPr>
        </p:nvPicPr>
        <p:blipFill>
          <a:blip r:embed="rId3"/>
          <a:stretch>
            <a:fillRect/>
          </a:stretch>
        </p:blipFill>
        <p:spPr>
          <a:xfrm>
            <a:off x="2170233" y="2665137"/>
            <a:ext cx="3048157" cy="723937"/>
          </a:xfrm>
          <a:prstGeom prst="rect">
            <a:avLst/>
          </a:prstGeom>
        </p:spPr>
      </p:pic>
      <p:sp>
        <p:nvSpPr>
          <p:cNvPr id="13" name="Text Placeholder 12">
            <a:extLst>
              <a:ext uri="{FF2B5EF4-FFF2-40B4-BE49-F238E27FC236}">
                <a16:creationId xmlns:a16="http://schemas.microsoft.com/office/drawing/2014/main" id="{E3231B62-DC16-92F2-31FF-280058D4595E}"/>
              </a:ext>
            </a:extLst>
          </p:cNvPr>
          <p:cNvSpPr>
            <a:spLocks noGrp="1"/>
          </p:cNvSpPr>
          <p:nvPr>
            <p:ph type="body" sz="quarter" idx="13"/>
          </p:nvPr>
        </p:nvSpPr>
        <p:spPr>
          <a:xfrm>
            <a:off x="5314188" y="2286408"/>
            <a:ext cx="4270248" cy="704087"/>
          </a:xfrm>
        </p:spPr>
        <p:txBody>
          <a:bodyPr/>
          <a:lstStyle/>
          <a:p>
            <a:r>
              <a:rPr lang="en-CA" dirty="0"/>
              <a:t>Equivalent without loops</a:t>
            </a:r>
          </a:p>
          <a:p>
            <a:endParaRPr lang="en-CA" dirty="0"/>
          </a:p>
        </p:txBody>
      </p:sp>
      <p:sp>
        <p:nvSpPr>
          <p:cNvPr id="2" name="Title 1">
            <a:extLst>
              <a:ext uri="{FF2B5EF4-FFF2-40B4-BE49-F238E27FC236}">
                <a16:creationId xmlns:a16="http://schemas.microsoft.com/office/drawing/2014/main" id="{98D6B784-7002-50EA-1D4F-762BE60C748C}"/>
              </a:ext>
            </a:extLst>
          </p:cNvPr>
          <p:cNvSpPr>
            <a:spLocks noGrp="1"/>
          </p:cNvSpPr>
          <p:nvPr>
            <p:ph type="title"/>
          </p:nvPr>
        </p:nvSpPr>
        <p:spPr/>
        <p:txBody>
          <a:bodyPr/>
          <a:lstStyle/>
          <a:p>
            <a:r>
              <a:rPr lang="en-US" dirty="0"/>
              <a:t>For Loops with Range</a:t>
            </a:r>
          </a:p>
        </p:txBody>
      </p:sp>
      <p:cxnSp>
        <p:nvCxnSpPr>
          <p:cNvPr id="6" name="Straight Arrow Connector 5">
            <a:extLst>
              <a:ext uri="{FF2B5EF4-FFF2-40B4-BE49-F238E27FC236}">
                <a16:creationId xmlns:a16="http://schemas.microsoft.com/office/drawing/2014/main" id="{DC6A0800-4993-76A9-0AE7-5157C2DE4BE0}"/>
              </a:ext>
            </a:extLst>
          </p:cNvPr>
          <p:cNvCxnSpPr>
            <a:cxnSpLocks/>
          </p:cNvCxnSpPr>
          <p:nvPr/>
        </p:nvCxnSpPr>
        <p:spPr>
          <a:xfrm flipV="1">
            <a:off x="4654981" y="2718969"/>
            <a:ext cx="2378350" cy="1278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696C642-BEEA-F57A-582B-C1E1CE6D90B8}"/>
              </a:ext>
            </a:extLst>
          </p:cNvPr>
          <p:cNvPicPr>
            <a:picLocks noChangeAspect="1"/>
          </p:cNvPicPr>
          <p:nvPr/>
        </p:nvPicPr>
        <p:blipFill>
          <a:blip r:embed="rId4"/>
          <a:stretch>
            <a:fillRect/>
          </a:stretch>
        </p:blipFill>
        <p:spPr>
          <a:xfrm>
            <a:off x="7019887" y="2590244"/>
            <a:ext cx="1044130" cy="3303064"/>
          </a:xfrm>
          <a:prstGeom prst="rect">
            <a:avLst/>
          </a:prstGeom>
        </p:spPr>
      </p:pic>
      <p:cxnSp>
        <p:nvCxnSpPr>
          <p:cNvPr id="10" name="Straight Arrow Connector 9">
            <a:extLst>
              <a:ext uri="{FF2B5EF4-FFF2-40B4-BE49-F238E27FC236}">
                <a16:creationId xmlns:a16="http://schemas.microsoft.com/office/drawing/2014/main" id="{788871C5-6CC2-6D6B-A4ED-1242E654EB25}"/>
              </a:ext>
            </a:extLst>
          </p:cNvPr>
          <p:cNvCxnSpPr>
            <a:cxnSpLocks/>
          </p:cNvCxnSpPr>
          <p:nvPr/>
        </p:nvCxnSpPr>
        <p:spPr>
          <a:xfrm flipV="1">
            <a:off x="4684746" y="3389074"/>
            <a:ext cx="2292997" cy="62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0FEB1AF-371E-355E-0C25-2DA2110FEB04}"/>
              </a:ext>
            </a:extLst>
          </p:cNvPr>
          <p:cNvCxnSpPr>
            <a:cxnSpLocks/>
          </p:cNvCxnSpPr>
          <p:nvPr/>
        </p:nvCxnSpPr>
        <p:spPr>
          <a:xfrm>
            <a:off x="4652087" y="4031700"/>
            <a:ext cx="2325656" cy="1339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957D10D-F887-2721-3B50-8F4D7E9E5054}"/>
              </a:ext>
            </a:extLst>
          </p:cNvPr>
          <p:cNvCxnSpPr>
            <a:cxnSpLocks/>
          </p:cNvCxnSpPr>
          <p:nvPr/>
        </p:nvCxnSpPr>
        <p:spPr>
          <a:xfrm>
            <a:off x="4684746" y="4015118"/>
            <a:ext cx="2223973" cy="436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0BEDB91-044B-56C2-CE82-68836BD2671B}"/>
              </a:ext>
            </a:extLst>
          </p:cNvPr>
          <p:cNvCxnSpPr>
            <a:cxnSpLocks/>
          </p:cNvCxnSpPr>
          <p:nvPr/>
        </p:nvCxnSpPr>
        <p:spPr>
          <a:xfrm>
            <a:off x="4684746" y="4031700"/>
            <a:ext cx="2292997" cy="735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9475469-9B59-1912-8081-1961EFA33EA9}"/>
              </a:ext>
            </a:extLst>
          </p:cNvPr>
          <p:cNvSpPr txBox="1"/>
          <p:nvPr/>
        </p:nvSpPr>
        <p:spPr>
          <a:xfrm>
            <a:off x="2231136" y="5669924"/>
            <a:ext cx="2732992" cy="369332"/>
          </a:xfrm>
          <a:prstGeom prst="rect">
            <a:avLst/>
          </a:prstGeom>
          <a:noFill/>
          <a:ln>
            <a:solidFill>
              <a:schemeClr val="accent1"/>
            </a:solidFill>
          </a:ln>
        </p:spPr>
        <p:txBody>
          <a:bodyPr wrap="none" rtlCol="0">
            <a:spAutoFit/>
          </a:bodyPr>
          <a:lstStyle/>
          <a:p>
            <a:r>
              <a:rPr lang="en-US" dirty="0"/>
              <a:t>The loop executes 5 times </a:t>
            </a:r>
          </a:p>
        </p:txBody>
      </p:sp>
      <p:pic>
        <p:nvPicPr>
          <p:cNvPr id="22" name="Picture 21">
            <a:extLst>
              <a:ext uri="{FF2B5EF4-FFF2-40B4-BE49-F238E27FC236}">
                <a16:creationId xmlns:a16="http://schemas.microsoft.com/office/drawing/2014/main" id="{1284540C-D5C8-CF34-A0F9-20E5AE6CCE4E}"/>
              </a:ext>
            </a:extLst>
          </p:cNvPr>
          <p:cNvPicPr>
            <a:picLocks noChangeAspect="1"/>
          </p:cNvPicPr>
          <p:nvPr/>
        </p:nvPicPr>
        <p:blipFill>
          <a:blip r:embed="rId5"/>
          <a:stretch>
            <a:fillRect/>
          </a:stretch>
        </p:blipFill>
        <p:spPr>
          <a:xfrm>
            <a:off x="10227724" y="2930993"/>
            <a:ext cx="330200" cy="1447800"/>
          </a:xfrm>
          <a:prstGeom prst="rect">
            <a:avLst/>
          </a:prstGeom>
        </p:spPr>
      </p:pic>
      <p:sp>
        <p:nvSpPr>
          <p:cNvPr id="24" name="TextBox 23">
            <a:extLst>
              <a:ext uri="{FF2B5EF4-FFF2-40B4-BE49-F238E27FC236}">
                <a16:creationId xmlns:a16="http://schemas.microsoft.com/office/drawing/2014/main" id="{D22D5514-AA54-D226-5E87-28EA32CC6D07}"/>
              </a:ext>
            </a:extLst>
          </p:cNvPr>
          <p:cNvSpPr txBox="1"/>
          <p:nvPr/>
        </p:nvSpPr>
        <p:spPr>
          <a:xfrm>
            <a:off x="9145870" y="5392925"/>
            <a:ext cx="2262613" cy="923330"/>
          </a:xfrm>
          <a:prstGeom prst="rect">
            <a:avLst/>
          </a:prstGeom>
          <a:noFill/>
          <a:ln>
            <a:solidFill>
              <a:schemeClr val="accent1"/>
            </a:solidFill>
          </a:ln>
        </p:spPr>
        <p:txBody>
          <a:bodyPr wrap="square" rtlCol="0">
            <a:spAutoFit/>
          </a:bodyPr>
          <a:lstStyle/>
          <a:p>
            <a:r>
              <a:rPr lang="en-US" dirty="0"/>
              <a:t>Remember: The end value passed to range is excluded</a:t>
            </a:r>
          </a:p>
        </p:txBody>
      </p:sp>
      <p:sp>
        <p:nvSpPr>
          <p:cNvPr id="41" name="Text Placeholder 12">
            <a:extLst>
              <a:ext uri="{FF2B5EF4-FFF2-40B4-BE49-F238E27FC236}">
                <a16:creationId xmlns:a16="http://schemas.microsoft.com/office/drawing/2014/main" id="{38937D03-526B-A17D-9FF6-2ADB9025B897}"/>
              </a:ext>
            </a:extLst>
          </p:cNvPr>
          <p:cNvSpPr txBox="1">
            <a:spLocks/>
          </p:cNvSpPr>
          <p:nvPr/>
        </p:nvSpPr>
        <p:spPr>
          <a:xfrm>
            <a:off x="8268368" y="2297976"/>
            <a:ext cx="4270248" cy="704087"/>
          </a:xfrm>
          <a:prstGeom prst="rect">
            <a:avLst/>
          </a:prstGeom>
        </p:spPr>
        <p:txBody>
          <a:bodyPr vert="horz" lIns="91440" tIns="45720" rIns="91440" bIns="45720" rtlCol="0" anchor="b" anchorCtr="1">
            <a:norm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1900" b="0" kern="1200" cap="all" spc="100" baseline="0">
                <a:solidFill>
                  <a:schemeClr val="accent2">
                    <a:lumMod val="75000"/>
                  </a:schemeClr>
                </a:solidFill>
                <a:latin typeface="+mn-lt"/>
                <a:ea typeface="+mn-ea"/>
                <a:cs typeface="+mn-cs"/>
              </a:defRPr>
            </a:lvl1pPr>
            <a:lvl2pPr marL="457200" indent="0" algn="l" defTabSz="914400" rtl="0" eaLnBrk="1" latinLnBrk="0" hangingPunct="1">
              <a:lnSpc>
                <a:spcPct val="100000"/>
              </a:lnSpc>
              <a:spcBef>
                <a:spcPts val="1000"/>
              </a:spcBef>
              <a:buClr>
                <a:schemeClr val="accent2"/>
              </a:buClr>
              <a:buFont typeface="Arial" panose="020B0604020202020204" pitchFamily="34" charset="0"/>
              <a:buNone/>
              <a:defRPr sz="1900" b="1" kern="1200">
                <a:solidFill>
                  <a:schemeClr val="tx1">
                    <a:lumMod val="85000"/>
                    <a:lumOff val="15000"/>
                  </a:schemeClr>
                </a:solidFill>
                <a:latin typeface="+mn-lt"/>
                <a:ea typeface="+mn-ea"/>
                <a:cs typeface="+mn-cs"/>
              </a:defRPr>
            </a:lvl2pPr>
            <a:lvl3pPr marL="914400" indent="0" algn="l" defTabSz="914400" rtl="0" eaLnBrk="1" latinLnBrk="0" hangingPunct="1">
              <a:lnSpc>
                <a:spcPct val="100000"/>
              </a:lnSpc>
              <a:spcBef>
                <a:spcPts val="1000"/>
              </a:spcBef>
              <a:buClr>
                <a:schemeClr val="accent2"/>
              </a:buClr>
              <a:buFont typeface="Arial" panose="020B0604020202020204" pitchFamily="34" charset="0"/>
              <a:buNone/>
              <a:defRPr sz="1800" b="1" kern="1200">
                <a:solidFill>
                  <a:schemeClr val="tx1">
                    <a:lumMod val="85000"/>
                    <a:lumOff val="15000"/>
                  </a:schemeClr>
                </a:solidFill>
                <a:latin typeface="+mn-lt"/>
                <a:ea typeface="+mn-ea"/>
                <a:cs typeface="+mn-cs"/>
              </a:defRPr>
            </a:lvl3pPr>
            <a:lvl4pPr marL="1371600" indent="0" algn="l" defTabSz="914400" rtl="0" eaLnBrk="1" latinLnBrk="0" hangingPunct="1">
              <a:lnSpc>
                <a:spcPct val="100000"/>
              </a:lnSpc>
              <a:spcBef>
                <a:spcPts val="1000"/>
              </a:spcBef>
              <a:buClr>
                <a:schemeClr val="accent2"/>
              </a:buClr>
              <a:buFont typeface="Arial" panose="020B0604020202020204" pitchFamily="34" charset="0"/>
              <a:buNone/>
              <a:defRPr sz="1600" b="1" kern="1200">
                <a:solidFill>
                  <a:schemeClr val="tx1">
                    <a:lumMod val="85000"/>
                    <a:lumOff val="15000"/>
                  </a:schemeClr>
                </a:solidFill>
                <a:latin typeface="+mn-lt"/>
                <a:ea typeface="+mn-ea"/>
                <a:cs typeface="+mn-cs"/>
              </a:defRPr>
            </a:lvl4pPr>
            <a:lvl5pPr marL="1828800" indent="0" algn="l" defTabSz="914400" rtl="0" eaLnBrk="1" latinLnBrk="0" hangingPunct="1">
              <a:lnSpc>
                <a:spcPct val="100000"/>
              </a:lnSpc>
              <a:spcBef>
                <a:spcPts val="1000"/>
              </a:spcBef>
              <a:buClr>
                <a:schemeClr val="accent2"/>
              </a:buClr>
              <a:buFont typeface="Arial" panose="020B0604020202020204" pitchFamily="34" charset="0"/>
              <a:buNone/>
              <a:defRPr sz="1600" b="1" kern="1200">
                <a:solidFill>
                  <a:schemeClr val="tx1">
                    <a:lumMod val="85000"/>
                    <a:lumOff val="15000"/>
                  </a:schemeClr>
                </a:solidFill>
                <a:latin typeface="+mn-lt"/>
                <a:ea typeface="+mn-ea"/>
                <a:cs typeface="+mn-cs"/>
              </a:defRPr>
            </a:lvl5pPr>
            <a:lvl6pPr marL="2286000" indent="0" algn="l" defTabSz="914400" rtl="0" eaLnBrk="1" latinLnBrk="0" hangingPunct="1">
              <a:lnSpc>
                <a:spcPct val="100000"/>
              </a:lnSpc>
              <a:spcBef>
                <a:spcPts val="1000"/>
              </a:spcBef>
              <a:buClr>
                <a:schemeClr val="accent2"/>
              </a:buClr>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100000"/>
              </a:lnSpc>
              <a:spcBef>
                <a:spcPts val="1000"/>
              </a:spcBef>
              <a:buClr>
                <a:schemeClr val="accent2"/>
              </a:buClr>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100000"/>
              </a:lnSpc>
              <a:spcBef>
                <a:spcPts val="1000"/>
              </a:spcBef>
              <a:buClr>
                <a:schemeClr val="accent2"/>
              </a:buClr>
              <a:buFont typeface="Arial" panose="020B0604020202020204" pitchFamily="34" charset="0"/>
              <a:buNone/>
              <a:defRPr sz="1600" b="1" kern="1200" baseline="0">
                <a:solidFill>
                  <a:schemeClr val="tx1"/>
                </a:solidFill>
                <a:latin typeface="+mn-lt"/>
                <a:ea typeface="+mn-ea"/>
                <a:cs typeface="+mn-cs"/>
              </a:defRPr>
            </a:lvl8pPr>
            <a:lvl9pPr marL="3657600" indent="0" algn="l" defTabSz="914400" rtl="0" eaLnBrk="1" latinLnBrk="0" hangingPunct="1">
              <a:lnSpc>
                <a:spcPct val="100000"/>
              </a:lnSpc>
              <a:spcBef>
                <a:spcPts val="1000"/>
              </a:spcBef>
              <a:buClr>
                <a:schemeClr val="accent2"/>
              </a:buClr>
              <a:buFont typeface="Arial" panose="020B0604020202020204" pitchFamily="34" charset="0"/>
              <a:buNone/>
              <a:defRPr sz="1600" b="1" kern="1200" baseline="0">
                <a:solidFill>
                  <a:schemeClr val="tx1"/>
                </a:solidFill>
                <a:latin typeface="+mn-lt"/>
                <a:ea typeface="+mn-ea"/>
                <a:cs typeface="+mn-cs"/>
              </a:defRPr>
            </a:lvl9pPr>
          </a:lstStyle>
          <a:p>
            <a:r>
              <a:rPr lang="en-CA" dirty="0"/>
              <a:t>OUTPUT</a:t>
            </a:r>
          </a:p>
          <a:p>
            <a:endParaRPr lang="en-CA" dirty="0"/>
          </a:p>
        </p:txBody>
      </p:sp>
      <p:cxnSp>
        <p:nvCxnSpPr>
          <p:cNvPr id="42" name="Straight Arrow Connector 41">
            <a:extLst>
              <a:ext uri="{FF2B5EF4-FFF2-40B4-BE49-F238E27FC236}">
                <a16:creationId xmlns:a16="http://schemas.microsoft.com/office/drawing/2014/main" id="{21F3A07F-14D1-79A6-4F27-3FD519CF8CDE}"/>
              </a:ext>
            </a:extLst>
          </p:cNvPr>
          <p:cNvCxnSpPr>
            <a:cxnSpLocks/>
          </p:cNvCxnSpPr>
          <p:nvPr/>
        </p:nvCxnSpPr>
        <p:spPr>
          <a:xfrm>
            <a:off x="8064017" y="2996969"/>
            <a:ext cx="2163707" cy="126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8B21598-911B-39DD-36B6-EF3D6AFE571C}"/>
              </a:ext>
            </a:extLst>
          </p:cNvPr>
          <p:cNvCxnSpPr>
            <a:cxnSpLocks/>
          </p:cNvCxnSpPr>
          <p:nvPr/>
        </p:nvCxnSpPr>
        <p:spPr>
          <a:xfrm flipV="1">
            <a:off x="8064017" y="3365956"/>
            <a:ext cx="2163707" cy="218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2BED56A-9049-A423-B04C-9B666826CF98}"/>
              </a:ext>
            </a:extLst>
          </p:cNvPr>
          <p:cNvCxnSpPr>
            <a:cxnSpLocks/>
            <a:stCxn id="8" idx="3"/>
            <a:endCxn id="22" idx="1"/>
          </p:cNvCxnSpPr>
          <p:nvPr/>
        </p:nvCxnSpPr>
        <p:spPr>
          <a:xfrm flipV="1">
            <a:off x="8064017" y="3654893"/>
            <a:ext cx="2163707" cy="58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4BDA7C2-2AC5-ECC8-34DE-664844E1EEFF}"/>
              </a:ext>
            </a:extLst>
          </p:cNvPr>
          <p:cNvCxnSpPr>
            <a:cxnSpLocks/>
          </p:cNvCxnSpPr>
          <p:nvPr/>
        </p:nvCxnSpPr>
        <p:spPr>
          <a:xfrm flipV="1">
            <a:off x="8064017" y="3975923"/>
            <a:ext cx="2163707" cy="8624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587DB13-8E55-E8B4-EE60-9F6679D99563}"/>
              </a:ext>
            </a:extLst>
          </p:cNvPr>
          <p:cNvCxnSpPr>
            <a:cxnSpLocks/>
          </p:cNvCxnSpPr>
          <p:nvPr/>
        </p:nvCxnSpPr>
        <p:spPr>
          <a:xfrm flipV="1">
            <a:off x="8064017" y="4241776"/>
            <a:ext cx="2163707" cy="1443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7502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69B61-4517-694C-1136-25051F1729B8}"/>
              </a:ext>
            </a:extLst>
          </p:cNvPr>
          <p:cNvSpPr>
            <a:spLocks noGrp="1"/>
          </p:cNvSpPr>
          <p:nvPr>
            <p:ph type="title"/>
          </p:nvPr>
        </p:nvSpPr>
        <p:spPr/>
        <p:txBody>
          <a:bodyPr/>
          <a:lstStyle/>
          <a:p>
            <a:r>
              <a:rPr lang="en-US" dirty="0"/>
              <a:t>Conventions</a:t>
            </a:r>
          </a:p>
        </p:txBody>
      </p:sp>
      <p:sp>
        <p:nvSpPr>
          <p:cNvPr id="3" name="Content Placeholder 2">
            <a:extLst>
              <a:ext uri="{FF2B5EF4-FFF2-40B4-BE49-F238E27FC236}">
                <a16:creationId xmlns:a16="http://schemas.microsoft.com/office/drawing/2014/main" id="{252947CD-2CCF-48B8-FC86-94F14D9AC97E}"/>
              </a:ext>
            </a:extLst>
          </p:cNvPr>
          <p:cNvSpPr>
            <a:spLocks noGrp="1"/>
          </p:cNvSpPr>
          <p:nvPr>
            <p:ph idx="1"/>
          </p:nvPr>
        </p:nvSpPr>
        <p:spPr/>
        <p:txBody>
          <a:bodyPr>
            <a:normAutofit/>
          </a:bodyPr>
          <a:lstStyle/>
          <a:p>
            <a:r>
              <a:rPr lang="en-US" dirty="0"/>
              <a:t>Typically, we avoid single letter variable names </a:t>
            </a:r>
          </a:p>
          <a:p>
            <a:pPr lvl="1"/>
            <a:r>
              <a:rPr lang="en-US" dirty="0"/>
              <a:t>However, it is quite common to use </a:t>
            </a:r>
            <a:r>
              <a:rPr lang="en-US" dirty="0" err="1"/>
              <a:t>i</a:t>
            </a:r>
            <a:r>
              <a:rPr lang="en-US" dirty="0"/>
              <a:t>, j, and k, ... As the counting variable in a for loop</a:t>
            </a:r>
          </a:p>
          <a:p>
            <a:pPr lvl="1"/>
            <a:r>
              <a:rPr lang="en-US" dirty="0"/>
              <a:t>It is always a good idea to ask yourself if another name is more appropriate </a:t>
            </a:r>
          </a:p>
          <a:p>
            <a:r>
              <a:rPr lang="en-US" dirty="0"/>
              <a:t>You may see the use of an _ as the variable name for use in a for loop</a:t>
            </a:r>
          </a:p>
          <a:p>
            <a:r>
              <a:rPr lang="en-US" dirty="0"/>
              <a:t>This is a valid variable name but it indicates that the counting variable for the loop is not used in the loop. </a:t>
            </a:r>
          </a:p>
          <a:p>
            <a:pPr lvl="1"/>
            <a:r>
              <a:rPr lang="en-US" dirty="0"/>
              <a:t>i.e., you want to do something a specific amount of times but there is no regard for which iteration it is</a:t>
            </a:r>
          </a:p>
        </p:txBody>
      </p:sp>
    </p:spTree>
    <p:extLst>
      <p:ext uri="{BB962C8B-B14F-4D97-AF65-F5344CB8AC3E}">
        <p14:creationId xmlns:p14="http://schemas.microsoft.com/office/powerpoint/2010/main" val="2426585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D2C63-03A8-D9F5-1A6A-578DE12B71E9}"/>
              </a:ext>
            </a:extLst>
          </p:cNvPr>
          <p:cNvSpPr>
            <a:spLocks noGrp="1"/>
          </p:cNvSpPr>
          <p:nvPr>
            <p:ph type="title"/>
          </p:nvPr>
        </p:nvSpPr>
        <p:spPr>
          <a:xfrm>
            <a:off x="640079" y="640079"/>
            <a:ext cx="3402531" cy="5272242"/>
          </a:xfrm>
        </p:spPr>
        <p:txBody>
          <a:bodyPr>
            <a:normAutofit/>
          </a:bodyPr>
          <a:lstStyle/>
          <a:p>
            <a:r>
              <a:rPr lang="en-US" dirty="0"/>
              <a:t>Sequences and for Loops</a:t>
            </a:r>
          </a:p>
        </p:txBody>
      </p:sp>
      <p:sp>
        <p:nvSpPr>
          <p:cNvPr id="3" name="Content Placeholder 2">
            <a:extLst>
              <a:ext uri="{FF2B5EF4-FFF2-40B4-BE49-F238E27FC236}">
                <a16:creationId xmlns:a16="http://schemas.microsoft.com/office/drawing/2014/main" id="{DB762603-A218-8055-EF7A-30EF05D0B279}"/>
              </a:ext>
            </a:extLst>
          </p:cNvPr>
          <p:cNvSpPr>
            <a:spLocks noGrp="1"/>
          </p:cNvSpPr>
          <p:nvPr>
            <p:ph idx="1"/>
          </p:nvPr>
        </p:nvSpPr>
        <p:spPr>
          <a:xfrm>
            <a:off x="4672103" y="640079"/>
            <a:ext cx="6883072" cy="2959155"/>
          </a:xfrm>
        </p:spPr>
        <p:txBody>
          <a:bodyPr>
            <a:normAutofit/>
          </a:bodyPr>
          <a:lstStyle/>
          <a:p>
            <a:r>
              <a:rPr lang="en-US" sz="2800" dirty="0"/>
              <a:t>The only sequence so far (aside from the built-in range) we have seen is a string</a:t>
            </a:r>
          </a:p>
          <a:p>
            <a:r>
              <a:rPr lang="en-US" sz="2800" dirty="0"/>
              <a:t>A </a:t>
            </a:r>
            <a:r>
              <a:rPr lang="en-US" sz="2800" i="1" dirty="0"/>
              <a:t>for </a:t>
            </a:r>
            <a:r>
              <a:rPr lang="en-US" sz="2800" dirty="0"/>
              <a:t>loop can process each of the letters in a string </a:t>
            </a:r>
          </a:p>
        </p:txBody>
      </p:sp>
      <p:sp>
        <p:nvSpPr>
          <p:cNvPr id="9" name="Rectangle 8">
            <a:extLst>
              <a:ext uri="{FF2B5EF4-FFF2-40B4-BE49-F238E27FC236}">
                <a16:creationId xmlns:a16="http://schemas.microsoft.com/office/drawing/2014/main" id="{9344763E-1F5B-4192-9E84-267D8A649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2223" y="3822192"/>
            <a:ext cx="6882951" cy="2068469"/>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50013361-A314-4AA8-8C94-466226554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3905450"/>
            <a:ext cx="6720840" cy="190195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background with red text&#10;&#10;AI-generated content may be incorrect.">
            <a:extLst>
              <a:ext uri="{FF2B5EF4-FFF2-40B4-BE49-F238E27FC236}">
                <a16:creationId xmlns:a16="http://schemas.microsoft.com/office/drawing/2014/main" id="{619C4192-8869-D41F-5D66-B50A7A069869}"/>
              </a:ext>
            </a:extLst>
          </p:cNvPr>
          <p:cNvPicPr>
            <a:picLocks noChangeAspect="1"/>
          </p:cNvPicPr>
          <p:nvPr/>
        </p:nvPicPr>
        <p:blipFill>
          <a:blip r:embed="rId2"/>
          <a:stretch>
            <a:fillRect/>
          </a:stretch>
        </p:blipFill>
        <p:spPr>
          <a:xfrm>
            <a:off x="4866296" y="3987746"/>
            <a:ext cx="6494804" cy="1737360"/>
          </a:xfrm>
          <a:prstGeom prst="rect">
            <a:avLst/>
          </a:prstGeom>
        </p:spPr>
      </p:pic>
    </p:spTree>
    <p:extLst>
      <p:ext uri="{BB962C8B-B14F-4D97-AF65-F5344CB8AC3E}">
        <p14:creationId xmlns:p14="http://schemas.microsoft.com/office/powerpoint/2010/main" val="3834982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761631-4D4E-638E-84E9-DC753D4DE01D}"/>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300" dirty="0" err="1">
                <a:solidFill>
                  <a:srgbClr val="FFFFFF"/>
                </a:solidFill>
              </a:rPr>
              <a:t>NESTeD</a:t>
            </a:r>
            <a:r>
              <a:rPr lang="en-US" sz="2300" dirty="0">
                <a:solidFill>
                  <a:srgbClr val="FFFFFF"/>
                </a:solidFill>
              </a:rPr>
              <a:t> Loops</a:t>
            </a:r>
          </a:p>
        </p:txBody>
      </p:sp>
      <p:sp>
        <p:nvSpPr>
          <p:cNvPr id="3" name="Content Placeholder 2">
            <a:extLst>
              <a:ext uri="{FF2B5EF4-FFF2-40B4-BE49-F238E27FC236}">
                <a16:creationId xmlns:a16="http://schemas.microsoft.com/office/drawing/2014/main" id="{63639315-F522-77D2-AC9B-04A8D89ECBF0}"/>
              </a:ext>
            </a:extLst>
          </p:cNvPr>
          <p:cNvSpPr>
            <a:spLocks noGrp="1"/>
          </p:cNvSpPr>
          <p:nvPr>
            <p:ph idx="1"/>
          </p:nvPr>
        </p:nvSpPr>
        <p:spPr>
          <a:xfrm>
            <a:off x="5442405" y="595194"/>
            <a:ext cx="5320696" cy="1695682"/>
          </a:xfrm>
        </p:spPr>
        <p:txBody>
          <a:bodyPr anchor="ctr">
            <a:normAutofit/>
          </a:bodyPr>
          <a:lstStyle/>
          <a:p>
            <a:r>
              <a:rPr lang="en-US" dirty="0"/>
              <a:t>When loops are nested a few lines of code can create complex iterations</a:t>
            </a:r>
          </a:p>
        </p:txBody>
      </p:sp>
      <p:pic>
        <p:nvPicPr>
          <p:cNvPr id="5" name="Picture 4">
            <a:extLst>
              <a:ext uri="{FF2B5EF4-FFF2-40B4-BE49-F238E27FC236}">
                <a16:creationId xmlns:a16="http://schemas.microsoft.com/office/drawing/2014/main" id="{490C6D17-0040-0641-7391-075B6DB491B2}"/>
              </a:ext>
            </a:extLst>
          </p:cNvPr>
          <p:cNvPicPr>
            <a:picLocks noChangeAspect="1"/>
          </p:cNvPicPr>
          <p:nvPr/>
        </p:nvPicPr>
        <p:blipFill>
          <a:blip r:embed="rId2"/>
          <a:stretch>
            <a:fillRect/>
          </a:stretch>
        </p:blipFill>
        <p:spPr>
          <a:xfrm>
            <a:off x="5203350" y="2886070"/>
            <a:ext cx="6874655" cy="1843314"/>
          </a:xfrm>
          <a:prstGeom prst="rect">
            <a:avLst/>
          </a:prstGeom>
        </p:spPr>
      </p:pic>
      <p:cxnSp>
        <p:nvCxnSpPr>
          <p:cNvPr id="7" name="Straight Arrow Connector 6">
            <a:extLst>
              <a:ext uri="{FF2B5EF4-FFF2-40B4-BE49-F238E27FC236}">
                <a16:creationId xmlns:a16="http://schemas.microsoft.com/office/drawing/2014/main" id="{8B33F92F-7BE0-23E5-3BB6-9C48F279D4F4}"/>
              </a:ext>
            </a:extLst>
          </p:cNvPr>
          <p:cNvCxnSpPr/>
          <p:nvPr/>
        </p:nvCxnSpPr>
        <p:spPr>
          <a:xfrm flipV="1">
            <a:off x="9853127" y="4310743"/>
            <a:ext cx="0" cy="1362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923E148-F72F-A5C0-CBAB-BA7A95C7E7D5}"/>
              </a:ext>
            </a:extLst>
          </p:cNvPr>
          <p:cNvSpPr txBox="1"/>
          <p:nvPr/>
        </p:nvSpPr>
        <p:spPr>
          <a:xfrm>
            <a:off x="9461241" y="5878285"/>
            <a:ext cx="2463265" cy="923330"/>
          </a:xfrm>
          <a:prstGeom prst="rect">
            <a:avLst/>
          </a:prstGeom>
          <a:noFill/>
          <a:ln>
            <a:solidFill>
              <a:schemeClr val="accent1"/>
            </a:solidFill>
          </a:ln>
        </p:spPr>
        <p:txBody>
          <a:bodyPr wrap="square" rtlCol="0">
            <a:spAutoFit/>
          </a:bodyPr>
          <a:lstStyle/>
          <a:p>
            <a:r>
              <a:rPr lang="en-US" dirty="0"/>
              <a:t>Instead of newline after the print use empty string</a:t>
            </a:r>
          </a:p>
        </p:txBody>
      </p:sp>
      <p:cxnSp>
        <p:nvCxnSpPr>
          <p:cNvPr id="13" name="Straight Arrow Connector 12">
            <a:extLst>
              <a:ext uri="{FF2B5EF4-FFF2-40B4-BE49-F238E27FC236}">
                <a16:creationId xmlns:a16="http://schemas.microsoft.com/office/drawing/2014/main" id="{047BC8E0-D2E8-8ABF-2891-37461676D59B}"/>
              </a:ext>
            </a:extLst>
          </p:cNvPr>
          <p:cNvCxnSpPr/>
          <p:nvPr/>
        </p:nvCxnSpPr>
        <p:spPr>
          <a:xfrm flipV="1">
            <a:off x="8173616" y="4310743"/>
            <a:ext cx="261257" cy="1104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AE7487B-31EE-27DE-AF3B-106444CA7A6F}"/>
              </a:ext>
            </a:extLst>
          </p:cNvPr>
          <p:cNvSpPr txBox="1"/>
          <p:nvPr/>
        </p:nvSpPr>
        <p:spPr>
          <a:xfrm>
            <a:off x="7184873" y="5343239"/>
            <a:ext cx="1835759" cy="369332"/>
          </a:xfrm>
          <a:prstGeom prst="rect">
            <a:avLst/>
          </a:prstGeom>
          <a:noFill/>
          <a:ln>
            <a:solidFill>
              <a:schemeClr val="accent1"/>
            </a:solidFill>
          </a:ln>
        </p:spPr>
        <p:txBody>
          <a:bodyPr wrap="none" rtlCol="0">
            <a:spAutoFit/>
          </a:bodyPr>
          <a:lstStyle/>
          <a:p>
            <a:r>
              <a:rPr lang="en-US" dirty="0"/>
              <a:t>Pad with 4 spaces</a:t>
            </a:r>
          </a:p>
        </p:txBody>
      </p:sp>
      <p:sp>
        <p:nvSpPr>
          <p:cNvPr id="15" name="Left Brace 14">
            <a:extLst>
              <a:ext uri="{FF2B5EF4-FFF2-40B4-BE49-F238E27FC236}">
                <a16:creationId xmlns:a16="http://schemas.microsoft.com/office/drawing/2014/main" id="{B50C9EC7-299A-9949-3AA4-1930B67E3275}"/>
              </a:ext>
            </a:extLst>
          </p:cNvPr>
          <p:cNvSpPr/>
          <p:nvPr/>
        </p:nvSpPr>
        <p:spPr>
          <a:xfrm>
            <a:off x="5673012" y="3807727"/>
            <a:ext cx="111968" cy="921657"/>
          </a:xfrm>
          <a:prstGeom prst="leftBrace">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EFB593B3-0972-163B-A153-3559E95E4794}"/>
              </a:ext>
            </a:extLst>
          </p:cNvPr>
          <p:cNvCxnSpPr/>
          <p:nvPr/>
        </p:nvCxnSpPr>
        <p:spPr>
          <a:xfrm flipV="1">
            <a:off x="5089355" y="4310743"/>
            <a:ext cx="583657" cy="1032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8A2FFFD-1D45-5387-97E9-C0A390D5D521}"/>
              </a:ext>
            </a:extLst>
          </p:cNvPr>
          <p:cNvSpPr txBox="1"/>
          <p:nvPr/>
        </p:nvSpPr>
        <p:spPr>
          <a:xfrm>
            <a:off x="3725341" y="5414965"/>
            <a:ext cx="2241319" cy="369332"/>
          </a:xfrm>
          <a:prstGeom prst="rect">
            <a:avLst/>
          </a:prstGeom>
          <a:noFill/>
          <a:ln>
            <a:solidFill>
              <a:schemeClr val="accent1"/>
            </a:solidFill>
          </a:ln>
        </p:spPr>
        <p:txBody>
          <a:bodyPr wrap="none" rtlCol="0">
            <a:spAutoFit/>
          </a:bodyPr>
          <a:lstStyle/>
          <a:p>
            <a:r>
              <a:rPr lang="en-US" dirty="0"/>
              <a:t>Belongs to outer loop</a:t>
            </a:r>
          </a:p>
        </p:txBody>
      </p:sp>
    </p:spTree>
    <p:extLst>
      <p:ext uri="{BB962C8B-B14F-4D97-AF65-F5344CB8AC3E}">
        <p14:creationId xmlns:p14="http://schemas.microsoft.com/office/powerpoint/2010/main" val="1397818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AD0FD2-AF9A-4626-A717-49B022352D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09295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ACF990-9CBF-581C-D199-BA5A05924182}"/>
              </a:ext>
            </a:extLst>
          </p:cNvPr>
          <p:cNvSpPr>
            <a:spLocks noGrp="1"/>
          </p:cNvSpPr>
          <p:nvPr>
            <p:ph type="title"/>
          </p:nvPr>
        </p:nvSpPr>
        <p:spPr>
          <a:xfrm>
            <a:off x="804672" y="2386744"/>
            <a:ext cx="4486656" cy="1645920"/>
          </a:xfrm>
        </p:spPr>
        <p:txBody>
          <a:bodyPr vert="horz" lIns="274320" tIns="182880" rIns="274320" bIns="182880" rtlCol="0" anchor="ctr" anchorCtr="1">
            <a:normAutofit/>
          </a:bodyPr>
          <a:lstStyle/>
          <a:p>
            <a:r>
              <a:rPr lang="en-US" sz="3000"/>
              <a:t>Nested Loops with Turtle Draw</a:t>
            </a:r>
          </a:p>
        </p:txBody>
      </p:sp>
      <p:sp>
        <p:nvSpPr>
          <p:cNvPr id="3" name="Content Placeholder 2">
            <a:extLst>
              <a:ext uri="{FF2B5EF4-FFF2-40B4-BE49-F238E27FC236}">
                <a16:creationId xmlns:a16="http://schemas.microsoft.com/office/drawing/2014/main" id="{DBF32174-822E-1B92-A7BD-297DAFF3A11F}"/>
              </a:ext>
            </a:extLst>
          </p:cNvPr>
          <p:cNvSpPr>
            <a:spLocks noGrp="1"/>
          </p:cNvSpPr>
          <p:nvPr>
            <p:ph idx="1"/>
          </p:nvPr>
        </p:nvSpPr>
        <p:spPr>
          <a:xfrm>
            <a:off x="1148615" y="4352544"/>
            <a:ext cx="3798770" cy="1239894"/>
          </a:xfrm>
        </p:spPr>
        <p:txBody>
          <a:bodyPr vert="horz" lIns="91440" tIns="45720" rIns="91440" bIns="45720" rtlCol="0">
            <a:normAutofit/>
          </a:bodyPr>
          <a:lstStyle/>
          <a:p>
            <a:pPr marL="0" indent="0" algn="ctr">
              <a:buNone/>
            </a:pPr>
            <a:r>
              <a:rPr lang="en-US" sz="2800" kern="1200">
                <a:solidFill>
                  <a:srgbClr val="FFFFFF"/>
                </a:solidFill>
                <a:latin typeface="+mn-lt"/>
                <a:ea typeface="+mn-ea"/>
                <a:cs typeface="+mn-cs"/>
              </a:rPr>
              <a:t>What shape does this create?</a:t>
            </a:r>
          </a:p>
        </p:txBody>
      </p:sp>
      <p:sp useBgFill="1">
        <p:nvSpPr>
          <p:cNvPr id="11" name="Rectangle 10">
            <a:extLst>
              <a:ext uri="{FF2B5EF4-FFF2-40B4-BE49-F238E27FC236}">
                <a16:creationId xmlns:a16="http://schemas.microsoft.com/office/drawing/2014/main" id="{639AF048-01BF-4742-B8D3-428C27C158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 up of words&#10;&#10;AI-generated content may be incorrect.">
            <a:extLst>
              <a:ext uri="{FF2B5EF4-FFF2-40B4-BE49-F238E27FC236}">
                <a16:creationId xmlns:a16="http://schemas.microsoft.com/office/drawing/2014/main" id="{49F58CA1-E395-2D9B-1162-D6FFDF95A724}"/>
              </a:ext>
            </a:extLst>
          </p:cNvPr>
          <p:cNvPicPr>
            <a:picLocks noChangeAspect="1"/>
          </p:cNvPicPr>
          <p:nvPr/>
        </p:nvPicPr>
        <p:blipFill>
          <a:blip r:embed="rId2"/>
          <a:stretch>
            <a:fillRect/>
          </a:stretch>
        </p:blipFill>
        <p:spPr>
          <a:xfrm>
            <a:off x="6733030" y="2220831"/>
            <a:ext cx="4818890" cy="2101631"/>
          </a:xfrm>
          <a:prstGeom prst="rect">
            <a:avLst/>
          </a:prstGeom>
        </p:spPr>
      </p:pic>
    </p:spTree>
    <p:extLst>
      <p:ext uri="{BB962C8B-B14F-4D97-AF65-F5344CB8AC3E}">
        <p14:creationId xmlns:p14="http://schemas.microsoft.com/office/powerpoint/2010/main" val="702330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A6A3F-0C7A-7D90-9872-807D0D76B1FB}"/>
              </a:ext>
            </a:extLst>
          </p:cNvPr>
          <p:cNvSpPr>
            <a:spLocks noGrp="1"/>
          </p:cNvSpPr>
          <p:nvPr>
            <p:ph type="title"/>
          </p:nvPr>
        </p:nvSpPr>
        <p:spPr>
          <a:xfrm>
            <a:off x="804672" y="2386744"/>
            <a:ext cx="4486656" cy="1645920"/>
          </a:xfrm>
        </p:spPr>
        <p:txBody>
          <a:bodyPr vert="horz" lIns="274320" tIns="182880" rIns="274320" bIns="182880" rtlCol="0" anchor="ctr" anchorCtr="1">
            <a:normAutofit/>
          </a:bodyPr>
          <a:lstStyle/>
          <a:p>
            <a:r>
              <a:rPr lang="en-US" sz="3000"/>
              <a:t>Nested loops with turtle draw</a:t>
            </a:r>
          </a:p>
        </p:txBody>
      </p:sp>
      <p:sp>
        <p:nvSpPr>
          <p:cNvPr id="10" name="Rectangle 9">
            <a:extLst>
              <a:ext uri="{FF2B5EF4-FFF2-40B4-BE49-F238E27FC236}">
                <a16:creationId xmlns:a16="http://schemas.microsoft.com/office/drawing/2014/main" id="{2F0F143B-3981-4FC2-BB15-0C5867633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775E32A-F66E-B555-0F47-E315B89AABC8}"/>
              </a:ext>
            </a:extLst>
          </p:cNvPr>
          <p:cNvPicPr>
            <a:picLocks noChangeAspect="1"/>
          </p:cNvPicPr>
          <p:nvPr/>
        </p:nvPicPr>
        <p:blipFill>
          <a:blip r:embed="rId2"/>
          <a:stretch>
            <a:fillRect/>
          </a:stretch>
        </p:blipFill>
        <p:spPr>
          <a:xfrm>
            <a:off x="7137133" y="640080"/>
            <a:ext cx="4010684" cy="2544223"/>
          </a:xfrm>
          <a:prstGeom prst="rect">
            <a:avLst/>
          </a:prstGeom>
        </p:spPr>
      </p:pic>
      <p:pic>
        <p:nvPicPr>
          <p:cNvPr id="4" name="Picture 3">
            <a:extLst>
              <a:ext uri="{FF2B5EF4-FFF2-40B4-BE49-F238E27FC236}">
                <a16:creationId xmlns:a16="http://schemas.microsoft.com/office/drawing/2014/main" id="{1801B45F-67AA-5DE3-F52A-306C4D06A186}"/>
              </a:ext>
            </a:extLst>
          </p:cNvPr>
          <p:cNvPicPr>
            <a:picLocks noChangeAspect="1"/>
          </p:cNvPicPr>
          <p:nvPr/>
        </p:nvPicPr>
        <p:blipFill>
          <a:blip r:embed="rId3"/>
          <a:stretch>
            <a:fillRect/>
          </a:stretch>
        </p:blipFill>
        <p:spPr>
          <a:xfrm>
            <a:off x="6733030" y="3671316"/>
            <a:ext cx="4818890" cy="2101631"/>
          </a:xfrm>
          <a:prstGeom prst="rect">
            <a:avLst/>
          </a:prstGeom>
        </p:spPr>
      </p:pic>
    </p:spTree>
    <p:extLst>
      <p:ext uri="{BB962C8B-B14F-4D97-AF65-F5344CB8AC3E}">
        <p14:creationId xmlns:p14="http://schemas.microsoft.com/office/powerpoint/2010/main" val="1314529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4FF405-888F-CDFE-928E-BD23E1CE6EFB}"/>
              </a:ext>
            </a:extLst>
          </p:cNvPr>
          <p:cNvSpPr>
            <a:spLocks noGrp="1"/>
          </p:cNvSpPr>
          <p:nvPr>
            <p:ph type="title"/>
          </p:nvPr>
        </p:nvSpPr>
        <p:spPr>
          <a:xfrm>
            <a:off x="2231136" y="964692"/>
            <a:ext cx="7729728" cy="1188720"/>
          </a:xfrm>
          <a:prstGeom prst="ellipse">
            <a:avLst/>
          </a:prstGeom>
          <a:ln>
            <a:solidFill>
              <a:srgbClr val="404040"/>
            </a:solidFill>
          </a:ln>
        </p:spPr>
        <p:txBody>
          <a:bodyPr vert="horz" lIns="182880" tIns="182880" rIns="182880" bIns="182880" rtlCol="0" anchor="ctr">
            <a:normAutofit/>
          </a:bodyPr>
          <a:lstStyle/>
          <a:p>
            <a:r>
              <a:rPr lang="en-US"/>
              <a:t>Triple nested Loop</a:t>
            </a:r>
          </a:p>
        </p:txBody>
      </p:sp>
      <p:pic>
        <p:nvPicPr>
          <p:cNvPr id="4" name="Picture 3">
            <a:extLst>
              <a:ext uri="{FF2B5EF4-FFF2-40B4-BE49-F238E27FC236}">
                <a16:creationId xmlns:a16="http://schemas.microsoft.com/office/drawing/2014/main" id="{200E9BC9-2622-CF71-5CB6-048D7477F4B3}"/>
              </a:ext>
            </a:extLst>
          </p:cNvPr>
          <p:cNvPicPr>
            <a:picLocks noChangeAspect="1"/>
          </p:cNvPicPr>
          <p:nvPr/>
        </p:nvPicPr>
        <p:blipFill>
          <a:blip r:embed="rId2"/>
          <a:stretch>
            <a:fillRect/>
          </a:stretch>
        </p:blipFill>
        <p:spPr>
          <a:xfrm>
            <a:off x="1213947" y="2747772"/>
            <a:ext cx="9764106" cy="2294565"/>
          </a:xfrm>
          <a:prstGeom prst="rect">
            <a:avLst/>
          </a:prstGeom>
        </p:spPr>
      </p:pic>
      <p:pic>
        <p:nvPicPr>
          <p:cNvPr id="5" name="Picture 4">
            <a:extLst>
              <a:ext uri="{FF2B5EF4-FFF2-40B4-BE49-F238E27FC236}">
                <a16:creationId xmlns:a16="http://schemas.microsoft.com/office/drawing/2014/main" id="{05E38FFF-BAD0-0F33-BC87-7D071969452C}"/>
              </a:ext>
            </a:extLst>
          </p:cNvPr>
          <p:cNvPicPr>
            <a:picLocks noChangeAspect="1"/>
          </p:cNvPicPr>
          <p:nvPr/>
        </p:nvPicPr>
        <p:blipFill>
          <a:blip r:embed="rId3"/>
          <a:stretch>
            <a:fillRect/>
          </a:stretch>
        </p:blipFill>
        <p:spPr>
          <a:xfrm>
            <a:off x="9517225" y="4110933"/>
            <a:ext cx="2674776" cy="2747068"/>
          </a:xfrm>
          <a:prstGeom prst="rect">
            <a:avLst/>
          </a:prstGeom>
        </p:spPr>
      </p:pic>
    </p:spTree>
    <p:extLst>
      <p:ext uri="{BB962C8B-B14F-4D97-AF65-F5344CB8AC3E}">
        <p14:creationId xmlns:p14="http://schemas.microsoft.com/office/powerpoint/2010/main" val="864282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85C14-E0A3-226C-9088-A3C60D2F7577}"/>
              </a:ext>
            </a:extLst>
          </p:cNvPr>
          <p:cNvSpPr>
            <a:spLocks noGrp="1"/>
          </p:cNvSpPr>
          <p:nvPr>
            <p:ph type="title"/>
          </p:nvPr>
        </p:nvSpPr>
        <p:spPr/>
        <p:txBody>
          <a:bodyPr/>
          <a:lstStyle/>
          <a:p>
            <a:r>
              <a:rPr lang="en-US" dirty="0"/>
              <a:t>Beware</a:t>
            </a:r>
          </a:p>
        </p:txBody>
      </p:sp>
      <p:sp>
        <p:nvSpPr>
          <p:cNvPr id="3" name="Content Placeholder 2">
            <a:extLst>
              <a:ext uri="{FF2B5EF4-FFF2-40B4-BE49-F238E27FC236}">
                <a16:creationId xmlns:a16="http://schemas.microsoft.com/office/drawing/2014/main" id="{C4577372-EC64-13FA-0C7C-791CC9828161}"/>
              </a:ext>
            </a:extLst>
          </p:cNvPr>
          <p:cNvSpPr>
            <a:spLocks noGrp="1"/>
          </p:cNvSpPr>
          <p:nvPr>
            <p:ph idx="1"/>
          </p:nvPr>
        </p:nvSpPr>
        <p:spPr/>
        <p:txBody>
          <a:bodyPr>
            <a:normAutofit lnSpcReduction="10000"/>
          </a:bodyPr>
          <a:lstStyle/>
          <a:p>
            <a:r>
              <a:rPr lang="en-US" dirty="0"/>
              <a:t>Infinite loops are loops that run forever </a:t>
            </a:r>
          </a:p>
          <a:p>
            <a:pPr lvl="1"/>
            <a:r>
              <a:rPr lang="en-US" dirty="0"/>
              <a:t>(sometimes by design … a web server listens for connections forever)</a:t>
            </a:r>
          </a:p>
          <a:p>
            <a:pPr lvl="1"/>
            <a:r>
              <a:rPr lang="en-US" dirty="0"/>
              <a:t>Often because we have a bug … forgotten to increment a counter, broken logic, </a:t>
            </a:r>
            <a:r>
              <a:rPr lang="en-US" dirty="0" err="1"/>
              <a:t>etc</a:t>
            </a:r>
            <a:endParaRPr lang="en-US" dirty="0"/>
          </a:p>
          <a:p>
            <a:r>
              <a:rPr lang="en-US" dirty="0"/>
              <a:t>Indentation is critical </a:t>
            </a:r>
          </a:p>
          <a:p>
            <a:pPr lvl="1"/>
            <a:r>
              <a:rPr lang="en-US" dirty="0"/>
              <a:t>Code blocks are denoted by indentation levels </a:t>
            </a:r>
          </a:p>
          <a:p>
            <a:r>
              <a:rPr lang="en-US" dirty="0"/>
              <a:t>Variables can be declared and assigned inside code blocks (decision or repetition) </a:t>
            </a:r>
          </a:p>
          <a:p>
            <a:pPr lvl="1"/>
            <a:r>
              <a:rPr lang="en-US" dirty="0"/>
              <a:t>Is this efficient, is there a case where the variable is not declared because it was inside a loop and the loop didn’t run</a:t>
            </a:r>
          </a:p>
        </p:txBody>
      </p:sp>
    </p:spTree>
    <p:extLst>
      <p:ext uri="{BB962C8B-B14F-4D97-AF65-F5344CB8AC3E}">
        <p14:creationId xmlns:p14="http://schemas.microsoft.com/office/powerpoint/2010/main" val="1713811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20F2-81BE-AF4E-97D8-2F2C2C382CD8}"/>
              </a:ext>
            </a:extLst>
          </p:cNvPr>
          <p:cNvSpPr>
            <a:spLocks noGrp="1"/>
          </p:cNvSpPr>
          <p:nvPr>
            <p:ph type="title"/>
          </p:nvPr>
        </p:nvSpPr>
        <p:spPr/>
        <p:txBody>
          <a:bodyPr/>
          <a:lstStyle/>
          <a:p>
            <a:r>
              <a:rPr lang="en-US" dirty="0"/>
              <a:t>Find a Partner</a:t>
            </a:r>
          </a:p>
        </p:txBody>
      </p:sp>
      <p:sp>
        <p:nvSpPr>
          <p:cNvPr id="3" name="Content Placeholder 2">
            <a:extLst>
              <a:ext uri="{FF2B5EF4-FFF2-40B4-BE49-F238E27FC236}">
                <a16:creationId xmlns:a16="http://schemas.microsoft.com/office/drawing/2014/main" id="{6EBE539A-3B73-55F4-B4C0-D56899ED1CCD}"/>
              </a:ext>
            </a:extLst>
          </p:cNvPr>
          <p:cNvSpPr>
            <a:spLocks noGrp="1"/>
          </p:cNvSpPr>
          <p:nvPr>
            <p:ph idx="1"/>
          </p:nvPr>
        </p:nvSpPr>
        <p:spPr>
          <a:xfrm>
            <a:off x="2231136" y="2638044"/>
            <a:ext cx="7729728" cy="3965956"/>
          </a:xfrm>
        </p:spPr>
        <p:txBody>
          <a:bodyPr>
            <a:normAutofit fontScale="92500" lnSpcReduction="10000"/>
          </a:bodyPr>
          <a:lstStyle/>
          <a:p>
            <a:r>
              <a:rPr lang="en-US" sz="2400" dirty="0"/>
              <a:t>Warm-up:</a:t>
            </a:r>
          </a:p>
          <a:p>
            <a:pPr lvl="1"/>
            <a:r>
              <a:rPr lang="en-US" sz="2000" dirty="0"/>
              <a:t>Modify the random guess While loop example so that it counts how many guesses the user took to get it right. Print out how many guesses</a:t>
            </a:r>
          </a:p>
          <a:p>
            <a:r>
              <a:rPr lang="en-US" sz="2400" dirty="0"/>
              <a:t>Challenge:</a:t>
            </a:r>
          </a:p>
          <a:p>
            <a:pPr lvl="1"/>
            <a:r>
              <a:rPr lang="en-US" sz="2000" dirty="0"/>
              <a:t>Modify the random guess While loop example so that after they have guessed correctly it asks them if they want to play again. If they do not want to play again it outputs their average number of guesses to correctly complete the game. </a:t>
            </a:r>
          </a:p>
          <a:p>
            <a:r>
              <a:rPr lang="en-US" sz="2400" dirty="0"/>
              <a:t>Think about:</a:t>
            </a:r>
          </a:p>
          <a:p>
            <a:pPr lvl="1"/>
            <a:r>
              <a:rPr lang="en-US" sz="2000" dirty="0"/>
              <a:t>If you played the game one thousand times what do you expect the average number of guesses to be? </a:t>
            </a:r>
          </a:p>
        </p:txBody>
      </p:sp>
    </p:spTree>
    <p:extLst>
      <p:ext uri="{BB962C8B-B14F-4D97-AF65-F5344CB8AC3E}">
        <p14:creationId xmlns:p14="http://schemas.microsoft.com/office/powerpoint/2010/main" val="1159905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F4680D4-DEE2-49EE-AF90-EFEAF50AE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876939"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6D29BB-CA0D-061F-DE4A-74490B72B701}"/>
              </a:ext>
            </a:extLst>
          </p:cNvPr>
          <p:cNvSpPr>
            <a:spLocks noGrp="1"/>
          </p:cNvSpPr>
          <p:nvPr>
            <p:ph type="title"/>
          </p:nvPr>
        </p:nvSpPr>
        <p:spPr>
          <a:xfrm>
            <a:off x="804671" y="1290025"/>
            <a:ext cx="5291327" cy="1188720"/>
          </a:xfrm>
          <a:solidFill>
            <a:srgbClr val="FFFFFF"/>
          </a:solidFill>
          <a:ln>
            <a:solidFill>
              <a:srgbClr val="404040"/>
            </a:solidFill>
          </a:ln>
        </p:spPr>
        <p:txBody>
          <a:bodyPr>
            <a:normAutofit/>
          </a:bodyPr>
          <a:lstStyle/>
          <a:p>
            <a:r>
              <a:rPr lang="en-US" dirty="0"/>
              <a:t>Find A Partner</a:t>
            </a:r>
          </a:p>
        </p:txBody>
      </p:sp>
      <p:sp>
        <p:nvSpPr>
          <p:cNvPr id="8" name="Content Placeholder 7">
            <a:extLst>
              <a:ext uri="{FF2B5EF4-FFF2-40B4-BE49-F238E27FC236}">
                <a16:creationId xmlns:a16="http://schemas.microsoft.com/office/drawing/2014/main" id="{C8E6C896-8884-1B56-F42E-31ADF0FF9428}"/>
              </a:ext>
            </a:extLst>
          </p:cNvPr>
          <p:cNvSpPr>
            <a:spLocks noGrp="1"/>
          </p:cNvSpPr>
          <p:nvPr>
            <p:ph idx="1"/>
          </p:nvPr>
        </p:nvSpPr>
        <p:spPr>
          <a:xfrm>
            <a:off x="804671" y="2858703"/>
            <a:ext cx="5465500" cy="3635403"/>
          </a:xfrm>
        </p:spPr>
        <p:txBody>
          <a:bodyPr>
            <a:normAutofit/>
          </a:bodyPr>
          <a:lstStyle/>
          <a:p>
            <a:r>
              <a:rPr lang="en-US" dirty="0">
                <a:solidFill>
                  <a:srgbClr val="FFFFFF"/>
                </a:solidFill>
              </a:rPr>
              <a:t>Use </a:t>
            </a:r>
            <a:r>
              <a:rPr lang="en-US" dirty="0" err="1">
                <a:solidFill>
                  <a:srgbClr val="FFFFFF"/>
                </a:solidFill>
              </a:rPr>
              <a:t>colabturtleplus</a:t>
            </a:r>
            <a:r>
              <a:rPr lang="en-US" dirty="0">
                <a:solidFill>
                  <a:srgbClr val="FFFFFF"/>
                </a:solidFill>
              </a:rPr>
              <a:t> to draw the nested square shape</a:t>
            </a:r>
          </a:p>
          <a:p>
            <a:r>
              <a:rPr lang="en-US" dirty="0">
                <a:solidFill>
                  <a:srgbClr val="FFFFFF"/>
                </a:solidFill>
              </a:rPr>
              <a:t>1. Decomposition</a:t>
            </a:r>
          </a:p>
          <a:p>
            <a:pPr lvl="1"/>
            <a:r>
              <a:rPr lang="en-US" dirty="0">
                <a:solidFill>
                  <a:srgbClr val="FFFFFF"/>
                </a:solidFill>
              </a:rPr>
              <a:t>- what are the basic operations we need to do?</a:t>
            </a:r>
          </a:p>
          <a:p>
            <a:pPr lvl="1"/>
            <a:r>
              <a:rPr lang="en-US" dirty="0">
                <a:solidFill>
                  <a:srgbClr val="FFFFFF"/>
                </a:solidFill>
              </a:rPr>
              <a:t>- don’t forget our previous work drawing a single square</a:t>
            </a:r>
          </a:p>
          <a:p>
            <a:r>
              <a:rPr lang="en-US" dirty="0">
                <a:solidFill>
                  <a:srgbClr val="FFFFFF"/>
                </a:solidFill>
              </a:rPr>
              <a:t>2. Patterns:</a:t>
            </a:r>
          </a:p>
          <a:p>
            <a:pPr lvl="1"/>
            <a:r>
              <a:rPr lang="en-US" dirty="0">
                <a:solidFill>
                  <a:srgbClr val="FFFFFF"/>
                </a:solidFill>
              </a:rPr>
              <a:t>- what are the patterns (or patterns within patterns) </a:t>
            </a:r>
          </a:p>
          <a:p>
            <a:r>
              <a:rPr lang="en-US" dirty="0">
                <a:solidFill>
                  <a:srgbClr val="FFFFFF"/>
                </a:solidFill>
              </a:rPr>
              <a:t>3. Algorithm</a:t>
            </a:r>
          </a:p>
          <a:p>
            <a:pPr lvl="1"/>
            <a:r>
              <a:rPr lang="en-US" dirty="0">
                <a:solidFill>
                  <a:srgbClr val="FFFFFF"/>
                </a:solidFill>
              </a:rPr>
              <a:t>Outline in pseudo code your algorithm</a:t>
            </a:r>
          </a:p>
          <a:p>
            <a:r>
              <a:rPr lang="en-US" dirty="0">
                <a:solidFill>
                  <a:srgbClr val="FFFFFF"/>
                </a:solidFill>
              </a:rPr>
              <a:t>4. Lastly – move onto the code 	</a:t>
            </a:r>
          </a:p>
        </p:txBody>
      </p:sp>
      <p:sp>
        <p:nvSpPr>
          <p:cNvPr id="13" name="Rectangle 12">
            <a:extLst>
              <a:ext uri="{FF2B5EF4-FFF2-40B4-BE49-F238E27FC236}">
                <a16:creationId xmlns:a16="http://schemas.microsoft.com/office/drawing/2014/main" id="{50C52EE1-5085-4960-AD29-A926E62E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640080"/>
            <a:ext cx="4017264"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D15AA94-C237-4412-B37B-EB317D2B0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0772" y="806357"/>
            <a:ext cx="3685032"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EE602EB3-050B-B4B9-FED9-E2B2F1B38BD8}"/>
              </a:ext>
            </a:extLst>
          </p:cNvPr>
          <p:cNvPicPr>
            <a:picLocks noChangeAspect="1"/>
          </p:cNvPicPr>
          <p:nvPr/>
        </p:nvPicPr>
        <p:blipFill>
          <a:blip r:embed="rId2"/>
          <a:stretch>
            <a:fillRect/>
          </a:stretch>
        </p:blipFill>
        <p:spPr>
          <a:xfrm>
            <a:off x="7865364" y="1634690"/>
            <a:ext cx="3355848" cy="3271950"/>
          </a:xfrm>
          <a:prstGeom prst="rect">
            <a:avLst/>
          </a:prstGeom>
        </p:spPr>
      </p:pic>
    </p:spTree>
    <p:extLst>
      <p:ext uri="{BB962C8B-B14F-4D97-AF65-F5344CB8AC3E}">
        <p14:creationId xmlns:p14="http://schemas.microsoft.com/office/powerpoint/2010/main" val="2278084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CA398B-8CB4-4C0C-89C6-A8AB6F78D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72915"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6D59D4-DABC-AF08-2D17-3A5336B60E62}"/>
              </a:ext>
            </a:extLst>
          </p:cNvPr>
          <p:cNvSpPr>
            <a:spLocks noGrp="1"/>
          </p:cNvSpPr>
          <p:nvPr>
            <p:ph type="title"/>
          </p:nvPr>
        </p:nvSpPr>
        <p:spPr>
          <a:xfrm>
            <a:off x="804672" y="1290025"/>
            <a:ext cx="4475892" cy="1188720"/>
          </a:xfrm>
          <a:solidFill>
            <a:srgbClr val="FFFFFF"/>
          </a:solidFill>
          <a:ln>
            <a:solidFill>
              <a:srgbClr val="404040"/>
            </a:solidFill>
          </a:ln>
        </p:spPr>
        <p:txBody>
          <a:bodyPr>
            <a:normAutofit/>
          </a:bodyPr>
          <a:lstStyle/>
          <a:p>
            <a:r>
              <a:rPr lang="en-US" dirty="0"/>
              <a:t>Throwing Darts</a:t>
            </a:r>
          </a:p>
        </p:txBody>
      </p:sp>
      <p:sp>
        <p:nvSpPr>
          <p:cNvPr id="3" name="Content Placeholder 2">
            <a:extLst>
              <a:ext uri="{FF2B5EF4-FFF2-40B4-BE49-F238E27FC236}">
                <a16:creationId xmlns:a16="http://schemas.microsoft.com/office/drawing/2014/main" id="{9B7A20F5-BB3C-70CD-553D-F0F7DFDAA2BB}"/>
              </a:ext>
            </a:extLst>
          </p:cNvPr>
          <p:cNvSpPr>
            <a:spLocks noGrp="1"/>
          </p:cNvSpPr>
          <p:nvPr>
            <p:ph idx="1"/>
          </p:nvPr>
        </p:nvSpPr>
        <p:spPr>
          <a:xfrm>
            <a:off x="804672" y="2858703"/>
            <a:ext cx="4475892" cy="3042547"/>
          </a:xfrm>
        </p:spPr>
        <p:txBody>
          <a:bodyPr>
            <a:normAutofit lnSpcReduction="10000"/>
          </a:bodyPr>
          <a:lstStyle/>
          <a:p>
            <a:r>
              <a:rPr lang="en-US" dirty="0">
                <a:solidFill>
                  <a:srgbClr val="FFFFFF"/>
                </a:solidFill>
              </a:rPr>
              <a:t>Suppose you have a dart board with radius 1 and you place a square with side length 2 directly behind the dart board. </a:t>
            </a:r>
          </a:p>
          <a:p>
            <a:r>
              <a:rPr lang="en-US" dirty="0">
                <a:solidFill>
                  <a:srgbClr val="FFFFFF"/>
                </a:solidFill>
              </a:rPr>
              <a:t>Consider that your friend throws darts at the board with equal chance it lands anywhere within the square</a:t>
            </a:r>
          </a:p>
          <a:p>
            <a:r>
              <a:rPr lang="en-US" dirty="0">
                <a:solidFill>
                  <a:srgbClr val="FFFFFF"/>
                </a:solidFill>
              </a:rPr>
              <a:t>How many darts would land inside the circle?</a:t>
            </a:r>
          </a:p>
          <a:p>
            <a:pPr lvl="1"/>
            <a:r>
              <a:rPr lang="en-US" dirty="0">
                <a:solidFill>
                  <a:srgbClr val="FFFFFF"/>
                </a:solidFill>
              </a:rPr>
              <a:t>What percentage of the area is covered by circle?</a:t>
            </a:r>
          </a:p>
        </p:txBody>
      </p:sp>
      <p:sp>
        <p:nvSpPr>
          <p:cNvPr id="13" name="Rectangle 12">
            <a:extLst>
              <a:ext uri="{FF2B5EF4-FFF2-40B4-BE49-F238E27FC236}">
                <a16:creationId xmlns:a16="http://schemas.microsoft.com/office/drawing/2014/main" id="{9E8345C6-0280-4226-BD83-7333BA6C3A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032" y="640080"/>
            <a:ext cx="4818888"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9823778-D290-4538-B146-1F73C3755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843" y="806357"/>
            <a:ext cx="4511266"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F6BDF91-2194-7ACA-86DA-3277B71A9219}"/>
              </a:ext>
            </a:extLst>
          </p:cNvPr>
          <p:cNvPicPr>
            <a:picLocks noChangeAspect="1"/>
          </p:cNvPicPr>
          <p:nvPr/>
        </p:nvPicPr>
        <p:blipFill>
          <a:blip r:embed="rId3"/>
          <a:srcRect l="8771" r="2377" b="-2"/>
          <a:stretch>
            <a:fillRect/>
          </a:stretch>
        </p:blipFill>
        <p:spPr>
          <a:xfrm>
            <a:off x="7208520" y="1126397"/>
            <a:ext cx="3867912" cy="4288536"/>
          </a:xfrm>
          <a:prstGeom prst="rect">
            <a:avLst/>
          </a:prstGeom>
          <a:ln w="31750">
            <a:noFill/>
          </a:ln>
        </p:spPr>
      </p:pic>
      <p:sp>
        <p:nvSpPr>
          <p:cNvPr id="8" name="TextBox 7">
            <a:extLst>
              <a:ext uri="{FF2B5EF4-FFF2-40B4-BE49-F238E27FC236}">
                <a16:creationId xmlns:a16="http://schemas.microsoft.com/office/drawing/2014/main" id="{4C485B88-B737-79FF-746D-F38A9917DA29}"/>
              </a:ext>
            </a:extLst>
          </p:cNvPr>
          <p:cNvSpPr txBox="1"/>
          <p:nvPr/>
        </p:nvSpPr>
        <p:spPr>
          <a:xfrm>
            <a:off x="10261600" y="101600"/>
            <a:ext cx="1666803" cy="369332"/>
          </a:xfrm>
          <a:prstGeom prst="rect">
            <a:avLst/>
          </a:prstGeom>
          <a:noFill/>
          <a:ln>
            <a:solidFill>
              <a:srgbClr val="404040"/>
            </a:solidFill>
          </a:ln>
        </p:spPr>
        <p:txBody>
          <a:bodyPr wrap="none" rtlCol="0">
            <a:spAutoFit/>
          </a:bodyPr>
          <a:lstStyle/>
          <a:p>
            <a:r>
              <a:rPr lang="en-US" dirty="0"/>
              <a:t>Cool simulation</a:t>
            </a:r>
          </a:p>
        </p:txBody>
      </p:sp>
      <p:sp>
        <p:nvSpPr>
          <p:cNvPr id="9" name="TextBox 8">
            <a:extLst>
              <a:ext uri="{FF2B5EF4-FFF2-40B4-BE49-F238E27FC236}">
                <a16:creationId xmlns:a16="http://schemas.microsoft.com/office/drawing/2014/main" id="{94100EBB-B6A3-FEB9-4E05-0DA9DC270F7F}"/>
              </a:ext>
            </a:extLst>
          </p:cNvPr>
          <p:cNvSpPr txBox="1"/>
          <p:nvPr/>
        </p:nvSpPr>
        <p:spPr>
          <a:xfrm>
            <a:off x="6302567" y="135374"/>
            <a:ext cx="1811906" cy="369332"/>
          </a:xfrm>
          <a:prstGeom prst="rect">
            <a:avLst/>
          </a:prstGeom>
          <a:noFill/>
          <a:ln>
            <a:solidFill>
              <a:srgbClr val="404040"/>
            </a:solidFill>
          </a:ln>
        </p:spPr>
        <p:txBody>
          <a:bodyPr wrap="none" rtlCol="0">
            <a:spAutoFit/>
          </a:bodyPr>
          <a:lstStyle/>
          <a:p>
            <a:r>
              <a:rPr lang="en-US" dirty="0"/>
              <a:t>Thinking exercise</a:t>
            </a:r>
          </a:p>
        </p:txBody>
      </p:sp>
    </p:spTree>
    <p:extLst>
      <p:ext uri="{BB962C8B-B14F-4D97-AF65-F5344CB8AC3E}">
        <p14:creationId xmlns:p14="http://schemas.microsoft.com/office/powerpoint/2010/main" val="1739095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F1402-9636-1538-7717-04FB4B1C55F9}"/>
              </a:ext>
            </a:extLst>
          </p:cNvPr>
          <p:cNvSpPr>
            <a:spLocks noGrp="1"/>
          </p:cNvSpPr>
          <p:nvPr>
            <p:ph type="title"/>
          </p:nvPr>
        </p:nvSpPr>
        <p:spPr/>
        <p:txBody>
          <a:bodyPr/>
          <a:lstStyle/>
          <a:p>
            <a:r>
              <a:rPr lang="en-US" dirty="0"/>
              <a:t>Simulating PI</a:t>
            </a:r>
          </a:p>
        </p:txBody>
      </p:sp>
      <p:cxnSp>
        <p:nvCxnSpPr>
          <p:cNvPr id="10" name="Straight Arrow Connector 9">
            <a:extLst>
              <a:ext uri="{FF2B5EF4-FFF2-40B4-BE49-F238E27FC236}">
                <a16:creationId xmlns:a16="http://schemas.microsoft.com/office/drawing/2014/main" id="{E51E72A6-3029-5EE3-D02F-B93ED0B1BE27}"/>
              </a:ext>
            </a:extLst>
          </p:cNvPr>
          <p:cNvCxnSpPr>
            <a:cxnSpLocks/>
          </p:cNvCxnSpPr>
          <p:nvPr/>
        </p:nvCxnSpPr>
        <p:spPr>
          <a:xfrm flipH="1">
            <a:off x="5788880" y="4004369"/>
            <a:ext cx="20967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88E4A9C-8979-1A7E-28F0-30BCD7659EBA}"/>
              </a:ext>
            </a:extLst>
          </p:cNvPr>
          <p:cNvSpPr txBox="1"/>
          <p:nvPr/>
        </p:nvSpPr>
        <p:spPr>
          <a:xfrm>
            <a:off x="7974703" y="3819703"/>
            <a:ext cx="2297873" cy="369332"/>
          </a:xfrm>
          <a:prstGeom prst="rect">
            <a:avLst/>
          </a:prstGeom>
          <a:noFill/>
        </p:spPr>
        <p:txBody>
          <a:bodyPr wrap="none" rtlCol="0">
            <a:spAutoFit/>
          </a:bodyPr>
          <a:lstStyle/>
          <a:p>
            <a:r>
              <a:rPr lang="en-US" dirty="0"/>
              <a:t>Darts hitting the circle</a:t>
            </a:r>
          </a:p>
        </p:txBody>
      </p:sp>
      <p:cxnSp>
        <p:nvCxnSpPr>
          <p:cNvPr id="13" name="Straight Arrow Connector 12">
            <a:extLst>
              <a:ext uri="{FF2B5EF4-FFF2-40B4-BE49-F238E27FC236}">
                <a16:creationId xmlns:a16="http://schemas.microsoft.com/office/drawing/2014/main" id="{F578318D-C400-E403-5953-12A657A7DFB6}"/>
              </a:ext>
            </a:extLst>
          </p:cNvPr>
          <p:cNvCxnSpPr>
            <a:cxnSpLocks/>
          </p:cNvCxnSpPr>
          <p:nvPr/>
        </p:nvCxnSpPr>
        <p:spPr>
          <a:xfrm flipH="1" flipV="1">
            <a:off x="3687364" y="5164462"/>
            <a:ext cx="2185823" cy="183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E8AADF8-340A-D511-7EEE-299222287633}"/>
              </a:ext>
            </a:extLst>
          </p:cNvPr>
          <p:cNvSpPr txBox="1"/>
          <p:nvPr/>
        </p:nvSpPr>
        <p:spPr>
          <a:xfrm>
            <a:off x="5873187" y="4998132"/>
            <a:ext cx="1182183" cy="369332"/>
          </a:xfrm>
          <a:prstGeom prst="rect">
            <a:avLst/>
          </a:prstGeom>
          <a:noFill/>
        </p:spPr>
        <p:txBody>
          <a:bodyPr wrap="none" rtlCol="0">
            <a:spAutoFit/>
          </a:bodyPr>
          <a:lstStyle/>
          <a:p>
            <a:r>
              <a:rPr lang="en-US" dirty="0"/>
              <a:t>Total darts</a:t>
            </a:r>
          </a:p>
        </p:txBody>
      </p:sp>
      <p:sp>
        <p:nvSpPr>
          <p:cNvPr id="15" name="TextBox 14">
            <a:extLst>
              <a:ext uri="{FF2B5EF4-FFF2-40B4-BE49-F238E27FC236}">
                <a16:creationId xmlns:a16="http://schemas.microsoft.com/office/drawing/2014/main" id="{1F887AC4-8F3D-2FE2-39C7-1A16C63E1622}"/>
              </a:ext>
            </a:extLst>
          </p:cNvPr>
          <p:cNvSpPr txBox="1"/>
          <p:nvPr/>
        </p:nvSpPr>
        <p:spPr>
          <a:xfrm>
            <a:off x="89325" y="2711707"/>
            <a:ext cx="2052734" cy="1477328"/>
          </a:xfrm>
          <a:prstGeom prst="rect">
            <a:avLst/>
          </a:prstGeom>
          <a:noFill/>
          <a:ln>
            <a:solidFill>
              <a:schemeClr val="accent1"/>
            </a:solidFill>
          </a:ln>
        </p:spPr>
        <p:txBody>
          <a:bodyPr wrap="square" rtlCol="0">
            <a:spAutoFit/>
          </a:bodyPr>
          <a:lstStyle/>
          <a:p>
            <a:r>
              <a:rPr lang="en-US" dirty="0"/>
              <a:t>Remember your buddy throws darts with equal chance of landing anywhere in the square</a:t>
            </a:r>
          </a:p>
        </p:txBody>
      </p:sp>
      <p:sp>
        <p:nvSpPr>
          <p:cNvPr id="7" name="TextBox 6">
            <a:extLst>
              <a:ext uri="{FF2B5EF4-FFF2-40B4-BE49-F238E27FC236}">
                <a16:creationId xmlns:a16="http://schemas.microsoft.com/office/drawing/2014/main" id="{DE7AD9DE-BB54-41B2-5511-3650C5265755}"/>
              </a:ext>
            </a:extLst>
          </p:cNvPr>
          <p:cNvSpPr txBox="1"/>
          <p:nvPr/>
        </p:nvSpPr>
        <p:spPr>
          <a:xfrm>
            <a:off x="2358956" y="2527068"/>
            <a:ext cx="4696414" cy="3600986"/>
          </a:xfrm>
          <a:prstGeom prst="rect">
            <a:avLst/>
          </a:prstGeom>
          <a:noFill/>
        </p:spPr>
        <p:txBody>
          <a:bodyPr wrap="none" lIns="0" tIns="0" rIns="0" bIns="0" rtlCol="0">
            <a:spAutoFit/>
          </a:bodyPr>
          <a:lstStyle/>
          <a:p>
            <a:r>
              <a:rPr lang="en-US" dirty="0" err="1"/>
              <a:t>percentage_circle</a:t>
            </a:r>
            <a:r>
              <a:rPr lang="en-US" dirty="0"/>
              <a:t> = Area of circle / Area of square</a:t>
            </a:r>
          </a:p>
          <a:p>
            <a:r>
              <a:rPr lang="en-US" dirty="0"/>
              <a:t>                  = </a:t>
            </a:r>
            <a:r>
              <a:rPr lang="el-GR" dirty="0"/>
              <a:t>π</a:t>
            </a:r>
            <a:r>
              <a:rPr lang="en-US" dirty="0"/>
              <a:t>r² / (2r)²</a:t>
            </a:r>
          </a:p>
          <a:p>
            <a:r>
              <a:rPr lang="en-US" dirty="0"/>
              <a:t>                  = </a:t>
            </a:r>
            <a:r>
              <a:rPr lang="el-GR" dirty="0"/>
              <a:t>π</a:t>
            </a:r>
            <a:r>
              <a:rPr lang="en-US" dirty="0"/>
              <a:t>r² / 4r²</a:t>
            </a:r>
          </a:p>
          <a:p>
            <a:r>
              <a:rPr lang="en-US" dirty="0"/>
              <a:t>                  = </a:t>
            </a:r>
            <a:r>
              <a:rPr lang="el-GR" dirty="0"/>
              <a:t>π / 4</a:t>
            </a:r>
            <a:endParaRPr lang="en-CA" dirty="0"/>
          </a:p>
          <a:p>
            <a:endParaRPr lang="en-CA" dirty="0"/>
          </a:p>
          <a:p>
            <a:r>
              <a:rPr lang="en-CA" dirty="0"/>
              <a:t>percentage hitting the circle = c / n</a:t>
            </a:r>
          </a:p>
          <a:p>
            <a:endParaRPr lang="en-CA" dirty="0"/>
          </a:p>
          <a:p>
            <a:r>
              <a:rPr lang="en-CA" dirty="0"/>
              <a:t>so</a:t>
            </a:r>
          </a:p>
          <a:p>
            <a:endParaRPr lang="en-CA" dirty="0"/>
          </a:p>
          <a:p>
            <a:r>
              <a:rPr lang="en-CA" dirty="0"/>
              <a:t>c / n ≈ </a:t>
            </a:r>
            <a:r>
              <a:rPr lang="el-GR" dirty="0"/>
              <a:t>π / 4</a:t>
            </a:r>
          </a:p>
          <a:p>
            <a:endParaRPr lang="el-GR" dirty="0"/>
          </a:p>
          <a:p>
            <a:r>
              <a:rPr lang="en-CA" dirty="0"/>
              <a:t>Thus we can approximate </a:t>
            </a:r>
            <a:r>
              <a:rPr lang="el-GR" dirty="0"/>
              <a:t>π </a:t>
            </a:r>
            <a:r>
              <a:rPr lang="en-CA" dirty="0"/>
              <a:t>as 4c / n</a:t>
            </a:r>
          </a:p>
          <a:p>
            <a:endParaRPr lang="en-US" dirty="0"/>
          </a:p>
        </p:txBody>
      </p:sp>
    </p:spTree>
    <p:extLst>
      <p:ext uri="{BB962C8B-B14F-4D97-AF65-F5344CB8AC3E}">
        <p14:creationId xmlns:p14="http://schemas.microsoft.com/office/powerpoint/2010/main" val="1212636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F69DA-473D-A9BE-1AB5-D24D735825BB}"/>
              </a:ext>
            </a:extLst>
          </p:cNvPr>
          <p:cNvSpPr>
            <a:spLocks noGrp="1"/>
          </p:cNvSpPr>
          <p:nvPr>
            <p:ph type="title"/>
          </p:nvPr>
        </p:nvSpPr>
        <p:spPr/>
        <p:txBody>
          <a:bodyPr/>
          <a:lstStyle/>
          <a:p>
            <a:r>
              <a:rPr lang="en-US" dirty="0"/>
              <a:t>Algorithm to Simulate PI</a:t>
            </a:r>
          </a:p>
        </p:txBody>
      </p:sp>
      <p:sp>
        <p:nvSpPr>
          <p:cNvPr id="5" name="Content Placeholder 4">
            <a:extLst>
              <a:ext uri="{FF2B5EF4-FFF2-40B4-BE49-F238E27FC236}">
                <a16:creationId xmlns:a16="http://schemas.microsoft.com/office/drawing/2014/main" id="{DB94B3EC-9147-2089-C0C0-2BB78FF0C886}"/>
              </a:ext>
            </a:extLst>
          </p:cNvPr>
          <p:cNvSpPr>
            <a:spLocks noGrp="1"/>
          </p:cNvSpPr>
          <p:nvPr>
            <p:ph idx="1"/>
          </p:nvPr>
        </p:nvSpPr>
        <p:spPr/>
        <p:txBody>
          <a:bodyPr>
            <a:noAutofit/>
          </a:bodyPr>
          <a:lstStyle/>
          <a:p>
            <a:pPr marL="0" indent="0">
              <a:buNone/>
            </a:pPr>
            <a:r>
              <a:rPr lang="en-US" dirty="0"/>
              <a:t>Algorithm:</a:t>
            </a:r>
          </a:p>
          <a:p>
            <a:pPr marL="0" indent="0">
              <a:buNone/>
            </a:pPr>
            <a:r>
              <a:rPr lang="en-US" dirty="0"/>
              <a:t>1. Set c = 0 (darts inside the circle) and n = 0 (total darts)</a:t>
            </a:r>
          </a:p>
          <a:p>
            <a:pPr marL="0" indent="0">
              <a:buNone/>
            </a:pPr>
            <a:r>
              <a:rPr lang="en-US" dirty="0"/>
              <a:t>2. Repeat this many times:</a:t>
            </a:r>
          </a:p>
          <a:p>
            <a:pPr marL="0" indent="0">
              <a:buNone/>
            </a:pPr>
            <a:r>
              <a:rPr lang="en-US" dirty="0"/>
              <a:t>     a. Generate a random x and a random y, each between 0 and 1</a:t>
            </a:r>
          </a:p>
          <a:p>
            <a:pPr marL="0" indent="0">
              <a:buNone/>
            </a:pPr>
            <a:r>
              <a:rPr lang="en-US" dirty="0"/>
              <a:t>     b. Work out the distance from the origin: √(x² + y²)</a:t>
            </a:r>
          </a:p>
          <a:p>
            <a:pPr marL="0" indent="0">
              <a:buNone/>
            </a:pPr>
            <a:r>
              <a:rPr lang="en-US" dirty="0"/>
              <a:t>     c. If the distance is 1 or less, the dart is inside the circle: add 1 to c</a:t>
            </a:r>
          </a:p>
          <a:p>
            <a:pPr marL="0" indent="0">
              <a:buNone/>
            </a:pPr>
            <a:r>
              <a:rPr lang="en-US" dirty="0"/>
              <a:t>     d. Add 1 to n</a:t>
            </a:r>
          </a:p>
          <a:p>
            <a:pPr marL="0" indent="0">
              <a:buNone/>
            </a:pPr>
            <a:r>
              <a:rPr lang="en-US" dirty="0"/>
              <a:t>3. Print 4 × c / n as the estimate for </a:t>
            </a:r>
            <a:r>
              <a:rPr lang="el-GR" dirty="0"/>
              <a:t>π</a:t>
            </a:r>
            <a:endParaRPr lang="en-US" dirty="0"/>
          </a:p>
        </p:txBody>
      </p:sp>
    </p:spTree>
    <p:extLst>
      <p:ext uri="{BB962C8B-B14F-4D97-AF65-F5344CB8AC3E}">
        <p14:creationId xmlns:p14="http://schemas.microsoft.com/office/powerpoint/2010/main" val="255561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5CB60-BBD2-A666-71A1-E0A17C40DA39}"/>
              </a:ext>
            </a:extLst>
          </p:cNvPr>
          <p:cNvSpPr>
            <a:spLocks noGrp="1"/>
          </p:cNvSpPr>
          <p:nvPr>
            <p:ph type="title"/>
          </p:nvPr>
        </p:nvSpPr>
        <p:spPr/>
        <p:txBody>
          <a:bodyPr/>
          <a:lstStyle/>
          <a:p>
            <a:r>
              <a:rPr lang="en-US" dirty="0"/>
              <a:t>Try at Home</a:t>
            </a:r>
          </a:p>
        </p:txBody>
      </p:sp>
      <p:sp>
        <p:nvSpPr>
          <p:cNvPr id="3" name="Content Placeholder 2">
            <a:extLst>
              <a:ext uri="{FF2B5EF4-FFF2-40B4-BE49-F238E27FC236}">
                <a16:creationId xmlns:a16="http://schemas.microsoft.com/office/drawing/2014/main" id="{FBBEEF84-E6C7-CFAF-4A15-96163B0EB374}"/>
              </a:ext>
            </a:extLst>
          </p:cNvPr>
          <p:cNvSpPr>
            <a:spLocks noGrp="1"/>
          </p:cNvSpPr>
          <p:nvPr>
            <p:ph idx="1"/>
          </p:nvPr>
        </p:nvSpPr>
        <p:spPr/>
        <p:txBody>
          <a:bodyPr>
            <a:normAutofit fontScale="92500" lnSpcReduction="10000"/>
          </a:bodyPr>
          <a:lstStyle/>
          <a:p>
            <a:pPr marL="342900" indent="-342900">
              <a:buFont typeface="+mj-lt"/>
              <a:buAutoNum type="arabicPeriod"/>
            </a:pPr>
            <a:r>
              <a:rPr lang="en-US" dirty="0"/>
              <a:t>Walk through the Sentinel Loops in the Try At Home Sentinels block.</a:t>
            </a:r>
          </a:p>
          <a:p>
            <a:pPr marL="342900" indent="-342900">
              <a:buFont typeface="+mj-lt"/>
              <a:buAutoNum type="arabicPeriod"/>
            </a:pPr>
            <a:r>
              <a:rPr lang="en-US" dirty="0"/>
              <a:t>Modify the guess game: </a:t>
            </a:r>
          </a:p>
          <a:p>
            <a:pPr lvl="1"/>
            <a:r>
              <a:rPr lang="en-US" dirty="0"/>
              <a:t> Make it so the guesses are random as well and are not user input. </a:t>
            </a:r>
          </a:p>
          <a:p>
            <a:pPr lvl="1"/>
            <a:r>
              <a:rPr lang="en-US" dirty="0"/>
              <a:t>Count how many guesses it takes to get it right. </a:t>
            </a:r>
          </a:p>
          <a:p>
            <a:pPr lvl="1"/>
            <a:r>
              <a:rPr lang="en-US" dirty="0"/>
              <a:t>Simulate 100 games.  </a:t>
            </a:r>
          </a:p>
          <a:p>
            <a:pPr lvl="1"/>
            <a:r>
              <a:rPr lang="en-US" dirty="0"/>
              <a:t>Track and print the average number of guesses needed to win the game.</a:t>
            </a:r>
          </a:p>
          <a:p>
            <a:pPr marL="342900" indent="-342900">
              <a:buFont typeface="+mj-lt"/>
              <a:buAutoNum type="arabicPeriod"/>
            </a:pPr>
            <a:r>
              <a:rPr lang="en-US" dirty="0"/>
              <a:t>Complete the code to simulate pi.</a:t>
            </a:r>
          </a:p>
          <a:p>
            <a:pPr marL="342900" indent="-342900">
              <a:buFont typeface="+mj-lt"/>
              <a:buAutoNum type="arabicPeriod"/>
            </a:pPr>
            <a:r>
              <a:rPr lang="en-US" dirty="0"/>
              <a:t>Use loops to draw a nested circle.</a:t>
            </a:r>
          </a:p>
          <a:p>
            <a:pPr marL="342900" indent="-342900">
              <a:buFont typeface="+mj-lt"/>
              <a:buAutoNum type="arabicPeriod"/>
            </a:pPr>
            <a:r>
              <a:rPr lang="en-US" dirty="0"/>
              <a:t>Use loops to draw a triangle spiral</a:t>
            </a:r>
          </a:p>
        </p:txBody>
      </p:sp>
      <p:pic>
        <p:nvPicPr>
          <p:cNvPr id="4" name="Picture 3">
            <a:extLst>
              <a:ext uri="{FF2B5EF4-FFF2-40B4-BE49-F238E27FC236}">
                <a16:creationId xmlns:a16="http://schemas.microsoft.com/office/drawing/2014/main" id="{023A5E6D-2372-92A0-A6D6-02E2715710EE}"/>
              </a:ext>
            </a:extLst>
          </p:cNvPr>
          <p:cNvPicPr>
            <a:picLocks noChangeAspect="1"/>
          </p:cNvPicPr>
          <p:nvPr/>
        </p:nvPicPr>
        <p:blipFill>
          <a:blip r:embed="rId2"/>
          <a:stretch>
            <a:fillRect/>
          </a:stretch>
        </p:blipFill>
        <p:spPr>
          <a:xfrm>
            <a:off x="9960864" y="3978476"/>
            <a:ext cx="1906684" cy="1914832"/>
          </a:xfrm>
          <a:prstGeom prst="rect">
            <a:avLst/>
          </a:prstGeom>
        </p:spPr>
      </p:pic>
      <p:pic>
        <p:nvPicPr>
          <p:cNvPr id="5" name="Picture 4">
            <a:extLst>
              <a:ext uri="{FF2B5EF4-FFF2-40B4-BE49-F238E27FC236}">
                <a16:creationId xmlns:a16="http://schemas.microsoft.com/office/drawing/2014/main" id="{9263C934-A4F0-5DEF-E279-6C365084B572}"/>
              </a:ext>
            </a:extLst>
          </p:cNvPr>
          <p:cNvPicPr>
            <a:picLocks noChangeAspect="1"/>
          </p:cNvPicPr>
          <p:nvPr/>
        </p:nvPicPr>
        <p:blipFill>
          <a:blip r:embed="rId3"/>
          <a:stretch>
            <a:fillRect/>
          </a:stretch>
        </p:blipFill>
        <p:spPr>
          <a:xfrm>
            <a:off x="7282849" y="3978476"/>
            <a:ext cx="2420905" cy="2031145"/>
          </a:xfrm>
          <a:prstGeom prst="rect">
            <a:avLst/>
          </a:prstGeom>
        </p:spPr>
      </p:pic>
    </p:spTree>
    <p:extLst>
      <p:ext uri="{BB962C8B-B14F-4D97-AF65-F5344CB8AC3E}">
        <p14:creationId xmlns:p14="http://schemas.microsoft.com/office/powerpoint/2010/main" val="11468148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27735</TotalTime>
  <Words>1775</Words>
  <Application>Microsoft Macintosh PowerPoint</Application>
  <PresentationFormat>Widescreen</PresentationFormat>
  <Paragraphs>151</Paragraphs>
  <Slides>26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Courier New</vt:lpstr>
      <vt:lpstr>Gill Sans MT</vt:lpstr>
      <vt:lpstr>Parcel</vt:lpstr>
      <vt:lpstr>Repetitions (Loops)</vt:lpstr>
      <vt:lpstr>Code Examples</vt:lpstr>
      <vt:lpstr>Repetitions</vt:lpstr>
      <vt:lpstr>While Loops</vt:lpstr>
      <vt:lpstr>Quick Hitter</vt:lpstr>
      <vt:lpstr>Quick Hitter</vt:lpstr>
      <vt:lpstr>WHILE LooPs</vt:lpstr>
      <vt:lpstr>While Loop Examples</vt:lpstr>
      <vt:lpstr>Tracing a While Loop</vt:lpstr>
      <vt:lpstr>For Loops</vt:lpstr>
      <vt:lpstr>Range</vt:lpstr>
      <vt:lpstr>Range Examples</vt:lpstr>
      <vt:lpstr>For Loops with Range</vt:lpstr>
      <vt:lpstr>Conventions</vt:lpstr>
      <vt:lpstr>Sequences and for Loops</vt:lpstr>
      <vt:lpstr>NESTeD Loops</vt:lpstr>
      <vt:lpstr>Nested Loops with Turtle Draw</vt:lpstr>
      <vt:lpstr>Nested loops with turtle draw</vt:lpstr>
      <vt:lpstr>Triple nested Loop</vt:lpstr>
      <vt:lpstr>Beware</vt:lpstr>
      <vt:lpstr>Find a Partner</vt:lpstr>
      <vt:lpstr>Find A Partner</vt:lpstr>
      <vt:lpstr>Throwing Darts</vt:lpstr>
      <vt:lpstr>Simulating PI</vt:lpstr>
      <vt:lpstr>Algorithm to Simulate PI</vt:lpstr>
      <vt:lpstr>Try at Home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Godbout</dc:creator>
  <cp:lastModifiedBy>Christopher Power</cp:lastModifiedBy>
  <cp:revision>3</cp:revision>
  <dcterms:created xsi:type="dcterms:W3CDTF">2025-06-27T17:31:36Z</dcterms:created>
  <dcterms:modified xsi:type="dcterms:W3CDTF">2026-10-19T22:33:18Z</dcterms:modified>
</cp:coreProperties>
</file>