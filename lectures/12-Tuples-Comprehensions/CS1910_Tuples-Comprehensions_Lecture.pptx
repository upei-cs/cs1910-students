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20"/>
  </p:notesMasterIdLst>
  <p:sldIdLst>
    <p:sldId id="313" r:id="rId2"/>
    <p:sldId id="274" r:id="rId3"/>
    <p:sldId id="278" r:id="rId4"/>
    <p:sldId id="280" r:id="rId5"/>
    <p:sldId id="269" r:id="rId6"/>
    <p:sldId id="270" r:id="rId7"/>
    <p:sldId id="281" r:id="rId8"/>
    <p:sldId id="284" r:id="rId9"/>
    <p:sldId id="285" r:id="rId10"/>
    <p:sldId id="282" r:id="rId11"/>
    <p:sldId id="259" r:id="rId12"/>
    <p:sldId id="260" r:id="rId13"/>
    <p:sldId id="263" r:id="rId14"/>
    <p:sldId id="287" r:id="rId15"/>
    <p:sldId id="286" r:id="rId16"/>
    <p:sldId id="266" r:id="rId17"/>
    <p:sldId id="268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072F3A-44B2-441E-9C70-F9A0736A3978}" v="1" dt="2026-07-23T02:17:07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310" autoAdjust="0"/>
  </p:normalViewPr>
  <p:slideViewPr>
    <p:cSldViewPr snapToGrid="0">
      <p:cViewPr varScale="1">
        <p:scale>
          <a:sx n="104" d="100"/>
          <a:sy n="104" d="100"/>
        </p:scale>
        <p:origin x="7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wer" userId="83706efc-52ec-4aad-b93a-e27c6e901a30" providerId="ADAL" clId="{97D26654-64D5-4042-8583-A5886BB6B01E}"/>
    <pc:docChg chg="custSel addSld delSld modSld">
      <pc:chgData name="Christopher Power" userId="83706efc-52ec-4aad-b93a-e27c6e901a30" providerId="ADAL" clId="{97D26654-64D5-4042-8583-A5886BB6B01E}" dt="2026-07-23T02:17:33.192" v="49" actId="20577"/>
      <pc:docMkLst>
        <pc:docMk/>
      </pc:docMkLst>
      <pc:sldChg chg="del">
        <pc:chgData name="Christopher Power" userId="83706efc-52ec-4aad-b93a-e27c6e901a30" providerId="ADAL" clId="{97D26654-64D5-4042-8583-A5886BB6B01E}" dt="2026-07-23T02:17:16.343" v="22" actId="47"/>
        <pc:sldMkLst>
          <pc:docMk/>
          <pc:sldMk cId="2806153068" sldId="256"/>
        </pc:sldMkLst>
      </pc:sldChg>
      <pc:sldChg chg="del">
        <pc:chgData name="Christopher Power" userId="83706efc-52ec-4aad-b93a-e27c6e901a30" providerId="ADAL" clId="{97D26654-64D5-4042-8583-A5886BB6B01E}" dt="2026-07-23T02:17:18.022" v="24" actId="47"/>
        <pc:sldMkLst>
          <pc:docMk/>
          <pc:sldMk cId="663341042" sldId="283"/>
        </pc:sldMkLst>
      </pc:sldChg>
      <pc:sldChg chg="del">
        <pc:chgData name="Christopher Power" userId="83706efc-52ec-4aad-b93a-e27c6e901a30" providerId="ADAL" clId="{97D26654-64D5-4042-8583-A5886BB6B01E}" dt="2026-07-23T02:17:17.509" v="23" actId="47"/>
        <pc:sldMkLst>
          <pc:docMk/>
          <pc:sldMk cId="1895986551" sldId="288"/>
        </pc:sldMkLst>
      </pc:sldChg>
      <pc:sldChg chg="modSp add mod">
        <pc:chgData name="Christopher Power" userId="83706efc-52ec-4aad-b93a-e27c6e901a30" providerId="ADAL" clId="{97D26654-64D5-4042-8583-A5886BB6B01E}" dt="2026-07-23T02:17:33.192" v="49" actId="20577"/>
        <pc:sldMkLst>
          <pc:docMk/>
          <pc:sldMk cId="3002068836" sldId="313"/>
        </pc:sldMkLst>
        <pc:spChg chg="mod">
          <ac:chgData name="Christopher Power" userId="83706efc-52ec-4aad-b93a-e27c6e901a30" providerId="ADAL" clId="{97D26654-64D5-4042-8583-A5886BB6B01E}" dt="2026-07-23T02:17:33.192" v="49" actId="20577"/>
          <ac:spMkLst>
            <pc:docMk/>
            <pc:sldMk cId="3002068836" sldId="313"/>
            <ac:spMk id="2" creationId="{C93DC5BA-038A-1370-693A-933684213E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EC9D2-8D7F-7345-8665-FCC8F193B8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DF4E6-4908-824D-96D2-DCF3EDE39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28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DF4E6-4908-824D-96D2-DCF3EDE395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73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F1877-64DE-B14A-8142-4E9C62305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4D219-E5DA-4CCC-28DA-882FA629C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6076D-5600-225B-B074-29661EA93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8FFF7-B9CD-E49E-5FBA-46339BB26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DF4E6-4908-824D-96D2-DCF3EDE395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92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C5BA-038A-1370-693A-933684213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98" y="2474895"/>
            <a:ext cx="6212764" cy="1908215"/>
          </a:xfrm>
          <a:noFill/>
          <a:ln>
            <a:solidFill>
              <a:schemeClr val="tx1"/>
            </a:solidFill>
          </a:ln>
        </p:spPr>
        <p:txBody>
          <a:bodyPr wrap="square">
            <a:normAutofit fontScale="9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TUPLES</a:t>
            </a:r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Multi-Dimension LISTS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COMPREHENSIONS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7A82F3-F6C4-4325-8C9C-7DF1AD06B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0"/>
            <a:ext cx="40621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B9C7C-BEF1-C07A-6A77-DBDD7148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3732" y="2173266"/>
            <a:ext cx="3254408" cy="2511468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CS1910</a:t>
            </a:r>
          </a:p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Computer Science I</a:t>
            </a:r>
          </a:p>
        </p:txBody>
      </p:sp>
    </p:spTree>
    <p:extLst>
      <p:ext uri="{BB962C8B-B14F-4D97-AF65-F5344CB8AC3E}">
        <p14:creationId xmlns:p14="http://schemas.microsoft.com/office/powerpoint/2010/main" val="300206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6BBED-634E-39FA-C33D-471108A9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6558A-6879-F7E2-BC92-C830D430B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8910" y="2638044"/>
            <a:ext cx="4763792" cy="310198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 immutable sequence of data </a:t>
            </a:r>
          </a:p>
          <a:p>
            <a:pPr lvl="1"/>
            <a:r>
              <a:rPr lang="en-US" dirty="0"/>
              <a:t>Like lists but immutable</a:t>
            </a:r>
          </a:p>
          <a:p>
            <a:pPr lvl="1"/>
            <a:r>
              <a:rPr lang="en-US" dirty="0"/>
              <a:t>Ordered, allows any type of data (like lists)</a:t>
            </a:r>
          </a:p>
          <a:p>
            <a:pPr lvl="1"/>
            <a:r>
              <a:rPr lang="en-US" dirty="0"/>
              <a:t>Specified with ( ) </a:t>
            </a:r>
          </a:p>
          <a:p>
            <a:pPr lvl="1"/>
            <a:r>
              <a:rPr lang="en-US" dirty="0"/>
              <a:t>Access elements at index positions with [ ]</a:t>
            </a:r>
          </a:p>
          <a:p>
            <a:pPr lvl="1"/>
            <a:r>
              <a:rPr lang="en-US" dirty="0"/>
              <a:t>Useful in places where you want something that is immutable</a:t>
            </a:r>
          </a:p>
          <a:p>
            <a:pPr lvl="2"/>
            <a:r>
              <a:rPr lang="en-US" dirty="0"/>
              <a:t>Stay tuned for Dictionaries where there is an obvious use for immutable sequences (tuples) as opposed to lists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44F4A-3E1A-DD54-33AC-69297C665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66327" y="2638044"/>
            <a:ext cx="6086764" cy="368886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Empty tuple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Useful when you need a placeholder for an empty variable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That will not change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empty_tuple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()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Tuple with mixed data types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Can hold multiple types like lists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my_tuple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"apple"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3.14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Tuple with a single element (note the comma)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Comma is needed or otherwise it is just a string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single_element_tuple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"hello"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Accessing by index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my_tuple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])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Output: apple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my_tuple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])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Output: 3.14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14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Slicing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15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my_tuple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])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Output: (1, 3.14)</a:t>
            </a:r>
            <a:endParaRPr lang="en-US" sz="1800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89888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6E7F-A4D4-CD13-E09E-6E37CDF4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Multi-Dimensional Lists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BEEB-7F1F-B2F2-5008-302DC2FAD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Up until recently we have had inner lists but no other real restrictions</a:t>
            </a:r>
          </a:p>
          <a:p>
            <a:pPr lvl="1"/>
            <a:r>
              <a:rPr lang="en-US" dirty="0"/>
              <a:t>Recall that accessing an inner list uses the syntax: </a:t>
            </a:r>
          </a:p>
          <a:p>
            <a:pPr lvl="1">
              <a:buNone/>
            </a:pP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	</a:t>
            </a:r>
            <a:r>
              <a:rPr lang="en-US" b="0" i="0" dirty="0">
                <a:solidFill>
                  <a:srgbClr val="080808"/>
                </a:solidFill>
                <a:effectLst/>
                <a:latin typeface="JetBrains Mono"/>
              </a:rPr>
              <a:t>1   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= [ [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], [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6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], [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7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8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9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] ]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b="0" i="0" dirty="0">
                <a:solidFill>
                  <a:srgbClr val="080808"/>
                </a:solidFill>
                <a:effectLst/>
                <a:latin typeface="JetBrains Mono"/>
              </a:rPr>
              <a:t>2    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b="0" i="0" dirty="0">
                <a:solidFill>
                  <a:srgbClr val="080808"/>
                </a:solidFill>
                <a:effectLst/>
                <a:latin typeface="JetBrains Mono"/>
              </a:rPr>
              <a:t>3   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# accessing individual elements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b="0" i="0" dirty="0">
                <a:solidFill>
                  <a:srgbClr val="080808"/>
                </a:solidFill>
                <a:effectLst/>
                <a:latin typeface="JetBrains Mono"/>
              </a:rPr>
              <a:t>4   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][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]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# 2nd index position of the 1st element in </a:t>
            </a:r>
            <a:r>
              <a:rPr lang="en-US" i="1" dirty="0" err="1">
                <a:solidFill>
                  <a:srgbClr val="8C8C8C"/>
                </a:solidFill>
                <a:effectLst/>
                <a:latin typeface="JetBrains Mono"/>
              </a:rPr>
              <a:t>lst</a:t>
            </a:r>
            <a:endParaRPr lang="en-US" i="1" dirty="0">
              <a:solidFill>
                <a:srgbClr val="080808"/>
              </a:solidFill>
              <a:latin typeface="JetBrains Mono"/>
            </a:endParaRPr>
          </a:p>
          <a:p>
            <a:r>
              <a:rPr lang="en-US" dirty="0"/>
              <a:t>This allows us to work in two dimensions if we wish – allowing us to mimic matrices or other 2D structures like images, graphs or really anything.  </a:t>
            </a:r>
          </a:p>
          <a:p>
            <a:r>
              <a:rPr lang="en-US" dirty="0"/>
              <a:t>We can even push into further dimensions – one could keep the points of triangles for a character model in a game or movie by nesting 3 lists.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60705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976C-D049-C5FC-6793-3641EF1A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F5462-F6CF-340D-E3AD-3C0E7F8E7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408" y="2414016"/>
            <a:ext cx="3044950" cy="1764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500"/>
              <a:t>Iterating Multidimensional Lists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98E548-6DDD-4295-1977-AED87A01F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3897" y="1303020"/>
            <a:ext cx="5782055" cy="4402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JetBrains Mono"/>
              </a:rPr>
              <a:t>01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#If we do not need indices - for ... in ... syntax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"for each"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#using for each loop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sub_lst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value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sub_lst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(value,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end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 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" " replacing \n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\n add \n to the row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endParaRPr lang="en-US" sz="1800" i="1" dirty="0">
              <a:solidFill>
                <a:srgbClr val="8C8C8C"/>
              </a:solidFill>
              <a:effectLst/>
              <a:latin typeface="JetBrains Mono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Conceptually: Assuming [ [5 ,5, 7], [5, 5, 4], [5, 5, 1] ] is our list …</a:t>
            </a:r>
          </a:p>
          <a:p>
            <a:pPr marL="571500" lvl="1" indent="-342900">
              <a:buClrTx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  <a:effectLst/>
              </a:rPr>
              <a:t>Get the next item in the list, which </a:t>
            </a:r>
            <a:r>
              <a:rPr lang="en-US" sz="1400" dirty="0">
                <a:solidFill>
                  <a:schemeClr val="tx1"/>
                </a:solidFill>
              </a:rPr>
              <a:t>is a </a:t>
            </a:r>
            <a:r>
              <a:rPr lang="en-US" sz="1400" dirty="0">
                <a:solidFill>
                  <a:schemeClr val="tx1"/>
                </a:solidFill>
                <a:effectLst/>
              </a:rPr>
              <a:t>list</a:t>
            </a:r>
          </a:p>
          <a:p>
            <a:pPr marL="800100" lvl="2" indent="-342900">
              <a:buClrTx/>
              <a:buFont typeface="+mj-lt"/>
              <a:buAutoNum type="alphaLcParenR"/>
            </a:pPr>
            <a:r>
              <a:rPr lang="en-US" sz="1400" dirty="0">
                <a:solidFill>
                  <a:schemeClr val="tx1"/>
                </a:solidFill>
              </a:rPr>
              <a:t>Get the next item in the retrieved inner list</a:t>
            </a:r>
          </a:p>
          <a:p>
            <a:pPr marL="800100" lvl="2" indent="-342900">
              <a:buClrTx/>
              <a:buFont typeface="+mj-lt"/>
              <a:buAutoNum type="alphaLcParenR"/>
            </a:pPr>
            <a:r>
              <a:rPr lang="en-US" sz="1400" dirty="0">
                <a:solidFill>
                  <a:schemeClr val="tx1"/>
                </a:solidFill>
              </a:rPr>
              <a:t>Repeat (a) until there are no other items</a:t>
            </a:r>
          </a:p>
          <a:p>
            <a:pPr marL="571500" lvl="1" indent="-342900">
              <a:buClrTx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JetBrains Mono"/>
              </a:rPr>
              <a:t>Repeat 1 until there are no other items in the outer list</a:t>
            </a:r>
          </a:p>
        </p:txBody>
      </p:sp>
    </p:spTree>
    <p:extLst>
      <p:ext uri="{BB962C8B-B14F-4D97-AF65-F5344CB8AC3E}">
        <p14:creationId xmlns:p14="http://schemas.microsoft.com/office/powerpoint/2010/main" val="178060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9B4B-2B82-3E11-B766-45FA43FC8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and Using Multidimensional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CFAAE-A779-6A2D-F66F-924D108BB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671316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Manipulating multi-dimensional lists through </a:t>
            </a:r>
            <a:r>
              <a:rPr lang="en-CA" dirty="0" err="1"/>
              <a:t>builtins</a:t>
            </a:r>
            <a:r>
              <a:rPr lang="en-CA" dirty="0"/>
              <a:t> requires identifying how typical functions apply to different data</a:t>
            </a:r>
          </a:p>
          <a:p>
            <a:r>
              <a:rPr lang="en-CA" dirty="0"/>
              <a:t>For example – with sorting on 2D lists, it works similar to,, but notably different from, other types:</a:t>
            </a:r>
          </a:p>
          <a:p>
            <a:pPr lvl="1"/>
            <a:r>
              <a:rPr lang="en-CA" dirty="0"/>
              <a:t>We still apply lexicographic order</a:t>
            </a:r>
          </a:p>
          <a:p>
            <a:pPr lvl="1"/>
            <a:r>
              <a:rPr lang="en-CA" dirty="0"/>
              <a:t>We need to apply it to each sub list</a:t>
            </a:r>
          </a:p>
          <a:p>
            <a:pPr lvl="1"/>
            <a:r>
              <a:rPr lang="en-CA" dirty="0"/>
              <a:t>We start with:</a:t>
            </a:r>
          </a:p>
          <a:p>
            <a:pPr lvl="2"/>
            <a:r>
              <a:rPr lang="en-CA" dirty="0"/>
              <a:t>Compare index 1 of each </a:t>
            </a:r>
            <a:r>
              <a:rPr lang="en-CA" dirty="0" err="1"/>
              <a:t>sublist</a:t>
            </a:r>
            <a:endParaRPr lang="en-CA" dirty="0"/>
          </a:p>
          <a:p>
            <a:pPr lvl="2"/>
            <a:r>
              <a:rPr lang="en-CA" dirty="0"/>
              <a:t>Compare index 2 of each </a:t>
            </a:r>
            <a:r>
              <a:rPr lang="en-CA" dirty="0" err="1"/>
              <a:t>sublist</a:t>
            </a:r>
            <a:endParaRPr lang="en-CA" dirty="0"/>
          </a:p>
          <a:p>
            <a:pPr lvl="2"/>
            <a:r>
              <a:rPr lang="en-CA" dirty="0"/>
              <a:t>…</a:t>
            </a:r>
          </a:p>
          <a:p>
            <a:pPr lvl="2"/>
            <a:r>
              <a:rPr lang="en-CA" dirty="0"/>
              <a:t>Compare index n of each </a:t>
            </a:r>
            <a:r>
              <a:rPr lang="en-CA" dirty="0" err="1"/>
              <a:t>sublist</a:t>
            </a:r>
            <a:endParaRPr lang="en-CA" dirty="0"/>
          </a:p>
          <a:p>
            <a:r>
              <a:rPr lang="en-CA" dirty="0"/>
              <a:t>For different complex types, you will apply similar rules – so if it was lists of strings, the lexicographic order would apply with the characters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BDED3-0F90-FA25-0681-21332B226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6713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 = [ [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], [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6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], [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9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8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7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] ]</a:t>
            </a:r>
            <a:b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  <a:t># Sort elements of </a:t>
            </a:r>
            <a:r>
              <a:rPr lang="en-US" sz="1200" i="1" dirty="0" err="1">
                <a:solidFill>
                  <a:srgbClr val="8C8C8C"/>
                </a:solidFill>
                <a:effectLst/>
                <a:latin typeface="JetBrains Mono"/>
              </a:rPr>
              <a:t>lst</a:t>
            </a:r>
            <a: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  <a:t> - retrieve [6,5,4] and sort it</a:t>
            </a:r>
            <a:b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].sort()</a:t>
            </a:r>
            <a:b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US" sz="12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  <a:t># [[3, 2, 1], [4, 5, 6], [9, 8, 7]]</a:t>
            </a:r>
            <a:b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  <a:t># Sort the overall list</a:t>
            </a:r>
            <a:b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lst.sort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  <a:t># List has been compared lexicographically - 3 &lt; 4 &lt; 9</a:t>
            </a:r>
            <a:b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US" sz="12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  <a:t># [[3, 2, 1], [4, 5, 6], [9, 8, 7]</a:t>
            </a:r>
            <a:b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  <a:t># New list with different lexicographic order</a:t>
            </a:r>
            <a:b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 = [[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6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], [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], [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9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8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7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]]</a:t>
            </a:r>
            <a:b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lst.sort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r>
              <a:rPr lang="en-US" sz="12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  <a:t># [[3, 2, 1], [6, 5, 4], [9, 8, 7]]</a:t>
            </a:r>
            <a:b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  <a:t># Extreme example where only the last item matters</a:t>
            </a:r>
            <a:b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14    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 = [[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], [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], [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200" dirty="0">
                <a:solidFill>
                  <a:srgbClr val="1750EB"/>
                </a:solidFill>
                <a:effectLst/>
                <a:latin typeface="JetBrains Mono"/>
              </a:rPr>
              <a:t>7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]]</a:t>
            </a:r>
            <a:b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15    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lst.sort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16    </a:t>
            </a:r>
            <a:r>
              <a:rPr lang="en-US" sz="12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  <a:t># [[5, 5, 1], [5, 5, 4], [5, 5, 7]]</a:t>
            </a:r>
            <a:b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17    </a:t>
            </a:r>
            <a: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  <a:t># We can put it back with an optional reverse parameter</a:t>
            </a:r>
            <a:b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18    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lst.sort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200" dirty="0">
                <a:solidFill>
                  <a:srgbClr val="660099"/>
                </a:solidFill>
                <a:effectLst/>
                <a:latin typeface="JetBrains Mono"/>
              </a:rPr>
              <a:t>reverse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200" dirty="0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200" b="0" i="0" dirty="0">
                <a:solidFill>
                  <a:srgbClr val="080808"/>
                </a:solidFill>
                <a:effectLst/>
                <a:latin typeface="JetBrains Mono"/>
              </a:rPr>
              <a:t>19    </a:t>
            </a:r>
            <a:r>
              <a:rPr lang="en-US" sz="12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200" i="1" dirty="0">
                <a:solidFill>
                  <a:srgbClr val="8C8C8C"/>
                </a:solidFill>
                <a:effectLst/>
                <a:latin typeface="JetBrains Mono"/>
              </a:rPr>
              <a:t># [[5, 5, 7], [5, 5, 4], [5, 5, 1]]</a:t>
            </a:r>
            <a:endParaRPr lang="en-US" sz="12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421087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543D27-8BFA-7383-7556-4A7CC396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500"/>
              <a:t>Iterating Multidimensional Lists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F764EE-8553-9170-DC97-23D73C572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0745" y="251460"/>
            <a:ext cx="6440423" cy="621334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#If we do not need indices - for ... in ... syntax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"for each"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#using for each loop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sub_lst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value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sub_lst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(value,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end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 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" " replacing \n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add \n to the row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For Each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5 5 7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5 5 4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5 5 1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If we need indices in the code we must use ranges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14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"Using indices"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15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#using indices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16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i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)):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17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j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i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])):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18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i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][j],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end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 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" " replacing \n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19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add \n to the row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20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Using indices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5 5 7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22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5 5 4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23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5 5 1</a:t>
            </a:r>
            <a:endParaRPr lang="en-US" sz="18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062409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77A1D-7FE4-C10E-EBA0-A4B7C383B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A9A5-719E-45BE-A7AB-D312C4FC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 Partner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22916-4036-2EF0-5AD2-CA958A0ED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Grayscale images are 2D lists (height x width) where each pixel in the image is a value between 0 and 255 giving the intensity of the pixel (0 is black, 255 is white and values in between are scales of gray).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8BFDFB-F55D-4CBB-5D74-628906EE1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0726" y="3801127"/>
            <a:ext cx="3014426" cy="22666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0DE118-FF2B-F26B-4BDA-AB94B7EBE9AC}"/>
              </a:ext>
            </a:extLst>
          </p:cNvPr>
          <p:cNvSpPr txBox="1"/>
          <p:nvPr/>
        </p:nvSpPr>
        <p:spPr>
          <a:xfrm>
            <a:off x="8760714" y="6067788"/>
            <a:ext cx="3431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Example grayscale image of a sailor eating spinach from a can [source: </a:t>
            </a:r>
            <a:r>
              <a:rPr lang="en-US" sz="1400" i="1" dirty="0" err="1"/>
              <a:t>youtube</a:t>
            </a:r>
            <a:r>
              <a:rPr lang="en-US" sz="1400" i="1" dirty="0"/>
              <a:t>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A53A46-A349-1433-108E-5E36D305EDD2}"/>
              </a:ext>
            </a:extLst>
          </p:cNvPr>
          <p:cNvSpPr txBox="1"/>
          <p:nvPr/>
        </p:nvSpPr>
        <p:spPr>
          <a:xfrm>
            <a:off x="4041938" y="4166306"/>
            <a:ext cx="35411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i="1" dirty="0">
                <a:solidFill>
                  <a:srgbClr val="8C8C8C"/>
                </a:solidFill>
                <a:effectLst/>
                <a:latin typeface="JetBrains Mono"/>
              </a:rPr>
              <a:t># 3 x 3 image</a:t>
            </a:r>
            <a:br>
              <a:rPr lang="de-DE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image = [ [pixel, pixel, pixel],</a:t>
            </a:r>
            <a:br>
              <a:rPr lang="de-DE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          	[pixel, pixel, pixel],</a:t>
            </a:r>
            <a:br>
              <a:rPr lang="de-DE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         	[pixel, pixel, pixel]]</a:t>
            </a:r>
          </a:p>
        </p:txBody>
      </p:sp>
    </p:spTree>
    <p:extLst>
      <p:ext uri="{BB962C8B-B14F-4D97-AF65-F5344CB8AC3E}">
        <p14:creationId xmlns:p14="http://schemas.microsoft.com/office/powerpoint/2010/main" val="2176988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DD1AE-8B2E-3AB4-557C-F0722940B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58A25-447E-C248-3E5C-9F5790B4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28" y="964692"/>
            <a:ext cx="6092952" cy="1188720"/>
          </a:xfrm>
        </p:spPr>
        <p:txBody>
          <a:bodyPr>
            <a:normAutofit/>
          </a:bodyPr>
          <a:lstStyle/>
          <a:p>
            <a:r>
              <a:rPr lang="en-US"/>
              <a:t>Find a Partner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242B8-53AE-D8CB-1203-05905F1B79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81" r="-1" b="14955"/>
          <a:stretch>
            <a:fillRect/>
          </a:stretch>
        </p:blipFill>
        <p:spPr>
          <a:xfrm>
            <a:off x="960121" y="2239289"/>
            <a:ext cx="1773393" cy="2379423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18DA9C-6C9B-C165-806F-30C1CBE683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77" r="-1" b="14959"/>
          <a:stretch>
            <a:fillRect/>
          </a:stretch>
        </p:blipFill>
        <p:spPr>
          <a:xfrm>
            <a:off x="2878480" y="2239288"/>
            <a:ext cx="1773394" cy="2379423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A3100-E532-E4B3-A705-F5C3C2E20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646" y="2475145"/>
            <a:ext cx="6142233" cy="3409259"/>
          </a:xfrm>
        </p:spPr>
        <p:txBody>
          <a:bodyPr>
            <a:normAutofit/>
          </a:bodyPr>
          <a:lstStyle/>
          <a:p>
            <a:r>
              <a:rPr lang="en-US" dirty="0"/>
              <a:t>4 Quadrant Image</a:t>
            </a:r>
          </a:p>
          <a:p>
            <a:pPr lvl="1"/>
            <a:r>
              <a:rPr lang="en-US" dirty="0"/>
              <a:t>What details matter and what can we ignore? </a:t>
            </a:r>
          </a:p>
          <a:p>
            <a:pPr lvl="2"/>
            <a:r>
              <a:rPr lang="en-US" dirty="0"/>
              <a:t>Focus on: </a:t>
            </a:r>
          </a:p>
          <a:p>
            <a:pPr lvl="3"/>
            <a:r>
              <a:rPr lang="en-US" dirty="0"/>
              <a:t>numeric pixel values</a:t>
            </a:r>
          </a:p>
          <a:p>
            <a:pPr lvl="3"/>
            <a:r>
              <a:rPr lang="en-US" dirty="0"/>
              <a:t>relative position in the grid</a:t>
            </a:r>
          </a:p>
          <a:p>
            <a:pPr lvl="2"/>
            <a:r>
              <a:rPr lang="en-US" dirty="0"/>
              <a:t>Abstraction question for students:</a:t>
            </a:r>
          </a:p>
          <a:p>
            <a:pPr lvl="3"/>
            <a:r>
              <a:rPr lang="en-US" dirty="0"/>
              <a:t>If I didn’t know this was an image, what patterns could I still find in the numbers?</a:t>
            </a:r>
          </a:p>
        </p:txBody>
      </p:sp>
    </p:spTree>
    <p:extLst>
      <p:ext uri="{BB962C8B-B14F-4D97-AF65-F5344CB8AC3E}">
        <p14:creationId xmlns:p14="http://schemas.microsoft.com/office/powerpoint/2010/main" val="3891975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9C301-214D-2F51-58B1-420289E62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0E38-67CF-5602-BDD5-D2FC2F0D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28" y="964692"/>
            <a:ext cx="6092952" cy="1188720"/>
          </a:xfrm>
        </p:spPr>
        <p:txBody>
          <a:bodyPr>
            <a:normAutofit/>
          </a:bodyPr>
          <a:lstStyle/>
          <a:p>
            <a:r>
              <a:rPr lang="en-US"/>
              <a:t>Find a Partner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6A04F2-92AE-1584-55F0-FD6C82E73A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81" r="-1" b="14955"/>
          <a:stretch>
            <a:fillRect/>
          </a:stretch>
        </p:blipFill>
        <p:spPr>
          <a:xfrm>
            <a:off x="960121" y="2239289"/>
            <a:ext cx="1773393" cy="2379423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15C42D-062A-B03C-8927-269ED509CC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77" r="-1" b="14959"/>
          <a:stretch>
            <a:fillRect/>
          </a:stretch>
        </p:blipFill>
        <p:spPr>
          <a:xfrm>
            <a:off x="2878480" y="2239288"/>
            <a:ext cx="1773394" cy="2379423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343D-8996-7E1F-CFF3-A9235B90F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646" y="2239288"/>
            <a:ext cx="6142233" cy="391462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Image dimensions and indexing</a:t>
            </a:r>
          </a:p>
          <a:p>
            <a:pPr lvl="1"/>
            <a:r>
              <a:rPr lang="en-US" dirty="0"/>
              <a:t>Your image has:</a:t>
            </a:r>
          </a:p>
          <a:p>
            <a:pPr lvl="2"/>
            <a:r>
              <a:rPr lang="en-US" dirty="0"/>
              <a:t>Height = 128 rows → indexed 0 to 127</a:t>
            </a:r>
          </a:p>
          <a:p>
            <a:pPr lvl="2"/>
            <a:r>
              <a:rPr lang="en-US" dirty="0"/>
              <a:t>Width = 64 columns → indexed 0 to 63</a:t>
            </a:r>
          </a:p>
          <a:p>
            <a:pPr lvl="2"/>
            <a:r>
              <a:rPr lang="en-US" dirty="0"/>
              <a:t>Python uses 0‑based indexing, which is key here.</a:t>
            </a:r>
          </a:p>
          <a:p>
            <a:r>
              <a:rPr lang="en-US" dirty="0"/>
              <a:t>For odd dimensions, there is a single </a:t>
            </a:r>
            <a:r>
              <a:rPr lang="en-US" dirty="0" err="1"/>
              <a:t>centre</a:t>
            </a:r>
            <a:r>
              <a:rPr lang="en-US" dirty="0"/>
              <a:t> index:</a:t>
            </a:r>
          </a:p>
          <a:p>
            <a:pPr lvl="2"/>
            <a:r>
              <a:rPr lang="en-US" dirty="0"/>
              <a:t>Height = 5 → indices 0 1 2 3 4 → </a:t>
            </a:r>
            <a:r>
              <a:rPr lang="en-US" dirty="0" err="1"/>
              <a:t>centre</a:t>
            </a:r>
            <a:r>
              <a:rPr lang="en-US" dirty="0"/>
              <a:t> is index 2</a:t>
            </a:r>
          </a:p>
          <a:p>
            <a:r>
              <a:rPr lang="en-US" dirty="0"/>
              <a:t>For even dimensions, there is no single </a:t>
            </a:r>
            <a:r>
              <a:rPr lang="en-US" dirty="0" err="1"/>
              <a:t>centre</a:t>
            </a:r>
            <a:r>
              <a:rPr lang="en-US" dirty="0"/>
              <a:t> index:</a:t>
            </a:r>
          </a:p>
          <a:p>
            <a:pPr lvl="2"/>
            <a:r>
              <a:rPr lang="en-US" dirty="0"/>
              <a:t>Height = 128 → indices 0 ... 63 | 64 ... 127</a:t>
            </a:r>
          </a:p>
          <a:p>
            <a:pPr lvl="2"/>
            <a:r>
              <a:rPr lang="en-US" dirty="0"/>
              <a:t>Width = 64 → indices 0 ... 31 | 32 ... 63</a:t>
            </a:r>
          </a:p>
          <a:p>
            <a:pPr lvl="2"/>
            <a:r>
              <a:rPr lang="en-US" dirty="0"/>
              <a:t>The vertical and horizontal midpoints lie between:</a:t>
            </a:r>
          </a:p>
          <a:p>
            <a:pPr lvl="3"/>
            <a:r>
              <a:rPr lang="en-US" dirty="0"/>
              <a:t>Rows 63 and 64 and Columns 31 and 32</a:t>
            </a:r>
          </a:p>
          <a:p>
            <a:pPr lvl="2"/>
            <a:r>
              <a:rPr lang="en-US" dirty="0"/>
              <a:t>So any choice of 63 or 64 (or 31 or 32) is one cell off the </a:t>
            </a:r>
            <a:r>
              <a:rPr lang="en-US" dirty="0" err="1"/>
              <a:t>centre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So we need to choose – will be bias towards even or odd</a:t>
            </a:r>
          </a:p>
        </p:txBody>
      </p:sp>
    </p:spTree>
    <p:extLst>
      <p:ext uri="{BB962C8B-B14F-4D97-AF65-F5344CB8AC3E}">
        <p14:creationId xmlns:p14="http://schemas.microsoft.com/office/powerpoint/2010/main" val="3832238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FCF7F-713A-DE06-DD46-430B4199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5666-EF14-EFEC-A45D-5934C7A8C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28" y="964692"/>
            <a:ext cx="6092952" cy="1188720"/>
          </a:xfrm>
        </p:spPr>
        <p:txBody>
          <a:bodyPr>
            <a:normAutofit/>
          </a:bodyPr>
          <a:lstStyle/>
          <a:p>
            <a:r>
              <a:rPr lang="en-US"/>
              <a:t>Find a Partner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5AD80D-4C97-8A0F-2CDB-65F75301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26" r="-1" b="14678"/>
          <a:stretch>
            <a:fillRect/>
          </a:stretch>
        </p:blipFill>
        <p:spPr>
          <a:xfrm>
            <a:off x="960121" y="2664486"/>
            <a:ext cx="1773391" cy="2394028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6CCA2F-5CCC-C3C7-13F5-BC163853B7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29636"/>
          <a:stretch>
            <a:fillRect/>
          </a:stretch>
        </p:blipFill>
        <p:spPr>
          <a:xfrm>
            <a:off x="2878478" y="2654591"/>
            <a:ext cx="1773394" cy="2379423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7F8AD-66FB-F934-DB3E-2972E3544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646" y="2475145"/>
            <a:ext cx="6142233" cy="340925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Gradient Image</a:t>
            </a:r>
          </a:p>
          <a:p>
            <a:pPr lvl="1"/>
            <a:r>
              <a:rPr lang="en-US" dirty="0"/>
              <a:t>Decomposition – similar to previous question</a:t>
            </a:r>
          </a:p>
          <a:p>
            <a:pPr lvl="2"/>
            <a:r>
              <a:rPr lang="en-US" dirty="0"/>
              <a:t>Identify number, then populate lists</a:t>
            </a:r>
          </a:p>
          <a:p>
            <a:pPr lvl="1"/>
            <a:r>
              <a:rPr lang="en-US" dirty="0"/>
              <a:t>Patterns: Two versions of the same problem</a:t>
            </a:r>
          </a:p>
          <a:p>
            <a:pPr lvl="2"/>
            <a:r>
              <a:rPr lang="en-US" dirty="0"/>
              <a:t>Create a 128x64 gradient image</a:t>
            </a:r>
          </a:p>
          <a:p>
            <a:pPr lvl="2"/>
            <a:r>
              <a:rPr lang="en-US" dirty="0"/>
              <a:t>The gradient fills from left to right and black to white</a:t>
            </a:r>
          </a:p>
          <a:p>
            <a:pPr lvl="2"/>
            <a:r>
              <a:rPr lang="en-US" dirty="0"/>
              <a:t>The gradient fills from top to bottom</a:t>
            </a:r>
          </a:p>
          <a:p>
            <a:pPr lvl="2"/>
            <a:r>
              <a:rPr lang="en-US" dirty="0"/>
              <a:t>Hypothetical: The gradient filles from top left corner to bottom right corner</a:t>
            </a:r>
          </a:p>
          <a:p>
            <a:pPr lvl="2"/>
            <a:r>
              <a:rPr lang="en-US" dirty="0"/>
              <a:t>If I didn’t know this was an image, what patterns could I still find in the numbers?</a:t>
            </a:r>
          </a:p>
          <a:p>
            <a:pPr lvl="1"/>
            <a:r>
              <a:rPr lang="en-US" dirty="0"/>
              <a:t>Generalization question:</a:t>
            </a:r>
          </a:p>
          <a:p>
            <a:pPr lvl="2"/>
            <a:r>
              <a:rPr lang="en-US" dirty="0"/>
              <a:t>Is there a way that you can create both of these images with 1 function?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162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C386-555E-E8AB-B058-6D1706DA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95044-B543-0E5D-A0F3-B957FB198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9433" y="2638044"/>
            <a:ext cx="8121431" cy="3031236"/>
          </a:xfrm>
        </p:spPr>
        <p:txBody>
          <a:bodyPr>
            <a:normAutofit/>
          </a:bodyPr>
          <a:lstStyle/>
          <a:p>
            <a:r>
              <a:rPr lang="en-US" dirty="0"/>
              <a:t>Concise way to create new lists based on existing lists (or other sequences)</a:t>
            </a:r>
          </a:p>
          <a:p>
            <a:r>
              <a:rPr lang="en-US" dirty="0"/>
              <a:t>Alternative to using for loops to create new lists from other lists (or sequences)</a:t>
            </a:r>
          </a:p>
          <a:p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Syntax:</a:t>
            </a:r>
          </a:p>
          <a:p>
            <a:pPr marL="228600" lvl="1" indent="0">
              <a:buNone/>
            </a:pP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new_list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US" dirty="0">
                <a:solidFill>
                  <a:schemeClr val="tx1"/>
                </a:solidFill>
                <a:effectLst/>
                <a:latin typeface="JetBrains Mono"/>
              </a:rPr>
              <a:t>expression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>
                <a:solidFill>
                  <a:schemeClr val="tx1"/>
                </a:solidFill>
                <a:effectLst/>
                <a:latin typeface="JetBrains Mono"/>
              </a:rPr>
              <a:t>item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dirty="0" err="1">
                <a:solidFill>
                  <a:schemeClr val="tx1"/>
                </a:solidFill>
                <a:effectLst/>
                <a:latin typeface="JetBrains Mono"/>
              </a:rPr>
              <a:t>iterable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condition]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7C1A24-3157-F2DD-DDA1-F7EF2C0A9B76}"/>
              </a:ext>
            </a:extLst>
          </p:cNvPr>
          <p:cNvCxnSpPr>
            <a:cxnSpLocks/>
          </p:cNvCxnSpPr>
          <p:nvPr/>
        </p:nvCxnSpPr>
        <p:spPr>
          <a:xfrm flipV="1">
            <a:off x="5249932" y="4142657"/>
            <a:ext cx="0" cy="66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5B2D5D-43E2-4F0B-6FCC-F924328A9A79}"/>
              </a:ext>
            </a:extLst>
          </p:cNvPr>
          <p:cNvSpPr txBox="1"/>
          <p:nvPr/>
        </p:nvSpPr>
        <p:spPr>
          <a:xfrm>
            <a:off x="4433812" y="4809339"/>
            <a:ext cx="1695716" cy="523220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Existing sequence - list, range or string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44A827-7298-07CF-E5E5-4D98F32A29B6}"/>
              </a:ext>
            </a:extLst>
          </p:cNvPr>
          <p:cNvSpPr txBox="1"/>
          <p:nvPr/>
        </p:nvSpPr>
        <p:spPr>
          <a:xfrm>
            <a:off x="6349480" y="4809339"/>
            <a:ext cx="1695716" cy="523220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Optional Condition about the item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FB8D97-6C1F-90BF-E6EB-C4C6AB043843}"/>
              </a:ext>
            </a:extLst>
          </p:cNvPr>
          <p:cNvSpPr txBox="1"/>
          <p:nvPr/>
        </p:nvSpPr>
        <p:spPr>
          <a:xfrm>
            <a:off x="2134591" y="4809339"/>
            <a:ext cx="2157963" cy="738664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Something that is done to each item (or each item meeting the condition)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101FBC-6A54-3DE3-48B4-91FC0A49373F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3213573" y="4142657"/>
            <a:ext cx="325155" cy="66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D56D1E-B719-7F94-8EC6-BD70EFABF8D0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096000" y="4142657"/>
            <a:ext cx="1101338" cy="66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923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56D9C-FB17-1B9E-776B-A81C9E10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List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77FCC-A3CF-3C8E-F90C-90EC06F71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95144"/>
            <a:ext cx="7729728" cy="344488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Example: Integer list	</a:t>
            </a:r>
          </a:p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Create a new list of squares based on existing list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numbers = 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3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#use a list comprehension to generate squares of the original values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4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squares = [x**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x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numbers]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5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squares will be [1, 4, 9, 16, 25]</a:t>
            </a:r>
          </a:p>
          <a:p>
            <a:pPr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Example: String manipulation</a:t>
            </a:r>
          </a:p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Create a new list with words over length 5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 = [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"apple"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"banana"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"cherry"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"date"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3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#list of long words from the existing list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4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long_words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[word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800" dirty="0" err="1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(word) &gt;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5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long_words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will be ["banana", "cherry"]</a:t>
            </a:r>
            <a:endParaRPr lang="en-US" sz="1800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4896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C20B4-CCB1-7728-C1B9-5F218192F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9780-1DE1-7D8C-3454-D4F4E4F3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400"/>
              <a:t>Examples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EA8B321-0585-D293-18A5-459B0EEF2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	#Create a new list with words over length 5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 = [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"apple"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"banana"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"cherry"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"date"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#list of long words from the existing list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long_words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[word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800" dirty="0" err="1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(word) &gt;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CA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4B470C2-CACC-6143-21D3-E98720A761F0}"/>
              </a:ext>
            </a:extLst>
          </p:cNvPr>
          <p:cNvCxnSpPr>
            <a:cxnSpLocks/>
          </p:cNvCxnSpPr>
          <p:nvPr/>
        </p:nvCxnSpPr>
        <p:spPr>
          <a:xfrm flipH="1" flipV="1">
            <a:off x="4105656" y="3822192"/>
            <a:ext cx="49083" cy="991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6B7608-AAF2-BFF0-2714-26080F4C62BF}"/>
              </a:ext>
            </a:extLst>
          </p:cNvPr>
          <p:cNvCxnSpPr>
            <a:cxnSpLocks/>
          </p:cNvCxnSpPr>
          <p:nvPr/>
        </p:nvCxnSpPr>
        <p:spPr>
          <a:xfrm flipH="1" flipV="1">
            <a:off x="5056094" y="3778153"/>
            <a:ext cx="55717" cy="103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AC8069-080D-95C5-342B-98584868170E}"/>
              </a:ext>
            </a:extLst>
          </p:cNvPr>
          <p:cNvCxnSpPr>
            <a:cxnSpLocks/>
          </p:cNvCxnSpPr>
          <p:nvPr/>
        </p:nvCxnSpPr>
        <p:spPr>
          <a:xfrm flipH="1" flipV="1">
            <a:off x="5788152" y="3778153"/>
            <a:ext cx="83619" cy="103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5FA80E0-73A4-FA9E-7B26-370E4E8F266C}"/>
              </a:ext>
            </a:extLst>
          </p:cNvPr>
          <p:cNvSpPr txBox="1"/>
          <p:nvPr/>
        </p:nvSpPr>
        <p:spPr>
          <a:xfrm>
            <a:off x="2232975" y="481418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1" indent="0">
              <a:buNone/>
            </a:pP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new_list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US" dirty="0">
                <a:solidFill>
                  <a:schemeClr val="tx1"/>
                </a:solidFill>
                <a:effectLst/>
                <a:latin typeface="JetBrains Mono"/>
              </a:rPr>
              <a:t>expression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>
                <a:solidFill>
                  <a:schemeClr val="tx1"/>
                </a:solidFill>
                <a:effectLst/>
                <a:latin typeface="JetBrains Mono"/>
              </a:rPr>
              <a:t>item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dirty="0" err="1">
                <a:solidFill>
                  <a:schemeClr val="tx1"/>
                </a:solidFill>
                <a:effectLst/>
                <a:latin typeface="JetBrains Mono"/>
              </a:rPr>
              <a:t>iterable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condition]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0609E8-ADB1-0269-7138-8FF8D3B17084}"/>
              </a:ext>
            </a:extLst>
          </p:cNvPr>
          <p:cNvCxnSpPr>
            <a:cxnSpLocks/>
          </p:cNvCxnSpPr>
          <p:nvPr/>
        </p:nvCxnSpPr>
        <p:spPr>
          <a:xfrm flipH="1" flipV="1">
            <a:off x="6745224" y="3778153"/>
            <a:ext cx="112776" cy="103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969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4EC47-E152-0E7A-85D9-D696464CF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BAFB0-8B78-741D-F045-69B8D661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400"/>
              <a:t>Examples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71FDE4A-3C4E-6DA0-0C83-C7CBD4D19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	#Create a new list with words over length 5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 = [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"apple"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"banana"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"cherry"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"date"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#list of long words from the existing list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long_words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[word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800" dirty="0" err="1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(word) &gt;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CA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098F4D-3E67-FE48-A351-F5526581BEE0}"/>
              </a:ext>
            </a:extLst>
          </p:cNvPr>
          <p:cNvCxnSpPr>
            <a:cxnSpLocks/>
          </p:cNvCxnSpPr>
          <p:nvPr/>
        </p:nvCxnSpPr>
        <p:spPr>
          <a:xfrm flipV="1">
            <a:off x="2039112" y="3904488"/>
            <a:ext cx="3309863" cy="905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BEA22B-7BAF-FB93-7E32-B88DBA53028F}"/>
              </a:ext>
            </a:extLst>
          </p:cNvPr>
          <p:cNvCxnSpPr>
            <a:cxnSpLocks/>
          </p:cNvCxnSpPr>
          <p:nvPr/>
        </p:nvCxnSpPr>
        <p:spPr>
          <a:xfrm flipV="1">
            <a:off x="3017520" y="3831336"/>
            <a:ext cx="3803904" cy="1344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E74A89-CEB3-69AA-3496-FDB6FFDC0DA6}"/>
              </a:ext>
            </a:extLst>
          </p:cNvPr>
          <p:cNvCxnSpPr>
            <a:cxnSpLocks/>
          </p:cNvCxnSpPr>
          <p:nvPr/>
        </p:nvCxnSpPr>
        <p:spPr>
          <a:xfrm flipV="1">
            <a:off x="3364992" y="3830824"/>
            <a:ext cx="822960" cy="1472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22A56A8-3B7E-0811-E82E-3113B3921BCC}"/>
              </a:ext>
            </a:extLst>
          </p:cNvPr>
          <p:cNvSpPr txBox="1"/>
          <p:nvPr/>
        </p:nvSpPr>
        <p:spPr>
          <a:xfrm>
            <a:off x="840055" y="4189035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#long words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long_words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3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4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800" dirty="0" err="1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(word) &gt;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5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long_words.append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(word)</a:t>
            </a:r>
          </a:p>
        </p:txBody>
      </p:sp>
    </p:spTree>
    <p:extLst>
      <p:ext uri="{BB962C8B-B14F-4D97-AF65-F5344CB8AC3E}">
        <p14:creationId xmlns:p14="http://schemas.microsoft.com/office/powerpoint/2010/main" val="2126828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7EA1E-5B18-7D4A-17C5-D6C578E2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B4D4-BCF7-AE24-3750-92D4752A7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List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7989C-DC21-E65E-2FF0-E1FA0795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628900"/>
            <a:ext cx="4966715" cy="3101982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Example: Integer list	</a:t>
            </a:r>
          </a:p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Create a new list of squares based on existing list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numbers = 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3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#use a list comprehension to generate squares of the original values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4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squares = [x**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x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numbers]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sz="1800" dirty="0">
              <a:solidFill>
                <a:srgbClr val="080808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Example: String manipulation</a:t>
            </a:r>
          </a:p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Create a new list with words over length 5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 = [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"apple"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"banana"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"cherry"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"date"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3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#list of long words from the existing list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4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long_words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[word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800" dirty="0" err="1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(word) &gt;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D489B-A0EE-C85E-5F99-658D983C9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72555" y="2628900"/>
            <a:ext cx="4754879" cy="3101982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Without comprehensions:</a:t>
            </a:r>
          </a:p>
          <a:p>
            <a:pPr>
              <a:buNone/>
            </a:pPr>
            <a:endParaRPr lang="en-US" sz="1800" b="0" i="0" dirty="0">
              <a:solidFill>
                <a:srgbClr val="080808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square of numbers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sq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uares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3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num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numbers: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4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squares.append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(num**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>
              <a:buNone/>
            </a:pPr>
            <a:endParaRPr lang="en-US" sz="1800" b="0" i="0" dirty="0">
              <a:solidFill>
                <a:srgbClr val="080808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#long words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long_words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3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4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800" dirty="0" err="1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(word) &gt;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5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long_words.append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(word)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12915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6291-C38C-68A2-EF81-4B91CB21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A3153-1610-BD1F-6F2E-1D81691CA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032" y="2391156"/>
            <a:ext cx="8631936" cy="310198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Which of the below is a list comprehension from line 08 - 11 to selects only the words containing “pk”? </a:t>
            </a:r>
          </a:p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Select words containing "pk" letter combination using a list comprehension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Reword the problem: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For each word in words check the following: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  Is "pk" in w  True or False - add the answer to the list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Which of the following is correct?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 = [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"napkin"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"pumpkin"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"dropkick"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"country"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"bumpkin"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"bubkes"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"shopkeeper"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"topknot"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"upkeep"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"slipknot"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800" dirty="0" err="1">
                <a:solidFill>
                  <a:srgbClr val="067D17"/>
                </a:solidFill>
                <a:effectLst/>
                <a:latin typeface="JetBrains Mono"/>
              </a:rPr>
              <a:t>shipknot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pk_words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"pk"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pk_words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[w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"pk"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pk_words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"pk"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pk_words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w.index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"pk"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"pk"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words]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204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21F4-C517-ADCF-C096-C3193009A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Find a Partner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67C39-CBF5-3392-B6AF-C384ECBF7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Complete 7 list comprehensions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E291A-A1D4-1FF4-0E82-FC8D75D13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36080" y="340374"/>
            <a:ext cx="4651248" cy="5630658"/>
          </a:xfrm>
        </p:spPr>
        <p:txBody>
          <a:bodyPr>
            <a:normAutofit fontScale="85000" lnSpcReduction="20000"/>
          </a:bodyPr>
          <a:lstStyle/>
          <a:p>
            <a:pPr algn="l">
              <a:buNone/>
            </a:pP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# Find a Partner - Comprehensions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endParaRPr lang="en-US" sz="1600" i="1" dirty="0">
              <a:solidFill>
                <a:srgbClr val="8C8C8C"/>
              </a:solidFill>
              <a:effectLst/>
              <a:latin typeface="JetBrains Mono"/>
            </a:endParaRPr>
          </a:p>
          <a:p>
            <a:pPr algn="l">
              <a:buNone/>
            </a:pP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numbers = </a:t>
            </a:r>
            <a:r>
              <a:rPr lang="en-US" sz="1600" dirty="0"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100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sz="1600" dirty="0">
              <a:solidFill>
                <a:srgbClr val="080808"/>
              </a:solidFill>
              <a:effectLst/>
              <a:latin typeface="JetBrains Mono"/>
            </a:endParaRPr>
          </a:p>
          <a:p>
            <a:pPr algn="l">
              <a:buNone/>
            </a:pP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# Complete 7 tasks using list comprehensions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#1.  all the numbers in 0-99 that are divisible by 7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#2. the upper case version of a list of words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words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"lower"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"case"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"version"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"words"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#3. convert a list of strings that represent integers into actual integers (type int)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number_strings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"1"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"123"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"456"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"789"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#4. the square root of all the numbers in 0-999 that are divisible by 77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#5. convert a list of strings into a list of </a:t>
            </a:r>
            <a:r>
              <a:rPr lang="en-US" sz="1600" i="1" dirty="0" err="1">
                <a:solidFill>
                  <a:srgbClr val="8C8C8C"/>
                </a:solidFill>
                <a:effectLst/>
                <a:latin typeface="JetBrains Mono"/>
              </a:rPr>
              <a:t>ints</a:t>
            </a: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 giving the lengths of those strings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strings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= [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"a"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"aa"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600" dirty="0" err="1">
                <a:solidFill>
                  <a:srgbClr val="067D17"/>
                </a:solidFill>
                <a:effectLst/>
                <a:latin typeface="JetBrains Mono"/>
              </a:rPr>
              <a:t>aaa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600" dirty="0" err="1">
                <a:solidFill>
                  <a:srgbClr val="067D17"/>
                </a:solidFill>
                <a:effectLst/>
                <a:latin typeface="JetBrains Mono"/>
              </a:rPr>
              <a:t>aaaa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#6 Convert a list of numbers between 0 and 53 into their percentage out of 53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grades = [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49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47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23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32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44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52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#7 Convert a list of floating point numbers to a measure of how close they are to </a:t>
            </a:r>
            <a:r>
              <a:rPr lang="en-US" sz="1600" i="1" dirty="0" err="1">
                <a:solidFill>
                  <a:srgbClr val="8C8C8C"/>
                </a:solidFill>
                <a:effectLst/>
                <a:latin typeface="JetBrains Mono"/>
              </a:rPr>
              <a:t>math.pi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floats = [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3.14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22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/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7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355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/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113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3.0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25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/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8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sz="1600" dirty="0">
              <a:solidFill>
                <a:srgbClr val="080808"/>
              </a:solidFill>
              <a:effectLst/>
              <a:latin typeface="JetBrains Mono"/>
            </a:endParaRPr>
          </a:p>
          <a:p>
            <a:pPr algn="l"/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D9627A-1EF4-700B-CB5B-C4F5FEEDA322}"/>
              </a:ext>
            </a:extLst>
          </p:cNvPr>
          <p:cNvSpPr txBox="1">
            <a:spLocks/>
          </p:cNvSpPr>
          <p:nvPr/>
        </p:nvSpPr>
        <p:spPr>
          <a:xfrm>
            <a:off x="640080" y="3472675"/>
            <a:ext cx="4719732" cy="24016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Complete each of the comprehensions.</a:t>
            </a:r>
          </a:p>
          <a:p>
            <a:r>
              <a:rPr lang="en-US" dirty="0">
                <a:solidFill>
                  <a:schemeClr val="bg1"/>
                </a:solidFill>
              </a:rPr>
              <a:t>Before writing the comprehension, try to explain what the steps are it must do in terms of: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What set of data is the expression operating over?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What conditions on the data constrain when the expression is applied?</a:t>
            </a:r>
          </a:p>
        </p:txBody>
      </p:sp>
    </p:spTree>
    <p:extLst>
      <p:ext uri="{BB962C8B-B14F-4D97-AF65-F5344CB8AC3E}">
        <p14:creationId xmlns:p14="http://schemas.microsoft.com/office/powerpoint/2010/main" val="320575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C1CB7-F9D0-F8BA-A2FE-BBB944D60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Try at Home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617624-B74E-0F8F-E000-0CC824BC5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US"/>
              <a:t>Print out all the elements in a multidimensional list</a:t>
            </a:r>
          </a:p>
          <a:p>
            <a:r>
              <a:rPr lang="en-US"/>
              <a:t>Remove specific elements from the list</a:t>
            </a:r>
          </a:p>
          <a:p>
            <a:r>
              <a:rPr lang="en-US"/>
              <a:t>Write a method to create and return images </a:t>
            </a:r>
          </a:p>
          <a:p>
            <a:r>
              <a:rPr lang="en-US"/>
              <a:t>Search for ghosts in a </a:t>
            </a:r>
            <a:r>
              <a:rPr lang="en-US" err="1"/>
              <a:t>pacman</a:t>
            </a:r>
            <a:r>
              <a:rPr lang="en-US"/>
              <a:t> game board</a:t>
            </a:r>
          </a:p>
        </p:txBody>
      </p:sp>
    </p:spTree>
    <p:extLst>
      <p:ext uri="{BB962C8B-B14F-4D97-AF65-F5344CB8AC3E}">
        <p14:creationId xmlns:p14="http://schemas.microsoft.com/office/powerpoint/2010/main" val="196568379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1934</TotalTime>
  <Words>2675</Words>
  <Application>Microsoft Office PowerPoint</Application>
  <PresentationFormat>Widescreen</PresentationFormat>
  <Paragraphs>127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Gill Sans MT</vt:lpstr>
      <vt:lpstr>JetBrains Mono</vt:lpstr>
      <vt:lpstr>Parcel</vt:lpstr>
      <vt:lpstr>TUPLES Multi-Dimension LISTS COMPREHENSIONS</vt:lpstr>
      <vt:lpstr>TUPLES</vt:lpstr>
      <vt:lpstr>Multi-Dimensional Lists</vt:lpstr>
      <vt:lpstr>Iterating Multidimensional Lists</vt:lpstr>
      <vt:lpstr>Creating and Using Multidimensional Lists</vt:lpstr>
      <vt:lpstr>Iterating Multidimensional Lists</vt:lpstr>
      <vt:lpstr>Find A Partner</vt:lpstr>
      <vt:lpstr>Find a Partner</vt:lpstr>
      <vt:lpstr>Find a Partner</vt:lpstr>
      <vt:lpstr>Find a Partner</vt:lpstr>
      <vt:lpstr>List comprehensions</vt:lpstr>
      <vt:lpstr>Example List Comprehension</vt:lpstr>
      <vt:lpstr>Examples</vt:lpstr>
      <vt:lpstr>Examples</vt:lpstr>
      <vt:lpstr>Example List Comprehension</vt:lpstr>
      <vt:lpstr>Self check</vt:lpstr>
      <vt:lpstr>Find a Partner</vt:lpstr>
      <vt:lpstr>Try at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Godbout</dc:creator>
  <cp:lastModifiedBy>Christopher Power</cp:lastModifiedBy>
  <cp:revision>3</cp:revision>
  <dcterms:created xsi:type="dcterms:W3CDTF">2025-11-04T17:16:04Z</dcterms:created>
  <dcterms:modified xsi:type="dcterms:W3CDTF">2026-07-23T02:17:33Z</dcterms:modified>
</cp:coreProperties>
</file>