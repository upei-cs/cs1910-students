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38"/>
  </p:notesMasterIdLst>
  <p:sldIdLst>
    <p:sldId id="313" r:id="rId2"/>
    <p:sldId id="286" r:id="rId3"/>
    <p:sldId id="257" r:id="rId4"/>
    <p:sldId id="258" r:id="rId5"/>
    <p:sldId id="259" r:id="rId6"/>
    <p:sldId id="260" r:id="rId7"/>
    <p:sldId id="262" r:id="rId8"/>
    <p:sldId id="287" r:id="rId9"/>
    <p:sldId id="261" r:id="rId10"/>
    <p:sldId id="288" r:id="rId11"/>
    <p:sldId id="263" r:id="rId12"/>
    <p:sldId id="264" r:id="rId13"/>
    <p:sldId id="265" r:id="rId14"/>
    <p:sldId id="281" r:id="rId15"/>
    <p:sldId id="267" r:id="rId16"/>
    <p:sldId id="268" r:id="rId17"/>
    <p:sldId id="270" r:id="rId18"/>
    <p:sldId id="280" r:id="rId19"/>
    <p:sldId id="282" r:id="rId20"/>
    <p:sldId id="278" r:id="rId21"/>
    <p:sldId id="274" r:id="rId22"/>
    <p:sldId id="301" r:id="rId23"/>
    <p:sldId id="303" r:id="rId24"/>
    <p:sldId id="289" r:id="rId25"/>
    <p:sldId id="290" r:id="rId26"/>
    <p:sldId id="291" r:id="rId27"/>
    <p:sldId id="292" r:id="rId28"/>
    <p:sldId id="299" r:id="rId29"/>
    <p:sldId id="297" r:id="rId30"/>
    <p:sldId id="275" r:id="rId31"/>
    <p:sldId id="283" r:id="rId32"/>
    <p:sldId id="300" r:id="rId33"/>
    <p:sldId id="279" r:id="rId34"/>
    <p:sldId id="295" r:id="rId35"/>
    <p:sldId id="294" r:id="rId36"/>
    <p:sldId id="298"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647D4E-0AF9-44EB-9DC5-83FC5832D4BC}" v="1" dt="2026-07-23T02:17:56.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73"/>
    <p:restoredTop sz="94665"/>
  </p:normalViewPr>
  <p:slideViewPr>
    <p:cSldViewPr snapToGrid="0">
      <p:cViewPr varScale="1">
        <p:scale>
          <a:sx n="105" d="100"/>
          <a:sy n="105" d="100"/>
        </p:scale>
        <p:origin x="8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97D26654-64D5-4042-8583-A5886BB6B01E}"/>
    <pc:docChg chg="undo redo custSel addSld delSld modSld sldOrd">
      <pc:chgData name="Christopher Power" userId="83706efc-52ec-4aad-b93a-e27c6e901a30" providerId="ADAL" clId="{97D26654-64D5-4042-8583-A5886BB6B01E}" dt="2026-07-23T02:18:05.801" v="5427" actId="47"/>
      <pc:docMkLst>
        <pc:docMk/>
      </pc:docMkLst>
      <pc:sldChg chg="del">
        <pc:chgData name="Christopher Power" userId="83706efc-52ec-4aad-b93a-e27c6e901a30" providerId="ADAL" clId="{97D26654-64D5-4042-8583-A5886BB6B01E}" dt="2026-07-23T02:18:05.801" v="5427" actId="47"/>
        <pc:sldMkLst>
          <pc:docMk/>
          <pc:sldMk cId="2819550328" sldId="256"/>
        </pc:sldMkLst>
      </pc:sldChg>
      <pc:sldChg chg="addSp delSp modSp new del mod modShow">
        <pc:chgData name="Christopher Power" userId="83706efc-52ec-4aad-b93a-e27c6e901a30" providerId="ADAL" clId="{97D26654-64D5-4042-8583-A5886BB6B01E}" dt="2026-07-23T02:17:52.492" v="5412" actId="47"/>
        <pc:sldMkLst>
          <pc:docMk/>
          <pc:sldMk cId="1986260906" sldId="284"/>
        </pc:sldMkLst>
      </pc:sldChg>
      <pc:sldChg chg="addSp delSp modSp new del mod modShow">
        <pc:chgData name="Christopher Power" userId="83706efc-52ec-4aad-b93a-e27c6e901a30" providerId="ADAL" clId="{97D26654-64D5-4042-8583-A5886BB6B01E}" dt="2026-07-23T02:17:53.011" v="5413" actId="47"/>
        <pc:sldMkLst>
          <pc:docMk/>
          <pc:sldMk cId="1094538183" sldId="285"/>
        </pc:sldMkLst>
      </pc:sldChg>
      <pc:sldChg chg="modSp add mod">
        <pc:chgData name="Christopher Power" userId="83706efc-52ec-4aad-b93a-e27c6e901a30" providerId="ADAL" clId="{97D26654-64D5-4042-8583-A5886BB6B01E}" dt="2026-07-23T02:18:02.151" v="5426" actId="20577"/>
        <pc:sldMkLst>
          <pc:docMk/>
          <pc:sldMk cId="3002068836" sldId="313"/>
        </pc:sldMkLst>
        <pc:spChg chg="mod">
          <ac:chgData name="Christopher Power" userId="83706efc-52ec-4aad-b93a-e27c6e901a30" providerId="ADAL" clId="{97D26654-64D5-4042-8583-A5886BB6B01E}" dt="2026-07-23T02:18:02.151" v="5426" actId="20577"/>
          <ac:spMkLst>
            <pc:docMk/>
            <pc:sldMk cId="3002068836" sldId="313"/>
            <ac:spMk id="2" creationId="{C93DC5BA-038A-1370-693A-933684213ED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DE0DA3-B2F2-3344-8A8B-A15CDD72644C}"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8CC79C-6B54-9040-BB8E-09527F357E47}" type="slidenum">
              <a:rPr lang="en-US" smtClean="0"/>
              <a:t>‹#›</a:t>
            </a:fld>
            <a:endParaRPr lang="en-US"/>
          </a:p>
        </p:txBody>
      </p:sp>
    </p:spTree>
    <p:extLst>
      <p:ext uri="{BB962C8B-B14F-4D97-AF65-F5344CB8AC3E}">
        <p14:creationId xmlns:p14="http://schemas.microsoft.com/office/powerpoint/2010/main" val="1104255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8CC79C-6B54-9040-BB8E-09527F357E47}" type="slidenum">
              <a:rPr lang="en-US" smtClean="0"/>
              <a:t>11</a:t>
            </a:fld>
            <a:endParaRPr lang="en-US"/>
          </a:p>
        </p:txBody>
      </p:sp>
    </p:spTree>
    <p:extLst>
      <p:ext uri="{BB962C8B-B14F-4D97-AF65-F5344CB8AC3E}">
        <p14:creationId xmlns:p14="http://schemas.microsoft.com/office/powerpoint/2010/main" val="1054881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8CC79C-6B54-9040-BB8E-09527F357E47}" type="slidenum">
              <a:rPr lang="en-US" smtClean="0"/>
              <a:t>20</a:t>
            </a:fld>
            <a:endParaRPr lang="en-US"/>
          </a:p>
        </p:txBody>
      </p:sp>
    </p:spTree>
    <p:extLst>
      <p:ext uri="{BB962C8B-B14F-4D97-AF65-F5344CB8AC3E}">
        <p14:creationId xmlns:p14="http://schemas.microsoft.com/office/powerpoint/2010/main" val="1877876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Reversed dictionary</a:t>
            </a:r>
          </a:p>
        </p:txBody>
      </p:sp>
      <p:sp>
        <p:nvSpPr>
          <p:cNvPr id="4" name="Slide Number Placeholder 3"/>
          <p:cNvSpPr>
            <a:spLocks noGrp="1"/>
          </p:cNvSpPr>
          <p:nvPr>
            <p:ph type="sldNum" sz="quarter" idx="5"/>
          </p:nvPr>
        </p:nvSpPr>
        <p:spPr/>
        <p:txBody>
          <a:bodyPr/>
          <a:lstStyle/>
          <a:p>
            <a:fld id="{E88CC79C-6B54-9040-BB8E-09527F357E47}" type="slidenum">
              <a:rPr lang="en-US" smtClean="0"/>
              <a:t>28</a:t>
            </a:fld>
            <a:endParaRPr lang="en-US"/>
          </a:p>
        </p:txBody>
      </p:sp>
    </p:spTree>
    <p:extLst>
      <p:ext uri="{BB962C8B-B14F-4D97-AF65-F5344CB8AC3E}">
        <p14:creationId xmlns:p14="http://schemas.microsoft.com/office/powerpoint/2010/main" val="793801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7/22/2026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7/22/2026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7/22/2026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7/22/2026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github/cdspower-upei/2026W-CS1910-Students/blob/main/Lectures/L13/CS1910-Dictionary-Examples.ipyn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a:bodyPr>
          <a:lstStyle/>
          <a:p>
            <a:r>
              <a:rPr lang="en-US" sz="4000" dirty="0">
                <a:solidFill>
                  <a:schemeClr val="tx1"/>
                </a:solidFill>
              </a:rPr>
              <a:t>DICTIONARIES</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I</a:t>
            </a:r>
          </a:p>
        </p:txBody>
      </p:sp>
    </p:spTree>
    <p:extLst>
      <p:ext uri="{BB962C8B-B14F-4D97-AF65-F5344CB8AC3E}">
        <p14:creationId xmlns:p14="http://schemas.microsoft.com/office/powerpoint/2010/main" val="300206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57B20-331D-47A1-C04D-A69F54DC9F80}"/>
              </a:ext>
            </a:extLst>
          </p:cNvPr>
          <p:cNvSpPr>
            <a:spLocks noGrp="1"/>
          </p:cNvSpPr>
          <p:nvPr>
            <p:ph type="title"/>
          </p:nvPr>
        </p:nvSpPr>
        <p:spPr/>
        <p:txBody>
          <a:bodyPr/>
          <a:lstStyle/>
          <a:p>
            <a:r>
              <a:rPr lang="en-CA" dirty="0"/>
              <a:t>JUPYTER Notebook</a:t>
            </a:r>
          </a:p>
        </p:txBody>
      </p:sp>
      <p:sp>
        <p:nvSpPr>
          <p:cNvPr id="3" name="Content Placeholder 2">
            <a:extLst>
              <a:ext uri="{FF2B5EF4-FFF2-40B4-BE49-F238E27FC236}">
                <a16:creationId xmlns:a16="http://schemas.microsoft.com/office/drawing/2014/main" id="{81BE2A49-8244-32D0-1E16-1C23E6D0CF88}"/>
              </a:ext>
            </a:extLst>
          </p:cNvPr>
          <p:cNvSpPr>
            <a:spLocks noGrp="1"/>
          </p:cNvSpPr>
          <p:nvPr>
            <p:ph idx="1"/>
          </p:nvPr>
        </p:nvSpPr>
        <p:spPr/>
        <p:txBody>
          <a:bodyPr/>
          <a:lstStyle/>
          <a:p>
            <a:r>
              <a:rPr lang="en-CA" dirty="0">
                <a:hlinkClick r:id="rId2"/>
              </a:rPr>
              <a:t>https://colab.research.google.com/github/cdspower-upei/2026W-CS1910-Students/blob/main/Lectures/L13/CS1910-Dictionary-Examples.ipynb</a:t>
            </a:r>
            <a:endParaRPr lang="en-CA" dirty="0"/>
          </a:p>
          <a:p>
            <a:endParaRPr lang="en-CA" dirty="0"/>
          </a:p>
        </p:txBody>
      </p:sp>
    </p:spTree>
    <p:extLst>
      <p:ext uri="{BB962C8B-B14F-4D97-AF65-F5344CB8AC3E}">
        <p14:creationId xmlns:p14="http://schemas.microsoft.com/office/powerpoint/2010/main" val="2899455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5F49A-D55E-0DF0-E17B-937325EBDCAC}"/>
              </a:ext>
            </a:extLst>
          </p:cNvPr>
          <p:cNvSpPr>
            <a:spLocks noGrp="1"/>
          </p:cNvSpPr>
          <p:nvPr>
            <p:ph type="title"/>
          </p:nvPr>
        </p:nvSpPr>
        <p:spPr>
          <a:xfrm>
            <a:off x="5445496" y="978776"/>
            <a:ext cx="5925310" cy="1174991"/>
          </a:xfrm>
        </p:spPr>
        <p:txBody>
          <a:bodyPr vert="horz" lIns="274320" tIns="182880" rIns="274320" bIns="182880" rtlCol="0" anchorCtr="1">
            <a:normAutofit/>
          </a:bodyPr>
          <a:lstStyle/>
          <a:p>
            <a:r>
              <a:rPr lang="en-US" sz="2400"/>
              <a:t>Dictionary</a:t>
            </a:r>
          </a:p>
        </p:txBody>
      </p:sp>
      <p:pic>
        <p:nvPicPr>
          <p:cNvPr id="4" name="Picture 3" descr="A book on a desk&#10;&#10;AI-generated content may be incorrect.">
            <a:extLst>
              <a:ext uri="{FF2B5EF4-FFF2-40B4-BE49-F238E27FC236}">
                <a16:creationId xmlns:a16="http://schemas.microsoft.com/office/drawing/2014/main" id="{C00FA725-F5B1-1359-B248-BC6916FB00E4}"/>
              </a:ext>
            </a:extLst>
          </p:cNvPr>
          <p:cNvPicPr>
            <a:picLocks noChangeAspect="1"/>
          </p:cNvPicPr>
          <p:nvPr/>
        </p:nvPicPr>
        <p:blipFill>
          <a:blip r:embed="rId2"/>
          <a:srcRect l="31091" r="998"/>
          <a:stretch>
            <a:fillRect/>
          </a:stretch>
        </p:blipFill>
        <p:spPr>
          <a:xfrm>
            <a:off x="20" y="10"/>
            <a:ext cx="4657325" cy="6857990"/>
          </a:xfrm>
          <a:prstGeom prst="rect">
            <a:avLst/>
          </a:prstGeom>
        </p:spPr>
      </p:pic>
      <p:sp>
        <p:nvSpPr>
          <p:cNvPr id="3" name="Content Placeholder 2">
            <a:extLst>
              <a:ext uri="{FF2B5EF4-FFF2-40B4-BE49-F238E27FC236}">
                <a16:creationId xmlns:a16="http://schemas.microsoft.com/office/drawing/2014/main" id="{AEF2EF3C-FF5B-C72E-DF9B-126087496C87}"/>
              </a:ext>
            </a:extLst>
          </p:cNvPr>
          <p:cNvSpPr>
            <a:spLocks noGrp="1"/>
          </p:cNvSpPr>
          <p:nvPr>
            <p:ph idx="1"/>
          </p:nvPr>
        </p:nvSpPr>
        <p:spPr>
          <a:xfrm>
            <a:off x="5445495" y="2640692"/>
            <a:ext cx="6154625" cy="4068452"/>
          </a:xfrm>
        </p:spPr>
        <p:txBody>
          <a:bodyPr vert="horz" lIns="91440" tIns="45720" rIns="91440" bIns="45720" rtlCol="0">
            <a:normAutofit/>
          </a:bodyPr>
          <a:lstStyle/>
          <a:p>
            <a:r>
              <a:rPr lang="en-US" kern="1200" dirty="0">
                <a:latin typeface="+mn-lt"/>
                <a:ea typeface="+mn-ea"/>
                <a:cs typeface="+mn-cs"/>
              </a:rPr>
              <a:t>A collection of data (a list is also a collection of data)</a:t>
            </a:r>
          </a:p>
          <a:p>
            <a:r>
              <a:rPr lang="en-US" dirty="0"/>
              <a:t>Does not use numbered indices </a:t>
            </a:r>
            <a:endParaRPr lang="en-US" kern="1200" dirty="0">
              <a:latin typeface="+mn-lt"/>
              <a:ea typeface="+mn-ea"/>
              <a:cs typeface="+mn-cs"/>
            </a:endParaRPr>
          </a:p>
          <a:p>
            <a:r>
              <a:rPr lang="en-US" dirty="0"/>
              <a:t>Uses </a:t>
            </a:r>
            <a:r>
              <a:rPr lang="en-US" b="1" dirty="0"/>
              <a:t>keys</a:t>
            </a:r>
            <a:r>
              <a:rPr lang="en-US" dirty="0"/>
              <a:t> to access </a:t>
            </a:r>
            <a:r>
              <a:rPr lang="en-US" b="1" dirty="0"/>
              <a:t>values</a:t>
            </a:r>
            <a:endParaRPr lang="en-US" b="1" kern="1200" dirty="0">
              <a:latin typeface="+mn-lt"/>
              <a:ea typeface="+mn-ea"/>
              <a:cs typeface="+mn-cs"/>
            </a:endParaRPr>
          </a:p>
          <a:p>
            <a:r>
              <a:rPr lang="en-US" kern="1200" dirty="0">
                <a:latin typeface="+mn-lt"/>
                <a:ea typeface="+mn-ea"/>
                <a:cs typeface="+mn-cs"/>
              </a:rPr>
              <a:t>Similar to a real-wor</a:t>
            </a:r>
            <a:r>
              <a:rPr lang="en-US" dirty="0"/>
              <a:t>ld dictionary</a:t>
            </a:r>
          </a:p>
          <a:p>
            <a:pPr lvl="1"/>
            <a:r>
              <a:rPr lang="en-US" kern="1200" dirty="0">
                <a:latin typeface="+mn-lt"/>
                <a:ea typeface="+mn-ea"/>
                <a:cs typeface="+mn-cs"/>
              </a:rPr>
              <a:t>A word is assoc</a:t>
            </a:r>
            <a:r>
              <a:rPr lang="en-US" dirty="0"/>
              <a:t>iated with its definition</a:t>
            </a:r>
          </a:p>
          <a:p>
            <a:r>
              <a:rPr lang="en-US" dirty="0"/>
              <a:t>Key-value pairs: information stored as pairs, a unique key and its associated value</a:t>
            </a:r>
          </a:p>
          <a:p>
            <a:r>
              <a:rPr lang="en-US" dirty="0"/>
              <a:t>Mutable</a:t>
            </a:r>
          </a:p>
          <a:p>
            <a:pPr lvl="1"/>
            <a:r>
              <a:rPr lang="en-US" dirty="0"/>
              <a:t>You can add, change or remove items after creating a dictionary</a:t>
            </a:r>
            <a:endParaRPr lang="en-US" kern="1200" dirty="0">
              <a:latin typeface="+mn-lt"/>
              <a:ea typeface="+mn-ea"/>
              <a:cs typeface="+mn-cs"/>
            </a:endParaRPr>
          </a:p>
          <a:p>
            <a:pPr marL="0" indent="0">
              <a:buNone/>
            </a:pPr>
            <a:endParaRPr lang="en-US" kern="1200" dirty="0">
              <a:latin typeface="+mn-lt"/>
              <a:ea typeface="+mn-ea"/>
              <a:cs typeface="+mn-cs"/>
            </a:endParaRPr>
          </a:p>
        </p:txBody>
      </p:sp>
    </p:spTree>
    <p:extLst>
      <p:ext uri="{BB962C8B-B14F-4D97-AF65-F5344CB8AC3E}">
        <p14:creationId xmlns:p14="http://schemas.microsoft.com/office/powerpoint/2010/main" val="3871057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7A3EF-88A0-54DE-B67A-4F61F6D20210}"/>
              </a:ext>
            </a:extLst>
          </p:cNvPr>
          <p:cNvSpPr>
            <a:spLocks noGrp="1"/>
          </p:cNvSpPr>
          <p:nvPr>
            <p:ph type="title"/>
          </p:nvPr>
        </p:nvSpPr>
        <p:spPr/>
        <p:txBody>
          <a:bodyPr/>
          <a:lstStyle/>
          <a:p>
            <a:r>
              <a:rPr lang="en-US" dirty="0"/>
              <a:t>Dictionary</a:t>
            </a:r>
          </a:p>
        </p:txBody>
      </p:sp>
      <p:sp>
        <p:nvSpPr>
          <p:cNvPr id="3" name="Content Placeholder 2">
            <a:extLst>
              <a:ext uri="{FF2B5EF4-FFF2-40B4-BE49-F238E27FC236}">
                <a16:creationId xmlns:a16="http://schemas.microsoft.com/office/drawing/2014/main" id="{E0EF54F2-0EC4-C920-F23A-A3ED7726D7E8}"/>
              </a:ext>
            </a:extLst>
          </p:cNvPr>
          <p:cNvSpPr>
            <a:spLocks noGrp="1"/>
          </p:cNvSpPr>
          <p:nvPr>
            <p:ph sz="half" idx="1"/>
          </p:nvPr>
        </p:nvSpPr>
        <p:spPr>
          <a:xfrm>
            <a:off x="1069848" y="2638044"/>
            <a:ext cx="4271771" cy="3101982"/>
          </a:xfrm>
        </p:spPr>
        <p:txBody>
          <a:bodyPr/>
          <a:lstStyle/>
          <a:p>
            <a:r>
              <a:rPr lang="en-US" dirty="0"/>
              <a:t>The key in a python dictionary can be any immutable type (int, string, tuple, </a:t>
            </a:r>
            <a:r>
              <a:rPr lang="en-US" dirty="0" err="1"/>
              <a:t>etc</a:t>
            </a:r>
            <a:r>
              <a:rPr lang="en-US" dirty="0"/>
              <a:t>)</a:t>
            </a:r>
          </a:p>
          <a:p>
            <a:r>
              <a:rPr lang="en-US" dirty="0"/>
              <a:t>The value can be anything (another string, a list, an int, another dictionary)</a:t>
            </a:r>
          </a:p>
          <a:p>
            <a:r>
              <a:rPr lang="en-US" dirty="0"/>
              <a:t>Example: </a:t>
            </a:r>
          </a:p>
          <a:p>
            <a:pPr lvl="1"/>
            <a:r>
              <a:rPr lang="en-US" dirty="0"/>
              <a:t>Key: student id as a string;  Value: a list of strings representing enrolled course codes</a:t>
            </a:r>
          </a:p>
          <a:p>
            <a:pPr lvl="1"/>
            <a:r>
              <a:rPr lang="en-US" dirty="0"/>
              <a:t>Key: course code as a string; Value: the number of students in the class</a:t>
            </a:r>
          </a:p>
        </p:txBody>
      </p:sp>
      <p:sp>
        <p:nvSpPr>
          <p:cNvPr id="5" name="Content Placeholder 4">
            <a:extLst>
              <a:ext uri="{FF2B5EF4-FFF2-40B4-BE49-F238E27FC236}">
                <a16:creationId xmlns:a16="http://schemas.microsoft.com/office/drawing/2014/main" id="{18B3C1C5-5A4D-70FC-05F6-A05D10BD54C6}"/>
              </a:ext>
            </a:extLst>
          </p:cNvPr>
          <p:cNvSpPr>
            <a:spLocks noGrp="1"/>
          </p:cNvSpPr>
          <p:nvPr>
            <p:ph sz="half" idx="2"/>
          </p:nvPr>
        </p:nvSpPr>
        <p:spPr>
          <a:xfrm>
            <a:off x="5212080" y="2638044"/>
            <a:ext cx="6812281" cy="3101982"/>
          </a:xfrm>
        </p:spPr>
        <p:txBody>
          <a:bodyPr/>
          <a:lstStyle/>
          <a:p>
            <a:pPr>
              <a:buNone/>
            </a:pPr>
            <a:r>
              <a:rPr lang="en-CA" sz="1600" b="0" i="0" dirty="0">
                <a:solidFill>
                  <a:srgbClr val="080808"/>
                </a:solidFill>
                <a:effectLst/>
                <a:latin typeface="JetBrains Mono"/>
              </a:rPr>
              <a:t>	1    </a:t>
            </a:r>
            <a:r>
              <a:rPr lang="en-CA" sz="1600" i="1" dirty="0">
                <a:solidFill>
                  <a:srgbClr val="8C8C8C"/>
                </a:solidFill>
                <a:effectLst/>
                <a:latin typeface="JetBrains Mono"/>
              </a:rPr>
              <a:t># Students and courses</a:t>
            </a:r>
            <a:br>
              <a:rPr lang="en-CA" sz="1600" i="1" dirty="0">
                <a:solidFill>
                  <a:srgbClr val="8C8C8C"/>
                </a:solidFill>
                <a:effectLst/>
                <a:latin typeface="JetBrains Mono"/>
              </a:rPr>
            </a:br>
            <a:r>
              <a:rPr lang="en-CA" sz="1600" b="0" i="0" dirty="0">
                <a:solidFill>
                  <a:srgbClr val="080808"/>
                </a:solidFill>
                <a:effectLst/>
                <a:latin typeface="JetBrains Mono"/>
              </a:rPr>
              <a:t>2    </a:t>
            </a:r>
            <a:r>
              <a:rPr lang="en-CA" sz="1600" dirty="0" err="1">
                <a:solidFill>
                  <a:srgbClr val="080808"/>
                </a:solidFill>
                <a:effectLst/>
                <a:latin typeface="JetBrains Mono"/>
              </a:rPr>
              <a:t>student_courses</a:t>
            </a:r>
            <a:r>
              <a:rPr lang="en-CA" sz="1600" dirty="0">
                <a:solidFill>
                  <a:srgbClr val="080808"/>
                </a:solidFill>
                <a:effectLst/>
                <a:latin typeface="JetBrains Mono"/>
              </a:rPr>
              <a:t> = {</a:t>
            </a:r>
            <a:r>
              <a:rPr lang="en-CA" sz="1600" dirty="0">
                <a:solidFill>
                  <a:srgbClr val="067D17"/>
                </a:solidFill>
                <a:effectLst/>
                <a:latin typeface="JetBrains Mono"/>
              </a:rPr>
              <a:t>"00100" </a:t>
            </a:r>
            <a:r>
              <a:rPr lang="en-CA" sz="1600" dirty="0">
                <a:solidFill>
                  <a:srgbClr val="080808"/>
                </a:solidFill>
                <a:effectLst/>
                <a:latin typeface="JetBrains Mono"/>
              </a:rPr>
              <a:t>: [</a:t>
            </a:r>
            <a:r>
              <a:rPr lang="en-CA" sz="1600" dirty="0">
                <a:solidFill>
                  <a:srgbClr val="067D17"/>
                </a:solidFill>
                <a:effectLst/>
                <a:latin typeface="JetBrains Mono"/>
              </a:rPr>
              <a:t>"CS1910"</a:t>
            </a:r>
            <a:r>
              <a:rPr lang="en-CA" sz="1600" dirty="0">
                <a:solidFill>
                  <a:srgbClr val="080808"/>
                </a:solidFill>
                <a:effectLst/>
                <a:latin typeface="JetBrains Mono"/>
              </a:rPr>
              <a:t>, </a:t>
            </a:r>
            <a:r>
              <a:rPr lang="en-CA" sz="1600" dirty="0">
                <a:solidFill>
                  <a:srgbClr val="067D17"/>
                </a:solidFill>
                <a:effectLst/>
                <a:latin typeface="JetBrains Mono"/>
              </a:rPr>
              <a:t>"MATH1910"</a:t>
            </a:r>
            <a:r>
              <a:rPr lang="en-CA" sz="1600" dirty="0">
                <a:solidFill>
                  <a:srgbClr val="080808"/>
                </a:solidFill>
                <a:effectLst/>
                <a:latin typeface="JetBrains Mono"/>
              </a:rPr>
              <a:t>, </a:t>
            </a:r>
            <a:r>
              <a:rPr lang="en-CA" sz="1600" dirty="0">
                <a:solidFill>
                  <a:srgbClr val="067D17"/>
                </a:solidFill>
                <a:effectLst/>
                <a:latin typeface="JetBrains Mono"/>
              </a:rPr>
              <a:t>"STAT1910"</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3    </a:t>
            </a:r>
            <a:r>
              <a:rPr lang="en-CA" sz="1600" dirty="0">
                <a:solidFill>
                  <a:srgbClr val="000080"/>
                </a:solidFill>
                <a:effectLst/>
                <a:latin typeface="JetBrains Mono"/>
              </a:rPr>
              <a:t>print</a:t>
            </a:r>
            <a:r>
              <a:rPr lang="en-CA" sz="1600" dirty="0">
                <a:solidFill>
                  <a:srgbClr val="080808"/>
                </a:solidFill>
                <a:effectLst/>
                <a:latin typeface="JetBrains Mono"/>
              </a:rPr>
              <a:t>(</a:t>
            </a:r>
            <a:r>
              <a:rPr lang="en-CA" sz="1600" dirty="0" err="1">
                <a:solidFill>
                  <a:srgbClr val="080808"/>
                </a:solidFill>
                <a:effectLst/>
                <a:latin typeface="JetBrains Mono"/>
              </a:rPr>
              <a:t>student_courses</a:t>
            </a:r>
            <a:r>
              <a:rPr lang="en-CA" sz="1600" dirty="0">
                <a:solidFill>
                  <a:srgbClr val="080808"/>
                </a:solidFill>
                <a:effectLst/>
                <a:latin typeface="JetBrains Mono"/>
              </a:rPr>
              <a:t>) </a:t>
            </a:r>
            <a:r>
              <a:rPr lang="en-CA" sz="1600" i="1" dirty="0">
                <a:solidFill>
                  <a:srgbClr val="8C8C8C"/>
                </a:solidFill>
                <a:effectLst/>
                <a:latin typeface="JetBrains Mono"/>
              </a:rPr>
              <a:t># {'00100': ['CS1910', 'MATH1910', 'STAT1910']}</a:t>
            </a:r>
            <a:br>
              <a:rPr lang="en-CA" sz="1600" i="1" dirty="0">
                <a:solidFill>
                  <a:srgbClr val="8C8C8C"/>
                </a:solidFill>
                <a:effectLst/>
                <a:latin typeface="JetBrains Mono"/>
              </a:rPr>
            </a:br>
            <a:r>
              <a:rPr lang="en-CA" sz="1600" b="0" i="0" dirty="0">
                <a:solidFill>
                  <a:srgbClr val="080808"/>
                </a:solidFill>
                <a:effectLst/>
                <a:latin typeface="JetBrains Mono"/>
              </a:rPr>
              <a:t>4    </a:t>
            </a:r>
            <a:r>
              <a:rPr lang="en-CA" sz="1600" dirty="0" err="1">
                <a:solidFill>
                  <a:srgbClr val="080808"/>
                </a:solidFill>
                <a:effectLst/>
                <a:latin typeface="JetBrains Mono"/>
              </a:rPr>
              <a:t>course_students</a:t>
            </a:r>
            <a:r>
              <a:rPr lang="en-CA" sz="1600" dirty="0">
                <a:solidFill>
                  <a:srgbClr val="080808"/>
                </a:solidFill>
                <a:effectLst/>
                <a:latin typeface="JetBrains Mono"/>
              </a:rPr>
              <a:t> = {</a:t>
            </a:r>
            <a:r>
              <a:rPr lang="en-CA" sz="1600" dirty="0">
                <a:solidFill>
                  <a:srgbClr val="067D17"/>
                </a:solidFill>
                <a:effectLst/>
                <a:latin typeface="JetBrains Mono"/>
              </a:rPr>
              <a:t>"CS1910" </a:t>
            </a:r>
            <a:r>
              <a:rPr lang="en-CA" sz="1600" dirty="0">
                <a:solidFill>
                  <a:srgbClr val="080808"/>
                </a:solidFill>
                <a:effectLst/>
                <a:latin typeface="JetBrains Mono"/>
              </a:rPr>
              <a:t>: </a:t>
            </a:r>
            <a:r>
              <a:rPr lang="en-CA" sz="1600" dirty="0">
                <a:solidFill>
                  <a:srgbClr val="1750EB"/>
                </a:solidFill>
                <a:effectLst/>
                <a:latin typeface="JetBrains Mono"/>
              </a:rPr>
              <a:t>20</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5    </a:t>
            </a:r>
            <a:r>
              <a:rPr lang="en-CA" sz="1600" dirty="0">
                <a:solidFill>
                  <a:srgbClr val="080808"/>
                </a:solidFill>
                <a:effectLst/>
                <a:latin typeface="JetBrains Mono"/>
              </a:rPr>
              <a:t>                   	</a:t>
            </a:r>
            <a:r>
              <a:rPr lang="en-CA" sz="1600" dirty="0">
                <a:solidFill>
                  <a:srgbClr val="067D17"/>
                </a:solidFill>
                <a:effectLst/>
                <a:latin typeface="JetBrains Mono"/>
              </a:rPr>
              <a:t>"MATH1910" </a:t>
            </a:r>
            <a:r>
              <a:rPr lang="en-CA" sz="1600" dirty="0">
                <a:solidFill>
                  <a:srgbClr val="080808"/>
                </a:solidFill>
                <a:effectLst/>
                <a:latin typeface="JetBrains Mono"/>
              </a:rPr>
              <a:t>: </a:t>
            </a:r>
            <a:r>
              <a:rPr lang="en-CA" sz="1600" dirty="0">
                <a:solidFill>
                  <a:srgbClr val="1750EB"/>
                </a:solidFill>
                <a:effectLst/>
                <a:latin typeface="JetBrains Mono"/>
              </a:rPr>
              <a:t>30</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6    </a:t>
            </a:r>
            <a:r>
              <a:rPr lang="en-CA" sz="1600" dirty="0">
                <a:solidFill>
                  <a:srgbClr val="080808"/>
                </a:solidFill>
                <a:effectLst/>
                <a:latin typeface="JetBrains Mono"/>
              </a:rPr>
              <a:t>                   	</a:t>
            </a:r>
            <a:r>
              <a:rPr lang="en-CA" sz="1600" dirty="0">
                <a:solidFill>
                  <a:srgbClr val="067D17"/>
                </a:solidFill>
                <a:effectLst/>
                <a:latin typeface="JetBrains Mono"/>
              </a:rPr>
              <a:t>"STAT1910" </a:t>
            </a:r>
            <a:r>
              <a:rPr lang="en-CA" sz="1600" dirty="0">
                <a:solidFill>
                  <a:srgbClr val="080808"/>
                </a:solidFill>
                <a:effectLst/>
                <a:latin typeface="JetBrains Mono"/>
              </a:rPr>
              <a:t>: </a:t>
            </a:r>
            <a:r>
              <a:rPr lang="en-CA" sz="1600" dirty="0">
                <a:solidFill>
                  <a:srgbClr val="1750EB"/>
                </a:solidFill>
                <a:effectLst/>
                <a:latin typeface="JetBrains Mono"/>
              </a:rPr>
              <a:t>40</a:t>
            </a:r>
            <a:br>
              <a:rPr lang="en-CA" sz="1600" dirty="0">
                <a:solidFill>
                  <a:srgbClr val="1750EB"/>
                </a:solidFill>
                <a:effectLst/>
                <a:latin typeface="JetBrains Mono"/>
              </a:rPr>
            </a:br>
            <a:r>
              <a:rPr lang="en-CA" sz="1600" b="0" i="0" dirty="0">
                <a:solidFill>
                  <a:srgbClr val="080808"/>
                </a:solidFill>
                <a:effectLst/>
                <a:latin typeface="JetBrains Mono"/>
              </a:rPr>
              <a:t>7    </a:t>
            </a:r>
            <a:r>
              <a:rPr lang="en-CA" sz="1600" dirty="0">
                <a:solidFill>
                  <a:srgbClr val="1750EB"/>
                </a:solidFill>
                <a:effectLst/>
                <a:latin typeface="JetBrains Mono"/>
              </a:rPr>
              <a:t>                   	</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8    </a:t>
            </a:r>
            <a:r>
              <a:rPr lang="en-CA" sz="1600" dirty="0">
                <a:solidFill>
                  <a:srgbClr val="000080"/>
                </a:solidFill>
                <a:effectLst/>
                <a:latin typeface="JetBrains Mono"/>
              </a:rPr>
              <a:t>print</a:t>
            </a:r>
            <a:r>
              <a:rPr lang="en-CA" sz="1600" dirty="0">
                <a:solidFill>
                  <a:srgbClr val="080808"/>
                </a:solidFill>
                <a:effectLst/>
                <a:latin typeface="JetBrains Mono"/>
              </a:rPr>
              <a:t>(</a:t>
            </a:r>
            <a:r>
              <a:rPr lang="en-CA" sz="1600" dirty="0" err="1">
                <a:solidFill>
                  <a:srgbClr val="080808"/>
                </a:solidFill>
                <a:effectLst/>
                <a:latin typeface="JetBrains Mono"/>
              </a:rPr>
              <a:t>course_students</a:t>
            </a:r>
            <a:r>
              <a:rPr lang="en-CA" sz="1600" dirty="0">
                <a:solidFill>
                  <a:srgbClr val="080808"/>
                </a:solidFill>
                <a:effectLst/>
                <a:latin typeface="JetBrains Mono"/>
              </a:rPr>
              <a:t>) </a:t>
            </a:r>
            <a:r>
              <a:rPr lang="en-CA" sz="1600" i="1" dirty="0">
                <a:solidFill>
                  <a:srgbClr val="8C8C8C"/>
                </a:solidFill>
                <a:effectLst/>
                <a:latin typeface="JetBrains Mono"/>
              </a:rPr>
              <a:t>#{'CS1910': 20, 'MATH1910': 30, 'STAT1910': 40}</a:t>
            </a:r>
            <a:endParaRPr lang="en-CA" sz="1600" dirty="0">
              <a:solidFill>
                <a:srgbClr val="080808"/>
              </a:solidFill>
              <a:effectLst/>
              <a:latin typeface="JetBrains Mono"/>
            </a:endParaRPr>
          </a:p>
          <a:p>
            <a:pPr lvl="1"/>
            <a:endParaRPr lang="en-CA" dirty="0"/>
          </a:p>
        </p:txBody>
      </p:sp>
    </p:spTree>
    <p:extLst>
      <p:ext uri="{BB962C8B-B14F-4D97-AF65-F5344CB8AC3E}">
        <p14:creationId xmlns:p14="http://schemas.microsoft.com/office/powerpoint/2010/main" val="2935630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F17A7-2FCC-4784-B0EB-8E88276BFF36}"/>
              </a:ext>
            </a:extLst>
          </p:cNvPr>
          <p:cNvSpPr>
            <a:spLocks noGrp="1"/>
          </p:cNvSpPr>
          <p:nvPr>
            <p:ph type="title"/>
          </p:nvPr>
        </p:nvSpPr>
        <p:spPr/>
        <p:txBody>
          <a:bodyPr/>
          <a:lstStyle/>
          <a:p>
            <a:r>
              <a:rPr lang="en-US" dirty="0"/>
              <a:t>Creating a Dictionary</a:t>
            </a:r>
          </a:p>
        </p:txBody>
      </p:sp>
      <p:sp>
        <p:nvSpPr>
          <p:cNvPr id="3" name="Content Placeholder 2">
            <a:extLst>
              <a:ext uri="{FF2B5EF4-FFF2-40B4-BE49-F238E27FC236}">
                <a16:creationId xmlns:a16="http://schemas.microsoft.com/office/drawing/2014/main" id="{0A64F0E9-A56E-DE79-51DE-45403FE1F920}"/>
              </a:ext>
            </a:extLst>
          </p:cNvPr>
          <p:cNvSpPr>
            <a:spLocks noGrp="1"/>
          </p:cNvSpPr>
          <p:nvPr>
            <p:ph idx="1"/>
          </p:nvPr>
        </p:nvSpPr>
        <p:spPr/>
        <p:txBody>
          <a:bodyPr/>
          <a:lstStyle/>
          <a:p>
            <a:pPr>
              <a:buNone/>
            </a:pPr>
            <a:r>
              <a:rPr lang="en-US" sz="1800" b="0" i="0" dirty="0">
                <a:solidFill>
                  <a:srgbClr val="080808"/>
                </a:solidFill>
                <a:effectLst/>
                <a:latin typeface="JetBrains Mono"/>
              </a:rPr>
              <a:t>	1    </a:t>
            </a:r>
            <a:r>
              <a:rPr lang="en-US" sz="1800" i="1" dirty="0">
                <a:solidFill>
                  <a:srgbClr val="8C8C8C"/>
                </a:solidFill>
                <a:effectLst/>
                <a:latin typeface="JetBrains Mono"/>
              </a:rPr>
              <a:t>#empty dictionary</a:t>
            </a:r>
            <a:br>
              <a:rPr lang="en-US" sz="1800" i="1" dirty="0">
                <a:solidFill>
                  <a:srgbClr val="8C8C8C"/>
                </a:solidFill>
                <a:effectLst/>
                <a:latin typeface="JetBrains Mono"/>
              </a:rPr>
            </a:br>
            <a:r>
              <a:rPr lang="en-US" sz="1800" b="0" i="0" dirty="0">
                <a:solidFill>
                  <a:srgbClr val="080808"/>
                </a:solidFill>
                <a:effectLst/>
                <a:latin typeface="JetBrains Mono"/>
              </a:rPr>
              <a:t>2    </a:t>
            </a:r>
            <a:r>
              <a:rPr lang="en-US" sz="1800" dirty="0" err="1">
                <a:solidFill>
                  <a:srgbClr val="080808"/>
                </a:solidFill>
                <a:effectLst/>
                <a:latin typeface="JetBrains Mono"/>
              </a:rPr>
              <a:t>my_dict</a:t>
            </a:r>
            <a:r>
              <a:rPr lang="en-US" sz="1800" dirty="0">
                <a:solidFill>
                  <a:srgbClr val="080808"/>
                </a:solidFill>
                <a:effectLst/>
                <a:latin typeface="JetBrains Mono"/>
              </a:rPr>
              <a:t> = { }</a:t>
            </a:r>
            <a:br>
              <a:rPr lang="en-US" sz="1800" dirty="0">
                <a:solidFill>
                  <a:srgbClr val="080808"/>
                </a:solidFill>
                <a:effectLst/>
                <a:latin typeface="JetBrains Mono"/>
              </a:rPr>
            </a:br>
            <a:r>
              <a:rPr lang="en-US" sz="1800" b="0" i="0" dirty="0">
                <a:solidFill>
                  <a:srgbClr val="080808"/>
                </a:solidFill>
                <a:effectLst/>
                <a:latin typeface="JetBrains Mono"/>
              </a:rPr>
              <a:t>3    </a:t>
            </a:r>
            <a:r>
              <a:rPr lang="en-US" sz="1800" i="1" dirty="0">
                <a:solidFill>
                  <a:srgbClr val="8C8C8C"/>
                </a:solidFill>
                <a:effectLst/>
                <a:latin typeface="JetBrains Mono"/>
              </a:rPr>
              <a:t>#empty dictionary</a:t>
            </a:r>
            <a:br>
              <a:rPr lang="en-US" sz="1800" i="1" dirty="0">
                <a:solidFill>
                  <a:srgbClr val="8C8C8C"/>
                </a:solidFill>
                <a:effectLst/>
                <a:latin typeface="JetBrains Mono"/>
              </a:rPr>
            </a:br>
            <a:r>
              <a:rPr lang="en-US" sz="1800" b="0" i="0" dirty="0">
                <a:solidFill>
                  <a:srgbClr val="080808"/>
                </a:solidFill>
                <a:effectLst/>
                <a:latin typeface="JetBrains Mono"/>
              </a:rPr>
              <a:t>4    </a:t>
            </a:r>
            <a:r>
              <a:rPr lang="en-US" sz="1800" dirty="0">
                <a:solidFill>
                  <a:srgbClr val="080808"/>
                </a:solidFill>
                <a:effectLst/>
                <a:latin typeface="JetBrains Mono"/>
              </a:rPr>
              <a:t>my_dict2 = </a:t>
            </a:r>
            <a:r>
              <a:rPr lang="en-US" sz="1800" dirty="0" err="1">
                <a:solidFill>
                  <a:srgbClr val="000080"/>
                </a:solidFill>
                <a:effectLst/>
                <a:latin typeface="JetBrains Mono"/>
              </a:rPr>
              <a:t>dict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5    </a:t>
            </a:r>
            <a:r>
              <a:rPr lang="en-US" sz="1800" i="1" dirty="0">
                <a:solidFill>
                  <a:srgbClr val="8C8C8C"/>
                </a:solidFill>
                <a:effectLst/>
                <a:latin typeface="JetBrains Mono"/>
              </a:rPr>
              <a:t>#populated dictionary associating names with email addresses</a:t>
            </a:r>
            <a:br>
              <a:rPr lang="en-US" sz="1800" i="1" dirty="0">
                <a:solidFill>
                  <a:srgbClr val="8C8C8C"/>
                </a:solidFill>
                <a:effectLst/>
                <a:latin typeface="JetBrains Mono"/>
              </a:rPr>
            </a:br>
            <a:r>
              <a:rPr lang="en-US" sz="1800" b="0" i="0" dirty="0">
                <a:solidFill>
                  <a:srgbClr val="080808"/>
                </a:solidFill>
                <a:effectLst/>
                <a:latin typeface="JetBrains Mono"/>
              </a:rPr>
              <a:t>6    </a:t>
            </a:r>
            <a:r>
              <a:rPr lang="en-US" sz="1800" dirty="0">
                <a:solidFill>
                  <a:srgbClr val="080808"/>
                </a:solidFill>
                <a:effectLst/>
                <a:latin typeface="JetBrains Mono"/>
              </a:rPr>
              <a:t>contacts = {	</a:t>
            </a:r>
            <a:r>
              <a:rPr lang="en-US" sz="1800" dirty="0">
                <a:solidFill>
                  <a:srgbClr val="067D17"/>
                </a:solidFill>
                <a:effectLst/>
                <a:latin typeface="JetBrains Mono"/>
              </a:rPr>
              <a:t>"Clark Kent"      </a:t>
            </a:r>
            <a:r>
              <a:rPr lang="en-US" sz="1800" dirty="0">
                <a:solidFill>
                  <a:srgbClr val="080808"/>
                </a:solidFill>
                <a:effectLst/>
                <a:latin typeface="JetBrains Mono"/>
              </a:rPr>
              <a:t>: </a:t>
            </a:r>
            <a:r>
              <a:rPr lang="en-US" sz="1800" dirty="0">
                <a:solidFill>
                  <a:srgbClr val="067D17"/>
                </a:solidFill>
                <a:effectLst/>
                <a:latin typeface="JetBrains Mono"/>
              </a:rPr>
              <a:t>"ckent@dailyplanet.com"</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7    </a:t>
            </a:r>
            <a:r>
              <a:rPr lang="en-US" sz="1800" dirty="0">
                <a:solidFill>
                  <a:srgbClr val="080808"/>
                </a:solidFill>
                <a:effectLst/>
                <a:latin typeface="JetBrains Mono"/>
              </a:rPr>
              <a:t>            	</a:t>
            </a:r>
            <a:r>
              <a:rPr lang="en-US" sz="1800" dirty="0">
                <a:solidFill>
                  <a:srgbClr val="067D17"/>
                </a:solidFill>
                <a:effectLst/>
                <a:latin typeface="JetBrains Mono"/>
              </a:rPr>
              <a:t>"Superman"      </a:t>
            </a:r>
            <a:r>
              <a:rPr lang="en-US" sz="1800" dirty="0">
                <a:solidFill>
                  <a:srgbClr val="080808"/>
                </a:solidFill>
                <a:effectLst/>
                <a:latin typeface="JetBrains Mono"/>
              </a:rPr>
              <a:t>: </a:t>
            </a:r>
            <a:r>
              <a:rPr lang="en-US" sz="1800" dirty="0">
                <a:solidFill>
                  <a:srgbClr val="067D17"/>
                </a:solidFill>
                <a:effectLst/>
                <a:latin typeface="JetBrains Mono"/>
              </a:rPr>
              <a:t>"ckent@dailyplanet.com"</a:t>
            </a:r>
            <a:r>
              <a:rPr lang="en-US" sz="1800" dirty="0">
                <a:solidFill>
                  <a:srgbClr val="080808"/>
                </a:solidFill>
                <a:effectLst/>
                <a:latin typeface="JetBrains Mono"/>
              </a:rPr>
              <a:t>}</a:t>
            </a:r>
          </a:p>
        </p:txBody>
      </p:sp>
      <p:cxnSp>
        <p:nvCxnSpPr>
          <p:cNvPr id="8" name="Straight Arrow Connector 7">
            <a:extLst>
              <a:ext uri="{FF2B5EF4-FFF2-40B4-BE49-F238E27FC236}">
                <a16:creationId xmlns:a16="http://schemas.microsoft.com/office/drawing/2014/main" id="{812F9393-1555-ED0D-B0F4-F1E0726A58D8}"/>
              </a:ext>
            </a:extLst>
          </p:cNvPr>
          <p:cNvCxnSpPr>
            <a:cxnSpLocks/>
          </p:cNvCxnSpPr>
          <p:nvPr/>
        </p:nvCxnSpPr>
        <p:spPr>
          <a:xfrm flipV="1">
            <a:off x="3138730" y="4261104"/>
            <a:ext cx="994358" cy="1227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A1C343E-CC42-E69B-413A-64553E38D856}"/>
              </a:ext>
            </a:extLst>
          </p:cNvPr>
          <p:cNvSpPr txBox="1"/>
          <p:nvPr/>
        </p:nvSpPr>
        <p:spPr>
          <a:xfrm>
            <a:off x="1668383" y="5488431"/>
            <a:ext cx="3053400" cy="369332"/>
          </a:xfrm>
          <a:prstGeom prst="rect">
            <a:avLst/>
          </a:prstGeom>
          <a:noFill/>
          <a:ln>
            <a:solidFill>
              <a:schemeClr val="accent1"/>
            </a:solidFill>
          </a:ln>
        </p:spPr>
        <p:txBody>
          <a:bodyPr wrap="none" rtlCol="0">
            <a:spAutoFit/>
          </a:bodyPr>
          <a:lstStyle/>
          <a:p>
            <a:r>
              <a:rPr lang="en-US" dirty="0"/>
              <a:t>Must be unique and immutable</a:t>
            </a:r>
          </a:p>
        </p:txBody>
      </p:sp>
      <p:cxnSp>
        <p:nvCxnSpPr>
          <p:cNvPr id="11" name="Straight Arrow Connector 10">
            <a:extLst>
              <a:ext uri="{FF2B5EF4-FFF2-40B4-BE49-F238E27FC236}">
                <a16:creationId xmlns:a16="http://schemas.microsoft.com/office/drawing/2014/main" id="{B8522F4C-AA4F-F163-54C9-D2C33EF45DF5}"/>
              </a:ext>
            </a:extLst>
          </p:cNvPr>
          <p:cNvCxnSpPr>
            <a:cxnSpLocks/>
            <a:stCxn id="12" idx="0"/>
          </p:cNvCxnSpPr>
          <p:nvPr/>
        </p:nvCxnSpPr>
        <p:spPr>
          <a:xfrm flipH="1" flipV="1">
            <a:off x="7123176" y="4704589"/>
            <a:ext cx="1079772" cy="6453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3328699-2432-9454-9444-0F8FDD03A314}"/>
              </a:ext>
            </a:extLst>
          </p:cNvPr>
          <p:cNvSpPr txBox="1"/>
          <p:nvPr/>
        </p:nvSpPr>
        <p:spPr>
          <a:xfrm>
            <a:off x="6445031" y="5349931"/>
            <a:ext cx="3515833" cy="646331"/>
          </a:xfrm>
          <a:prstGeom prst="rect">
            <a:avLst/>
          </a:prstGeom>
          <a:noFill/>
          <a:ln>
            <a:solidFill>
              <a:schemeClr val="accent1"/>
            </a:solidFill>
          </a:ln>
        </p:spPr>
        <p:txBody>
          <a:bodyPr wrap="square" rtlCol="0">
            <a:spAutoFit/>
          </a:bodyPr>
          <a:lstStyle/>
          <a:p>
            <a:r>
              <a:rPr lang="en-US" dirty="0"/>
              <a:t>Values can be any data type and duplicates are allowed</a:t>
            </a:r>
          </a:p>
        </p:txBody>
      </p:sp>
    </p:spTree>
    <p:extLst>
      <p:ext uri="{BB962C8B-B14F-4D97-AF65-F5344CB8AC3E}">
        <p14:creationId xmlns:p14="http://schemas.microsoft.com/office/powerpoint/2010/main" val="2238439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E23B0A7-5D8F-73E6-FD86-B15906F6DA7F}"/>
              </a:ext>
            </a:extLst>
          </p:cNvPr>
          <p:cNvSpPr>
            <a:spLocks noGrp="1"/>
          </p:cNvSpPr>
          <p:nvPr>
            <p:ph idx="1"/>
          </p:nvPr>
        </p:nvSpPr>
        <p:spPr>
          <a:xfrm>
            <a:off x="2231136" y="2249424"/>
            <a:ext cx="7729728" cy="4123944"/>
          </a:xfrm>
        </p:spPr>
        <p:txBody>
          <a:bodyPr>
            <a:noAutofit/>
          </a:bodyPr>
          <a:lstStyle/>
          <a:p>
            <a:r>
              <a:rPr lang="en-US" sz="1400" dirty="0">
                <a:solidFill>
                  <a:srgbClr val="080808"/>
                </a:solidFill>
                <a:latin typeface="JetBrains Mono"/>
              </a:rPr>
              <a:t>Values can be of different types:</a:t>
            </a:r>
            <a:endParaRPr lang="en-US" sz="1400" b="0" i="0" dirty="0">
              <a:solidFill>
                <a:srgbClr val="080808"/>
              </a:solidFill>
              <a:effectLst/>
              <a:latin typeface="JetBrains Mono"/>
            </a:endParaRPr>
          </a:p>
          <a:p>
            <a:pPr>
              <a:buNone/>
            </a:pPr>
            <a:r>
              <a:rPr lang="en-US" sz="1400" b="0" i="0" dirty="0">
                <a:solidFill>
                  <a:srgbClr val="080808"/>
                </a:solidFill>
                <a:effectLst/>
                <a:latin typeface="JetBrains Mono"/>
              </a:rPr>
              <a:t>	1    </a:t>
            </a:r>
            <a:r>
              <a:rPr lang="en-US" sz="1400" dirty="0">
                <a:solidFill>
                  <a:srgbClr val="080808"/>
                </a:solidFill>
                <a:effectLst/>
                <a:latin typeface="JetBrains Mono"/>
              </a:rPr>
              <a:t>contact = {</a:t>
            </a:r>
            <a:r>
              <a:rPr lang="en-US" sz="1400" dirty="0">
                <a:solidFill>
                  <a:srgbClr val="067D17"/>
                </a:solidFill>
                <a:effectLst/>
                <a:latin typeface="JetBrains Mono"/>
              </a:rPr>
              <a:t>"name"    </a:t>
            </a:r>
            <a:r>
              <a:rPr lang="en-US" sz="1400" dirty="0">
                <a:solidFill>
                  <a:srgbClr val="080808"/>
                </a:solidFill>
                <a:effectLst/>
                <a:latin typeface="JetBrains Mono"/>
              </a:rPr>
              <a:t>: </a:t>
            </a:r>
            <a:r>
              <a:rPr lang="en-US" sz="1400" dirty="0">
                <a:solidFill>
                  <a:srgbClr val="067D17"/>
                </a:solidFill>
                <a:effectLst/>
                <a:latin typeface="JetBrains Mono"/>
              </a:rPr>
              <a:t>"Clark Kent"</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2    </a:t>
            </a:r>
            <a:r>
              <a:rPr lang="en-US" sz="1400" dirty="0">
                <a:solidFill>
                  <a:srgbClr val="080808"/>
                </a:solidFill>
                <a:effectLst/>
                <a:latin typeface="JetBrains Mono"/>
              </a:rPr>
              <a:t>            </a:t>
            </a:r>
            <a:r>
              <a:rPr lang="en-US" sz="1400" dirty="0">
                <a:solidFill>
                  <a:srgbClr val="067D17"/>
                </a:solidFill>
                <a:effectLst/>
                <a:latin typeface="JetBrains Mono"/>
              </a:rPr>
              <a:t>"age"   </a:t>
            </a:r>
            <a:r>
              <a:rPr lang="en-US" sz="1400" dirty="0">
                <a:solidFill>
                  <a:srgbClr val="080808"/>
                </a:solidFill>
                <a:effectLst/>
                <a:latin typeface="JetBrains Mono"/>
              </a:rPr>
              <a:t>: </a:t>
            </a:r>
            <a:r>
              <a:rPr lang="en-US" sz="1400" dirty="0">
                <a:solidFill>
                  <a:srgbClr val="1750EB"/>
                </a:solidFill>
                <a:effectLst/>
                <a:latin typeface="JetBrains Mono"/>
              </a:rPr>
              <a:t>33</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3    </a:t>
            </a:r>
            <a:r>
              <a:rPr lang="en-US" sz="1400" dirty="0">
                <a:solidFill>
                  <a:srgbClr val="080808"/>
                </a:solidFill>
                <a:effectLst/>
                <a:latin typeface="JetBrains Mono"/>
              </a:rPr>
              <a:t>            </a:t>
            </a:r>
            <a:r>
              <a:rPr lang="en-US" sz="1400" dirty="0">
                <a:solidFill>
                  <a:srgbClr val="067D17"/>
                </a:solidFill>
                <a:effectLst/>
                <a:latin typeface="JetBrains Mono"/>
              </a:rPr>
              <a:t>"address" </a:t>
            </a:r>
            <a:r>
              <a:rPr lang="en-US" sz="1400" dirty="0">
                <a:solidFill>
                  <a:srgbClr val="080808"/>
                </a:solidFill>
                <a:effectLst/>
                <a:latin typeface="JetBrains Mono"/>
              </a:rPr>
              <a:t>: </a:t>
            </a:r>
            <a:r>
              <a:rPr lang="en-US" sz="1400" dirty="0">
                <a:solidFill>
                  <a:srgbClr val="067D17"/>
                </a:solidFill>
                <a:effectLst/>
                <a:latin typeface="JetBrains Mono"/>
              </a:rPr>
              <a:t>"Metropolis" </a:t>
            </a:r>
            <a:r>
              <a:rPr lang="en-US" sz="1400" dirty="0">
                <a:solidFill>
                  <a:srgbClr val="080808"/>
                </a:solidFill>
                <a:effectLst/>
                <a:latin typeface="JetBrains Mono"/>
              </a:rPr>
              <a:t>}</a:t>
            </a:r>
            <a:br>
              <a:rPr lang="en-US" sz="1400" dirty="0">
                <a:solidFill>
                  <a:srgbClr val="080808"/>
                </a:solidFill>
                <a:effectLst/>
                <a:latin typeface="JetBrains Mono"/>
              </a:rPr>
            </a:br>
            <a:endParaRPr lang="en-US" sz="1400" dirty="0">
              <a:solidFill>
                <a:srgbClr val="080808"/>
              </a:solidFill>
              <a:effectLst/>
              <a:latin typeface="JetBrains Mono"/>
            </a:endParaRPr>
          </a:p>
          <a:p>
            <a:pPr>
              <a:buNone/>
            </a:pPr>
            <a:r>
              <a:rPr lang="en-US" sz="1400" dirty="0">
                <a:solidFill>
                  <a:srgbClr val="080808"/>
                </a:solidFill>
                <a:latin typeface="JetBrains Mono"/>
              </a:rPr>
              <a:t>{'name': 'Clark Kent', 'age': 33, 'address': 'Metropolis’}</a:t>
            </a:r>
          </a:p>
          <a:p>
            <a:r>
              <a:rPr lang="en-US" sz="1400" dirty="0">
                <a:solidFill>
                  <a:srgbClr val="080808"/>
                </a:solidFill>
                <a:latin typeface="JetBrains Mono"/>
              </a:rPr>
              <a:t>When creating the key always takes the last value it was set to even with type change</a:t>
            </a:r>
          </a:p>
          <a:p>
            <a:pPr>
              <a:buNone/>
            </a:pPr>
            <a:r>
              <a:rPr lang="en-US" sz="1400" b="0" i="0" dirty="0">
                <a:solidFill>
                  <a:srgbClr val="080808"/>
                </a:solidFill>
                <a:effectLst/>
                <a:latin typeface="JetBrains Mono"/>
              </a:rPr>
              <a:t>	1    </a:t>
            </a:r>
            <a:r>
              <a:rPr lang="en-US" sz="1400" dirty="0">
                <a:solidFill>
                  <a:srgbClr val="080808"/>
                </a:solidFill>
                <a:effectLst/>
                <a:latin typeface="JetBrains Mono"/>
              </a:rPr>
              <a:t>contacts = {</a:t>
            </a:r>
            <a:r>
              <a:rPr lang="en-US" sz="1400" dirty="0">
                <a:solidFill>
                  <a:srgbClr val="067D17"/>
                </a:solidFill>
                <a:effectLst/>
                <a:latin typeface="JetBrains Mono"/>
              </a:rPr>
              <a:t>"name"    </a:t>
            </a:r>
            <a:r>
              <a:rPr lang="en-US" sz="1400" dirty="0">
                <a:solidFill>
                  <a:srgbClr val="080808"/>
                </a:solidFill>
                <a:effectLst/>
                <a:latin typeface="JetBrains Mono"/>
              </a:rPr>
              <a:t>: </a:t>
            </a:r>
            <a:r>
              <a:rPr lang="en-US" sz="1400" dirty="0">
                <a:solidFill>
                  <a:srgbClr val="067D17"/>
                </a:solidFill>
                <a:effectLst/>
                <a:latin typeface="JetBrains Mono"/>
              </a:rPr>
              <a:t>"Clark Kent"</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2    </a:t>
            </a:r>
            <a:r>
              <a:rPr lang="en-US" sz="1400" dirty="0">
                <a:solidFill>
                  <a:srgbClr val="080808"/>
                </a:solidFill>
                <a:effectLst/>
                <a:latin typeface="JetBrains Mono"/>
              </a:rPr>
              <a:t>            </a:t>
            </a:r>
            <a:r>
              <a:rPr lang="en-US" sz="1400" dirty="0">
                <a:solidFill>
                  <a:srgbClr val="067D17"/>
                </a:solidFill>
                <a:effectLst/>
                <a:latin typeface="JetBrains Mono"/>
              </a:rPr>
              <a:t>"age"   </a:t>
            </a:r>
            <a:r>
              <a:rPr lang="en-US" sz="1400" dirty="0">
                <a:solidFill>
                  <a:srgbClr val="080808"/>
                </a:solidFill>
                <a:effectLst/>
                <a:latin typeface="JetBrains Mono"/>
              </a:rPr>
              <a:t>: </a:t>
            </a:r>
            <a:r>
              <a:rPr lang="en-US" sz="1400" dirty="0">
                <a:solidFill>
                  <a:srgbClr val="1750EB"/>
                </a:solidFill>
                <a:effectLst/>
                <a:latin typeface="JetBrains Mono"/>
              </a:rPr>
              <a:t>33</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3    </a:t>
            </a:r>
            <a:r>
              <a:rPr lang="en-US" sz="1400" dirty="0">
                <a:solidFill>
                  <a:srgbClr val="080808"/>
                </a:solidFill>
                <a:effectLst/>
                <a:latin typeface="JetBrains Mono"/>
              </a:rPr>
              <a:t>            </a:t>
            </a:r>
            <a:r>
              <a:rPr lang="en-US" sz="1400" dirty="0">
                <a:solidFill>
                  <a:srgbClr val="067D17"/>
                </a:solidFill>
                <a:effectLst/>
                <a:latin typeface="JetBrains Mono"/>
              </a:rPr>
              <a:t>"address" </a:t>
            </a:r>
            <a:r>
              <a:rPr lang="en-US" sz="1400" dirty="0">
                <a:solidFill>
                  <a:srgbClr val="080808"/>
                </a:solidFill>
                <a:effectLst/>
                <a:latin typeface="JetBrains Mono"/>
              </a:rPr>
              <a:t>: </a:t>
            </a:r>
            <a:r>
              <a:rPr lang="en-US" sz="1400" dirty="0">
                <a:solidFill>
                  <a:srgbClr val="067D17"/>
                </a:solidFill>
                <a:effectLst/>
                <a:latin typeface="JetBrains Mono"/>
              </a:rPr>
              <a:t>"Metropolis"</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4    </a:t>
            </a:r>
            <a:r>
              <a:rPr lang="en-US" sz="1400" dirty="0">
                <a:solidFill>
                  <a:srgbClr val="080808"/>
                </a:solidFill>
                <a:effectLst/>
                <a:latin typeface="JetBrains Mono"/>
              </a:rPr>
              <a:t>            </a:t>
            </a:r>
            <a:r>
              <a:rPr lang="en-US" sz="1400" dirty="0">
                <a:solidFill>
                  <a:srgbClr val="067D17"/>
                </a:solidFill>
                <a:effectLst/>
                <a:latin typeface="JetBrains Mono"/>
              </a:rPr>
              <a:t>"name"    </a:t>
            </a:r>
            <a:r>
              <a:rPr lang="en-US" sz="1400" dirty="0">
                <a:solidFill>
                  <a:srgbClr val="080808"/>
                </a:solidFill>
                <a:effectLst/>
                <a:latin typeface="JetBrains Mono"/>
              </a:rPr>
              <a:t>: </a:t>
            </a:r>
            <a:r>
              <a:rPr lang="en-US" sz="1400" dirty="0">
                <a:solidFill>
                  <a:srgbClr val="067D17"/>
                </a:solidFill>
                <a:effectLst/>
                <a:latin typeface="JetBrains Mono"/>
              </a:rPr>
              <a:t>"Bruce Wayne"</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5    </a:t>
            </a:r>
            <a:r>
              <a:rPr lang="en-US" sz="1400" dirty="0">
                <a:solidFill>
                  <a:srgbClr val="080808"/>
                </a:solidFill>
                <a:effectLst/>
                <a:latin typeface="JetBrains Mono"/>
              </a:rPr>
              <a:t>            </a:t>
            </a:r>
            <a:r>
              <a:rPr lang="en-US" sz="1400" dirty="0">
                <a:solidFill>
                  <a:srgbClr val="067D17"/>
                </a:solidFill>
                <a:effectLst/>
                <a:latin typeface="JetBrains Mono"/>
              </a:rPr>
              <a:t>"age"   </a:t>
            </a:r>
            <a:r>
              <a:rPr lang="en-US" sz="1400" dirty="0">
                <a:solidFill>
                  <a:srgbClr val="080808"/>
                </a:solidFill>
                <a:effectLst/>
                <a:latin typeface="JetBrains Mono"/>
              </a:rPr>
              <a:t>: </a:t>
            </a:r>
            <a:r>
              <a:rPr lang="en-US" sz="1400" dirty="0">
                <a:solidFill>
                  <a:srgbClr val="067D17"/>
                </a:solidFill>
                <a:effectLst/>
                <a:latin typeface="JetBrains Mono"/>
              </a:rPr>
              <a:t>"Unknown"</a:t>
            </a:r>
            <a:r>
              <a:rPr lang="en-US" sz="1400" dirty="0">
                <a:solidFill>
                  <a:srgbClr val="080808"/>
                </a:solidFill>
                <a:effectLst/>
                <a:latin typeface="JetBrains Mono"/>
              </a:rPr>
              <a:t>,</a:t>
            </a:r>
            <a:br>
              <a:rPr lang="en-US" sz="1400" dirty="0">
                <a:solidFill>
                  <a:srgbClr val="080808"/>
                </a:solidFill>
                <a:effectLst/>
                <a:latin typeface="JetBrains Mono"/>
              </a:rPr>
            </a:br>
            <a:r>
              <a:rPr lang="en-US" sz="1400" b="0" i="0" dirty="0">
                <a:solidFill>
                  <a:srgbClr val="080808"/>
                </a:solidFill>
                <a:effectLst/>
                <a:latin typeface="JetBrains Mono"/>
              </a:rPr>
              <a:t>6    </a:t>
            </a:r>
            <a:r>
              <a:rPr lang="en-US" sz="1400" dirty="0">
                <a:solidFill>
                  <a:srgbClr val="080808"/>
                </a:solidFill>
                <a:effectLst/>
                <a:latin typeface="JetBrains Mono"/>
              </a:rPr>
              <a:t>            </a:t>
            </a:r>
            <a:r>
              <a:rPr lang="en-US" sz="1400" dirty="0">
                <a:solidFill>
                  <a:srgbClr val="067D17"/>
                </a:solidFill>
                <a:effectLst/>
                <a:latin typeface="JetBrains Mono"/>
              </a:rPr>
              <a:t>"address" </a:t>
            </a:r>
            <a:r>
              <a:rPr lang="en-US" sz="1400" dirty="0">
                <a:solidFill>
                  <a:srgbClr val="080808"/>
                </a:solidFill>
                <a:effectLst/>
                <a:latin typeface="JetBrains Mono"/>
              </a:rPr>
              <a:t>: </a:t>
            </a:r>
            <a:r>
              <a:rPr lang="en-US" sz="1400" dirty="0">
                <a:solidFill>
                  <a:srgbClr val="067D17"/>
                </a:solidFill>
                <a:effectLst/>
                <a:latin typeface="JetBrains Mono"/>
              </a:rPr>
              <a:t>"Gotham" </a:t>
            </a:r>
            <a:r>
              <a:rPr lang="en-US" sz="1400" dirty="0">
                <a:solidFill>
                  <a:srgbClr val="080808"/>
                </a:solidFill>
                <a:effectLst/>
                <a:latin typeface="JetBrains Mono"/>
              </a:rPr>
              <a:t>}</a:t>
            </a:r>
          </a:p>
          <a:p>
            <a:pPr>
              <a:buNone/>
            </a:pPr>
            <a:r>
              <a:rPr lang="en-US" sz="1400" dirty="0">
                <a:solidFill>
                  <a:srgbClr val="080808"/>
                </a:solidFill>
                <a:latin typeface="JetBrains Mono"/>
              </a:rPr>
              <a:t>{'name': 'Bruce Wayne', 'age': 'Unknown', 'address': 'Gotham'}</a:t>
            </a:r>
            <a:endParaRPr lang="en-US" sz="1400" dirty="0">
              <a:solidFill>
                <a:srgbClr val="080808"/>
              </a:solidFill>
              <a:effectLst/>
              <a:latin typeface="JetBrains Mono"/>
            </a:endParaRPr>
          </a:p>
          <a:p>
            <a:pPr>
              <a:buNone/>
            </a:pPr>
            <a:endParaRPr lang="en-US" sz="1400" dirty="0">
              <a:solidFill>
                <a:srgbClr val="080808"/>
              </a:solidFill>
              <a:latin typeface="JetBrains Mono"/>
            </a:endParaRPr>
          </a:p>
          <a:p>
            <a:pPr>
              <a:buNone/>
            </a:pPr>
            <a:endParaRPr lang="en-US" sz="1400" dirty="0">
              <a:solidFill>
                <a:srgbClr val="080808"/>
              </a:solidFill>
              <a:effectLst/>
              <a:latin typeface="JetBrains Mono"/>
            </a:endParaRPr>
          </a:p>
          <a:p>
            <a:endParaRPr lang="en-CA" sz="1400" dirty="0"/>
          </a:p>
        </p:txBody>
      </p:sp>
      <p:sp>
        <p:nvSpPr>
          <p:cNvPr id="2" name="Title 1">
            <a:extLst>
              <a:ext uri="{FF2B5EF4-FFF2-40B4-BE49-F238E27FC236}">
                <a16:creationId xmlns:a16="http://schemas.microsoft.com/office/drawing/2014/main" id="{0D88DF0F-34D1-FA8F-AE57-5875F36C5632}"/>
              </a:ext>
            </a:extLst>
          </p:cNvPr>
          <p:cNvSpPr>
            <a:spLocks noGrp="1"/>
          </p:cNvSpPr>
          <p:nvPr>
            <p:ph type="title"/>
          </p:nvPr>
        </p:nvSpPr>
        <p:spPr/>
        <p:txBody>
          <a:bodyPr/>
          <a:lstStyle/>
          <a:p>
            <a:r>
              <a:rPr lang="en-US" dirty="0"/>
              <a:t>Dictionary Example</a:t>
            </a:r>
          </a:p>
        </p:txBody>
      </p:sp>
    </p:spTree>
    <p:extLst>
      <p:ext uri="{BB962C8B-B14F-4D97-AF65-F5344CB8AC3E}">
        <p14:creationId xmlns:p14="http://schemas.microsoft.com/office/powerpoint/2010/main" val="1868687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6AE21-0CA0-CF7A-CCF8-CD64EDFB9C0F}"/>
              </a:ext>
            </a:extLst>
          </p:cNvPr>
          <p:cNvSpPr>
            <a:spLocks noGrp="1"/>
          </p:cNvSpPr>
          <p:nvPr>
            <p:ph type="title"/>
          </p:nvPr>
        </p:nvSpPr>
        <p:spPr/>
        <p:txBody>
          <a:bodyPr>
            <a:normAutofit/>
          </a:bodyPr>
          <a:lstStyle/>
          <a:p>
            <a:r>
              <a:rPr lang="en-US" dirty="0"/>
              <a:t>Accessing Values</a:t>
            </a:r>
          </a:p>
        </p:txBody>
      </p:sp>
      <p:sp>
        <p:nvSpPr>
          <p:cNvPr id="3" name="Content Placeholder 2">
            <a:extLst>
              <a:ext uri="{FF2B5EF4-FFF2-40B4-BE49-F238E27FC236}">
                <a16:creationId xmlns:a16="http://schemas.microsoft.com/office/drawing/2014/main" id="{A9C2876A-76A2-E829-9388-D6A4D7AB2B95}"/>
              </a:ext>
            </a:extLst>
          </p:cNvPr>
          <p:cNvSpPr>
            <a:spLocks noGrp="1"/>
          </p:cNvSpPr>
          <p:nvPr>
            <p:ph idx="1"/>
          </p:nvPr>
        </p:nvSpPr>
        <p:spPr>
          <a:xfrm>
            <a:off x="6096000" y="1689114"/>
            <a:ext cx="6028944" cy="3276078"/>
          </a:xfrm>
        </p:spPr>
        <p:txBody>
          <a:bodyPr>
            <a:normAutofit/>
          </a:bodyPr>
          <a:lstStyle/>
          <a:p>
            <a:pPr>
              <a:buNone/>
            </a:pPr>
            <a:r>
              <a:rPr lang="en-CA" sz="1400" b="0" i="0" dirty="0">
                <a:solidFill>
                  <a:srgbClr val="080808"/>
                </a:solidFill>
                <a:effectLst/>
                <a:latin typeface="JetBrains Mono"/>
              </a:rPr>
              <a:t>	01    </a:t>
            </a:r>
            <a:r>
              <a:rPr lang="en-CA" sz="1400" i="1" dirty="0">
                <a:solidFill>
                  <a:srgbClr val="8C8C8C"/>
                </a:solidFill>
                <a:effectLst/>
                <a:latin typeface="JetBrains Mono"/>
              </a:rPr>
              <a:t># Using Dictionaries</a:t>
            </a:r>
            <a:br>
              <a:rPr lang="en-CA" sz="1400" i="1" dirty="0">
                <a:solidFill>
                  <a:srgbClr val="8C8C8C"/>
                </a:solidFill>
                <a:effectLst/>
                <a:latin typeface="JetBrains Mono"/>
              </a:rPr>
            </a:br>
            <a:r>
              <a:rPr lang="en-CA" sz="1400" b="0" i="0" dirty="0">
                <a:solidFill>
                  <a:srgbClr val="080808"/>
                </a:solidFill>
                <a:effectLst/>
                <a:latin typeface="JetBrains Mono"/>
              </a:rPr>
              <a:t>02    </a:t>
            </a:r>
            <a:r>
              <a:rPr lang="en-CA" sz="1400" dirty="0">
                <a:solidFill>
                  <a:srgbClr val="080808"/>
                </a:solidFill>
                <a:effectLst/>
                <a:latin typeface="JetBrains Mono"/>
              </a:rPr>
              <a:t>contact = {</a:t>
            </a:r>
            <a:r>
              <a:rPr lang="en-CA" sz="1400" dirty="0">
                <a:solidFill>
                  <a:srgbClr val="067D17"/>
                </a:solidFill>
                <a:effectLst/>
                <a:latin typeface="JetBrains Mono"/>
              </a:rPr>
              <a:t>"name"    </a:t>
            </a:r>
            <a:r>
              <a:rPr lang="en-CA" sz="1400" dirty="0">
                <a:solidFill>
                  <a:srgbClr val="080808"/>
                </a:solidFill>
                <a:effectLst/>
                <a:latin typeface="JetBrains Mono"/>
              </a:rPr>
              <a:t>: </a:t>
            </a:r>
            <a:r>
              <a:rPr lang="en-CA" sz="1400" dirty="0">
                <a:solidFill>
                  <a:srgbClr val="067D17"/>
                </a:solidFill>
                <a:effectLst/>
                <a:latin typeface="JetBrains Mono"/>
              </a:rPr>
              <a:t>"Clark Kent"</a:t>
            </a:r>
            <a:r>
              <a:rPr lang="en-CA" sz="1400" dirty="0">
                <a:solidFill>
                  <a:srgbClr val="080808"/>
                </a:solidFill>
                <a:effectLst/>
                <a:latin typeface="JetBrains Mono"/>
              </a:rPr>
              <a:t>,</a:t>
            </a:r>
            <a:br>
              <a:rPr lang="en-CA" sz="1400" dirty="0">
                <a:solidFill>
                  <a:srgbClr val="080808"/>
                </a:solidFill>
                <a:effectLst/>
                <a:latin typeface="JetBrains Mono"/>
              </a:rPr>
            </a:br>
            <a:r>
              <a:rPr lang="en-CA" sz="1400" b="0" i="0" dirty="0">
                <a:solidFill>
                  <a:srgbClr val="080808"/>
                </a:solidFill>
                <a:effectLst/>
                <a:latin typeface="JetBrains Mono"/>
              </a:rPr>
              <a:t>03    </a:t>
            </a:r>
            <a:r>
              <a:rPr lang="en-CA" sz="1400" dirty="0">
                <a:solidFill>
                  <a:srgbClr val="080808"/>
                </a:solidFill>
                <a:effectLst/>
                <a:latin typeface="JetBrains Mono"/>
              </a:rPr>
              <a:t>            </a:t>
            </a:r>
            <a:r>
              <a:rPr lang="en-CA" sz="1400" dirty="0">
                <a:solidFill>
                  <a:srgbClr val="067D17"/>
                </a:solidFill>
                <a:effectLst/>
                <a:latin typeface="JetBrains Mono"/>
              </a:rPr>
              <a:t>"age"   </a:t>
            </a:r>
            <a:r>
              <a:rPr lang="en-CA" sz="1400" dirty="0">
                <a:solidFill>
                  <a:srgbClr val="080808"/>
                </a:solidFill>
                <a:effectLst/>
                <a:latin typeface="JetBrains Mono"/>
              </a:rPr>
              <a:t>: </a:t>
            </a:r>
            <a:r>
              <a:rPr lang="en-CA" sz="1400" dirty="0">
                <a:solidFill>
                  <a:srgbClr val="1750EB"/>
                </a:solidFill>
                <a:effectLst/>
                <a:latin typeface="JetBrains Mono"/>
              </a:rPr>
              <a:t>33</a:t>
            </a:r>
            <a:r>
              <a:rPr lang="en-CA" sz="1400" dirty="0">
                <a:solidFill>
                  <a:srgbClr val="080808"/>
                </a:solidFill>
                <a:effectLst/>
                <a:latin typeface="JetBrains Mono"/>
              </a:rPr>
              <a:t>,</a:t>
            </a:r>
            <a:br>
              <a:rPr lang="en-CA" sz="1400" dirty="0">
                <a:solidFill>
                  <a:srgbClr val="080808"/>
                </a:solidFill>
                <a:effectLst/>
                <a:latin typeface="JetBrains Mono"/>
              </a:rPr>
            </a:br>
            <a:r>
              <a:rPr lang="en-CA" sz="1400" b="0" i="0" dirty="0">
                <a:solidFill>
                  <a:srgbClr val="080808"/>
                </a:solidFill>
                <a:effectLst/>
                <a:latin typeface="JetBrains Mono"/>
              </a:rPr>
              <a:t>04    </a:t>
            </a:r>
            <a:r>
              <a:rPr lang="en-CA" sz="1400" dirty="0">
                <a:solidFill>
                  <a:srgbClr val="080808"/>
                </a:solidFill>
                <a:effectLst/>
                <a:latin typeface="JetBrains Mono"/>
              </a:rPr>
              <a:t>            </a:t>
            </a:r>
            <a:r>
              <a:rPr lang="en-CA" sz="1400" dirty="0">
                <a:solidFill>
                  <a:srgbClr val="067D17"/>
                </a:solidFill>
                <a:effectLst/>
                <a:latin typeface="JetBrains Mono"/>
              </a:rPr>
              <a:t>"address" </a:t>
            </a:r>
            <a:r>
              <a:rPr lang="en-CA" sz="1400" dirty="0">
                <a:solidFill>
                  <a:srgbClr val="080808"/>
                </a:solidFill>
                <a:effectLst/>
                <a:latin typeface="JetBrains Mono"/>
              </a:rPr>
              <a:t>: </a:t>
            </a:r>
            <a:r>
              <a:rPr lang="en-CA" sz="1400" dirty="0">
                <a:solidFill>
                  <a:srgbClr val="067D17"/>
                </a:solidFill>
                <a:effectLst/>
                <a:latin typeface="JetBrains Mono"/>
              </a:rPr>
              <a:t>"Metropolis" </a:t>
            </a:r>
            <a:r>
              <a:rPr lang="en-CA" sz="1400" dirty="0">
                <a:solidFill>
                  <a:srgbClr val="080808"/>
                </a:solidFill>
                <a:effectLst/>
                <a:latin typeface="JetBrains Mono"/>
              </a:rPr>
              <a:t>}</a:t>
            </a:r>
            <a:br>
              <a:rPr lang="en-CA" sz="1400" dirty="0">
                <a:solidFill>
                  <a:srgbClr val="080808"/>
                </a:solidFill>
                <a:effectLst/>
                <a:latin typeface="JetBrains Mono"/>
              </a:rPr>
            </a:br>
            <a:r>
              <a:rPr lang="en-CA" sz="1400" b="0" i="0" dirty="0">
                <a:solidFill>
                  <a:srgbClr val="080808"/>
                </a:solidFill>
                <a:effectLst/>
                <a:latin typeface="JetBrains Mono"/>
              </a:rPr>
              <a:t>05    </a:t>
            </a:r>
            <a:r>
              <a:rPr lang="en-CA" sz="1400" dirty="0">
                <a:solidFill>
                  <a:srgbClr val="000080"/>
                </a:solidFill>
                <a:effectLst/>
                <a:latin typeface="JetBrains Mono"/>
              </a:rPr>
              <a:t>print</a:t>
            </a:r>
            <a:r>
              <a:rPr lang="en-CA" sz="1400" dirty="0">
                <a:solidFill>
                  <a:srgbClr val="080808"/>
                </a:solidFill>
                <a:effectLst/>
                <a:latin typeface="JetBrains Mono"/>
              </a:rPr>
              <a:t>(contact) </a:t>
            </a:r>
            <a:r>
              <a:rPr lang="en-CA" sz="1400" i="1" dirty="0">
                <a:solidFill>
                  <a:srgbClr val="8C8C8C"/>
                </a:solidFill>
                <a:effectLst/>
                <a:latin typeface="JetBrains Mono"/>
              </a:rPr>
              <a:t># {'name': 'Clark Kent', 'age': 33, 'address': 'Metropolis'}</a:t>
            </a:r>
            <a:br>
              <a:rPr lang="en-CA" sz="1400" i="1" dirty="0">
                <a:solidFill>
                  <a:srgbClr val="8C8C8C"/>
                </a:solidFill>
                <a:effectLst/>
                <a:latin typeface="JetBrains Mono"/>
              </a:rPr>
            </a:br>
            <a:r>
              <a:rPr lang="en-CA" sz="1400" b="0" i="0" dirty="0">
                <a:solidFill>
                  <a:srgbClr val="080808"/>
                </a:solidFill>
                <a:effectLst/>
                <a:latin typeface="JetBrains Mono"/>
              </a:rPr>
              <a:t>06    </a:t>
            </a:r>
            <a:r>
              <a:rPr lang="en-CA" sz="1400" i="1" dirty="0">
                <a:solidFill>
                  <a:srgbClr val="8C8C8C"/>
                </a:solidFill>
                <a:effectLst/>
                <a:latin typeface="JetBrains Mono"/>
              </a:rPr>
              <a:t># Get value associated with key "age"</a:t>
            </a:r>
            <a:br>
              <a:rPr lang="en-CA" sz="1400" i="1" dirty="0">
                <a:solidFill>
                  <a:srgbClr val="8C8C8C"/>
                </a:solidFill>
                <a:effectLst/>
                <a:latin typeface="JetBrains Mono"/>
              </a:rPr>
            </a:br>
            <a:r>
              <a:rPr lang="en-CA" sz="1400" b="0" i="0" dirty="0">
                <a:solidFill>
                  <a:srgbClr val="080808"/>
                </a:solidFill>
                <a:effectLst/>
                <a:latin typeface="JetBrains Mono"/>
              </a:rPr>
              <a:t>07    </a:t>
            </a:r>
            <a:r>
              <a:rPr lang="en-CA" sz="1400" dirty="0">
                <a:solidFill>
                  <a:srgbClr val="000080"/>
                </a:solidFill>
                <a:effectLst/>
                <a:latin typeface="JetBrains Mono"/>
              </a:rPr>
              <a:t>print</a:t>
            </a:r>
            <a:r>
              <a:rPr lang="en-CA" sz="1400" dirty="0">
                <a:solidFill>
                  <a:srgbClr val="080808"/>
                </a:solidFill>
                <a:effectLst/>
                <a:latin typeface="JetBrains Mono"/>
              </a:rPr>
              <a:t>(contact[</a:t>
            </a:r>
            <a:r>
              <a:rPr lang="en-CA" sz="1400" dirty="0">
                <a:solidFill>
                  <a:srgbClr val="067D17"/>
                </a:solidFill>
                <a:effectLst/>
                <a:latin typeface="JetBrains Mono"/>
              </a:rPr>
              <a:t>"age"</a:t>
            </a:r>
            <a:r>
              <a:rPr lang="en-CA" sz="1400" dirty="0">
                <a:solidFill>
                  <a:srgbClr val="080808"/>
                </a:solidFill>
                <a:effectLst/>
                <a:latin typeface="JetBrains Mono"/>
              </a:rPr>
              <a:t>]) </a:t>
            </a:r>
            <a:r>
              <a:rPr lang="en-CA" sz="1400" i="1" dirty="0">
                <a:solidFill>
                  <a:srgbClr val="8C8C8C"/>
                </a:solidFill>
                <a:effectLst/>
                <a:latin typeface="JetBrains Mono"/>
              </a:rPr>
              <a:t># 33</a:t>
            </a:r>
            <a:br>
              <a:rPr lang="en-CA" sz="1400" i="1" dirty="0">
                <a:solidFill>
                  <a:srgbClr val="8C8C8C"/>
                </a:solidFill>
                <a:effectLst/>
                <a:latin typeface="JetBrains Mono"/>
              </a:rPr>
            </a:br>
            <a:r>
              <a:rPr lang="en-CA" sz="1400" b="0" i="0" dirty="0">
                <a:solidFill>
                  <a:srgbClr val="080808"/>
                </a:solidFill>
                <a:effectLst/>
                <a:latin typeface="JetBrains Mono"/>
              </a:rPr>
              <a:t>08    </a:t>
            </a:r>
            <a:r>
              <a:rPr lang="en-CA" sz="1400" dirty="0">
                <a:solidFill>
                  <a:srgbClr val="000080"/>
                </a:solidFill>
                <a:effectLst/>
                <a:latin typeface="JetBrains Mono"/>
              </a:rPr>
              <a:t>print</a:t>
            </a:r>
            <a:r>
              <a:rPr lang="en-CA" sz="1400" dirty="0">
                <a:solidFill>
                  <a:srgbClr val="080808"/>
                </a:solidFill>
                <a:effectLst/>
                <a:latin typeface="JetBrains Mono"/>
              </a:rPr>
              <a:t>(contacts[</a:t>
            </a:r>
            <a:r>
              <a:rPr lang="en-CA" sz="1400" dirty="0">
                <a:solidFill>
                  <a:srgbClr val="067D17"/>
                </a:solidFill>
                <a:effectLst/>
                <a:latin typeface="JetBrains Mono"/>
              </a:rPr>
              <a:t>"</a:t>
            </a:r>
            <a:r>
              <a:rPr lang="en-CA" sz="1400" dirty="0" err="1">
                <a:solidFill>
                  <a:srgbClr val="067D17"/>
                </a:solidFill>
                <a:effectLst/>
                <a:latin typeface="JetBrains Mono"/>
              </a:rPr>
              <a:t>secret_identity</a:t>
            </a:r>
            <a:r>
              <a:rPr lang="en-CA" sz="1400" dirty="0">
                <a:solidFill>
                  <a:srgbClr val="067D17"/>
                </a:solidFill>
                <a:effectLst/>
                <a:latin typeface="JetBrains Mono"/>
              </a:rPr>
              <a:t>"</a:t>
            </a:r>
            <a:r>
              <a:rPr lang="en-CA" sz="1400" dirty="0">
                <a:solidFill>
                  <a:srgbClr val="080808"/>
                </a:solidFill>
                <a:effectLst/>
                <a:latin typeface="JetBrains Mono"/>
              </a:rPr>
              <a:t>]) </a:t>
            </a:r>
            <a:r>
              <a:rPr lang="en-CA" sz="1400" i="1" dirty="0">
                <a:solidFill>
                  <a:srgbClr val="8C8C8C"/>
                </a:solidFill>
                <a:effectLst/>
                <a:latin typeface="JetBrains Mono"/>
              </a:rPr>
              <a:t># Produces </a:t>
            </a:r>
            <a:r>
              <a:rPr lang="en-CA" sz="1400" i="1" dirty="0" err="1">
                <a:solidFill>
                  <a:srgbClr val="8C8C8C"/>
                </a:solidFill>
                <a:effectLst/>
                <a:latin typeface="JetBrains Mono"/>
              </a:rPr>
              <a:t>KeyError</a:t>
            </a:r>
            <a:br>
              <a:rPr lang="en-CA" sz="1400" i="1" dirty="0">
                <a:solidFill>
                  <a:srgbClr val="8C8C8C"/>
                </a:solidFill>
                <a:effectLst/>
                <a:latin typeface="JetBrains Mono"/>
              </a:rPr>
            </a:br>
            <a:r>
              <a:rPr lang="en-CA" sz="1400" b="0" i="0" dirty="0">
                <a:solidFill>
                  <a:srgbClr val="080808"/>
                </a:solidFill>
                <a:effectLst/>
                <a:latin typeface="JetBrains Mono"/>
              </a:rPr>
              <a:t>09    </a:t>
            </a:r>
            <a:r>
              <a:rPr lang="en-CA" sz="1400" i="1" dirty="0">
                <a:solidFill>
                  <a:srgbClr val="8C8C8C"/>
                </a:solidFill>
                <a:effectLst/>
                <a:latin typeface="JetBrains Mono"/>
              </a:rPr>
              <a:t># Update key</a:t>
            </a:r>
            <a:br>
              <a:rPr lang="en-CA" sz="1400" i="1" dirty="0">
                <a:solidFill>
                  <a:srgbClr val="8C8C8C"/>
                </a:solidFill>
                <a:effectLst/>
                <a:latin typeface="JetBrains Mono"/>
              </a:rPr>
            </a:br>
            <a:r>
              <a:rPr lang="en-CA" sz="1400" b="0" i="0" dirty="0">
                <a:solidFill>
                  <a:srgbClr val="080808"/>
                </a:solidFill>
                <a:effectLst/>
                <a:latin typeface="JetBrains Mono"/>
              </a:rPr>
              <a:t>10    </a:t>
            </a:r>
            <a:r>
              <a:rPr lang="en-CA" sz="1400" dirty="0">
                <a:solidFill>
                  <a:srgbClr val="080808"/>
                </a:solidFill>
                <a:effectLst/>
                <a:latin typeface="JetBrains Mono"/>
              </a:rPr>
              <a:t>contact[</a:t>
            </a:r>
            <a:r>
              <a:rPr lang="en-CA" sz="1400" dirty="0">
                <a:solidFill>
                  <a:srgbClr val="067D17"/>
                </a:solidFill>
                <a:effectLst/>
                <a:latin typeface="JetBrains Mono"/>
              </a:rPr>
              <a:t>"name"</a:t>
            </a:r>
            <a:r>
              <a:rPr lang="en-CA" sz="1400" dirty="0">
                <a:solidFill>
                  <a:srgbClr val="080808"/>
                </a:solidFill>
                <a:effectLst/>
                <a:latin typeface="JetBrains Mono"/>
              </a:rPr>
              <a:t>] = </a:t>
            </a:r>
            <a:r>
              <a:rPr lang="en-CA" sz="1400" dirty="0">
                <a:solidFill>
                  <a:srgbClr val="067D17"/>
                </a:solidFill>
                <a:effectLst/>
                <a:latin typeface="JetBrains Mono"/>
              </a:rPr>
              <a:t>"Superman"</a:t>
            </a:r>
            <a:br>
              <a:rPr lang="en-CA" sz="1400" dirty="0">
                <a:solidFill>
                  <a:srgbClr val="067D17"/>
                </a:solidFill>
                <a:effectLst/>
                <a:latin typeface="JetBrains Mono"/>
              </a:rPr>
            </a:br>
            <a:r>
              <a:rPr lang="en-CA" sz="1400" b="0" i="0" dirty="0">
                <a:solidFill>
                  <a:srgbClr val="080808"/>
                </a:solidFill>
                <a:effectLst/>
                <a:latin typeface="JetBrains Mono"/>
              </a:rPr>
              <a:t>11    </a:t>
            </a:r>
            <a:r>
              <a:rPr lang="en-CA" sz="1400" dirty="0">
                <a:solidFill>
                  <a:srgbClr val="000080"/>
                </a:solidFill>
                <a:effectLst/>
                <a:latin typeface="JetBrains Mono"/>
              </a:rPr>
              <a:t>print</a:t>
            </a:r>
            <a:r>
              <a:rPr lang="en-CA" sz="1400" dirty="0">
                <a:solidFill>
                  <a:srgbClr val="080808"/>
                </a:solidFill>
                <a:effectLst/>
                <a:latin typeface="JetBrains Mono"/>
              </a:rPr>
              <a:t>(contact) </a:t>
            </a:r>
            <a:r>
              <a:rPr lang="en-CA" sz="1400" i="1" dirty="0">
                <a:solidFill>
                  <a:srgbClr val="8C8C8C"/>
                </a:solidFill>
                <a:effectLst/>
                <a:latin typeface="JetBrains Mono"/>
              </a:rPr>
              <a:t>#{'name': 'Superman', 'age': 33, 'address': 'Metropolis'}</a:t>
            </a:r>
            <a:br>
              <a:rPr lang="en-CA" sz="1400" i="1" dirty="0">
                <a:solidFill>
                  <a:srgbClr val="8C8C8C"/>
                </a:solidFill>
                <a:effectLst/>
                <a:latin typeface="JetBrains Mono"/>
              </a:rPr>
            </a:br>
            <a:r>
              <a:rPr lang="en-CA" sz="1400" b="0" i="0" dirty="0">
                <a:solidFill>
                  <a:srgbClr val="080808"/>
                </a:solidFill>
                <a:effectLst/>
                <a:latin typeface="JetBrains Mono"/>
              </a:rPr>
              <a:t>12    </a:t>
            </a:r>
            <a:r>
              <a:rPr lang="en-CA" sz="1400" i="1" dirty="0">
                <a:solidFill>
                  <a:srgbClr val="8C8C8C"/>
                </a:solidFill>
                <a:effectLst/>
                <a:latin typeface="JetBrains Mono"/>
              </a:rPr>
              <a:t># Add a new Key</a:t>
            </a:r>
            <a:br>
              <a:rPr lang="en-CA" sz="1400" i="1" dirty="0">
                <a:solidFill>
                  <a:srgbClr val="8C8C8C"/>
                </a:solidFill>
                <a:effectLst/>
                <a:latin typeface="JetBrains Mono"/>
              </a:rPr>
            </a:br>
            <a:r>
              <a:rPr lang="en-CA" sz="1400" b="0" i="0" dirty="0">
                <a:solidFill>
                  <a:srgbClr val="080808"/>
                </a:solidFill>
                <a:effectLst/>
                <a:latin typeface="JetBrains Mono"/>
              </a:rPr>
              <a:t>13    </a:t>
            </a:r>
            <a:r>
              <a:rPr lang="en-CA" sz="1400" dirty="0">
                <a:solidFill>
                  <a:srgbClr val="080808"/>
                </a:solidFill>
                <a:effectLst/>
                <a:latin typeface="JetBrains Mono"/>
              </a:rPr>
              <a:t>contact[</a:t>
            </a:r>
            <a:r>
              <a:rPr lang="en-CA" sz="1400" dirty="0">
                <a:solidFill>
                  <a:srgbClr val="067D17"/>
                </a:solidFill>
                <a:effectLst/>
                <a:latin typeface="JetBrains Mono"/>
              </a:rPr>
              <a:t>"</a:t>
            </a:r>
            <a:r>
              <a:rPr lang="en-CA" sz="1400" dirty="0" err="1">
                <a:solidFill>
                  <a:srgbClr val="067D17"/>
                </a:solidFill>
                <a:effectLst/>
                <a:latin typeface="JetBrains Mono"/>
              </a:rPr>
              <a:t>secret_identity</a:t>
            </a:r>
            <a:r>
              <a:rPr lang="en-CA" sz="1400" dirty="0">
                <a:solidFill>
                  <a:srgbClr val="067D17"/>
                </a:solidFill>
                <a:effectLst/>
                <a:latin typeface="JetBrains Mono"/>
              </a:rPr>
              <a:t>"</a:t>
            </a:r>
            <a:r>
              <a:rPr lang="en-CA" sz="1400" dirty="0">
                <a:solidFill>
                  <a:srgbClr val="080808"/>
                </a:solidFill>
                <a:effectLst/>
                <a:latin typeface="JetBrains Mono"/>
              </a:rPr>
              <a:t>] = </a:t>
            </a:r>
            <a:r>
              <a:rPr lang="en-CA" sz="1400" dirty="0">
                <a:solidFill>
                  <a:srgbClr val="067D17"/>
                </a:solidFill>
                <a:effectLst/>
                <a:latin typeface="JetBrains Mono"/>
              </a:rPr>
              <a:t>"Clark Kent"</a:t>
            </a:r>
            <a:br>
              <a:rPr lang="en-CA" sz="1400" dirty="0">
                <a:solidFill>
                  <a:srgbClr val="067D17"/>
                </a:solidFill>
                <a:effectLst/>
                <a:latin typeface="JetBrains Mono"/>
              </a:rPr>
            </a:br>
            <a:r>
              <a:rPr lang="en-CA" sz="1400" b="0" i="0" dirty="0">
                <a:solidFill>
                  <a:srgbClr val="080808"/>
                </a:solidFill>
                <a:effectLst/>
                <a:latin typeface="JetBrains Mono"/>
              </a:rPr>
              <a:t>14    </a:t>
            </a:r>
            <a:r>
              <a:rPr lang="en-CA" sz="1400" dirty="0">
                <a:solidFill>
                  <a:srgbClr val="000080"/>
                </a:solidFill>
                <a:effectLst/>
                <a:latin typeface="JetBrains Mono"/>
              </a:rPr>
              <a:t>print</a:t>
            </a:r>
            <a:r>
              <a:rPr lang="en-CA" sz="1400" dirty="0">
                <a:solidFill>
                  <a:srgbClr val="080808"/>
                </a:solidFill>
                <a:effectLst/>
                <a:latin typeface="JetBrains Mono"/>
              </a:rPr>
              <a:t>(contact[</a:t>
            </a:r>
            <a:r>
              <a:rPr lang="en-CA" sz="1400" dirty="0">
                <a:solidFill>
                  <a:srgbClr val="067D17"/>
                </a:solidFill>
                <a:effectLst/>
                <a:latin typeface="JetBrains Mono"/>
              </a:rPr>
              <a:t>"</a:t>
            </a:r>
            <a:r>
              <a:rPr lang="en-CA" sz="1400" dirty="0" err="1">
                <a:solidFill>
                  <a:srgbClr val="067D17"/>
                </a:solidFill>
                <a:effectLst/>
                <a:latin typeface="JetBrains Mono"/>
              </a:rPr>
              <a:t>secret_identity</a:t>
            </a:r>
            <a:r>
              <a:rPr lang="en-CA" sz="1400" dirty="0">
                <a:solidFill>
                  <a:srgbClr val="067D17"/>
                </a:solidFill>
                <a:effectLst/>
                <a:latin typeface="JetBrains Mono"/>
              </a:rPr>
              <a:t>"</a:t>
            </a:r>
            <a:r>
              <a:rPr lang="en-CA" sz="1400" dirty="0">
                <a:solidFill>
                  <a:srgbClr val="080808"/>
                </a:solidFill>
                <a:effectLst/>
                <a:latin typeface="JetBrains Mono"/>
              </a:rPr>
              <a:t>]) </a:t>
            </a:r>
            <a:r>
              <a:rPr lang="en-CA" sz="1400" i="1" dirty="0">
                <a:solidFill>
                  <a:srgbClr val="8C8C8C"/>
                </a:solidFill>
                <a:effectLst/>
                <a:latin typeface="JetBrains Mono"/>
              </a:rPr>
              <a:t># Clark Kent</a:t>
            </a:r>
            <a:endParaRPr lang="en-CA" sz="1400" dirty="0">
              <a:solidFill>
                <a:srgbClr val="080808"/>
              </a:solidFill>
              <a:effectLst/>
              <a:latin typeface="JetBrains Mono"/>
            </a:endParaRPr>
          </a:p>
        </p:txBody>
      </p:sp>
      <p:sp>
        <p:nvSpPr>
          <p:cNvPr id="5" name="Text Placeholder 4">
            <a:extLst>
              <a:ext uri="{FF2B5EF4-FFF2-40B4-BE49-F238E27FC236}">
                <a16:creationId xmlns:a16="http://schemas.microsoft.com/office/drawing/2014/main" id="{5E0D6D0B-B16B-C322-67F4-C127A3D846C9}"/>
              </a:ext>
            </a:extLst>
          </p:cNvPr>
          <p:cNvSpPr>
            <a:spLocks noGrp="1"/>
          </p:cNvSpPr>
          <p:nvPr>
            <p:ph type="body" sz="half" idx="2"/>
          </p:nvPr>
        </p:nvSpPr>
        <p:spPr/>
        <p:txBody>
          <a:bodyPr/>
          <a:lstStyle/>
          <a:p>
            <a:endParaRPr lang="en-CA"/>
          </a:p>
        </p:txBody>
      </p:sp>
    </p:spTree>
    <p:extLst>
      <p:ext uri="{BB962C8B-B14F-4D97-AF65-F5344CB8AC3E}">
        <p14:creationId xmlns:p14="http://schemas.microsoft.com/office/powerpoint/2010/main" val="500747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007DB-D841-E3D3-D33F-A2FC1447A9D4}"/>
              </a:ext>
            </a:extLst>
          </p:cNvPr>
          <p:cNvSpPr>
            <a:spLocks noGrp="1"/>
          </p:cNvSpPr>
          <p:nvPr>
            <p:ph type="title"/>
          </p:nvPr>
        </p:nvSpPr>
        <p:spPr/>
        <p:txBody>
          <a:bodyPr/>
          <a:lstStyle/>
          <a:p>
            <a:r>
              <a:rPr lang="en-CA" dirty="0"/>
              <a:t>REUSING Keys</a:t>
            </a:r>
          </a:p>
        </p:txBody>
      </p:sp>
      <p:sp>
        <p:nvSpPr>
          <p:cNvPr id="3" name="Content Placeholder 2">
            <a:extLst>
              <a:ext uri="{FF2B5EF4-FFF2-40B4-BE49-F238E27FC236}">
                <a16:creationId xmlns:a16="http://schemas.microsoft.com/office/drawing/2014/main" id="{44086F9E-8C12-D468-F9FE-97ED2AA4D1C0}"/>
              </a:ext>
            </a:extLst>
          </p:cNvPr>
          <p:cNvSpPr>
            <a:spLocks noGrp="1"/>
          </p:cNvSpPr>
          <p:nvPr>
            <p:ph idx="1"/>
          </p:nvPr>
        </p:nvSpPr>
        <p:spPr>
          <a:xfrm>
            <a:off x="6096000" y="2105166"/>
            <a:ext cx="5882640" cy="2889504"/>
          </a:xfrm>
        </p:spPr>
        <p:txBody>
          <a:bodyPr>
            <a:normAutofit lnSpcReduction="10000"/>
          </a:bodyPr>
          <a:lstStyle/>
          <a:p>
            <a:pPr>
              <a:buNone/>
            </a:pPr>
            <a:r>
              <a:rPr lang="en-CA" sz="1600" b="0" i="0" dirty="0">
                <a:solidFill>
                  <a:srgbClr val="080808"/>
                </a:solidFill>
                <a:effectLst/>
                <a:latin typeface="JetBrains Mono"/>
              </a:rPr>
              <a:t>	01    </a:t>
            </a:r>
            <a:r>
              <a:rPr lang="en-CA" sz="1600" i="1" dirty="0">
                <a:solidFill>
                  <a:srgbClr val="8C8C8C"/>
                </a:solidFill>
                <a:effectLst/>
                <a:latin typeface="JetBrains Mono"/>
              </a:rPr>
              <a:t># Duplicate Keys - Results in Overwrite</a:t>
            </a:r>
            <a:br>
              <a:rPr lang="en-CA" sz="1600" i="1" dirty="0">
                <a:solidFill>
                  <a:srgbClr val="8C8C8C"/>
                </a:solidFill>
                <a:effectLst/>
                <a:latin typeface="JetBrains Mono"/>
              </a:rPr>
            </a:br>
            <a:r>
              <a:rPr lang="en-CA" sz="1600" b="0" i="0" dirty="0">
                <a:solidFill>
                  <a:srgbClr val="080808"/>
                </a:solidFill>
                <a:effectLst/>
                <a:latin typeface="JetBrains Mono"/>
              </a:rPr>
              <a:t>02    </a:t>
            </a:r>
            <a:r>
              <a:rPr lang="en-CA" sz="1600" dirty="0">
                <a:solidFill>
                  <a:srgbClr val="080808"/>
                </a:solidFill>
                <a:effectLst/>
                <a:latin typeface="JetBrains Mono"/>
              </a:rPr>
              <a:t>contacts = {</a:t>
            </a:r>
            <a:r>
              <a:rPr lang="en-CA" sz="1600" dirty="0">
                <a:solidFill>
                  <a:srgbClr val="067D17"/>
                </a:solidFill>
                <a:effectLst/>
                <a:latin typeface="JetBrains Mono"/>
              </a:rPr>
              <a:t>"name"    </a:t>
            </a:r>
            <a:r>
              <a:rPr lang="en-CA" sz="1600" dirty="0">
                <a:solidFill>
                  <a:srgbClr val="080808"/>
                </a:solidFill>
                <a:effectLst/>
                <a:latin typeface="JetBrains Mono"/>
              </a:rPr>
              <a:t>: </a:t>
            </a:r>
            <a:r>
              <a:rPr lang="en-CA" sz="1600" dirty="0">
                <a:solidFill>
                  <a:srgbClr val="067D17"/>
                </a:solidFill>
                <a:effectLst/>
                <a:latin typeface="JetBrains Mono"/>
              </a:rPr>
              <a:t>"Clark Kent"</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03    </a:t>
            </a:r>
            <a:r>
              <a:rPr lang="en-CA" sz="1600" dirty="0">
                <a:solidFill>
                  <a:srgbClr val="080808"/>
                </a:solidFill>
                <a:effectLst/>
                <a:latin typeface="JetBrains Mono"/>
              </a:rPr>
              <a:t>            </a:t>
            </a:r>
            <a:r>
              <a:rPr lang="en-CA" sz="1600" dirty="0">
                <a:solidFill>
                  <a:srgbClr val="067D17"/>
                </a:solidFill>
                <a:effectLst/>
                <a:latin typeface="JetBrains Mono"/>
              </a:rPr>
              <a:t>"age"   </a:t>
            </a:r>
            <a:r>
              <a:rPr lang="en-CA" sz="1600" dirty="0">
                <a:solidFill>
                  <a:srgbClr val="080808"/>
                </a:solidFill>
                <a:effectLst/>
                <a:latin typeface="JetBrains Mono"/>
              </a:rPr>
              <a:t>: </a:t>
            </a:r>
            <a:r>
              <a:rPr lang="en-CA" sz="1600" dirty="0">
                <a:solidFill>
                  <a:srgbClr val="1750EB"/>
                </a:solidFill>
                <a:effectLst/>
                <a:latin typeface="JetBrains Mono"/>
              </a:rPr>
              <a:t>33</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04    </a:t>
            </a:r>
            <a:r>
              <a:rPr lang="en-CA" sz="1600" dirty="0">
                <a:solidFill>
                  <a:srgbClr val="080808"/>
                </a:solidFill>
                <a:effectLst/>
                <a:latin typeface="JetBrains Mono"/>
              </a:rPr>
              <a:t>            </a:t>
            </a:r>
            <a:r>
              <a:rPr lang="en-CA" sz="1600" dirty="0">
                <a:solidFill>
                  <a:srgbClr val="067D17"/>
                </a:solidFill>
                <a:effectLst/>
                <a:latin typeface="JetBrains Mono"/>
              </a:rPr>
              <a:t>"address" </a:t>
            </a:r>
            <a:r>
              <a:rPr lang="en-CA" sz="1600" dirty="0">
                <a:solidFill>
                  <a:srgbClr val="080808"/>
                </a:solidFill>
                <a:effectLst/>
                <a:latin typeface="JetBrains Mono"/>
              </a:rPr>
              <a:t>: </a:t>
            </a:r>
            <a:r>
              <a:rPr lang="en-CA" sz="1600" dirty="0">
                <a:solidFill>
                  <a:srgbClr val="067D17"/>
                </a:solidFill>
                <a:effectLst/>
                <a:latin typeface="JetBrains Mono"/>
              </a:rPr>
              <a:t>"Metropolis"</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05    </a:t>
            </a:r>
            <a:r>
              <a:rPr lang="en-CA" sz="1600" dirty="0">
                <a:solidFill>
                  <a:srgbClr val="080808"/>
                </a:solidFill>
                <a:effectLst/>
                <a:latin typeface="JetBrains Mono"/>
              </a:rPr>
              <a:t>            </a:t>
            </a:r>
            <a:r>
              <a:rPr lang="en-CA" sz="1600" dirty="0">
                <a:solidFill>
                  <a:srgbClr val="067D17"/>
                </a:solidFill>
                <a:effectLst/>
                <a:latin typeface="JetBrains Mono"/>
              </a:rPr>
              <a:t>"name"    </a:t>
            </a:r>
            <a:r>
              <a:rPr lang="en-CA" sz="1600" dirty="0">
                <a:solidFill>
                  <a:srgbClr val="080808"/>
                </a:solidFill>
                <a:effectLst/>
                <a:latin typeface="JetBrains Mono"/>
              </a:rPr>
              <a:t>: </a:t>
            </a:r>
            <a:r>
              <a:rPr lang="en-CA" sz="1600" dirty="0">
                <a:solidFill>
                  <a:srgbClr val="067D17"/>
                </a:solidFill>
                <a:effectLst/>
                <a:latin typeface="JetBrains Mono"/>
              </a:rPr>
              <a:t>"Bruce Wayne"</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06    </a:t>
            </a:r>
            <a:r>
              <a:rPr lang="en-CA" sz="1600" dirty="0">
                <a:solidFill>
                  <a:srgbClr val="080808"/>
                </a:solidFill>
                <a:effectLst/>
                <a:latin typeface="JetBrains Mono"/>
              </a:rPr>
              <a:t>            </a:t>
            </a:r>
            <a:r>
              <a:rPr lang="en-CA" sz="1600" dirty="0">
                <a:solidFill>
                  <a:srgbClr val="067D17"/>
                </a:solidFill>
                <a:effectLst/>
                <a:latin typeface="JetBrains Mono"/>
              </a:rPr>
              <a:t>"age"   </a:t>
            </a:r>
            <a:r>
              <a:rPr lang="en-CA" sz="1600" dirty="0">
                <a:solidFill>
                  <a:srgbClr val="080808"/>
                </a:solidFill>
                <a:effectLst/>
                <a:latin typeface="JetBrains Mono"/>
              </a:rPr>
              <a:t>: </a:t>
            </a:r>
            <a:r>
              <a:rPr lang="en-CA" sz="1600" dirty="0">
                <a:solidFill>
                  <a:srgbClr val="067D17"/>
                </a:solidFill>
                <a:effectLst/>
                <a:latin typeface="JetBrains Mono"/>
              </a:rPr>
              <a:t>"Unknown"</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07    </a:t>
            </a:r>
            <a:r>
              <a:rPr lang="en-CA" sz="1600" dirty="0">
                <a:solidFill>
                  <a:srgbClr val="080808"/>
                </a:solidFill>
                <a:effectLst/>
                <a:latin typeface="JetBrains Mono"/>
              </a:rPr>
              <a:t>            </a:t>
            </a:r>
            <a:r>
              <a:rPr lang="en-CA" sz="1600" dirty="0">
                <a:solidFill>
                  <a:srgbClr val="067D17"/>
                </a:solidFill>
                <a:effectLst/>
                <a:latin typeface="JetBrains Mono"/>
              </a:rPr>
              <a:t>"address" </a:t>
            </a:r>
            <a:r>
              <a:rPr lang="en-CA" sz="1600" dirty="0">
                <a:solidFill>
                  <a:srgbClr val="080808"/>
                </a:solidFill>
                <a:effectLst/>
                <a:latin typeface="JetBrains Mono"/>
              </a:rPr>
              <a:t>: </a:t>
            </a:r>
            <a:r>
              <a:rPr lang="en-CA" sz="1600" dirty="0">
                <a:solidFill>
                  <a:srgbClr val="067D17"/>
                </a:solidFill>
                <a:effectLst/>
                <a:latin typeface="JetBrains Mono"/>
              </a:rPr>
              <a:t>"Gotham" </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08    </a:t>
            </a:r>
            <a:br>
              <a:rPr lang="en-CA" sz="1600" dirty="0">
                <a:solidFill>
                  <a:srgbClr val="080808"/>
                </a:solidFill>
                <a:effectLst/>
                <a:latin typeface="JetBrains Mono"/>
              </a:rPr>
            </a:br>
            <a:r>
              <a:rPr lang="en-CA" sz="1600" b="0" i="0" dirty="0">
                <a:solidFill>
                  <a:srgbClr val="080808"/>
                </a:solidFill>
                <a:effectLst/>
                <a:latin typeface="JetBrains Mono"/>
              </a:rPr>
              <a:t>09    </a:t>
            </a:r>
            <a:r>
              <a:rPr lang="en-CA" sz="1600" i="1" dirty="0">
                <a:solidFill>
                  <a:srgbClr val="8C8C8C"/>
                </a:solidFill>
                <a:effectLst/>
                <a:latin typeface="JetBrains Mono"/>
              </a:rPr>
              <a:t># Reusing keys in creation results in overwriting values</a:t>
            </a:r>
            <a:br>
              <a:rPr lang="en-CA" sz="1600" i="1" dirty="0">
                <a:solidFill>
                  <a:srgbClr val="8C8C8C"/>
                </a:solidFill>
                <a:effectLst/>
                <a:latin typeface="JetBrains Mono"/>
              </a:rPr>
            </a:br>
            <a:r>
              <a:rPr lang="en-CA" sz="1600" b="0" i="0" dirty="0">
                <a:solidFill>
                  <a:srgbClr val="080808"/>
                </a:solidFill>
                <a:effectLst/>
                <a:latin typeface="JetBrains Mono"/>
              </a:rPr>
              <a:t>10    </a:t>
            </a:r>
            <a:r>
              <a:rPr lang="en-CA" sz="1600" dirty="0">
                <a:solidFill>
                  <a:srgbClr val="000080"/>
                </a:solidFill>
                <a:effectLst/>
                <a:latin typeface="JetBrains Mono"/>
              </a:rPr>
              <a:t>print</a:t>
            </a:r>
            <a:r>
              <a:rPr lang="en-CA" sz="1600" dirty="0">
                <a:solidFill>
                  <a:srgbClr val="080808"/>
                </a:solidFill>
                <a:effectLst/>
                <a:latin typeface="JetBrains Mono"/>
              </a:rPr>
              <a:t>(contacts) </a:t>
            </a:r>
          </a:p>
          <a:p>
            <a:pPr>
              <a:buNone/>
            </a:pPr>
            <a:r>
              <a:rPr lang="en-CA" sz="1600" i="1" dirty="0">
                <a:solidFill>
                  <a:srgbClr val="8C8C8C"/>
                </a:solidFill>
                <a:effectLst/>
                <a:latin typeface="JetBrains Mono"/>
              </a:rPr>
              <a:t>	#{'name': 'Bruce Wayne', 'age': 'Unknown', 'address': 'Gotham'}</a:t>
            </a:r>
            <a:endParaRPr lang="en-CA" sz="1600" dirty="0">
              <a:solidFill>
                <a:srgbClr val="080808"/>
              </a:solidFill>
              <a:effectLst/>
              <a:latin typeface="JetBrains Mono"/>
            </a:endParaRPr>
          </a:p>
        </p:txBody>
      </p:sp>
      <p:sp>
        <p:nvSpPr>
          <p:cNvPr id="4" name="Text Placeholder 3">
            <a:extLst>
              <a:ext uri="{FF2B5EF4-FFF2-40B4-BE49-F238E27FC236}">
                <a16:creationId xmlns:a16="http://schemas.microsoft.com/office/drawing/2014/main" id="{C44E3F06-9D27-1CB1-4BBC-4D04CFD5CFE1}"/>
              </a:ext>
            </a:extLst>
          </p:cNvPr>
          <p:cNvSpPr>
            <a:spLocks noGrp="1"/>
          </p:cNvSpPr>
          <p:nvPr>
            <p:ph type="body" sz="half" idx="2"/>
          </p:nvPr>
        </p:nvSpPr>
        <p:spPr/>
        <p:txBody>
          <a:bodyPr/>
          <a:lstStyle/>
          <a:p>
            <a:pPr marL="285750" indent="-285750" algn="l">
              <a:buFont typeface="Arial" panose="020B0604020202020204" pitchFamily="34" charset="0"/>
              <a:buChar char="•"/>
            </a:pPr>
            <a:r>
              <a:rPr lang="en-CA" dirty="0"/>
              <a:t>If you accidentally reuse keys during creation (or later in a program) the value will simply be overwritten</a:t>
            </a:r>
          </a:p>
        </p:txBody>
      </p:sp>
    </p:spTree>
    <p:extLst>
      <p:ext uri="{BB962C8B-B14F-4D97-AF65-F5344CB8AC3E}">
        <p14:creationId xmlns:p14="http://schemas.microsoft.com/office/powerpoint/2010/main" val="1976140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1577BA-E7E0-1078-AADC-DD64A9546D8A}"/>
              </a:ext>
            </a:extLst>
          </p:cNvPr>
          <p:cNvSpPr>
            <a:spLocks noGrp="1"/>
          </p:cNvSpPr>
          <p:nvPr>
            <p:ph type="title"/>
          </p:nvPr>
        </p:nvSpPr>
        <p:spPr>
          <a:xfrm>
            <a:off x="804672" y="2404872"/>
            <a:ext cx="3267598" cy="1627792"/>
          </a:xfrm>
        </p:spPr>
        <p:txBody>
          <a:bodyPr vert="horz" lIns="274320" tIns="182880" rIns="274320" bIns="182880" rtlCol="0" anchor="ctr" anchorCtr="1">
            <a:normAutofit/>
          </a:bodyPr>
          <a:lstStyle/>
          <a:p>
            <a:r>
              <a:rPr lang="en-US" dirty="0"/>
              <a:t>List of Dictionaries</a:t>
            </a:r>
          </a:p>
        </p:txBody>
      </p:sp>
      <p:sp>
        <p:nvSpPr>
          <p:cNvPr id="5" name="Content Placeholder 4">
            <a:extLst>
              <a:ext uri="{FF2B5EF4-FFF2-40B4-BE49-F238E27FC236}">
                <a16:creationId xmlns:a16="http://schemas.microsoft.com/office/drawing/2014/main" id="{7B272DBA-BE78-425C-C1B1-D4415F14AFFD}"/>
              </a:ext>
            </a:extLst>
          </p:cNvPr>
          <p:cNvSpPr>
            <a:spLocks noGrp="1"/>
          </p:cNvSpPr>
          <p:nvPr>
            <p:ph idx="1"/>
          </p:nvPr>
        </p:nvSpPr>
        <p:spPr>
          <a:xfrm>
            <a:off x="4876941" y="377309"/>
            <a:ext cx="6955395" cy="6041779"/>
          </a:xfrm>
        </p:spPr>
        <p:txBody>
          <a:bodyPr/>
          <a:lstStyle/>
          <a:p>
            <a:pPr>
              <a:buNone/>
            </a:pPr>
            <a:r>
              <a:rPr lang="en-US" sz="1800" b="0" i="0" dirty="0">
                <a:solidFill>
                  <a:srgbClr val="080808"/>
                </a:solidFill>
                <a:effectLst/>
                <a:latin typeface="JetBrains Mono"/>
              </a:rPr>
              <a:t>	01    </a:t>
            </a:r>
            <a:r>
              <a:rPr lang="en-US" sz="1800" i="1" dirty="0">
                <a:solidFill>
                  <a:srgbClr val="8C8C8C"/>
                </a:solidFill>
                <a:effectLst/>
                <a:latin typeface="JetBrains Mono"/>
              </a:rPr>
              <a:t>#List of Dictionaries</a:t>
            </a:r>
            <a:br>
              <a:rPr lang="en-US" sz="1800" i="1" dirty="0">
                <a:solidFill>
                  <a:srgbClr val="8C8C8C"/>
                </a:solidFill>
                <a:effectLst/>
                <a:latin typeface="JetBrains Mono"/>
              </a:rPr>
            </a:br>
            <a:r>
              <a:rPr lang="en-US" sz="1800" b="0" i="0" dirty="0">
                <a:solidFill>
                  <a:srgbClr val="080808"/>
                </a:solidFill>
                <a:effectLst/>
                <a:latin typeface="JetBrains Mono"/>
              </a:rPr>
              <a:t>02    </a:t>
            </a:r>
            <a:r>
              <a:rPr lang="en-US" sz="1800" dirty="0">
                <a:solidFill>
                  <a:srgbClr val="080808"/>
                </a:solidFill>
                <a:effectLst/>
                <a:latin typeface="JetBrains Mono"/>
              </a:rPr>
              <a:t>contacts = [ { </a:t>
            </a:r>
            <a:r>
              <a:rPr lang="en-US" sz="1800" dirty="0">
                <a:solidFill>
                  <a:srgbClr val="067D17"/>
                </a:solidFill>
                <a:effectLst/>
                <a:latin typeface="JetBrains Mono"/>
              </a:rPr>
              <a:t>"name" </a:t>
            </a:r>
            <a:r>
              <a:rPr lang="en-US" sz="1800" dirty="0">
                <a:solidFill>
                  <a:srgbClr val="080808"/>
                </a:solidFill>
                <a:effectLst/>
                <a:latin typeface="JetBrains Mono"/>
              </a:rPr>
              <a:t>: </a:t>
            </a:r>
            <a:r>
              <a:rPr lang="en-US" sz="1800" dirty="0">
                <a:solidFill>
                  <a:srgbClr val="067D17"/>
                </a:solidFill>
                <a:effectLst/>
                <a:latin typeface="JetBrains Mono"/>
              </a:rPr>
              <a:t>"Clark Kent"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03    </a:t>
            </a:r>
            <a:r>
              <a:rPr lang="en-US" sz="1800" dirty="0">
                <a:solidFill>
                  <a:srgbClr val="080808"/>
                </a:solidFill>
                <a:effectLst/>
                <a:latin typeface="JetBrains Mono"/>
              </a:rPr>
              <a:t>               </a:t>
            </a:r>
            <a:r>
              <a:rPr lang="en-US" sz="1800" dirty="0">
                <a:solidFill>
                  <a:srgbClr val="067D17"/>
                </a:solidFill>
                <a:effectLst/>
                <a:latin typeface="JetBrains Mono"/>
              </a:rPr>
              <a:t>"age"  </a:t>
            </a:r>
            <a:r>
              <a:rPr lang="en-US" sz="1800" dirty="0">
                <a:solidFill>
                  <a:srgbClr val="080808"/>
                </a:solidFill>
                <a:effectLst/>
                <a:latin typeface="JetBrains Mono"/>
              </a:rPr>
              <a:t>: </a:t>
            </a:r>
            <a:r>
              <a:rPr lang="en-US" sz="1800" dirty="0">
                <a:solidFill>
                  <a:srgbClr val="1750EB"/>
                </a:solidFill>
                <a:effectLst/>
                <a:latin typeface="JetBrains Mono"/>
              </a:rPr>
              <a:t>33</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04    </a:t>
            </a:r>
            <a:r>
              <a:rPr lang="en-US" sz="1800" dirty="0">
                <a:solidFill>
                  <a:srgbClr val="080808"/>
                </a:solidFill>
                <a:effectLst/>
                <a:latin typeface="JetBrains Mono"/>
              </a:rPr>
              <a:t>               </a:t>
            </a:r>
            <a:r>
              <a:rPr lang="en-US" sz="1800" dirty="0">
                <a:solidFill>
                  <a:srgbClr val="067D17"/>
                </a:solidFill>
                <a:effectLst/>
                <a:latin typeface="JetBrains Mono"/>
              </a:rPr>
              <a:t>"address" </a:t>
            </a:r>
            <a:r>
              <a:rPr lang="en-US" sz="1800" dirty="0">
                <a:solidFill>
                  <a:srgbClr val="080808"/>
                </a:solidFill>
                <a:effectLst/>
                <a:latin typeface="JetBrains Mono"/>
              </a:rPr>
              <a:t>: </a:t>
            </a:r>
            <a:r>
              <a:rPr lang="en-US" sz="1800" dirty="0">
                <a:solidFill>
                  <a:srgbClr val="067D17"/>
                </a:solidFill>
                <a:effectLst/>
                <a:latin typeface="JetBrains Mono"/>
              </a:rPr>
              <a:t>"Metropolis"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05    </a:t>
            </a:r>
            <a:r>
              <a:rPr lang="en-US" sz="1800" dirty="0">
                <a:solidFill>
                  <a:srgbClr val="080808"/>
                </a:solidFill>
                <a:effectLst/>
                <a:latin typeface="JetBrains Mono"/>
              </a:rPr>
              <a:t>             { </a:t>
            </a:r>
            <a:r>
              <a:rPr lang="en-US" sz="1800" dirty="0">
                <a:solidFill>
                  <a:srgbClr val="067D17"/>
                </a:solidFill>
                <a:effectLst/>
                <a:latin typeface="JetBrains Mono"/>
              </a:rPr>
              <a:t>"name" </a:t>
            </a:r>
            <a:r>
              <a:rPr lang="en-US" sz="1800" dirty="0">
                <a:solidFill>
                  <a:srgbClr val="080808"/>
                </a:solidFill>
                <a:effectLst/>
                <a:latin typeface="JetBrains Mono"/>
              </a:rPr>
              <a:t>: </a:t>
            </a:r>
            <a:r>
              <a:rPr lang="en-US" sz="1800" dirty="0">
                <a:solidFill>
                  <a:srgbClr val="067D17"/>
                </a:solidFill>
                <a:effectLst/>
                <a:latin typeface="JetBrains Mono"/>
              </a:rPr>
              <a:t>"Bruce Wayne"</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06    </a:t>
            </a:r>
            <a:r>
              <a:rPr lang="en-US" sz="1800" dirty="0">
                <a:solidFill>
                  <a:srgbClr val="080808"/>
                </a:solidFill>
                <a:effectLst/>
                <a:latin typeface="JetBrains Mono"/>
              </a:rPr>
              <a:t>               </a:t>
            </a:r>
            <a:r>
              <a:rPr lang="en-US" sz="1800" dirty="0">
                <a:solidFill>
                  <a:srgbClr val="067D17"/>
                </a:solidFill>
                <a:effectLst/>
                <a:latin typeface="JetBrains Mono"/>
              </a:rPr>
              <a:t>"age"  </a:t>
            </a:r>
            <a:r>
              <a:rPr lang="en-US" sz="1800" dirty="0">
                <a:solidFill>
                  <a:srgbClr val="080808"/>
                </a:solidFill>
                <a:effectLst/>
                <a:latin typeface="JetBrains Mono"/>
              </a:rPr>
              <a:t>: </a:t>
            </a:r>
            <a:r>
              <a:rPr lang="en-US" sz="1800" dirty="0">
                <a:solidFill>
                  <a:srgbClr val="067D17"/>
                </a:solidFill>
                <a:effectLst/>
                <a:latin typeface="JetBrains Mono"/>
              </a:rPr>
              <a:t>"Unknown"</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07    </a:t>
            </a:r>
            <a:r>
              <a:rPr lang="en-US" sz="1800" dirty="0">
                <a:solidFill>
                  <a:srgbClr val="080808"/>
                </a:solidFill>
                <a:effectLst/>
                <a:latin typeface="JetBrains Mono"/>
              </a:rPr>
              <a:t>               </a:t>
            </a:r>
            <a:r>
              <a:rPr lang="en-US" sz="1800" dirty="0">
                <a:solidFill>
                  <a:srgbClr val="067D17"/>
                </a:solidFill>
                <a:effectLst/>
                <a:latin typeface="JetBrains Mono"/>
              </a:rPr>
              <a:t>"address" </a:t>
            </a:r>
            <a:r>
              <a:rPr lang="en-US" sz="1800" dirty="0">
                <a:solidFill>
                  <a:srgbClr val="080808"/>
                </a:solidFill>
                <a:effectLst/>
                <a:latin typeface="JetBrains Mono"/>
              </a:rPr>
              <a:t>: </a:t>
            </a:r>
            <a:r>
              <a:rPr lang="en-US" sz="1800" dirty="0">
                <a:solidFill>
                  <a:srgbClr val="067D17"/>
                </a:solidFill>
                <a:effectLst/>
                <a:latin typeface="JetBrains Mono"/>
              </a:rPr>
              <a:t>"Gotham"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08    </a:t>
            </a:r>
            <a:r>
              <a:rPr lang="en-US" sz="1800" dirty="0">
                <a:solidFill>
                  <a:srgbClr val="080808"/>
                </a:solidFill>
                <a:effectLst/>
                <a:latin typeface="JetBrains Mono"/>
              </a:rPr>
              <a:t>           ]</a:t>
            </a:r>
            <a:br>
              <a:rPr lang="en-US" sz="1800" dirty="0">
                <a:solidFill>
                  <a:srgbClr val="080808"/>
                </a:solidFill>
                <a:effectLst/>
                <a:latin typeface="JetBrains Mono"/>
              </a:rPr>
            </a:br>
            <a:r>
              <a:rPr lang="en-US" sz="1800" b="0" i="0" dirty="0">
                <a:solidFill>
                  <a:srgbClr val="080808"/>
                </a:solidFill>
                <a:effectLst/>
                <a:latin typeface="JetBrains Mono"/>
              </a:rPr>
              <a:t>09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00080"/>
                </a:solidFill>
                <a:effectLst/>
                <a:latin typeface="JetBrains Mono"/>
              </a:rPr>
              <a:t>len</a:t>
            </a:r>
            <a:r>
              <a:rPr lang="en-US" sz="1800" dirty="0">
                <a:solidFill>
                  <a:srgbClr val="080808"/>
                </a:solidFill>
                <a:effectLst/>
                <a:latin typeface="JetBrains Mono"/>
              </a:rPr>
              <a:t>(contacts)) </a:t>
            </a:r>
            <a:r>
              <a:rPr lang="en-US" sz="1800" i="1" dirty="0">
                <a:solidFill>
                  <a:srgbClr val="8C8C8C"/>
                </a:solidFill>
                <a:effectLst/>
                <a:latin typeface="JetBrains Mono"/>
              </a:rPr>
              <a:t># Length of list contacts</a:t>
            </a:r>
            <a:br>
              <a:rPr lang="en-US" sz="1800" i="1" dirty="0">
                <a:solidFill>
                  <a:srgbClr val="8C8C8C"/>
                </a:solidFill>
                <a:effectLst/>
                <a:latin typeface="JetBrains Mono"/>
              </a:rPr>
            </a:br>
            <a:r>
              <a:rPr lang="en-US" sz="1800" b="0" i="0" dirty="0">
                <a:solidFill>
                  <a:srgbClr val="080808"/>
                </a:solidFill>
                <a:effectLst/>
                <a:latin typeface="JetBrains Mono"/>
              </a:rPr>
              <a:t>10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00080"/>
                </a:solidFill>
                <a:effectLst/>
                <a:latin typeface="JetBrains Mono"/>
              </a:rPr>
              <a:t>len</a:t>
            </a:r>
            <a:r>
              <a:rPr lang="en-US" sz="1800" dirty="0">
                <a:solidFill>
                  <a:srgbClr val="080808"/>
                </a:solidFill>
                <a:effectLst/>
                <a:latin typeface="JetBrains Mono"/>
              </a:rPr>
              <a:t>(contacts[</a:t>
            </a:r>
            <a:r>
              <a:rPr lang="en-US" sz="1800" dirty="0">
                <a:solidFill>
                  <a:srgbClr val="1750EB"/>
                </a:solidFill>
                <a:effectLst/>
                <a:latin typeface="JetBrains Mono"/>
              </a:rPr>
              <a:t>0</a:t>
            </a:r>
            <a:r>
              <a:rPr lang="en-US" sz="1800" dirty="0">
                <a:solidFill>
                  <a:srgbClr val="080808"/>
                </a:solidFill>
                <a:effectLst/>
                <a:latin typeface="JetBrains Mono"/>
              </a:rPr>
              <a:t>])) </a:t>
            </a:r>
            <a:r>
              <a:rPr lang="en-US" sz="1800" i="1" dirty="0">
                <a:solidFill>
                  <a:srgbClr val="8C8C8C"/>
                </a:solidFill>
                <a:effectLst/>
                <a:latin typeface="JetBrains Mono"/>
              </a:rPr>
              <a:t># Number of items in dictionary</a:t>
            </a:r>
            <a:br>
              <a:rPr lang="en-US" sz="1800" i="1" dirty="0">
                <a:solidFill>
                  <a:srgbClr val="8C8C8C"/>
                </a:solidFill>
                <a:effectLst/>
                <a:latin typeface="JetBrains Mono"/>
              </a:rPr>
            </a:br>
            <a:r>
              <a:rPr lang="en-US" sz="1800" b="0" i="0" dirty="0">
                <a:solidFill>
                  <a:srgbClr val="080808"/>
                </a:solidFill>
                <a:effectLst/>
                <a:latin typeface="JetBrains Mono"/>
              </a:rPr>
              <a:t>11    </a:t>
            </a:r>
            <a:r>
              <a:rPr lang="en-US" sz="1800" dirty="0">
                <a:solidFill>
                  <a:srgbClr val="000080"/>
                </a:solidFill>
                <a:effectLst/>
                <a:latin typeface="JetBrains Mono"/>
              </a:rPr>
              <a:t>print</a:t>
            </a:r>
            <a:r>
              <a:rPr lang="en-US" sz="1800" dirty="0">
                <a:solidFill>
                  <a:srgbClr val="080808"/>
                </a:solidFill>
                <a:effectLst/>
                <a:latin typeface="JetBrains Mono"/>
              </a:rPr>
              <a:t>(contacts[</a:t>
            </a:r>
            <a:r>
              <a:rPr lang="en-US" sz="1800" dirty="0">
                <a:solidFill>
                  <a:srgbClr val="1750EB"/>
                </a:solidFill>
                <a:effectLst/>
                <a:latin typeface="JetBrains Mono"/>
              </a:rPr>
              <a:t>0</a:t>
            </a:r>
            <a:r>
              <a:rPr lang="en-US" sz="1800" dirty="0">
                <a:solidFill>
                  <a:srgbClr val="080808"/>
                </a:solidFill>
                <a:effectLst/>
                <a:latin typeface="JetBrains Mono"/>
              </a:rPr>
              <a:t>]) </a:t>
            </a:r>
            <a:r>
              <a:rPr lang="en-US" sz="1800" i="1" dirty="0">
                <a:solidFill>
                  <a:srgbClr val="8C8C8C"/>
                </a:solidFill>
                <a:effectLst/>
                <a:latin typeface="JetBrains Mono"/>
              </a:rPr>
              <a:t># dictionary at 0</a:t>
            </a:r>
            <a:br>
              <a:rPr lang="en-US" sz="1800" i="1" dirty="0">
                <a:solidFill>
                  <a:srgbClr val="8C8C8C"/>
                </a:solidFill>
                <a:effectLst/>
                <a:latin typeface="JetBrains Mono"/>
              </a:rPr>
            </a:br>
            <a:r>
              <a:rPr lang="en-US" sz="1800" b="0" i="0" dirty="0">
                <a:solidFill>
                  <a:srgbClr val="080808"/>
                </a:solidFill>
                <a:effectLst/>
                <a:latin typeface="JetBrains Mono"/>
              </a:rPr>
              <a:t>12    </a:t>
            </a:r>
            <a:r>
              <a:rPr lang="en-US" sz="1800" dirty="0">
                <a:solidFill>
                  <a:srgbClr val="000080"/>
                </a:solidFill>
                <a:effectLst/>
                <a:latin typeface="JetBrains Mono"/>
              </a:rPr>
              <a:t>print</a:t>
            </a:r>
            <a:r>
              <a:rPr lang="en-US" sz="1800" dirty="0">
                <a:solidFill>
                  <a:srgbClr val="080808"/>
                </a:solidFill>
                <a:effectLst/>
                <a:latin typeface="JetBrains Mono"/>
              </a:rPr>
              <a:t>(contacts[</a:t>
            </a:r>
            <a:r>
              <a:rPr lang="en-US" sz="1800" dirty="0">
                <a:solidFill>
                  <a:srgbClr val="1750EB"/>
                </a:solidFill>
                <a:effectLst/>
                <a:latin typeface="JetBrains Mono"/>
              </a:rPr>
              <a:t>1</a:t>
            </a:r>
            <a:r>
              <a:rPr lang="en-US" sz="1800" dirty="0">
                <a:solidFill>
                  <a:srgbClr val="080808"/>
                </a:solidFill>
                <a:effectLst/>
                <a:latin typeface="JetBrains Mono"/>
              </a:rPr>
              <a:t>]) </a:t>
            </a:r>
            <a:r>
              <a:rPr lang="en-US" sz="1800" i="1" dirty="0">
                <a:solidFill>
                  <a:srgbClr val="8C8C8C"/>
                </a:solidFill>
                <a:effectLst/>
                <a:latin typeface="JetBrains Mono"/>
              </a:rPr>
              <a:t># dictionary at 1</a:t>
            </a:r>
            <a:endParaRPr lang="en-US" sz="1800" dirty="0">
              <a:solidFill>
                <a:srgbClr val="080808"/>
              </a:solidFill>
              <a:effectLst/>
              <a:latin typeface="JetBrains Mono"/>
            </a:endParaRPr>
          </a:p>
          <a:p>
            <a:r>
              <a:rPr lang="en-CA" dirty="0"/>
              <a:t>In the above case, we are storing repeated dictionaries within a list – that allows us to store sets of values in a predictable way</a:t>
            </a:r>
          </a:p>
          <a:p>
            <a:r>
              <a:rPr lang="en-CA" dirty="0"/>
              <a:t>Output:</a:t>
            </a:r>
          </a:p>
          <a:p>
            <a:pPr marL="228600" lvl="1" indent="0">
              <a:buNone/>
            </a:pPr>
            <a:r>
              <a:rPr lang="en-CA" dirty="0"/>
              <a:t>2</a:t>
            </a:r>
          </a:p>
          <a:p>
            <a:pPr marL="228600" lvl="1" indent="0">
              <a:buNone/>
            </a:pPr>
            <a:r>
              <a:rPr lang="en-CA" dirty="0"/>
              <a:t>3</a:t>
            </a:r>
          </a:p>
          <a:p>
            <a:pPr marL="228600" lvl="1" indent="0">
              <a:buNone/>
            </a:pPr>
            <a:r>
              <a:rPr lang="en-CA" dirty="0"/>
              <a:t>{'name': 'Clark Kent', 'age': 33, 'address': 'Metropolis'}</a:t>
            </a:r>
          </a:p>
          <a:p>
            <a:pPr marL="228600" lvl="1" indent="0">
              <a:buNone/>
            </a:pPr>
            <a:r>
              <a:rPr lang="en-CA" dirty="0"/>
              <a:t>{'name': 'Bruce Wayne', 'age': 'Unknown', 'address': 'Gotham'}</a:t>
            </a:r>
          </a:p>
        </p:txBody>
      </p:sp>
    </p:spTree>
    <p:extLst>
      <p:ext uri="{BB962C8B-B14F-4D97-AF65-F5344CB8AC3E}">
        <p14:creationId xmlns:p14="http://schemas.microsoft.com/office/powerpoint/2010/main" val="504189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152DB0-3C5F-DA4D-983F-45767CC92A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3D8E6-21CD-D7C6-074F-9DF7EF2E8C95}"/>
              </a:ext>
            </a:extLst>
          </p:cNvPr>
          <p:cNvSpPr>
            <a:spLocks noGrp="1"/>
          </p:cNvSpPr>
          <p:nvPr>
            <p:ph type="title"/>
          </p:nvPr>
        </p:nvSpPr>
        <p:spPr/>
        <p:txBody>
          <a:bodyPr vert="horz" lIns="274320" tIns="182880" rIns="274320" bIns="182880" rtlCol="0" anchor="ctr" anchorCtr="1">
            <a:normAutofit/>
          </a:bodyPr>
          <a:lstStyle/>
          <a:p>
            <a:r>
              <a:rPr lang="en-US" dirty="0"/>
              <a:t>NESTED Dictionaries</a:t>
            </a:r>
          </a:p>
        </p:txBody>
      </p:sp>
      <p:sp>
        <p:nvSpPr>
          <p:cNvPr id="5" name="Content Placeholder 4">
            <a:extLst>
              <a:ext uri="{FF2B5EF4-FFF2-40B4-BE49-F238E27FC236}">
                <a16:creationId xmlns:a16="http://schemas.microsoft.com/office/drawing/2014/main" id="{84E2F909-6737-0665-2BFB-E07AF92B8ACD}"/>
              </a:ext>
            </a:extLst>
          </p:cNvPr>
          <p:cNvSpPr>
            <a:spLocks noGrp="1"/>
          </p:cNvSpPr>
          <p:nvPr>
            <p:ph idx="1"/>
          </p:nvPr>
        </p:nvSpPr>
        <p:spPr>
          <a:xfrm>
            <a:off x="1527048" y="2638044"/>
            <a:ext cx="9811512" cy="3101983"/>
          </a:xfrm>
        </p:spPr>
        <p:txBody>
          <a:bodyPr>
            <a:normAutofit fontScale="85000" lnSpcReduction="20000"/>
          </a:bodyPr>
          <a:lstStyle/>
          <a:p>
            <a:pPr>
              <a:buNone/>
            </a:pPr>
            <a:r>
              <a:rPr lang="en-CA" sz="1800" b="0" i="0" dirty="0">
                <a:solidFill>
                  <a:srgbClr val="080808"/>
                </a:solidFill>
                <a:effectLst/>
                <a:latin typeface="JetBrains Mono"/>
              </a:rPr>
              <a:t>	01    </a:t>
            </a:r>
            <a:r>
              <a:rPr lang="en-CA" sz="1800" i="1" dirty="0">
                <a:solidFill>
                  <a:srgbClr val="8C8C8C"/>
                </a:solidFill>
                <a:effectLst/>
                <a:latin typeface="JetBrains Mono"/>
              </a:rPr>
              <a:t># Nested Dictionaries</a:t>
            </a:r>
            <a:br>
              <a:rPr lang="en-CA" sz="1800" i="1" dirty="0">
                <a:solidFill>
                  <a:srgbClr val="8C8C8C"/>
                </a:solidFill>
                <a:effectLst/>
                <a:latin typeface="JetBrains Mono"/>
              </a:rPr>
            </a:br>
            <a:r>
              <a:rPr lang="en-CA" sz="1800" b="0" i="0" dirty="0">
                <a:solidFill>
                  <a:srgbClr val="080808"/>
                </a:solidFill>
                <a:effectLst/>
                <a:latin typeface="JetBrains Mono"/>
              </a:rPr>
              <a:t>02    </a:t>
            </a:r>
            <a:r>
              <a:rPr lang="en-CA" sz="1800" dirty="0">
                <a:solidFill>
                  <a:srgbClr val="080808"/>
                </a:solidFill>
                <a:effectLst/>
                <a:latin typeface="JetBrains Mono"/>
              </a:rPr>
              <a:t>contact =   {</a:t>
            </a:r>
            <a:r>
              <a:rPr lang="en-CA" sz="1800" dirty="0">
                <a:solidFill>
                  <a:srgbClr val="067D17"/>
                </a:solidFill>
                <a:effectLst/>
                <a:latin typeface="JetBrains Mono"/>
              </a:rPr>
              <a:t>"Batman"</a:t>
            </a:r>
            <a:r>
              <a:rPr lang="en-CA" sz="1800" dirty="0">
                <a:solidFill>
                  <a:srgbClr val="080808"/>
                </a:solidFill>
                <a:effectLst/>
                <a:latin typeface="JetBrains Mono"/>
              </a:rPr>
              <a:t>:    {</a:t>
            </a:r>
            <a:br>
              <a:rPr lang="en-CA" sz="1800" dirty="0">
                <a:solidFill>
                  <a:srgbClr val="080808"/>
                </a:solidFill>
                <a:effectLst/>
                <a:latin typeface="JetBrains Mono"/>
              </a:rPr>
            </a:br>
            <a:r>
              <a:rPr lang="en-CA" sz="1800" b="0" i="0" dirty="0">
                <a:solidFill>
                  <a:srgbClr val="080808"/>
                </a:solidFill>
                <a:effectLst/>
                <a:latin typeface="JetBrains Mono"/>
              </a:rPr>
              <a:t>03    </a:t>
            </a:r>
            <a:r>
              <a:rPr lang="en-CA" sz="1800" dirty="0">
                <a:solidFill>
                  <a:srgbClr val="080808"/>
                </a:solidFill>
                <a:effectLst/>
                <a:latin typeface="JetBrains Mono"/>
              </a:rPr>
              <a:t>                            </a:t>
            </a:r>
            <a:r>
              <a:rPr lang="en-CA" sz="1800" dirty="0">
                <a:solidFill>
                  <a:srgbClr val="067D17"/>
                </a:solidFill>
                <a:effectLst/>
                <a:latin typeface="JetBrains Mono"/>
              </a:rPr>
              <a:t>"name" </a:t>
            </a:r>
            <a:r>
              <a:rPr lang="en-CA" sz="1800" dirty="0">
                <a:solidFill>
                  <a:srgbClr val="080808"/>
                </a:solidFill>
                <a:effectLst/>
                <a:latin typeface="JetBrains Mono"/>
              </a:rPr>
              <a:t>: </a:t>
            </a:r>
            <a:r>
              <a:rPr lang="en-CA" sz="1800" dirty="0">
                <a:solidFill>
                  <a:srgbClr val="067D17"/>
                </a:solidFill>
                <a:effectLst/>
                <a:latin typeface="JetBrains Mono"/>
              </a:rPr>
              <a:t>"Bruce Wayne"</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04    </a:t>
            </a:r>
            <a:r>
              <a:rPr lang="en-CA" sz="1800" dirty="0">
                <a:solidFill>
                  <a:srgbClr val="080808"/>
                </a:solidFill>
                <a:effectLst/>
                <a:latin typeface="JetBrains Mono"/>
              </a:rPr>
              <a:t>                            </a:t>
            </a:r>
            <a:r>
              <a:rPr lang="en-CA" sz="1800" dirty="0">
                <a:solidFill>
                  <a:srgbClr val="067D17"/>
                </a:solidFill>
                <a:effectLst/>
                <a:latin typeface="JetBrains Mono"/>
              </a:rPr>
              <a:t>"age"  </a:t>
            </a:r>
            <a:r>
              <a:rPr lang="en-CA" sz="1800" dirty="0">
                <a:solidFill>
                  <a:srgbClr val="080808"/>
                </a:solidFill>
                <a:effectLst/>
                <a:latin typeface="JetBrains Mono"/>
              </a:rPr>
              <a:t>: </a:t>
            </a:r>
            <a:r>
              <a:rPr lang="en-CA" sz="1800" dirty="0">
                <a:solidFill>
                  <a:srgbClr val="067D17"/>
                </a:solidFill>
                <a:effectLst/>
                <a:latin typeface="JetBrains Mono"/>
              </a:rPr>
              <a:t>"Unknown"</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05    </a:t>
            </a:r>
            <a:r>
              <a:rPr lang="en-CA" sz="1800" dirty="0">
                <a:solidFill>
                  <a:srgbClr val="080808"/>
                </a:solidFill>
                <a:effectLst/>
                <a:latin typeface="JetBrains Mono"/>
              </a:rPr>
              <a:t>                            </a:t>
            </a:r>
            <a:r>
              <a:rPr lang="en-CA" sz="1800" dirty="0">
                <a:solidFill>
                  <a:srgbClr val="067D17"/>
                </a:solidFill>
                <a:effectLst/>
                <a:latin typeface="JetBrains Mono"/>
              </a:rPr>
              <a:t>"address" </a:t>
            </a:r>
            <a:r>
              <a:rPr lang="en-CA" sz="1800" dirty="0">
                <a:solidFill>
                  <a:srgbClr val="080808"/>
                </a:solidFill>
                <a:effectLst/>
                <a:latin typeface="JetBrains Mono"/>
              </a:rPr>
              <a:t>: </a:t>
            </a:r>
            <a:r>
              <a:rPr lang="en-CA" sz="1800" dirty="0">
                <a:solidFill>
                  <a:srgbClr val="067D17"/>
                </a:solidFill>
                <a:effectLst/>
                <a:latin typeface="JetBrains Mono"/>
              </a:rPr>
              <a:t>"Gotham"</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06    </a:t>
            </a:r>
            <a:r>
              <a:rPr lang="en-CA" sz="1800" dirty="0">
                <a:solidFill>
                  <a:srgbClr val="080808"/>
                </a:solidFill>
                <a:effectLst/>
                <a:latin typeface="JetBrains Mono"/>
              </a:rPr>
              <a:t>                            </a:t>
            </a:r>
            <a:r>
              <a:rPr lang="en-CA" sz="1800" dirty="0">
                <a:solidFill>
                  <a:srgbClr val="067D17"/>
                </a:solidFill>
                <a:effectLst/>
                <a:latin typeface="JetBrains Mono"/>
              </a:rPr>
              <a:t>"sidekick"</a:t>
            </a:r>
            <a:r>
              <a:rPr lang="en-CA" sz="1800" dirty="0">
                <a:solidFill>
                  <a:srgbClr val="080808"/>
                </a:solidFill>
                <a:effectLst/>
                <a:latin typeface="JetBrains Mono"/>
              </a:rPr>
              <a:t>: {</a:t>
            </a:r>
            <a:r>
              <a:rPr lang="en-CA" sz="1800" dirty="0">
                <a:solidFill>
                  <a:srgbClr val="067D17"/>
                </a:solidFill>
                <a:effectLst/>
                <a:latin typeface="JetBrains Mono"/>
              </a:rPr>
              <a:t>"Robin" </a:t>
            </a:r>
            <a:r>
              <a:rPr lang="en-CA" sz="1800" dirty="0">
                <a:solidFill>
                  <a:srgbClr val="080808"/>
                </a:solidFill>
                <a:effectLst/>
                <a:latin typeface="JetBrains Mono"/>
              </a:rPr>
              <a:t>:   {</a:t>
            </a:r>
            <a:br>
              <a:rPr lang="en-CA" sz="1800" dirty="0">
                <a:solidFill>
                  <a:srgbClr val="080808"/>
                </a:solidFill>
                <a:effectLst/>
                <a:latin typeface="JetBrains Mono"/>
              </a:rPr>
            </a:br>
            <a:r>
              <a:rPr lang="en-CA" sz="1800" b="0" i="0" dirty="0">
                <a:solidFill>
                  <a:srgbClr val="080808"/>
                </a:solidFill>
                <a:effectLst/>
                <a:latin typeface="JetBrains Mono"/>
              </a:rPr>
              <a:t>07    </a:t>
            </a:r>
            <a:r>
              <a:rPr lang="en-CA" sz="1800" dirty="0">
                <a:solidFill>
                  <a:srgbClr val="080808"/>
                </a:solidFill>
                <a:effectLst/>
                <a:latin typeface="JetBrains Mono"/>
              </a:rPr>
              <a:t>                                                        </a:t>
            </a:r>
            <a:r>
              <a:rPr lang="en-CA" sz="1800" dirty="0">
                <a:solidFill>
                  <a:srgbClr val="067D17"/>
                </a:solidFill>
                <a:effectLst/>
                <a:latin typeface="JetBrains Mono"/>
              </a:rPr>
              <a:t>"name" </a:t>
            </a:r>
            <a:r>
              <a:rPr lang="en-CA" sz="1800" dirty="0">
                <a:solidFill>
                  <a:srgbClr val="080808"/>
                </a:solidFill>
                <a:effectLst/>
                <a:latin typeface="JetBrains Mono"/>
              </a:rPr>
              <a:t>: </a:t>
            </a:r>
            <a:r>
              <a:rPr lang="en-CA" sz="1800" dirty="0">
                <a:solidFill>
                  <a:srgbClr val="067D17"/>
                </a:solidFill>
                <a:effectLst/>
                <a:latin typeface="JetBrains Mono"/>
              </a:rPr>
              <a:t>"Richard Grayson"</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08    </a:t>
            </a:r>
            <a:r>
              <a:rPr lang="en-CA" sz="1800" dirty="0">
                <a:solidFill>
                  <a:srgbClr val="080808"/>
                </a:solidFill>
                <a:effectLst/>
                <a:latin typeface="JetBrains Mono"/>
              </a:rPr>
              <a:t>                                                        </a:t>
            </a:r>
            <a:r>
              <a:rPr lang="en-CA" sz="1800" dirty="0">
                <a:solidFill>
                  <a:srgbClr val="067D17"/>
                </a:solidFill>
                <a:effectLst/>
                <a:latin typeface="JetBrains Mono"/>
              </a:rPr>
              <a:t>"age"  </a:t>
            </a:r>
            <a:r>
              <a:rPr lang="en-CA" sz="1800" dirty="0">
                <a:solidFill>
                  <a:srgbClr val="080808"/>
                </a:solidFill>
                <a:effectLst/>
                <a:latin typeface="JetBrains Mono"/>
              </a:rPr>
              <a:t>: </a:t>
            </a:r>
            <a:r>
              <a:rPr lang="en-CA" sz="1800" dirty="0">
                <a:solidFill>
                  <a:srgbClr val="1750EB"/>
                </a:solidFill>
                <a:effectLst/>
                <a:latin typeface="JetBrains Mono"/>
              </a:rPr>
              <a:t>16</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09    </a:t>
            </a:r>
            <a:r>
              <a:rPr lang="en-CA" sz="1800" dirty="0">
                <a:solidFill>
                  <a:srgbClr val="080808"/>
                </a:solidFill>
                <a:effectLst/>
                <a:latin typeface="JetBrains Mono"/>
              </a:rPr>
              <a:t>                                                        </a:t>
            </a:r>
            <a:r>
              <a:rPr lang="en-CA" sz="1800" dirty="0">
                <a:solidFill>
                  <a:srgbClr val="067D17"/>
                </a:solidFill>
                <a:effectLst/>
                <a:latin typeface="JetBrains Mono"/>
              </a:rPr>
              <a:t>"address" </a:t>
            </a:r>
            <a:r>
              <a:rPr lang="en-CA" sz="1800" dirty="0">
                <a:solidFill>
                  <a:srgbClr val="080808"/>
                </a:solidFill>
                <a:effectLst/>
                <a:latin typeface="JetBrains Mono"/>
              </a:rPr>
              <a:t>:</a:t>
            </a:r>
            <a:r>
              <a:rPr lang="en-CA" sz="1800" dirty="0">
                <a:solidFill>
                  <a:srgbClr val="067D17"/>
                </a:solidFill>
                <a:effectLst/>
                <a:latin typeface="JetBrains Mono"/>
              </a:rPr>
              <a:t>"</a:t>
            </a:r>
            <a:r>
              <a:rPr lang="en-CA" sz="1800" dirty="0" err="1">
                <a:solidFill>
                  <a:srgbClr val="067D17"/>
                </a:solidFill>
                <a:effectLst/>
                <a:latin typeface="JetBrains Mono"/>
              </a:rPr>
              <a:t>Bludhaven</a:t>
            </a:r>
            <a:r>
              <a:rPr lang="en-CA" sz="1800" dirty="0">
                <a:solidFill>
                  <a:srgbClr val="067D17"/>
                </a:solidFill>
                <a:effectLst/>
                <a:latin typeface="JetBrains Mono"/>
              </a:rPr>
              <a:t>"</a:t>
            </a:r>
            <a:br>
              <a:rPr lang="en-CA" sz="1800" dirty="0">
                <a:solidFill>
                  <a:srgbClr val="067D17"/>
                </a:solidFill>
                <a:effectLst/>
                <a:latin typeface="JetBrains Mono"/>
              </a:rPr>
            </a:br>
            <a:r>
              <a:rPr lang="en-CA" sz="1800" b="0" i="0" dirty="0">
                <a:solidFill>
                  <a:srgbClr val="080808"/>
                </a:solidFill>
                <a:effectLst/>
                <a:latin typeface="JetBrains Mono"/>
              </a:rPr>
              <a:t>10    </a:t>
            </a:r>
            <a:r>
              <a:rPr lang="en-CA" sz="1800" dirty="0">
                <a:solidFill>
                  <a:srgbClr val="067D17"/>
                </a:solidFill>
                <a:effectLst/>
                <a:latin typeface="JetBrains Mono"/>
              </a:rPr>
              <a:t>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11    </a:t>
            </a:r>
            <a:r>
              <a:rPr lang="en-CA" sz="1800" dirty="0">
                <a:solidFill>
                  <a:srgbClr val="080808"/>
                </a:solidFill>
                <a:effectLst/>
                <a:latin typeface="JetBrains Mono"/>
              </a:rPr>
              <a:t>                                        }</a:t>
            </a:r>
            <a:br>
              <a:rPr lang="en-CA" sz="1800" dirty="0">
                <a:solidFill>
                  <a:srgbClr val="080808"/>
                </a:solidFill>
                <a:effectLst/>
                <a:latin typeface="JetBrains Mono"/>
              </a:rPr>
            </a:br>
            <a:r>
              <a:rPr lang="en-CA" sz="1800" b="0" i="0" dirty="0">
                <a:solidFill>
                  <a:srgbClr val="080808"/>
                </a:solidFill>
                <a:effectLst/>
                <a:latin typeface="JetBrains Mono"/>
              </a:rPr>
              <a:t>12    </a:t>
            </a:r>
            <a:r>
              <a:rPr lang="en-CA" sz="1800" dirty="0">
                <a:solidFill>
                  <a:srgbClr val="080808"/>
                </a:solidFill>
                <a:effectLst/>
                <a:latin typeface="JetBrains Mono"/>
              </a:rPr>
              <a:t>                        }</a:t>
            </a:r>
            <a:br>
              <a:rPr lang="en-CA" sz="1800" dirty="0">
                <a:solidFill>
                  <a:srgbClr val="080808"/>
                </a:solidFill>
                <a:effectLst/>
                <a:latin typeface="JetBrains Mono"/>
              </a:rPr>
            </a:br>
            <a:r>
              <a:rPr lang="en-CA" sz="1800" b="0" i="0" dirty="0">
                <a:solidFill>
                  <a:srgbClr val="080808"/>
                </a:solidFill>
                <a:effectLst/>
                <a:latin typeface="JetBrains Mono"/>
              </a:rPr>
              <a:t>13    </a:t>
            </a:r>
            <a:r>
              <a:rPr lang="en-CA" sz="1800" dirty="0">
                <a:solidFill>
                  <a:srgbClr val="080808"/>
                </a:solidFill>
                <a:effectLst/>
                <a:latin typeface="JetBrains Mono"/>
              </a:rPr>
              <a:t>            }</a:t>
            </a:r>
            <a:br>
              <a:rPr lang="en-CA" sz="1800" dirty="0">
                <a:solidFill>
                  <a:srgbClr val="080808"/>
                </a:solidFill>
                <a:effectLst/>
                <a:latin typeface="JetBrains Mono"/>
              </a:rPr>
            </a:br>
            <a:r>
              <a:rPr lang="en-CA" sz="1800" b="0" i="0" dirty="0">
                <a:solidFill>
                  <a:srgbClr val="080808"/>
                </a:solidFill>
                <a:effectLst/>
                <a:latin typeface="JetBrains Mono"/>
              </a:rPr>
              <a:t>14    </a:t>
            </a:r>
            <a:r>
              <a:rPr lang="en-CA" sz="1800" i="1" dirty="0">
                <a:solidFill>
                  <a:srgbClr val="8C8C8C"/>
                </a:solidFill>
                <a:effectLst/>
                <a:latin typeface="JetBrains Mono"/>
              </a:rPr>
              <a:t># Resolve each key in precedence from left to right like lists</a:t>
            </a:r>
            <a:br>
              <a:rPr lang="en-CA" sz="1800" i="1" dirty="0">
                <a:solidFill>
                  <a:srgbClr val="8C8C8C"/>
                </a:solidFill>
                <a:effectLst/>
                <a:latin typeface="JetBrains Mono"/>
              </a:rPr>
            </a:br>
            <a:r>
              <a:rPr lang="en-CA" sz="1800" b="0" i="0" dirty="0">
                <a:solidFill>
                  <a:srgbClr val="080808"/>
                </a:solidFill>
                <a:effectLst/>
                <a:latin typeface="JetBrains Mono"/>
              </a:rPr>
              <a:t>15    </a:t>
            </a:r>
            <a:r>
              <a:rPr lang="en-CA" sz="1800" dirty="0">
                <a:solidFill>
                  <a:srgbClr val="000080"/>
                </a:solidFill>
                <a:effectLst/>
                <a:latin typeface="JetBrains Mono"/>
              </a:rPr>
              <a:t>print</a:t>
            </a:r>
            <a:r>
              <a:rPr lang="en-CA" sz="1800" dirty="0">
                <a:solidFill>
                  <a:srgbClr val="080808"/>
                </a:solidFill>
                <a:effectLst/>
                <a:latin typeface="JetBrains Mono"/>
              </a:rPr>
              <a:t>(contact[</a:t>
            </a:r>
            <a:r>
              <a:rPr lang="en-CA" sz="1800" dirty="0">
                <a:solidFill>
                  <a:srgbClr val="067D17"/>
                </a:solidFill>
                <a:effectLst/>
                <a:latin typeface="JetBrains Mono"/>
              </a:rPr>
              <a:t>"Batman"</a:t>
            </a:r>
            <a:r>
              <a:rPr lang="en-CA" sz="1800" dirty="0">
                <a:solidFill>
                  <a:srgbClr val="080808"/>
                </a:solidFill>
                <a:effectLst/>
                <a:latin typeface="JetBrains Mono"/>
              </a:rPr>
              <a:t>][</a:t>
            </a:r>
            <a:r>
              <a:rPr lang="en-CA" sz="1800" dirty="0">
                <a:solidFill>
                  <a:srgbClr val="067D17"/>
                </a:solidFill>
                <a:effectLst/>
                <a:latin typeface="JetBrains Mono"/>
              </a:rPr>
              <a:t>"sidekick"</a:t>
            </a:r>
            <a:r>
              <a:rPr lang="en-CA" sz="1800" dirty="0">
                <a:solidFill>
                  <a:srgbClr val="080808"/>
                </a:solidFill>
                <a:effectLst/>
                <a:latin typeface="JetBrains Mono"/>
              </a:rPr>
              <a:t>]) </a:t>
            </a:r>
            <a:r>
              <a:rPr lang="en-CA" sz="1800" i="1" dirty="0">
                <a:solidFill>
                  <a:srgbClr val="8C8C8C"/>
                </a:solidFill>
                <a:effectLst/>
                <a:latin typeface="JetBrains Mono"/>
              </a:rPr>
              <a:t># {'Robin': {'name': 'Richard Grayson', 'age': 16, 'address': '</a:t>
            </a:r>
            <a:r>
              <a:rPr lang="en-CA" sz="1800" i="1" dirty="0" err="1">
                <a:solidFill>
                  <a:srgbClr val="8C8C8C"/>
                </a:solidFill>
                <a:effectLst/>
                <a:latin typeface="JetBrains Mono"/>
              </a:rPr>
              <a:t>Bludhaven</a:t>
            </a:r>
            <a:r>
              <a:rPr lang="en-CA" sz="1800" i="1" dirty="0">
                <a:solidFill>
                  <a:srgbClr val="8C8C8C"/>
                </a:solidFill>
                <a:effectLst/>
                <a:latin typeface="JetBrains Mono"/>
              </a:rPr>
              <a:t>'}}</a:t>
            </a:r>
            <a:br>
              <a:rPr lang="en-CA" sz="1800" i="1" dirty="0">
                <a:solidFill>
                  <a:srgbClr val="8C8C8C"/>
                </a:solidFill>
                <a:effectLst/>
                <a:latin typeface="JetBrains Mono"/>
              </a:rPr>
            </a:br>
            <a:r>
              <a:rPr lang="en-CA" sz="1800" b="0" i="0" dirty="0">
                <a:solidFill>
                  <a:srgbClr val="080808"/>
                </a:solidFill>
                <a:effectLst/>
                <a:latin typeface="JetBrains Mono"/>
              </a:rPr>
              <a:t>16    </a:t>
            </a:r>
            <a:r>
              <a:rPr lang="en-CA" sz="1800" dirty="0">
                <a:solidFill>
                  <a:srgbClr val="000080"/>
                </a:solidFill>
                <a:effectLst/>
                <a:latin typeface="JetBrains Mono"/>
              </a:rPr>
              <a:t>print</a:t>
            </a:r>
            <a:r>
              <a:rPr lang="en-CA" sz="1800" dirty="0">
                <a:solidFill>
                  <a:srgbClr val="080808"/>
                </a:solidFill>
                <a:effectLst/>
                <a:latin typeface="JetBrains Mono"/>
              </a:rPr>
              <a:t>(contact[</a:t>
            </a:r>
            <a:r>
              <a:rPr lang="en-CA" sz="1800" dirty="0">
                <a:solidFill>
                  <a:srgbClr val="067D17"/>
                </a:solidFill>
                <a:effectLst/>
                <a:latin typeface="JetBrains Mono"/>
              </a:rPr>
              <a:t>"Batman"</a:t>
            </a:r>
            <a:r>
              <a:rPr lang="en-CA" sz="1800" dirty="0">
                <a:solidFill>
                  <a:srgbClr val="080808"/>
                </a:solidFill>
                <a:effectLst/>
                <a:latin typeface="JetBrains Mono"/>
              </a:rPr>
              <a:t>][</a:t>
            </a:r>
            <a:r>
              <a:rPr lang="en-CA" sz="1800" dirty="0">
                <a:solidFill>
                  <a:srgbClr val="067D17"/>
                </a:solidFill>
                <a:effectLst/>
                <a:latin typeface="JetBrains Mono"/>
              </a:rPr>
              <a:t>"sidekick"</a:t>
            </a:r>
            <a:r>
              <a:rPr lang="en-CA" sz="1800" dirty="0">
                <a:solidFill>
                  <a:srgbClr val="080808"/>
                </a:solidFill>
                <a:effectLst/>
                <a:latin typeface="JetBrains Mono"/>
              </a:rPr>
              <a:t>][</a:t>
            </a:r>
            <a:r>
              <a:rPr lang="en-CA" sz="1800" dirty="0">
                <a:solidFill>
                  <a:srgbClr val="067D17"/>
                </a:solidFill>
                <a:effectLst/>
                <a:latin typeface="JetBrains Mono"/>
              </a:rPr>
              <a:t>"Robin"</a:t>
            </a:r>
            <a:r>
              <a:rPr lang="en-CA" sz="1800" dirty="0">
                <a:solidFill>
                  <a:srgbClr val="080808"/>
                </a:solidFill>
                <a:effectLst/>
                <a:latin typeface="JetBrains Mono"/>
              </a:rPr>
              <a:t>][</a:t>
            </a:r>
            <a:r>
              <a:rPr lang="en-CA" sz="1800" dirty="0">
                <a:solidFill>
                  <a:srgbClr val="067D17"/>
                </a:solidFill>
                <a:effectLst/>
                <a:latin typeface="JetBrains Mono"/>
              </a:rPr>
              <a:t>"name"</a:t>
            </a:r>
            <a:r>
              <a:rPr lang="en-CA" sz="1800" dirty="0">
                <a:solidFill>
                  <a:srgbClr val="080808"/>
                </a:solidFill>
                <a:effectLst/>
                <a:latin typeface="JetBrains Mono"/>
              </a:rPr>
              <a:t>]) </a:t>
            </a:r>
            <a:r>
              <a:rPr lang="en-CA" sz="1800" i="1" dirty="0">
                <a:solidFill>
                  <a:srgbClr val="8C8C8C"/>
                </a:solidFill>
                <a:effectLst/>
                <a:latin typeface="JetBrains Mono"/>
              </a:rPr>
              <a:t>#Richard Grayson</a:t>
            </a:r>
            <a:endParaRPr lang="en-CA" sz="1800" dirty="0">
              <a:solidFill>
                <a:srgbClr val="080808"/>
              </a:solidFill>
              <a:effectLst/>
              <a:latin typeface="JetBrains Mono"/>
            </a:endParaRPr>
          </a:p>
        </p:txBody>
      </p:sp>
    </p:spTree>
    <p:extLst>
      <p:ext uri="{BB962C8B-B14F-4D97-AF65-F5344CB8AC3E}">
        <p14:creationId xmlns:p14="http://schemas.microsoft.com/office/powerpoint/2010/main" val="682313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E71FEA-AC7B-E1A5-9912-CCC05ED9AC5C}"/>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Adding or Modifying Elements</a:t>
            </a:r>
          </a:p>
        </p:txBody>
      </p:sp>
      <p:sp>
        <p:nvSpPr>
          <p:cNvPr id="3" name="Content Placeholder 2">
            <a:extLst>
              <a:ext uri="{FF2B5EF4-FFF2-40B4-BE49-F238E27FC236}">
                <a16:creationId xmlns:a16="http://schemas.microsoft.com/office/drawing/2014/main" id="{0D711854-3F24-4103-4C37-56C1688AA450}"/>
              </a:ext>
            </a:extLst>
          </p:cNvPr>
          <p:cNvSpPr>
            <a:spLocks noGrp="1"/>
          </p:cNvSpPr>
          <p:nvPr>
            <p:ph idx="1"/>
          </p:nvPr>
        </p:nvSpPr>
        <p:spPr>
          <a:xfrm>
            <a:off x="643468" y="2638044"/>
            <a:ext cx="3363974" cy="3415622"/>
          </a:xfrm>
        </p:spPr>
        <p:txBody>
          <a:bodyPr>
            <a:normAutofit/>
          </a:bodyPr>
          <a:lstStyle/>
          <a:p>
            <a:r>
              <a:rPr lang="en-US" dirty="0">
                <a:solidFill>
                  <a:schemeClr val="bg1"/>
                </a:solidFill>
              </a:rPr>
              <a:t>Change the value associated with a particular key</a:t>
            </a:r>
          </a:p>
          <a:p>
            <a:pPr lvl="1"/>
            <a:r>
              <a:rPr lang="en-US" dirty="0">
                <a:solidFill>
                  <a:schemeClr val="bg1"/>
                </a:solidFill>
              </a:rPr>
              <a:t>Use the [ ] square brackets</a:t>
            </a:r>
          </a:p>
          <a:p>
            <a:r>
              <a:rPr lang="en-US" dirty="0">
                <a:solidFill>
                  <a:schemeClr val="bg1"/>
                </a:solidFill>
              </a:rPr>
              <a:t>Add a new key-value pair by assigning a value to a new key</a:t>
            </a:r>
          </a:p>
          <a:p>
            <a:pPr lvl="1"/>
            <a:r>
              <a:rPr lang="en-US" dirty="0">
                <a:solidFill>
                  <a:schemeClr val="bg1"/>
                </a:solidFill>
              </a:rPr>
              <a:t>Use the square brackets [ ] with existing key</a:t>
            </a:r>
          </a:p>
          <a:p>
            <a:r>
              <a:rPr lang="en-US" dirty="0">
                <a:solidFill>
                  <a:schemeClr val="bg1"/>
                </a:solidFill>
              </a:rPr>
              <a:t>Removing a key-value pair</a:t>
            </a:r>
          </a:p>
          <a:p>
            <a:pPr lvl="1"/>
            <a:r>
              <a:rPr lang="en-US" dirty="0">
                <a:solidFill>
                  <a:schemeClr val="bg1"/>
                </a:solidFill>
              </a:rPr>
              <a:t>Use del or .pop</a:t>
            </a:r>
          </a:p>
        </p:txBody>
      </p:sp>
      <p:sp>
        <p:nvSpPr>
          <p:cNvPr id="12" name="TextBox 11">
            <a:extLst>
              <a:ext uri="{FF2B5EF4-FFF2-40B4-BE49-F238E27FC236}">
                <a16:creationId xmlns:a16="http://schemas.microsoft.com/office/drawing/2014/main" id="{081CA567-CE59-B47F-D0B7-6D4A53BB4357}"/>
              </a:ext>
            </a:extLst>
          </p:cNvPr>
          <p:cNvSpPr txBox="1"/>
          <p:nvPr/>
        </p:nvSpPr>
        <p:spPr>
          <a:xfrm>
            <a:off x="4805170" y="2151727"/>
            <a:ext cx="7437120" cy="2554545"/>
          </a:xfrm>
          <a:prstGeom prst="rect">
            <a:avLst/>
          </a:prstGeom>
          <a:noFill/>
        </p:spPr>
        <p:txBody>
          <a:bodyPr wrap="square" rtlCol="0">
            <a:spAutoFit/>
          </a:bodyPr>
          <a:lstStyle/>
          <a:p>
            <a:pPr>
              <a:buNone/>
            </a:pPr>
            <a:r>
              <a:rPr lang="en-US" sz="1600" b="0" i="0" dirty="0">
                <a:solidFill>
                  <a:srgbClr val="080808"/>
                </a:solidFill>
                <a:effectLst/>
                <a:latin typeface="JetBrains Mono"/>
              </a:rPr>
              <a:t>1    </a:t>
            </a:r>
            <a:r>
              <a:rPr lang="en-US" sz="1600" i="1" dirty="0">
                <a:solidFill>
                  <a:srgbClr val="8C8C8C"/>
                </a:solidFill>
                <a:effectLst/>
                <a:latin typeface="JetBrains Mono"/>
              </a:rPr>
              <a:t># .pop method on dictionary</a:t>
            </a:r>
            <a:br>
              <a:rPr lang="en-US" sz="1600" i="1" dirty="0">
                <a:solidFill>
                  <a:srgbClr val="8C8C8C"/>
                </a:solidFill>
                <a:effectLst/>
                <a:latin typeface="JetBrains Mono"/>
              </a:rPr>
            </a:br>
            <a:r>
              <a:rPr lang="en-US" sz="1600" b="0" i="0" dirty="0">
                <a:solidFill>
                  <a:srgbClr val="080808"/>
                </a:solidFill>
                <a:effectLst/>
                <a:latin typeface="JetBrains Mono"/>
              </a:rPr>
              <a:t>2    </a:t>
            </a:r>
            <a:r>
              <a:rPr lang="en-US" sz="1600" dirty="0">
                <a:solidFill>
                  <a:srgbClr val="080808"/>
                </a:solidFill>
                <a:effectLst/>
                <a:latin typeface="JetBrains Mono"/>
              </a:rPr>
              <a:t>hero_1 = {</a:t>
            </a:r>
            <a:r>
              <a:rPr lang="en-US" sz="1600" dirty="0">
                <a:solidFill>
                  <a:srgbClr val="067D17"/>
                </a:solidFill>
                <a:effectLst/>
                <a:latin typeface="JetBrains Mono"/>
              </a:rPr>
              <a:t>"name"    </a:t>
            </a:r>
            <a:r>
              <a:rPr lang="en-US" sz="1600" dirty="0">
                <a:solidFill>
                  <a:srgbClr val="080808"/>
                </a:solidFill>
                <a:effectLst/>
                <a:latin typeface="JetBrains Mono"/>
              </a:rPr>
              <a:t>: </a:t>
            </a:r>
            <a:r>
              <a:rPr lang="en-US" sz="1600" dirty="0">
                <a:solidFill>
                  <a:srgbClr val="067D17"/>
                </a:solidFill>
                <a:effectLst/>
                <a:latin typeface="JetBrains Mono"/>
              </a:rPr>
              <a:t>"Clark Kent"</a:t>
            </a:r>
            <a:r>
              <a:rPr lang="en-US" sz="1600" dirty="0">
                <a:solidFill>
                  <a:srgbClr val="080808"/>
                </a:solidFill>
                <a:effectLst/>
                <a:latin typeface="JetBrains Mono"/>
              </a:rPr>
              <a:t>,</a:t>
            </a:r>
            <a:br>
              <a:rPr lang="en-US" sz="1600" dirty="0">
                <a:solidFill>
                  <a:srgbClr val="080808"/>
                </a:solidFill>
                <a:effectLst/>
                <a:latin typeface="JetBrains Mono"/>
              </a:rPr>
            </a:br>
            <a:r>
              <a:rPr lang="en-US" sz="1600" b="0" i="0" dirty="0">
                <a:solidFill>
                  <a:srgbClr val="080808"/>
                </a:solidFill>
                <a:effectLst/>
                <a:latin typeface="JetBrains Mono"/>
              </a:rPr>
              <a:t>3    </a:t>
            </a:r>
            <a:r>
              <a:rPr lang="en-US" sz="1600" dirty="0">
                <a:solidFill>
                  <a:srgbClr val="080808"/>
                </a:solidFill>
                <a:effectLst/>
                <a:latin typeface="JetBrains Mono"/>
              </a:rPr>
              <a:t>            </a:t>
            </a:r>
            <a:r>
              <a:rPr lang="en-US" sz="1600" dirty="0">
                <a:solidFill>
                  <a:srgbClr val="067D17"/>
                </a:solidFill>
                <a:effectLst/>
                <a:latin typeface="JetBrains Mono"/>
              </a:rPr>
              <a:t>"age"   </a:t>
            </a:r>
            <a:r>
              <a:rPr lang="en-US" sz="1600" dirty="0">
                <a:solidFill>
                  <a:srgbClr val="080808"/>
                </a:solidFill>
                <a:effectLst/>
                <a:latin typeface="JetBrains Mono"/>
              </a:rPr>
              <a:t>: </a:t>
            </a:r>
            <a:r>
              <a:rPr lang="en-US" sz="1600" dirty="0">
                <a:solidFill>
                  <a:srgbClr val="1750EB"/>
                </a:solidFill>
                <a:effectLst/>
                <a:latin typeface="JetBrains Mono"/>
              </a:rPr>
              <a:t>33</a:t>
            </a:r>
            <a:r>
              <a:rPr lang="en-US" sz="1600" dirty="0">
                <a:solidFill>
                  <a:srgbClr val="080808"/>
                </a:solidFill>
                <a:effectLst/>
                <a:latin typeface="JetBrains Mono"/>
              </a:rPr>
              <a:t>,</a:t>
            </a:r>
            <a:br>
              <a:rPr lang="en-US" sz="1600" dirty="0">
                <a:solidFill>
                  <a:srgbClr val="080808"/>
                </a:solidFill>
                <a:effectLst/>
                <a:latin typeface="JetBrains Mono"/>
              </a:rPr>
            </a:br>
            <a:r>
              <a:rPr lang="en-US" sz="1600" b="0" i="0" dirty="0">
                <a:solidFill>
                  <a:srgbClr val="080808"/>
                </a:solidFill>
                <a:effectLst/>
                <a:latin typeface="JetBrains Mono"/>
              </a:rPr>
              <a:t>4    </a:t>
            </a:r>
            <a:r>
              <a:rPr lang="en-US" sz="1600" dirty="0">
                <a:solidFill>
                  <a:srgbClr val="080808"/>
                </a:solidFill>
                <a:effectLst/>
                <a:latin typeface="JetBrains Mono"/>
              </a:rPr>
              <a:t>            </a:t>
            </a:r>
            <a:r>
              <a:rPr lang="en-US" sz="1600" dirty="0">
                <a:solidFill>
                  <a:srgbClr val="067D17"/>
                </a:solidFill>
                <a:effectLst/>
                <a:latin typeface="JetBrains Mono"/>
              </a:rPr>
              <a:t>"address" </a:t>
            </a:r>
            <a:r>
              <a:rPr lang="en-US" sz="1600" dirty="0">
                <a:solidFill>
                  <a:srgbClr val="080808"/>
                </a:solidFill>
                <a:effectLst/>
                <a:latin typeface="JetBrains Mono"/>
              </a:rPr>
              <a:t>: </a:t>
            </a:r>
            <a:r>
              <a:rPr lang="en-US" sz="1600" dirty="0">
                <a:solidFill>
                  <a:srgbClr val="067D17"/>
                </a:solidFill>
                <a:effectLst/>
                <a:latin typeface="JetBrains Mono"/>
              </a:rPr>
              <a:t>"Metropolis"</a:t>
            </a:r>
            <a:r>
              <a:rPr lang="en-US" sz="1600" dirty="0">
                <a:solidFill>
                  <a:srgbClr val="080808"/>
                </a:solidFill>
                <a:effectLst/>
                <a:latin typeface="JetBrains Mono"/>
              </a:rPr>
              <a:t>,</a:t>
            </a:r>
            <a:br>
              <a:rPr lang="en-US" sz="1600" dirty="0">
                <a:solidFill>
                  <a:srgbClr val="080808"/>
                </a:solidFill>
                <a:effectLst/>
                <a:latin typeface="JetBrains Mono"/>
              </a:rPr>
            </a:br>
            <a:r>
              <a:rPr lang="en-US" sz="1600" b="0" i="0" dirty="0">
                <a:solidFill>
                  <a:srgbClr val="080808"/>
                </a:solidFill>
                <a:effectLst/>
                <a:latin typeface="JetBrains Mono"/>
              </a:rPr>
              <a:t>5    </a:t>
            </a:r>
            <a:r>
              <a:rPr lang="en-US" sz="1600" dirty="0">
                <a:solidFill>
                  <a:srgbClr val="080808"/>
                </a:solidFill>
                <a:effectLst/>
                <a:latin typeface="JetBrains Mono"/>
              </a:rPr>
              <a:t>            </a:t>
            </a:r>
            <a:r>
              <a:rPr lang="en-US" sz="1600" dirty="0">
                <a:solidFill>
                  <a:srgbClr val="067D17"/>
                </a:solidFill>
                <a:effectLst/>
                <a:latin typeface="JetBrains Mono"/>
              </a:rPr>
              <a:t>"email" </a:t>
            </a:r>
            <a:r>
              <a:rPr lang="en-US" sz="1600" dirty="0">
                <a:solidFill>
                  <a:srgbClr val="080808"/>
                </a:solidFill>
                <a:effectLst/>
                <a:latin typeface="JetBrains Mono"/>
              </a:rPr>
              <a:t>: </a:t>
            </a:r>
            <a:r>
              <a:rPr lang="en-US" sz="1600" dirty="0">
                <a:solidFill>
                  <a:srgbClr val="067D17"/>
                </a:solidFill>
                <a:effectLst/>
                <a:latin typeface="JetBrains Mono"/>
              </a:rPr>
              <a:t>"ckent@dailyplanet.com"</a:t>
            </a:r>
            <a:r>
              <a:rPr lang="en-US" sz="1600" dirty="0">
                <a:solidFill>
                  <a:srgbClr val="080808"/>
                </a:solidFill>
                <a:effectLst/>
                <a:latin typeface="JetBrains Mono"/>
              </a:rPr>
              <a:t>}</a:t>
            </a:r>
            <a:br>
              <a:rPr lang="en-US" sz="1600" dirty="0">
                <a:solidFill>
                  <a:srgbClr val="080808"/>
                </a:solidFill>
                <a:effectLst/>
                <a:latin typeface="JetBrains Mono"/>
              </a:rPr>
            </a:br>
            <a:r>
              <a:rPr lang="en-US" sz="1600" b="0" i="0" dirty="0">
                <a:solidFill>
                  <a:srgbClr val="080808"/>
                </a:solidFill>
                <a:effectLst/>
                <a:latin typeface="JetBrains Mono"/>
              </a:rPr>
              <a:t>6    </a:t>
            </a:r>
            <a:r>
              <a:rPr lang="en-US" sz="1600" dirty="0">
                <a:solidFill>
                  <a:srgbClr val="080808"/>
                </a:solidFill>
                <a:effectLst/>
                <a:latin typeface="JetBrains Mono"/>
              </a:rPr>
              <a:t>age = hero_1.pop(</a:t>
            </a:r>
            <a:r>
              <a:rPr lang="en-US" sz="1600" dirty="0">
                <a:solidFill>
                  <a:srgbClr val="067D17"/>
                </a:solidFill>
                <a:effectLst/>
                <a:latin typeface="JetBrains Mono"/>
              </a:rPr>
              <a:t>"age"</a:t>
            </a:r>
            <a:r>
              <a:rPr lang="en-US" sz="1600" dirty="0">
                <a:solidFill>
                  <a:srgbClr val="080808"/>
                </a:solidFill>
                <a:effectLst/>
                <a:latin typeface="JetBrains Mono"/>
              </a:rPr>
              <a:t>) </a:t>
            </a:r>
            <a:r>
              <a:rPr lang="en-US" sz="1600" i="1" dirty="0">
                <a:solidFill>
                  <a:srgbClr val="8C8C8C"/>
                </a:solidFill>
                <a:effectLst/>
                <a:latin typeface="JetBrains Mono"/>
              </a:rPr>
              <a:t>#get the value for age and remove </a:t>
            </a:r>
            <a:r>
              <a:rPr lang="en-US" sz="1600" i="1" dirty="0" err="1">
                <a:solidFill>
                  <a:srgbClr val="8C8C8C"/>
                </a:solidFill>
                <a:effectLst/>
                <a:latin typeface="JetBrains Mono"/>
              </a:rPr>
              <a:t>key:value</a:t>
            </a:r>
            <a:r>
              <a:rPr lang="en-US" sz="1600" i="1" dirty="0">
                <a:solidFill>
                  <a:srgbClr val="8C8C8C"/>
                </a:solidFill>
                <a:effectLst/>
                <a:latin typeface="JetBrains Mono"/>
              </a:rPr>
              <a:t> pair</a:t>
            </a:r>
            <a:br>
              <a:rPr lang="en-US" sz="1600" i="1" dirty="0">
                <a:solidFill>
                  <a:srgbClr val="8C8C8C"/>
                </a:solidFill>
                <a:effectLst/>
                <a:latin typeface="JetBrains Mono"/>
              </a:rPr>
            </a:br>
            <a:r>
              <a:rPr lang="en-US" sz="1600" b="0" i="0" dirty="0">
                <a:solidFill>
                  <a:srgbClr val="080808"/>
                </a:solidFill>
                <a:effectLst/>
                <a:latin typeface="JetBrains Mono"/>
              </a:rPr>
              <a:t>7    </a:t>
            </a:r>
            <a:r>
              <a:rPr lang="en-US" sz="1600" dirty="0">
                <a:solidFill>
                  <a:srgbClr val="000080"/>
                </a:solidFill>
                <a:effectLst/>
                <a:latin typeface="JetBrains Mono"/>
              </a:rPr>
              <a:t>print</a:t>
            </a:r>
            <a:r>
              <a:rPr lang="en-US" sz="1600" dirty="0">
                <a:solidFill>
                  <a:srgbClr val="080808"/>
                </a:solidFill>
                <a:effectLst/>
                <a:latin typeface="JetBrains Mono"/>
              </a:rPr>
              <a:t>(age)  </a:t>
            </a:r>
            <a:r>
              <a:rPr lang="en-US" sz="1600" i="1" dirty="0">
                <a:solidFill>
                  <a:srgbClr val="8C8C8C"/>
                </a:solidFill>
                <a:effectLst/>
                <a:latin typeface="JetBrains Mono"/>
              </a:rPr>
              <a:t># 33</a:t>
            </a:r>
            <a:br>
              <a:rPr lang="en-US" sz="1600" i="1" dirty="0">
                <a:solidFill>
                  <a:srgbClr val="8C8C8C"/>
                </a:solidFill>
                <a:effectLst/>
                <a:latin typeface="JetBrains Mono"/>
              </a:rPr>
            </a:br>
            <a:r>
              <a:rPr lang="en-US" sz="1600" b="0" i="0" dirty="0">
                <a:solidFill>
                  <a:srgbClr val="080808"/>
                </a:solidFill>
                <a:effectLst/>
                <a:latin typeface="JetBrains Mono"/>
              </a:rPr>
              <a:t>8    </a:t>
            </a:r>
            <a:r>
              <a:rPr lang="en-US" sz="1600" dirty="0">
                <a:solidFill>
                  <a:srgbClr val="0033B3"/>
                </a:solidFill>
                <a:effectLst/>
                <a:latin typeface="JetBrains Mono"/>
              </a:rPr>
              <a:t>del </a:t>
            </a:r>
            <a:r>
              <a:rPr lang="en-US" sz="1600" dirty="0">
                <a:solidFill>
                  <a:srgbClr val="080808"/>
                </a:solidFill>
                <a:effectLst/>
                <a:latin typeface="JetBrains Mono"/>
              </a:rPr>
              <a:t>hero_1[</a:t>
            </a:r>
            <a:r>
              <a:rPr lang="en-US" sz="1600" dirty="0">
                <a:solidFill>
                  <a:srgbClr val="067D17"/>
                </a:solidFill>
                <a:effectLst/>
                <a:latin typeface="JetBrains Mono"/>
              </a:rPr>
              <a:t>"address"</a:t>
            </a:r>
            <a:r>
              <a:rPr lang="en-US" sz="1600" dirty="0">
                <a:solidFill>
                  <a:srgbClr val="080808"/>
                </a:solidFill>
                <a:effectLst/>
                <a:latin typeface="JetBrains Mono"/>
              </a:rPr>
              <a:t>]</a:t>
            </a:r>
            <a:br>
              <a:rPr lang="en-US" sz="1600" dirty="0">
                <a:solidFill>
                  <a:srgbClr val="080808"/>
                </a:solidFill>
                <a:effectLst/>
                <a:latin typeface="JetBrains Mono"/>
              </a:rPr>
            </a:br>
            <a:r>
              <a:rPr lang="en-US" sz="1600" b="0" i="0" dirty="0">
                <a:solidFill>
                  <a:srgbClr val="080808"/>
                </a:solidFill>
                <a:effectLst/>
                <a:latin typeface="JetBrains Mono"/>
              </a:rPr>
              <a:t>9    </a:t>
            </a:r>
            <a:r>
              <a:rPr lang="en-US" sz="1600" dirty="0">
                <a:solidFill>
                  <a:srgbClr val="000080"/>
                </a:solidFill>
                <a:effectLst/>
                <a:latin typeface="JetBrains Mono"/>
              </a:rPr>
              <a:t>print</a:t>
            </a:r>
            <a:r>
              <a:rPr lang="en-US" sz="1600" dirty="0">
                <a:solidFill>
                  <a:srgbClr val="080808"/>
                </a:solidFill>
                <a:effectLst/>
                <a:latin typeface="JetBrains Mono"/>
              </a:rPr>
              <a:t>(hero_1) </a:t>
            </a:r>
            <a:r>
              <a:rPr lang="en-US" sz="1600" i="1" dirty="0">
                <a:solidFill>
                  <a:srgbClr val="8C8C8C"/>
                </a:solidFill>
                <a:effectLst/>
                <a:latin typeface="JetBrains Mono"/>
              </a:rPr>
              <a:t># {'name': 'Clark Kent', 'email': 'ckent@dailyplanet.com'}</a:t>
            </a:r>
            <a:endParaRPr lang="en-US" sz="1600" dirty="0">
              <a:solidFill>
                <a:srgbClr val="080808"/>
              </a:solidFill>
              <a:effectLst/>
              <a:latin typeface="JetBrains Mono"/>
            </a:endParaRPr>
          </a:p>
          <a:p>
            <a:endParaRPr lang="en-CA" sz="1600" dirty="0"/>
          </a:p>
        </p:txBody>
      </p:sp>
    </p:spTree>
    <p:extLst>
      <p:ext uri="{BB962C8B-B14F-4D97-AF65-F5344CB8AC3E}">
        <p14:creationId xmlns:p14="http://schemas.microsoft.com/office/powerpoint/2010/main" val="59921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348B85-D8E1-AA94-4585-A9BC811FB154}"/>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A Note on .Pop</a:t>
            </a:r>
          </a:p>
        </p:txBody>
      </p:sp>
      <p:sp>
        <p:nvSpPr>
          <p:cNvPr id="3" name="Content Placeholder 2">
            <a:extLst>
              <a:ext uri="{FF2B5EF4-FFF2-40B4-BE49-F238E27FC236}">
                <a16:creationId xmlns:a16="http://schemas.microsoft.com/office/drawing/2014/main" id="{F165A7CE-1318-5373-5682-366FA6D81582}"/>
              </a:ext>
            </a:extLst>
          </p:cNvPr>
          <p:cNvSpPr>
            <a:spLocks noGrp="1"/>
          </p:cNvSpPr>
          <p:nvPr>
            <p:ph idx="1"/>
          </p:nvPr>
        </p:nvSpPr>
        <p:spPr>
          <a:xfrm>
            <a:off x="643468" y="2638044"/>
            <a:ext cx="3363974" cy="3415622"/>
          </a:xfrm>
        </p:spPr>
        <p:txBody>
          <a:bodyPr>
            <a:normAutofit/>
          </a:bodyPr>
          <a:lstStyle/>
          <a:p>
            <a:r>
              <a:rPr lang="en-US" dirty="0">
                <a:solidFill>
                  <a:schemeClr val="bg1"/>
                </a:solidFill>
              </a:rPr>
              <a:t>It returns the value associated with the provided key (it also removes the key-value pair)</a:t>
            </a:r>
          </a:p>
          <a:p>
            <a:r>
              <a:rPr lang="en-US" dirty="0">
                <a:solidFill>
                  <a:schemeClr val="bg1"/>
                </a:solidFill>
              </a:rPr>
              <a:t>You can provide an optional default which is returned in the case the key does not exist</a:t>
            </a:r>
          </a:p>
          <a:p>
            <a:pPr lvl="1"/>
            <a:r>
              <a:rPr lang="en-US" dirty="0">
                <a:solidFill>
                  <a:schemeClr val="bg1"/>
                </a:solidFill>
              </a:rPr>
              <a:t>If no default is provided then None is returned</a:t>
            </a:r>
          </a:p>
        </p:txBody>
      </p:sp>
      <p:sp>
        <p:nvSpPr>
          <p:cNvPr id="5" name="TextBox 4">
            <a:extLst>
              <a:ext uri="{FF2B5EF4-FFF2-40B4-BE49-F238E27FC236}">
                <a16:creationId xmlns:a16="http://schemas.microsoft.com/office/drawing/2014/main" id="{DCF05D00-76E5-9C7B-6A52-DE5FF4C20843}"/>
              </a:ext>
            </a:extLst>
          </p:cNvPr>
          <p:cNvSpPr txBox="1"/>
          <p:nvPr/>
        </p:nvSpPr>
        <p:spPr>
          <a:xfrm>
            <a:off x="4751831" y="2521059"/>
            <a:ext cx="7342632" cy="1815882"/>
          </a:xfrm>
          <a:prstGeom prst="rect">
            <a:avLst/>
          </a:prstGeom>
          <a:noFill/>
        </p:spPr>
        <p:txBody>
          <a:bodyPr wrap="square" rtlCol="0">
            <a:spAutoFit/>
          </a:bodyPr>
          <a:lstStyle/>
          <a:p>
            <a:pPr>
              <a:buNone/>
            </a:pPr>
            <a:r>
              <a:rPr lang="en-CA" sz="1600" b="0" i="0" dirty="0">
                <a:solidFill>
                  <a:srgbClr val="080808"/>
                </a:solidFill>
                <a:effectLst/>
                <a:latin typeface="JetBrains Mono"/>
              </a:rPr>
              <a:t>1    </a:t>
            </a:r>
            <a:r>
              <a:rPr lang="en-CA" sz="1600" dirty="0">
                <a:solidFill>
                  <a:srgbClr val="080808"/>
                </a:solidFill>
                <a:effectLst/>
                <a:latin typeface="JetBrains Mono"/>
              </a:rPr>
              <a:t>hero_2 = {  </a:t>
            </a:r>
            <a:r>
              <a:rPr lang="en-CA" sz="1600" dirty="0">
                <a:solidFill>
                  <a:srgbClr val="067D17"/>
                </a:solidFill>
                <a:effectLst/>
                <a:latin typeface="JetBrains Mono"/>
              </a:rPr>
              <a:t>"name" </a:t>
            </a:r>
            <a:r>
              <a:rPr lang="en-CA" sz="1600" dirty="0">
                <a:solidFill>
                  <a:srgbClr val="080808"/>
                </a:solidFill>
                <a:effectLst/>
                <a:latin typeface="JetBrains Mono"/>
              </a:rPr>
              <a:t>: </a:t>
            </a:r>
            <a:r>
              <a:rPr lang="en-CA" sz="1600" dirty="0">
                <a:solidFill>
                  <a:srgbClr val="067D17"/>
                </a:solidFill>
                <a:effectLst/>
                <a:latin typeface="JetBrains Mono"/>
              </a:rPr>
              <a:t>"Bruce Wayne"</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2    </a:t>
            </a:r>
            <a:r>
              <a:rPr lang="en-CA" sz="1600" dirty="0">
                <a:solidFill>
                  <a:srgbClr val="080808"/>
                </a:solidFill>
                <a:effectLst/>
                <a:latin typeface="JetBrains Mono"/>
              </a:rPr>
              <a:t>            </a:t>
            </a:r>
            <a:r>
              <a:rPr lang="en-CA" sz="1600" dirty="0">
                <a:solidFill>
                  <a:srgbClr val="067D17"/>
                </a:solidFill>
                <a:effectLst/>
                <a:latin typeface="JetBrains Mono"/>
              </a:rPr>
              <a:t>"age"  </a:t>
            </a:r>
            <a:r>
              <a:rPr lang="en-CA" sz="1600" dirty="0">
                <a:solidFill>
                  <a:srgbClr val="080808"/>
                </a:solidFill>
                <a:effectLst/>
                <a:latin typeface="JetBrains Mono"/>
              </a:rPr>
              <a:t>: </a:t>
            </a:r>
            <a:r>
              <a:rPr lang="en-CA" sz="1600" dirty="0">
                <a:solidFill>
                  <a:srgbClr val="067D17"/>
                </a:solidFill>
                <a:effectLst/>
                <a:latin typeface="JetBrains Mono"/>
              </a:rPr>
              <a:t>"Unknown"</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3    </a:t>
            </a:r>
            <a:r>
              <a:rPr lang="en-CA" sz="1600" dirty="0">
                <a:solidFill>
                  <a:srgbClr val="080808"/>
                </a:solidFill>
                <a:effectLst/>
                <a:latin typeface="JetBrains Mono"/>
              </a:rPr>
              <a:t>            </a:t>
            </a:r>
            <a:r>
              <a:rPr lang="en-CA" sz="1600" dirty="0">
                <a:solidFill>
                  <a:srgbClr val="067D17"/>
                </a:solidFill>
                <a:effectLst/>
                <a:latin typeface="JetBrains Mono"/>
              </a:rPr>
              <a:t>"address" </a:t>
            </a:r>
            <a:r>
              <a:rPr lang="en-CA" sz="1600" dirty="0">
                <a:solidFill>
                  <a:srgbClr val="080808"/>
                </a:solidFill>
                <a:effectLst/>
                <a:latin typeface="JetBrains Mono"/>
              </a:rPr>
              <a:t>: </a:t>
            </a:r>
            <a:r>
              <a:rPr lang="en-CA" sz="1600" dirty="0">
                <a:solidFill>
                  <a:srgbClr val="067D17"/>
                </a:solidFill>
                <a:effectLst/>
                <a:latin typeface="JetBrains Mono"/>
              </a:rPr>
              <a:t>"Gotham" </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4    </a:t>
            </a:r>
            <a:r>
              <a:rPr lang="en-CA" sz="1600" dirty="0">
                <a:solidFill>
                  <a:srgbClr val="080808"/>
                </a:solidFill>
                <a:effectLst/>
                <a:latin typeface="JetBrains Mono"/>
              </a:rPr>
              <a:t>email = hero_2.pop(</a:t>
            </a:r>
            <a:r>
              <a:rPr lang="en-CA" sz="1600" dirty="0">
                <a:solidFill>
                  <a:srgbClr val="067D17"/>
                </a:solidFill>
                <a:effectLst/>
                <a:latin typeface="JetBrains Mono"/>
              </a:rPr>
              <a:t>"email"</a:t>
            </a:r>
            <a:r>
              <a:rPr lang="en-CA" sz="1600" dirty="0">
                <a:solidFill>
                  <a:srgbClr val="080808"/>
                </a:solidFill>
                <a:effectLst/>
                <a:latin typeface="JetBrains Mono"/>
              </a:rPr>
              <a:t>, </a:t>
            </a:r>
            <a:r>
              <a:rPr lang="en-CA" sz="1600" dirty="0">
                <a:solidFill>
                  <a:srgbClr val="067D17"/>
                </a:solidFill>
                <a:effectLst/>
                <a:latin typeface="JetBrains Mono"/>
              </a:rPr>
              <a:t>"Unknown"</a:t>
            </a:r>
            <a:r>
              <a:rPr lang="en-CA" sz="1600" dirty="0">
                <a:solidFill>
                  <a:srgbClr val="080808"/>
                </a:solidFill>
                <a:effectLst/>
                <a:latin typeface="JetBrains Mono"/>
              </a:rPr>
              <a:t>)</a:t>
            </a:r>
            <a:br>
              <a:rPr lang="en-CA" sz="1600" dirty="0">
                <a:solidFill>
                  <a:srgbClr val="080808"/>
                </a:solidFill>
                <a:effectLst/>
                <a:latin typeface="JetBrains Mono"/>
              </a:rPr>
            </a:br>
            <a:r>
              <a:rPr lang="en-CA" sz="1600" b="0" i="0" dirty="0">
                <a:solidFill>
                  <a:srgbClr val="080808"/>
                </a:solidFill>
                <a:effectLst/>
                <a:latin typeface="JetBrains Mono"/>
              </a:rPr>
              <a:t>5    </a:t>
            </a:r>
            <a:r>
              <a:rPr lang="en-CA" sz="1600" dirty="0">
                <a:solidFill>
                  <a:srgbClr val="000080"/>
                </a:solidFill>
                <a:effectLst/>
                <a:latin typeface="JetBrains Mono"/>
              </a:rPr>
              <a:t>print</a:t>
            </a:r>
            <a:r>
              <a:rPr lang="en-CA" sz="1600" dirty="0">
                <a:solidFill>
                  <a:srgbClr val="080808"/>
                </a:solidFill>
                <a:effectLst/>
                <a:latin typeface="JetBrains Mono"/>
              </a:rPr>
              <a:t>(email) </a:t>
            </a:r>
            <a:r>
              <a:rPr lang="en-CA" sz="1600" i="1" dirty="0">
                <a:solidFill>
                  <a:srgbClr val="8C8C8C"/>
                </a:solidFill>
                <a:effectLst/>
                <a:latin typeface="JetBrains Mono"/>
              </a:rPr>
              <a:t>#Unknown</a:t>
            </a:r>
            <a:br>
              <a:rPr lang="en-CA" sz="1600" i="1" dirty="0">
                <a:solidFill>
                  <a:srgbClr val="8C8C8C"/>
                </a:solidFill>
                <a:effectLst/>
                <a:latin typeface="JetBrains Mono"/>
              </a:rPr>
            </a:br>
            <a:r>
              <a:rPr lang="en-CA" sz="1600" b="0" i="0" dirty="0">
                <a:solidFill>
                  <a:srgbClr val="080808"/>
                </a:solidFill>
                <a:effectLst/>
                <a:latin typeface="JetBrains Mono"/>
              </a:rPr>
              <a:t>6    </a:t>
            </a:r>
            <a:r>
              <a:rPr lang="en-CA" sz="1600" dirty="0">
                <a:solidFill>
                  <a:srgbClr val="000080"/>
                </a:solidFill>
                <a:effectLst/>
                <a:latin typeface="JetBrains Mono"/>
              </a:rPr>
              <a:t>print</a:t>
            </a:r>
            <a:r>
              <a:rPr lang="en-CA" sz="1600" dirty="0">
                <a:solidFill>
                  <a:srgbClr val="080808"/>
                </a:solidFill>
                <a:effectLst/>
                <a:latin typeface="JetBrains Mono"/>
              </a:rPr>
              <a:t>(hero_2) </a:t>
            </a:r>
            <a:r>
              <a:rPr lang="en-CA" sz="1600" i="1" dirty="0">
                <a:solidFill>
                  <a:srgbClr val="8C8C8C"/>
                </a:solidFill>
                <a:effectLst/>
                <a:latin typeface="JetBrains Mono"/>
              </a:rPr>
              <a:t>#{'name': 'Bruce Wayne', 'age': 'Unknown', 'address': 'Gotham'}</a:t>
            </a:r>
            <a:endParaRPr lang="en-CA" sz="1600" dirty="0">
              <a:solidFill>
                <a:srgbClr val="080808"/>
              </a:solidFill>
              <a:effectLst/>
              <a:latin typeface="JetBrains Mono"/>
            </a:endParaRPr>
          </a:p>
          <a:p>
            <a:pPr>
              <a:buNone/>
            </a:pPr>
            <a:endParaRPr lang="en-CA" sz="1600" dirty="0">
              <a:solidFill>
                <a:srgbClr val="080808"/>
              </a:solidFill>
              <a:effectLst/>
              <a:latin typeface="JetBrains Mono"/>
            </a:endParaRPr>
          </a:p>
        </p:txBody>
      </p:sp>
    </p:spTree>
    <p:extLst>
      <p:ext uri="{BB962C8B-B14F-4D97-AF65-F5344CB8AC3E}">
        <p14:creationId xmlns:p14="http://schemas.microsoft.com/office/powerpoint/2010/main" val="3556827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F76027-ADB6-2251-7D64-BBB6955C9F27}"/>
              </a:ext>
            </a:extLst>
          </p:cNvPr>
          <p:cNvSpPr>
            <a:spLocks noGrp="1"/>
          </p:cNvSpPr>
          <p:nvPr>
            <p:ph type="title"/>
          </p:nvPr>
        </p:nvSpPr>
        <p:spPr>
          <a:xfrm>
            <a:off x="804674" y="589097"/>
            <a:ext cx="3044950" cy="1627792"/>
          </a:xfrm>
        </p:spPr>
        <p:txBody>
          <a:bodyPr vert="horz" lIns="274320" tIns="182880" rIns="274320" bIns="182880" rtlCol="0" anchor="ctr" anchorCtr="1">
            <a:normAutofit/>
          </a:bodyPr>
          <a:lstStyle/>
          <a:p>
            <a:r>
              <a:rPr lang="en-US" dirty="0"/>
              <a:t>Self-check</a:t>
            </a:r>
          </a:p>
        </p:txBody>
      </p:sp>
      <p:sp>
        <p:nvSpPr>
          <p:cNvPr id="5" name="TextBox 4">
            <a:extLst>
              <a:ext uri="{FF2B5EF4-FFF2-40B4-BE49-F238E27FC236}">
                <a16:creationId xmlns:a16="http://schemas.microsoft.com/office/drawing/2014/main" id="{98998972-6239-8E18-4FD6-ED140A462F71}"/>
              </a:ext>
            </a:extLst>
          </p:cNvPr>
          <p:cNvSpPr txBox="1"/>
          <p:nvPr/>
        </p:nvSpPr>
        <p:spPr>
          <a:xfrm>
            <a:off x="338117" y="2532983"/>
            <a:ext cx="4316180" cy="2031325"/>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As you are likely aware: Superman: The Movie with Chris Reeves and Margot Kidder was released in 1978</a:t>
            </a:r>
          </a:p>
          <a:p>
            <a:pPr marL="285750" indent="-285750">
              <a:buFont typeface="Arial" panose="020B0604020202020204" pitchFamily="34" charset="0"/>
              <a:buChar char="•"/>
            </a:pPr>
            <a:r>
              <a:rPr lang="en-US" dirty="0">
                <a:solidFill>
                  <a:schemeClr val="bg1"/>
                </a:solidFill>
              </a:rPr>
              <a:t>Update 1971 to 1978</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Change the release date for Superman: The Movie from 1971 to 1978</a:t>
            </a:r>
          </a:p>
        </p:txBody>
      </p:sp>
      <p:sp>
        <p:nvSpPr>
          <p:cNvPr id="6" name="Content Placeholder 5">
            <a:extLst>
              <a:ext uri="{FF2B5EF4-FFF2-40B4-BE49-F238E27FC236}">
                <a16:creationId xmlns:a16="http://schemas.microsoft.com/office/drawing/2014/main" id="{FE7C9FA2-4746-6390-73B6-C7E38CBC7C5D}"/>
              </a:ext>
            </a:extLst>
          </p:cNvPr>
          <p:cNvSpPr>
            <a:spLocks noGrp="1"/>
          </p:cNvSpPr>
          <p:nvPr>
            <p:ph idx="1"/>
          </p:nvPr>
        </p:nvSpPr>
        <p:spPr>
          <a:xfrm>
            <a:off x="4846320" y="484632"/>
            <a:ext cx="6629400" cy="6016752"/>
          </a:xfrm>
        </p:spPr>
        <p:txBody>
          <a:bodyPr/>
          <a:lstStyle/>
          <a:p>
            <a:pPr>
              <a:buNone/>
            </a:pPr>
            <a:r>
              <a:rPr lang="en-CA" sz="1800" b="0" i="0" dirty="0">
                <a:solidFill>
                  <a:srgbClr val="080808"/>
                </a:solidFill>
                <a:effectLst/>
                <a:latin typeface="JetBrains Mono"/>
              </a:rPr>
              <a:t>	01    </a:t>
            </a:r>
            <a:r>
              <a:rPr lang="en-CA" sz="1800" i="1" dirty="0">
                <a:solidFill>
                  <a:srgbClr val="8C8C8C"/>
                </a:solidFill>
                <a:effectLst/>
                <a:latin typeface="JetBrains Mono"/>
              </a:rPr>
              <a:t># Self check</a:t>
            </a:r>
            <a:br>
              <a:rPr lang="en-CA" sz="1800" i="1" dirty="0">
                <a:solidFill>
                  <a:srgbClr val="8C8C8C"/>
                </a:solidFill>
                <a:effectLst/>
                <a:latin typeface="JetBrains Mono"/>
              </a:rPr>
            </a:br>
            <a:r>
              <a:rPr lang="en-CA" sz="1800" b="0" i="0" dirty="0">
                <a:solidFill>
                  <a:srgbClr val="080808"/>
                </a:solidFill>
                <a:effectLst/>
                <a:latin typeface="JetBrains Mono"/>
              </a:rPr>
              <a:t>02    </a:t>
            </a:r>
            <a:r>
              <a:rPr lang="en-CA" sz="1800" i="1" dirty="0">
                <a:solidFill>
                  <a:srgbClr val="8C8C8C"/>
                </a:solidFill>
                <a:effectLst/>
                <a:latin typeface="JetBrains Mono"/>
              </a:rPr>
              <a:t># nested dictionary</a:t>
            </a:r>
            <a:br>
              <a:rPr lang="en-CA" sz="1800" i="1" dirty="0">
                <a:solidFill>
                  <a:srgbClr val="8C8C8C"/>
                </a:solidFill>
                <a:effectLst/>
                <a:latin typeface="JetBrains Mono"/>
              </a:rPr>
            </a:br>
            <a:r>
              <a:rPr lang="en-CA" sz="1800" b="0" i="0" dirty="0">
                <a:solidFill>
                  <a:srgbClr val="080808"/>
                </a:solidFill>
                <a:effectLst/>
                <a:latin typeface="JetBrains Mono"/>
              </a:rPr>
              <a:t>03    </a:t>
            </a:r>
            <a:r>
              <a:rPr lang="en-CA" sz="1800" dirty="0">
                <a:solidFill>
                  <a:srgbClr val="080808"/>
                </a:solidFill>
                <a:effectLst/>
                <a:latin typeface="JetBrains Mono"/>
              </a:rPr>
              <a:t>films = {</a:t>
            </a:r>
            <a:r>
              <a:rPr lang="en-CA" sz="1800" dirty="0">
                <a:solidFill>
                  <a:srgbClr val="067D17"/>
                </a:solidFill>
                <a:effectLst/>
                <a:latin typeface="JetBrains Mono"/>
              </a:rPr>
              <a:t>"Superman Movies" </a:t>
            </a:r>
            <a:r>
              <a:rPr lang="en-CA" sz="1800" dirty="0">
                <a:solidFill>
                  <a:srgbClr val="080808"/>
                </a:solidFill>
                <a:effectLst/>
                <a:latin typeface="JetBrains Mono"/>
              </a:rPr>
              <a:t>: {  </a:t>
            </a:r>
            <a:r>
              <a:rPr lang="en-CA" sz="1800" dirty="0">
                <a:solidFill>
                  <a:srgbClr val="067D17"/>
                </a:solidFill>
                <a:effectLst/>
                <a:latin typeface="JetBrains Mono"/>
              </a:rPr>
              <a:t>"Superman: The Movie"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04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"Action"</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05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1971</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06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300500000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07    </a:t>
            </a:r>
            <a:r>
              <a:rPr lang="en-CA" sz="1800" dirty="0">
                <a:solidFill>
                  <a:srgbClr val="080808"/>
                </a:solidFill>
                <a:effectLst/>
                <a:latin typeface="JetBrains Mono"/>
              </a:rPr>
              <a:t>                               </a:t>
            </a:r>
            <a:r>
              <a:rPr lang="en-CA" sz="1800" dirty="0">
                <a:solidFill>
                  <a:srgbClr val="067D17"/>
                </a:solidFill>
                <a:effectLst/>
                <a:latin typeface="JetBrains Mono"/>
              </a:rPr>
              <a:t>"Superman II"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08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"Action"</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09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1980</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10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216000000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11    </a:t>
            </a:r>
            <a:r>
              <a:rPr lang="en-CA" sz="1800" dirty="0">
                <a:solidFill>
                  <a:srgbClr val="080808"/>
                </a:solidFill>
                <a:effectLst/>
                <a:latin typeface="JetBrains Mono"/>
              </a:rPr>
              <a:t>                               </a:t>
            </a:r>
            <a:r>
              <a:rPr lang="en-CA" sz="1800" dirty="0">
                <a:solidFill>
                  <a:srgbClr val="067D17"/>
                </a:solidFill>
                <a:effectLst/>
                <a:latin typeface="JetBrains Mono"/>
              </a:rPr>
              <a:t>"Superman III"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12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"Comedy"</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13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1983</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14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80250000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15    </a:t>
            </a:r>
            <a:r>
              <a:rPr lang="en-CA" sz="1800" dirty="0">
                <a:solidFill>
                  <a:srgbClr val="080808"/>
                </a:solidFill>
                <a:effectLst/>
                <a:latin typeface="JetBrains Mono"/>
              </a:rPr>
              <a:t>                               </a:t>
            </a:r>
            <a:r>
              <a:rPr lang="en-CA" sz="1800" dirty="0">
                <a:solidFill>
                  <a:srgbClr val="067D17"/>
                </a:solidFill>
                <a:effectLst/>
                <a:latin typeface="JetBrains Mono"/>
              </a:rPr>
              <a:t>"Superman IV"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16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"Tragedy"</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17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1987</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18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36700000</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19    </a:t>
            </a:r>
            <a:r>
              <a:rPr lang="en-CA" sz="1800" dirty="0">
                <a:solidFill>
                  <a:srgbClr val="080808"/>
                </a:solidFill>
                <a:effectLst/>
                <a:latin typeface="JetBrains Mono"/>
              </a:rPr>
              <a:t>        }</a:t>
            </a:r>
          </a:p>
          <a:p>
            <a:endParaRPr lang="en-CA" dirty="0"/>
          </a:p>
        </p:txBody>
      </p:sp>
    </p:spTree>
    <p:extLst>
      <p:ext uri="{BB962C8B-B14F-4D97-AF65-F5344CB8AC3E}">
        <p14:creationId xmlns:p14="http://schemas.microsoft.com/office/powerpoint/2010/main" val="2590051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06FE47-4B15-1BE6-0CDA-A73D49679A3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8336852-749B-62D9-30CB-3E401DCFD5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11" name="Rectangle 10">
            <a:extLst>
              <a:ext uri="{FF2B5EF4-FFF2-40B4-BE49-F238E27FC236}">
                <a16:creationId xmlns:a16="http://schemas.microsoft.com/office/drawing/2014/main" id="{F4098F5C-0BC7-0D26-53A1-5DC578186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76FF4DCC-6ACB-5FD2-DA3E-82720DC04D96}"/>
              </a:ext>
            </a:extLst>
          </p:cNvPr>
          <p:cNvSpPr>
            <a:spLocks noGrp="1"/>
          </p:cNvSpPr>
          <p:nvPr>
            <p:ph type="title"/>
          </p:nvPr>
        </p:nvSpPr>
        <p:spPr>
          <a:xfrm>
            <a:off x="804674" y="589097"/>
            <a:ext cx="3044950" cy="1627792"/>
          </a:xfrm>
        </p:spPr>
        <p:txBody>
          <a:bodyPr vert="horz" lIns="274320" tIns="182880" rIns="274320" bIns="182880" rtlCol="0" anchor="ctr" anchorCtr="1">
            <a:normAutofit/>
          </a:bodyPr>
          <a:lstStyle/>
          <a:p>
            <a:r>
              <a:rPr lang="en-US" dirty="0"/>
              <a:t>Self-check</a:t>
            </a:r>
          </a:p>
        </p:txBody>
      </p:sp>
      <p:sp>
        <p:nvSpPr>
          <p:cNvPr id="5" name="TextBox 4">
            <a:extLst>
              <a:ext uri="{FF2B5EF4-FFF2-40B4-BE49-F238E27FC236}">
                <a16:creationId xmlns:a16="http://schemas.microsoft.com/office/drawing/2014/main" id="{1556AD10-D8C5-D503-E27E-DC098BEB3E9D}"/>
              </a:ext>
            </a:extLst>
          </p:cNvPr>
          <p:cNvSpPr txBox="1"/>
          <p:nvPr/>
        </p:nvSpPr>
        <p:spPr>
          <a:xfrm>
            <a:off x="338117" y="2532983"/>
            <a:ext cx="4316180" cy="203132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Gill Sans MT" panose="020B0502020104020203"/>
                <a:ea typeface="+mn-ea"/>
                <a:cs typeface="+mn-cs"/>
              </a:rPr>
              <a:t>As you are likely aware: Superman: The Movie with Chris Reeves and Margot Kidder was released in 1978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Gill Sans MT" panose="020B0502020104020203"/>
                <a:ea typeface="+mn-ea"/>
                <a:cs typeface="+mn-cs"/>
              </a:rPr>
              <a:t>Update 1971 to 1978</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chemeClr val="bg1"/>
              </a:solidFill>
              <a:effectLst/>
              <a:uLnTx/>
              <a:uFillTx/>
              <a:latin typeface="Gill Sans MT" panose="020B0502020104020203"/>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chemeClr val="bg1"/>
                </a:solidFill>
                <a:effectLst/>
                <a:uLnTx/>
                <a:uFillTx/>
                <a:latin typeface="Gill Sans MT" panose="020B0502020104020203"/>
                <a:ea typeface="+mn-ea"/>
                <a:cs typeface="+mn-cs"/>
              </a:rPr>
              <a:t>Change the release date for Superman: The Movie from 1971 to 1978</a:t>
            </a:r>
          </a:p>
        </p:txBody>
      </p:sp>
      <p:sp>
        <p:nvSpPr>
          <p:cNvPr id="6" name="Content Placeholder 5">
            <a:extLst>
              <a:ext uri="{FF2B5EF4-FFF2-40B4-BE49-F238E27FC236}">
                <a16:creationId xmlns:a16="http://schemas.microsoft.com/office/drawing/2014/main" id="{E99CB378-DC4A-674E-AEAB-741C286AAC79}"/>
              </a:ext>
            </a:extLst>
          </p:cNvPr>
          <p:cNvSpPr>
            <a:spLocks noGrp="1"/>
          </p:cNvSpPr>
          <p:nvPr>
            <p:ph idx="1"/>
          </p:nvPr>
        </p:nvSpPr>
        <p:spPr>
          <a:xfrm>
            <a:off x="4846319" y="484632"/>
            <a:ext cx="7345679" cy="6016752"/>
          </a:xfrm>
        </p:spPr>
        <p:txBody>
          <a:bodyPr>
            <a:normAutofit/>
          </a:bodyPr>
          <a:lstStyle/>
          <a:p>
            <a:pPr>
              <a:buNone/>
            </a:pPr>
            <a:r>
              <a:rPr lang="en-CA" sz="1800" b="0" i="0" dirty="0">
                <a:solidFill>
                  <a:srgbClr val="080808"/>
                </a:solidFill>
                <a:effectLst/>
                <a:latin typeface="JetBrains Mono"/>
              </a:rPr>
              <a:t>	01    </a:t>
            </a:r>
            <a:r>
              <a:rPr lang="en-CA" sz="1800" i="1" dirty="0">
                <a:solidFill>
                  <a:srgbClr val="8C8C8C"/>
                </a:solidFill>
                <a:effectLst/>
                <a:latin typeface="JetBrains Mono"/>
              </a:rPr>
              <a:t># Self check</a:t>
            </a:r>
            <a:br>
              <a:rPr lang="en-CA" sz="1800" i="1" dirty="0">
                <a:solidFill>
                  <a:srgbClr val="8C8C8C"/>
                </a:solidFill>
                <a:effectLst/>
                <a:latin typeface="JetBrains Mono"/>
              </a:rPr>
            </a:br>
            <a:r>
              <a:rPr lang="en-CA" sz="1800" b="0" i="0" dirty="0">
                <a:solidFill>
                  <a:srgbClr val="080808"/>
                </a:solidFill>
                <a:effectLst/>
                <a:latin typeface="JetBrains Mono"/>
              </a:rPr>
              <a:t>02    </a:t>
            </a:r>
            <a:r>
              <a:rPr lang="en-CA" sz="1800" i="1" dirty="0">
                <a:solidFill>
                  <a:srgbClr val="8C8C8C"/>
                </a:solidFill>
                <a:effectLst/>
                <a:latin typeface="JetBrains Mono"/>
              </a:rPr>
              <a:t># nested dictionary</a:t>
            </a:r>
            <a:br>
              <a:rPr lang="en-CA" sz="1800" i="1" dirty="0">
                <a:solidFill>
                  <a:srgbClr val="8C8C8C"/>
                </a:solidFill>
                <a:effectLst/>
                <a:latin typeface="JetBrains Mono"/>
              </a:rPr>
            </a:br>
            <a:r>
              <a:rPr lang="en-CA" sz="1800" b="0" i="0" dirty="0">
                <a:solidFill>
                  <a:srgbClr val="080808"/>
                </a:solidFill>
                <a:effectLst/>
                <a:latin typeface="JetBrains Mono"/>
              </a:rPr>
              <a:t>03    </a:t>
            </a:r>
            <a:r>
              <a:rPr lang="en-CA" sz="1800" dirty="0">
                <a:solidFill>
                  <a:srgbClr val="080808"/>
                </a:solidFill>
                <a:effectLst/>
                <a:latin typeface="JetBrains Mono"/>
              </a:rPr>
              <a:t>films = {</a:t>
            </a:r>
            <a:r>
              <a:rPr lang="en-CA" sz="1800" dirty="0">
                <a:solidFill>
                  <a:srgbClr val="067D17"/>
                </a:solidFill>
                <a:effectLst/>
                <a:latin typeface="JetBrains Mono"/>
              </a:rPr>
              <a:t>"Superman Movies" </a:t>
            </a:r>
            <a:r>
              <a:rPr lang="en-CA" sz="1800" dirty="0">
                <a:solidFill>
                  <a:srgbClr val="080808"/>
                </a:solidFill>
                <a:effectLst/>
                <a:latin typeface="JetBrains Mono"/>
              </a:rPr>
              <a:t>: {  </a:t>
            </a:r>
            <a:r>
              <a:rPr lang="en-CA" sz="1800" dirty="0">
                <a:solidFill>
                  <a:srgbClr val="067D17"/>
                </a:solidFill>
                <a:effectLst/>
                <a:latin typeface="JetBrains Mono"/>
              </a:rPr>
              <a:t>"Superman: The Movie"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04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"Action"</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05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1971</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06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300500000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07    </a:t>
            </a:r>
            <a:r>
              <a:rPr lang="en-CA" sz="1800" dirty="0">
                <a:solidFill>
                  <a:srgbClr val="080808"/>
                </a:solidFill>
                <a:effectLst/>
                <a:latin typeface="JetBrains Mono"/>
              </a:rPr>
              <a:t>                               </a:t>
            </a:r>
            <a:r>
              <a:rPr lang="en-CA" sz="1800" dirty="0">
                <a:solidFill>
                  <a:srgbClr val="067D17"/>
                </a:solidFill>
                <a:effectLst/>
                <a:latin typeface="JetBrains Mono"/>
              </a:rPr>
              <a:t>"Superman II"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08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"Action"</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09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1980</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10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216000000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11    </a:t>
            </a:r>
            <a:r>
              <a:rPr lang="en-CA" sz="1800" dirty="0">
                <a:solidFill>
                  <a:srgbClr val="080808"/>
                </a:solidFill>
                <a:effectLst/>
                <a:latin typeface="JetBrains Mono"/>
              </a:rPr>
              <a:t>                               </a:t>
            </a:r>
            <a:r>
              <a:rPr lang="en-CA" sz="1800" dirty="0">
                <a:solidFill>
                  <a:srgbClr val="067D17"/>
                </a:solidFill>
                <a:effectLst/>
                <a:latin typeface="JetBrains Mono"/>
              </a:rPr>
              <a:t>"Superman III"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12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"Comedy"</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13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1983</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14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80250000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15    </a:t>
            </a:r>
            <a:r>
              <a:rPr lang="en-CA" sz="1800" dirty="0">
                <a:solidFill>
                  <a:srgbClr val="080808"/>
                </a:solidFill>
                <a:effectLst/>
                <a:latin typeface="JetBrains Mono"/>
              </a:rPr>
              <a:t>                               </a:t>
            </a:r>
            <a:r>
              <a:rPr lang="en-CA" sz="1800" dirty="0">
                <a:solidFill>
                  <a:srgbClr val="067D17"/>
                </a:solidFill>
                <a:effectLst/>
                <a:latin typeface="JetBrains Mono"/>
              </a:rPr>
              <a:t>"Superman IV" </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16    </a:t>
            </a:r>
            <a:r>
              <a:rPr lang="en-CA" sz="1800" dirty="0">
                <a:solidFill>
                  <a:srgbClr val="080808"/>
                </a:solidFill>
                <a:effectLst/>
                <a:latin typeface="JetBrains Mono"/>
              </a:rPr>
              <a:t>                                {</a:t>
            </a:r>
            <a:r>
              <a:rPr lang="en-CA" sz="1800" dirty="0">
                <a:solidFill>
                  <a:srgbClr val="067D17"/>
                </a:solidFill>
                <a:effectLst/>
                <a:latin typeface="JetBrains Mono"/>
              </a:rPr>
              <a:t>"genre" </a:t>
            </a:r>
            <a:r>
              <a:rPr lang="en-CA" sz="1800" dirty="0">
                <a:solidFill>
                  <a:srgbClr val="080808"/>
                </a:solidFill>
                <a:effectLst/>
                <a:latin typeface="JetBrains Mono"/>
              </a:rPr>
              <a:t>: </a:t>
            </a:r>
            <a:r>
              <a:rPr lang="en-CA" sz="1800" dirty="0">
                <a:solidFill>
                  <a:srgbClr val="067D17"/>
                </a:solidFill>
                <a:effectLst/>
                <a:latin typeface="JetBrains Mono"/>
              </a:rPr>
              <a:t>"Tragedy"</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17    </a:t>
            </a:r>
            <a:r>
              <a:rPr lang="en-CA" sz="1800" dirty="0">
                <a:solidFill>
                  <a:srgbClr val="080808"/>
                </a:solidFill>
                <a:effectLst/>
                <a:latin typeface="JetBrains Mono"/>
              </a:rPr>
              <a:t>                                </a:t>
            </a:r>
            <a:r>
              <a:rPr lang="en-CA" sz="1800" dirty="0">
                <a:solidFill>
                  <a:srgbClr val="067D17"/>
                </a:solidFill>
                <a:effectLst/>
                <a:latin typeface="JetBrains Mono"/>
              </a:rPr>
              <a:t>"release" </a:t>
            </a:r>
            <a:r>
              <a:rPr lang="en-CA" sz="1800" dirty="0">
                <a:solidFill>
                  <a:srgbClr val="080808"/>
                </a:solidFill>
                <a:effectLst/>
                <a:latin typeface="JetBrains Mono"/>
              </a:rPr>
              <a:t>: </a:t>
            </a:r>
            <a:r>
              <a:rPr lang="en-CA" sz="1800" dirty="0">
                <a:solidFill>
                  <a:srgbClr val="1750EB"/>
                </a:solidFill>
                <a:effectLst/>
                <a:latin typeface="JetBrains Mono"/>
              </a:rPr>
              <a:t>1987</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18    </a:t>
            </a:r>
            <a:r>
              <a:rPr lang="en-CA" sz="1800" dirty="0">
                <a:solidFill>
                  <a:srgbClr val="080808"/>
                </a:solidFill>
                <a:effectLst/>
                <a:latin typeface="JetBrains Mono"/>
              </a:rPr>
              <a:t>                                </a:t>
            </a:r>
            <a:r>
              <a:rPr lang="en-CA" sz="1800" dirty="0">
                <a:solidFill>
                  <a:srgbClr val="067D17"/>
                </a:solidFill>
                <a:effectLst/>
                <a:latin typeface="JetBrains Mono"/>
              </a:rPr>
              <a:t>"income" </a:t>
            </a:r>
            <a:r>
              <a:rPr lang="en-CA" sz="1800" dirty="0">
                <a:solidFill>
                  <a:srgbClr val="080808"/>
                </a:solidFill>
                <a:effectLst/>
                <a:latin typeface="JetBrains Mono"/>
              </a:rPr>
              <a:t>: </a:t>
            </a:r>
            <a:r>
              <a:rPr lang="en-CA" sz="1800" dirty="0">
                <a:solidFill>
                  <a:srgbClr val="1750EB"/>
                </a:solidFill>
                <a:effectLst/>
                <a:latin typeface="JetBrains Mono"/>
              </a:rPr>
              <a:t>36700000</a:t>
            </a:r>
            <a:r>
              <a:rPr lang="en-CA" sz="1800" dirty="0">
                <a:solidFill>
                  <a:srgbClr val="080808"/>
                </a:solidFill>
                <a:effectLst/>
                <a:latin typeface="JetBrains Mono"/>
              </a:rPr>
              <a:t>}}</a:t>
            </a:r>
            <a:br>
              <a:rPr lang="en-CA" sz="1800" dirty="0">
                <a:solidFill>
                  <a:srgbClr val="080808"/>
                </a:solidFill>
                <a:effectLst/>
                <a:latin typeface="JetBrains Mono"/>
              </a:rPr>
            </a:br>
            <a:r>
              <a:rPr lang="en-CA" sz="1800" b="0" i="0" dirty="0">
                <a:solidFill>
                  <a:srgbClr val="080808"/>
                </a:solidFill>
                <a:effectLst/>
                <a:latin typeface="JetBrains Mono"/>
              </a:rPr>
              <a:t>19    </a:t>
            </a:r>
            <a:r>
              <a:rPr lang="en-CA" sz="1800" dirty="0">
                <a:solidFill>
                  <a:srgbClr val="080808"/>
                </a:solidFill>
                <a:effectLst/>
                <a:latin typeface="JetBrains Mono"/>
              </a:rPr>
              <a:t>        }</a:t>
            </a:r>
          </a:p>
          <a:p>
            <a:pPr>
              <a:buNone/>
            </a:pPr>
            <a:r>
              <a:rPr lang="en-US" sz="1800" dirty="0">
                <a:solidFill>
                  <a:srgbClr val="080808"/>
                </a:solidFill>
                <a:effectLst/>
                <a:latin typeface="JetBrains Mono"/>
              </a:rPr>
              <a:t>films[</a:t>
            </a:r>
            <a:r>
              <a:rPr lang="en-US" sz="1800" dirty="0">
                <a:solidFill>
                  <a:srgbClr val="067D17"/>
                </a:solidFill>
                <a:effectLst/>
                <a:latin typeface="JetBrains Mono"/>
              </a:rPr>
              <a:t>"Superman Movies"</a:t>
            </a:r>
            <a:r>
              <a:rPr lang="en-US" sz="1800" dirty="0">
                <a:solidFill>
                  <a:srgbClr val="080808"/>
                </a:solidFill>
                <a:effectLst/>
                <a:latin typeface="JetBrains Mono"/>
              </a:rPr>
              <a:t>][</a:t>
            </a:r>
            <a:r>
              <a:rPr lang="en-US" sz="1800" dirty="0">
                <a:solidFill>
                  <a:srgbClr val="067D17"/>
                </a:solidFill>
                <a:effectLst/>
                <a:latin typeface="JetBrains Mono"/>
              </a:rPr>
              <a:t>"Superman: The Movie"</a:t>
            </a:r>
            <a:r>
              <a:rPr lang="en-US" sz="1800" dirty="0">
                <a:solidFill>
                  <a:srgbClr val="080808"/>
                </a:solidFill>
                <a:effectLst/>
                <a:latin typeface="JetBrains Mono"/>
              </a:rPr>
              <a:t>][</a:t>
            </a:r>
            <a:r>
              <a:rPr lang="en-US" sz="1800" dirty="0">
                <a:solidFill>
                  <a:srgbClr val="067D17"/>
                </a:solidFill>
                <a:effectLst/>
                <a:latin typeface="JetBrains Mono"/>
              </a:rPr>
              <a:t>"release"</a:t>
            </a:r>
            <a:r>
              <a:rPr lang="en-US" sz="1800" dirty="0">
                <a:solidFill>
                  <a:srgbClr val="080808"/>
                </a:solidFill>
                <a:effectLst/>
                <a:latin typeface="JetBrains Mono"/>
              </a:rPr>
              <a:t>] = </a:t>
            </a:r>
            <a:r>
              <a:rPr lang="en-US" sz="1800" dirty="0">
                <a:solidFill>
                  <a:srgbClr val="1750EB"/>
                </a:solidFill>
                <a:effectLst/>
                <a:latin typeface="JetBrains Mono"/>
              </a:rPr>
              <a:t>1978</a:t>
            </a:r>
            <a:br>
              <a:rPr lang="en-US" sz="1800" dirty="0">
                <a:solidFill>
                  <a:srgbClr val="1750EB"/>
                </a:solidFill>
                <a:effectLst/>
                <a:latin typeface="JetBrains Mono"/>
              </a:rPr>
            </a:br>
            <a:endParaRPr lang="en-US" sz="1800" dirty="0">
              <a:solidFill>
                <a:srgbClr val="080808"/>
              </a:solidFill>
              <a:effectLst/>
              <a:latin typeface="JetBrains Mono"/>
            </a:endParaRPr>
          </a:p>
          <a:p>
            <a:endParaRPr lang="en-CA" dirty="0"/>
          </a:p>
        </p:txBody>
      </p:sp>
    </p:spTree>
    <p:extLst>
      <p:ext uri="{BB962C8B-B14F-4D97-AF65-F5344CB8AC3E}">
        <p14:creationId xmlns:p14="http://schemas.microsoft.com/office/powerpoint/2010/main" val="1967104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E01B7-3F9B-571C-7EA4-FB9F775DB288}"/>
              </a:ext>
            </a:extLst>
          </p:cNvPr>
          <p:cNvSpPr>
            <a:spLocks noGrp="1"/>
          </p:cNvSpPr>
          <p:nvPr>
            <p:ph type="title"/>
          </p:nvPr>
        </p:nvSpPr>
        <p:spPr/>
        <p:txBody>
          <a:bodyPr/>
          <a:lstStyle/>
          <a:p>
            <a:r>
              <a:rPr lang="en-US" dirty="0"/>
              <a:t>Dictionary Methods</a:t>
            </a:r>
          </a:p>
        </p:txBody>
      </p:sp>
      <p:sp>
        <p:nvSpPr>
          <p:cNvPr id="3" name="Content Placeholder 2">
            <a:extLst>
              <a:ext uri="{FF2B5EF4-FFF2-40B4-BE49-F238E27FC236}">
                <a16:creationId xmlns:a16="http://schemas.microsoft.com/office/drawing/2014/main" id="{527029D8-2E4F-B17E-3442-021DE336C0F4}"/>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.keys() </a:t>
            </a:r>
            <a:r>
              <a:rPr lang="en-US" dirty="0"/>
              <a:t>returns a view object of all keys in the dictionary</a:t>
            </a:r>
          </a:p>
          <a:p>
            <a:r>
              <a:rPr lang="en-US" dirty="0">
                <a:latin typeface="Courier New" panose="02070309020205020404" pitchFamily="49" charset="0"/>
                <a:cs typeface="Courier New" panose="02070309020205020404" pitchFamily="49" charset="0"/>
              </a:rPr>
              <a:t>.values() </a:t>
            </a:r>
            <a:r>
              <a:rPr lang="en-US" dirty="0"/>
              <a:t>returns a view object of all values in the dictionary</a:t>
            </a:r>
          </a:p>
          <a:p>
            <a:r>
              <a:rPr lang="en-US" dirty="0">
                <a:latin typeface="Courier New" panose="02070309020205020404" pitchFamily="49" charset="0"/>
                <a:cs typeface="Courier New" panose="02070309020205020404" pitchFamily="49" charset="0"/>
              </a:rPr>
              <a:t>.items() </a:t>
            </a:r>
            <a:r>
              <a:rPr lang="en-US" dirty="0"/>
              <a:t>returns a view object of tuples of (key, value) pairs</a:t>
            </a:r>
          </a:p>
        </p:txBody>
      </p:sp>
      <p:sp>
        <p:nvSpPr>
          <p:cNvPr id="4" name="TextBox 3">
            <a:extLst>
              <a:ext uri="{FF2B5EF4-FFF2-40B4-BE49-F238E27FC236}">
                <a16:creationId xmlns:a16="http://schemas.microsoft.com/office/drawing/2014/main" id="{3C2247C6-99F6-7C69-E632-5A6316873B08}"/>
              </a:ext>
            </a:extLst>
          </p:cNvPr>
          <p:cNvSpPr txBox="1"/>
          <p:nvPr/>
        </p:nvSpPr>
        <p:spPr>
          <a:xfrm>
            <a:off x="2231136" y="4189035"/>
            <a:ext cx="8092536" cy="1200329"/>
          </a:xfrm>
          <a:prstGeom prst="rect">
            <a:avLst/>
          </a:prstGeom>
          <a:noFill/>
        </p:spPr>
        <p:txBody>
          <a:bodyPr wrap="none" rtlCol="0">
            <a:spAutoFit/>
          </a:bodyPr>
          <a:lstStyle/>
          <a:p>
            <a:pPr marL="285750" indent="-285750">
              <a:buFont typeface="Arial" panose="020B0604020202020204" pitchFamily="34" charset="0"/>
              <a:buChar char="•"/>
            </a:pPr>
            <a:r>
              <a:rPr lang="en-US" dirty="0"/>
              <a:t>View objects are similar to lists but they are read-only </a:t>
            </a:r>
          </a:p>
          <a:p>
            <a:pPr marL="285750" indent="-285750">
              <a:buFont typeface="Arial" panose="020B0604020202020204" pitchFamily="34" charset="0"/>
              <a:buChar char="•"/>
            </a:pPr>
            <a:r>
              <a:rPr lang="en-US" dirty="0"/>
              <a:t>i.e., they cannot be modified</a:t>
            </a:r>
          </a:p>
          <a:p>
            <a:pPr marL="285750" indent="-285750">
              <a:buFont typeface="Arial" panose="020B0604020202020204" pitchFamily="34" charset="0"/>
              <a:buChar char="•"/>
            </a:pPr>
            <a:r>
              <a:rPr lang="en-US" dirty="0"/>
              <a:t>But they are objects and so they reference the actual underlying data (not a copy)</a:t>
            </a:r>
          </a:p>
          <a:p>
            <a:pPr marL="285750" indent="-285750">
              <a:buFont typeface="Arial" panose="020B0604020202020204" pitchFamily="34" charset="0"/>
              <a:buChar char="•"/>
            </a:pPr>
            <a:r>
              <a:rPr lang="en-US" dirty="0"/>
              <a:t>Support iteration, membership checks, </a:t>
            </a:r>
            <a:r>
              <a:rPr lang="en-US" dirty="0" err="1"/>
              <a:t>etc</a:t>
            </a:r>
            <a:endParaRPr lang="en-US" dirty="0"/>
          </a:p>
        </p:txBody>
      </p:sp>
    </p:spTree>
    <p:extLst>
      <p:ext uri="{BB962C8B-B14F-4D97-AF65-F5344CB8AC3E}">
        <p14:creationId xmlns:p14="http://schemas.microsoft.com/office/powerpoint/2010/main" val="3735001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80CC2-C35F-2912-5AD8-59F7972C1F29}"/>
              </a:ext>
            </a:extLst>
          </p:cNvPr>
          <p:cNvSpPr>
            <a:spLocks noGrp="1"/>
          </p:cNvSpPr>
          <p:nvPr>
            <p:ph type="title"/>
          </p:nvPr>
        </p:nvSpPr>
        <p:spPr/>
        <p:txBody>
          <a:bodyPr/>
          <a:lstStyle/>
          <a:p>
            <a:r>
              <a:rPr lang="en-US" dirty="0"/>
              <a:t>Keys</a:t>
            </a:r>
          </a:p>
        </p:txBody>
      </p:sp>
      <p:sp>
        <p:nvSpPr>
          <p:cNvPr id="6" name="Content Placeholder 5">
            <a:extLst>
              <a:ext uri="{FF2B5EF4-FFF2-40B4-BE49-F238E27FC236}">
                <a16:creationId xmlns:a16="http://schemas.microsoft.com/office/drawing/2014/main" id="{73D0091D-7345-FBBB-9397-EA189513757B}"/>
              </a:ext>
            </a:extLst>
          </p:cNvPr>
          <p:cNvSpPr>
            <a:spLocks noGrp="1"/>
          </p:cNvSpPr>
          <p:nvPr>
            <p:ph idx="1"/>
          </p:nvPr>
        </p:nvSpPr>
        <p:spPr/>
        <p:txBody>
          <a:bodyPr>
            <a:normAutofit lnSpcReduction="10000"/>
          </a:bodyPr>
          <a:lstStyle/>
          <a:p>
            <a:pPr>
              <a:buNone/>
            </a:pPr>
            <a:r>
              <a:rPr lang="en-US" sz="1800" b="0" i="0" dirty="0">
                <a:solidFill>
                  <a:srgbClr val="080808"/>
                </a:solidFill>
                <a:effectLst/>
                <a:latin typeface="JetBrains Mono"/>
              </a:rPr>
              <a:t>	01    </a:t>
            </a:r>
            <a:r>
              <a:rPr lang="en-US" sz="1800" dirty="0" err="1">
                <a:solidFill>
                  <a:srgbClr val="080808"/>
                </a:solidFill>
                <a:effectLst/>
                <a:latin typeface="JetBrains Mono"/>
              </a:rPr>
              <a:t>my_dict</a:t>
            </a:r>
            <a:r>
              <a:rPr lang="en-US" sz="1800" dirty="0">
                <a:solidFill>
                  <a:srgbClr val="080808"/>
                </a:solidFill>
                <a:effectLst/>
                <a:latin typeface="JetBrains Mono"/>
              </a:rPr>
              <a:t> = {</a:t>
            </a:r>
            <a:r>
              <a:rPr lang="en-US" sz="1800" dirty="0">
                <a:solidFill>
                  <a:srgbClr val="067D17"/>
                </a:solidFill>
                <a:effectLst/>
                <a:latin typeface="JetBrains Mono"/>
              </a:rPr>
              <a:t>'a'</a:t>
            </a:r>
            <a:r>
              <a:rPr lang="en-US" sz="1800" dirty="0">
                <a:solidFill>
                  <a:srgbClr val="080808"/>
                </a:solidFill>
                <a:effectLst/>
                <a:latin typeface="JetBrains Mono"/>
              </a:rPr>
              <a:t>: </a:t>
            </a:r>
            <a:r>
              <a:rPr lang="en-US" sz="1800" dirty="0">
                <a:solidFill>
                  <a:srgbClr val="1750EB"/>
                </a:solidFill>
                <a:effectLst/>
                <a:latin typeface="JetBrains Mono"/>
              </a:rPr>
              <a:t>1</a:t>
            </a:r>
            <a:r>
              <a:rPr lang="en-US" sz="1800" dirty="0">
                <a:solidFill>
                  <a:srgbClr val="080808"/>
                </a:solidFill>
                <a:effectLst/>
                <a:latin typeface="JetBrains Mono"/>
              </a:rPr>
              <a:t>, </a:t>
            </a:r>
            <a:r>
              <a:rPr lang="en-US" sz="1800" dirty="0">
                <a:solidFill>
                  <a:srgbClr val="067D17"/>
                </a:solidFill>
                <a:effectLst/>
                <a:latin typeface="JetBrains Mono"/>
              </a:rPr>
              <a:t>'b'</a:t>
            </a:r>
            <a:r>
              <a:rPr lang="en-US" sz="1800" dirty="0">
                <a:solidFill>
                  <a:srgbClr val="080808"/>
                </a:solidFill>
                <a:effectLst/>
                <a:latin typeface="JetBrains Mono"/>
              </a:rPr>
              <a:t>: </a:t>
            </a:r>
            <a:r>
              <a:rPr lang="en-US" sz="1800" dirty="0">
                <a:solidFill>
                  <a:srgbClr val="1750EB"/>
                </a:solidFill>
                <a:effectLst/>
                <a:latin typeface="JetBrains Mono"/>
              </a:rPr>
              <a:t>2</a:t>
            </a:r>
            <a:r>
              <a:rPr lang="en-US" sz="1800" dirty="0">
                <a:solidFill>
                  <a:srgbClr val="080808"/>
                </a:solidFill>
                <a:effectLst/>
                <a:latin typeface="JetBrains Mono"/>
              </a:rPr>
              <a:t>, </a:t>
            </a:r>
            <a:r>
              <a:rPr lang="en-US" sz="1800" dirty="0">
                <a:solidFill>
                  <a:srgbClr val="067D17"/>
                </a:solidFill>
                <a:effectLst/>
                <a:latin typeface="JetBrains Mono"/>
              </a:rPr>
              <a:t>'c'</a:t>
            </a:r>
            <a:r>
              <a:rPr lang="en-US" sz="1800" dirty="0">
                <a:solidFill>
                  <a:srgbClr val="080808"/>
                </a:solidFill>
                <a:effectLst/>
                <a:latin typeface="JetBrains Mono"/>
              </a:rPr>
              <a:t>: </a:t>
            </a:r>
            <a:r>
              <a:rPr lang="en-US" sz="1800" dirty="0">
                <a:solidFill>
                  <a:srgbClr val="1750EB"/>
                </a:solidFill>
                <a:effectLst/>
                <a:latin typeface="JetBrains Mono"/>
              </a:rPr>
              <a:t>3</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02    </a:t>
            </a:r>
            <a:r>
              <a:rPr lang="en-US" sz="1800" i="1" dirty="0">
                <a:solidFill>
                  <a:srgbClr val="8C8C8C"/>
                </a:solidFill>
                <a:effectLst/>
                <a:latin typeface="JetBrains Mono"/>
              </a:rPr>
              <a:t># Create a view object for keys</a:t>
            </a:r>
            <a:br>
              <a:rPr lang="en-US" sz="1800" i="1" dirty="0">
                <a:solidFill>
                  <a:srgbClr val="8C8C8C"/>
                </a:solidFill>
                <a:effectLst/>
                <a:latin typeface="JetBrains Mono"/>
              </a:rPr>
            </a:br>
            <a:r>
              <a:rPr lang="en-US" sz="1800" b="0" i="0" dirty="0">
                <a:solidFill>
                  <a:srgbClr val="080808"/>
                </a:solidFill>
                <a:effectLst/>
                <a:latin typeface="JetBrains Mono"/>
              </a:rPr>
              <a:t>03    </a:t>
            </a:r>
            <a:r>
              <a:rPr lang="en-US" sz="1800" dirty="0" err="1">
                <a:solidFill>
                  <a:srgbClr val="080808"/>
                </a:solidFill>
                <a:effectLst/>
                <a:latin typeface="JetBrains Mono"/>
              </a:rPr>
              <a:t>keys_view</a:t>
            </a:r>
            <a:r>
              <a:rPr lang="en-US" sz="1800" dirty="0">
                <a:solidFill>
                  <a:srgbClr val="080808"/>
                </a:solidFill>
                <a:effectLst/>
                <a:latin typeface="JetBrains Mono"/>
              </a:rPr>
              <a:t> = </a:t>
            </a:r>
            <a:r>
              <a:rPr lang="en-US" sz="1800" dirty="0" err="1">
                <a:solidFill>
                  <a:srgbClr val="080808"/>
                </a:solidFill>
                <a:effectLst/>
                <a:latin typeface="JetBrains Mono"/>
              </a:rPr>
              <a:t>my_dict.keys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04    </a:t>
            </a:r>
            <a:r>
              <a:rPr lang="en-US" sz="1800" i="1" dirty="0">
                <a:solidFill>
                  <a:srgbClr val="8C8C8C"/>
                </a:solidFill>
                <a:effectLst/>
                <a:latin typeface="JetBrains Mono"/>
              </a:rPr>
              <a:t># </a:t>
            </a:r>
            <a:r>
              <a:rPr lang="en-US" sz="1800" i="1" dirty="0" err="1">
                <a:solidFill>
                  <a:srgbClr val="8C8C8C"/>
                </a:solidFill>
                <a:effectLst/>
                <a:latin typeface="JetBrains Mono"/>
              </a:rPr>
              <a:t>keys_view</a:t>
            </a:r>
            <a:r>
              <a:rPr lang="en-US" sz="1800" i="1" dirty="0">
                <a:solidFill>
                  <a:srgbClr val="8C8C8C"/>
                </a:solidFill>
                <a:effectLst/>
                <a:latin typeface="JetBrains Mono"/>
              </a:rPr>
              <a:t> can "see" all of the keys</a:t>
            </a:r>
            <a:br>
              <a:rPr lang="en-US" sz="1800" i="1" dirty="0">
                <a:solidFill>
                  <a:srgbClr val="8C8C8C"/>
                </a:solidFill>
                <a:effectLst/>
                <a:latin typeface="JetBrains Mono"/>
              </a:rPr>
            </a:br>
            <a:r>
              <a:rPr lang="en-US" sz="1800" b="0" i="0" dirty="0">
                <a:solidFill>
                  <a:srgbClr val="080808"/>
                </a:solidFill>
                <a:effectLst/>
                <a:latin typeface="JetBrains Mono"/>
              </a:rPr>
              <a:t>05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80808"/>
                </a:solidFill>
                <a:effectLst/>
                <a:latin typeface="JetBrains Mono"/>
              </a:rPr>
              <a:t>keys_view</a:t>
            </a:r>
            <a:r>
              <a:rPr lang="en-US" sz="1800" dirty="0">
                <a:solidFill>
                  <a:srgbClr val="080808"/>
                </a:solidFill>
                <a:effectLst/>
                <a:latin typeface="JetBrains Mono"/>
              </a:rPr>
              <a:t>) </a:t>
            </a:r>
            <a:r>
              <a:rPr lang="en-US" sz="1800" i="1" dirty="0">
                <a:solidFill>
                  <a:srgbClr val="8C8C8C"/>
                </a:solidFill>
                <a:effectLst/>
                <a:latin typeface="JetBrains Mono"/>
              </a:rPr>
              <a:t>#dict_keys(['a', 'b', 'c'])</a:t>
            </a:r>
            <a:br>
              <a:rPr lang="en-US" sz="1800" i="1" dirty="0">
                <a:solidFill>
                  <a:srgbClr val="8C8C8C"/>
                </a:solidFill>
                <a:effectLst/>
                <a:latin typeface="JetBrains Mono"/>
              </a:rPr>
            </a:br>
            <a:r>
              <a:rPr lang="en-US" sz="1800" b="0" i="0" dirty="0">
                <a:solidFill>
                  <a:srgbClr val="080808"/>
                </a:solidFill>
                <a:effectLst/>
                <a:latin typeface="JetBrains Mono"/>
              </a:rPr>
              <a:t>06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67D17"/>
                </a:solidFill>
                <a:effectLst/>
                <a:latin typeface="JetBrains Mono"/>
              </a:rPr>
              <a:t>f"Initial</a:t>
            </a:r>
            <a:r>
              <a:rPr lang="en-US" sz="1800" dirty="0">
                <a:solidFill>
                  <a:srgbClr val="067D17"/>
                </a:solidFill>
                <a:effectLst/>
                <a:latin typeface="JetBrains Mono"/>
              </a:rPr>
              <a:t> keys view: </a:t>
            </a:r>
            <a:r>
              <a:rPr lang="en-US" sz="1800" dirty="0">
                <a:solidFill>
                  <a:srgbClr val="0037A6"/>
                </a:solidFill>
                <a:effectLst/>
                <a:latin typeface="JetBrains Mono"/>
              </a:rPr>
              <a:t>{</a:t>
            </a:r>
            <a:r>
              <a:rPr lang="en-US" sz="1800" dirty="0" err="1">
                <a:solidFill>
                  <a:srgbClr val="080808"/>
                </a:solidFill>
                <a:effectLst/>
                <a:latin typeface="JetBrains Mono"/>
              </a:rPr>
              <a:t>keys_view</a:t>
            </a:r>
            <a:r>
              <a:rPr lang="en-US" sz="1800" dirty="0">
                <a:solidFill>
                  <a:srgbClr val="0037A6"/>
                </a:solidFill>
                <a:effectLst/>
                <a:latin typeface="JetBrains Mono"/>
              </a:rPr>
              <a:t>}</a:t>
            </a:r>
            <a:r>
              <a:rPr lang="en-US" sz="1800" dirty="0">
                <a:solidFill>
                  <a:srgbClr val="067D17"/>
                </a:solidFill>
                <a:effectLst/>
                <a:latin typeface="JetBrains Mono"/>
              </a:rPr>
              <a: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07    </a:t>
            </a:r>
            <a:r>
              <a:rPr lang="en-US" sz="1800" i="1" dirty="0">
                <a:solidFill>
                  <a:srgbClr val="8C8C8C"/>
                </a:solidFill>
                <a:effectLst/>
                <a:latin typeface="JetBrains Mono"/>
              </a:rPr>
              <a:t># Initial keys view: </a:t>
            </a:r>
            <a:r>
              <a:rPr lang="en-US" sz="1800" i="1" dirty="0" err="1">
                <a:solidFill>
                  <a:srgbClr val="8C8C8C"/>
                </a:solidFill>
                <a:effectLst/>
                <a:latin typeface="JetBrains Mono"/>
              </a:rPr>
              <a:t>dict_keys</a:t>
            </a:r>
            <a:r>
              <a:rPr lang="en-US" sz="1800" i="1" dirty="0">
                <a:solidFill>
                  <a:srgbClr val="8C8C8C"/>
                </a:solidFill>
                <a:effectLst/>
                <a:latin typeface="JetBrains Mono"/>
              </a:rPr>
              <a:t>(['a', 'b', 'c'])</a:t>
            </a:r>
            <a:br>
              <a:rPr lang="en-US" sz="1800" i="1" dirty="0">
                <a:solidFill>
                  <a:srgbClr val="8C8C8C"/>
                </a:solidFill>
                <a:effectLst/>
                <a:latin typeface="JetBrains Mono"/>
              </a:rPr>
            </a:br>
            <a:r>
              <a:rPr lang="en-US" sz="1800" b="0" i="0" dirty="0">
                <a:solidFill>
                  <a:srgbClr val="080808"/>
                </a:solidFill>
                <a:effectLst/>
                <a:latin typeface="JetBrains Mono"/>
              </a:rPr>
              <a:t>08    </a:t>
            </a:r>
            <a:r>
              <a:rPr lang="en-US" sz="1800" i="1" dirty="0">
                <a:solidFill>
                  <a:srgbClr val="8C8C8C"/>
                </a:solidFill>
                <a:effectLst/>
                <a:latin typeface="JetBrains Mono"/>
              </a:rPr>
              <a:t># Modify the dictionary</a:t>
            </a:r>
            <a:br>
              <a:rPr lang="en-US" sz="1800" i="1" dirty="0">
                <a:solidFill>
                  <a:srgbClr val="8C8C8C"/>
                </a:solidFill>
                <a:effectLst/>
                <a:latin typeface="JetBrains Mono"/>
              </a:rPr>
            </a:br>
            <a:r>
              <a:rPr lang="en-US" sz="1800" b="0" i="0" dirty="0">
                <a:solidFill>
                  <a:srgbClr val="080808"/>
                </a:solidFill>
                <a:effectLst/>
                <a:latin typeface="JetBrains Mono"/>
              </a:rPr>
              <a:t>09    </a:t>
            </a:r>
            <a:r>
              <a:rPr lang="en-US" sz="1800" dirty="0" err="1">
                <a:solidFill>
                  <a:srgbClr val="080808"/>
                </a:solidFill>
                <a:effectLst/>
                <a:latin typeface="JetBrains Mono"/>
              </a:rPr>
              <a:t>my_dict</a:t>
            </a:r>
            <a:r>
              <a:rPr lang="en-US" sz="1800" dirty="0">
                <a:solidFill>
                  <a:srgbClr val="080808"/>
                </a:solidFill>
                <a:effectLst/>
                <a:latin typeface="JetBrains Mono"/>
              </a:rPr>
              <a:t>[</a:t>
            </a:r>
            <a:r>
              <a:rPr lang="en-US" sz="1800" dirty="0">
                <a:solidFill>
                  <a:srgbClr val="067D17"/>
                </a:solidFill>
                <a:effectLst/>
                <a:latin typeface="JetBrains Mono"/>
              </a:rPr>
              <a:t>'d'</a:t>
            </a:r>
            <a:r>
              <a:rPr lang="en-US" sz="1800" dirty="0">
                <a:solidFill>
                  <a:srgbClr val="080808"/>
                </a:solidFill>
                <a:effectLst/>
                <a:latin typeface="JetBrains Mono"/>
              </a:rPr>
              <a:t>] = </a:t>
            </a:r>
            <a:r>
              <a:rPr lang="en-US" sz="1800" dirty="0">
                <a:solidFill>
                  <a:srgbClr val="1750EB"/>
                </a:solidFill>
                <a:effectLst/>
                <a:latin typeface="JetBrains Mono"/>
              </a:rPr>
              <a:t>4</a:t>
            </a:r>
            <a:br>
              <a:rPr lang="en-US" sz="1800" dirty="0">
                <a:solidFill>
                  <a:srgbClr val="1750EB"/>
                </a:solidFill>
                <a:effectLst/>
                <a:latin typeface="JetBrains Mono"/>
              </a:rPr>
            </a:br>
            <a:r>
              <a:rPr lang="en-US" sz="1800" b="0" i="0" dirty="0">
                <a:solidFill>
                  <a:srgbClr val="080808"/>
                </a:solidFill>
                <a:effectLst/>
                <a:latin typeface="JetBrains Mono"/>
              </a:rPr>
              <a:t>10    </a:t>
            </a:r>
            <a:r>
              <a:rPr lang="en-US" sz="1800" i="1" dirty="0">
                <a:solidFill>
                  <a:srgbClr val="8C8C8C"/>
                </a:solidFill>
                <a:effectLst/>
                <a:latin typeface="JetBrains Mono"/>
              </a:rPr>
              <a:t># After modifying the dictionary, the </a:t>
            </a:r>
            <a:r>
              <a:rPr lang="en-US" sz="1800" i="1" dirty="0" err="1">
                <a:solidFill>
                  <a:srgbClr val="8C8C8C"/>
                </a:solidFill>
                <a:effectLst/>
                <a:latin typeface="JetBrains Mono"/>
              </a:rPr>
              <a:t>keys_view</a:t>
            </a:r>
            <a:r>
              <a:rPr lang="en-US" sz="1800" i="1" dirty="0">
                <a:solidFill>
                  <a:srgbClr val="8C8C8C"/>
                </a:solidFill>
                <a:effectLst/>
                <a:latin typeface="JetBrains Mono"/>
              </a:rPr>
              <a:t> variable</a:t>
            </a:r>
            <a:br>
              <a:rPr lang="en-US" sz="1800" i="1" dirty="0">
                <a:solidFill>
                  <a:srgbClr val="8C8C8C"/>
                </a:solidFill>
                <a:effectLst/>
                <a:latin typeface="JetBrains Mono"/>
              </a:rPr>
            </a:br>
            <a:r>
              <a:rPr lang="en-US" sz="1800" b="0" i="0" dirty="0">
                <a:solidFill>
                  <a:srgbClr val="080808"/>
                </a:solidFill>
                <a:effectLst/>
                <a:latin typeface="JetBrains Mono"/>
              </a:rPr>
              <a:t>11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67D17"/>
                </a:solidFill>
                <a:effectLst/>
                <a:latin typeface="JetBrains Mono"/>
              </a:rPr>
              <a:t>f"Keys</a:t>
            </a:r>
            <a:r>
              <a:rPr lang="en-US" sz="1800" dirty="0">
                <a:solidFill>
                  <a:srgbClr val="067D17"/>
                </a:solidFill>
                <a:effectLst/>
                <a:latin typeface="JetBrains Mono"/>
              </a:rPr>
              <a:t> view after dictionary modification: </a:t>
            </a:r>
            <a:r>
              <a:rPr lang="en-US" sz="1800" dirty="0">
                <a:solidFill>
                  <a:srgbClr val="0037A6"/>
                </a:solidFill>
                <a:effectLst/>
                <a:latin typeface="JetBrains Mono"/>
              </a:rPr>
              <a:t>{</a:t>
            </a:r>
            <a:r>
              <a:rPr lang="en-US" sz="1800" dirty="0" err="1">
                <a:solidFill>
                  <a:srgbClr val="080808"/>
                </a:solidFill>
                <a:effectLst/>
                <a:latin typeface="JetBrains Mono"/>
              </a:rPr>
              <a:t>keys_view</a:t>
            </a:r>
            <a:r>
              <a:rPr lang="en-US" sz="1800" dirty="0">
                <a:solidFill>
                  <a:srgbClr val="0037A6"/>
                </a:solidFill>
                <a:effectLst/>
                <a:latin typeface="JetBrains Mono"/>
              </a:rPr>
              <a:t>}</a:t>
            </a:r>
            <a:r>
              <a:rPr lang="en-US" sz="1800" dirty="0">
                <a:solidFill>
                  <a:srgbClr val="067D17"/>
                </a:solidFill>
                <a:effectLst/>
                <a:latin typeface="JetBrains Mono"/>
              </a:rPr>
              <a: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12    </a:t>
            </a:r>
            <a:r>
              <a:rPr lang="en-US" sz="1800" i="1" dirty="0">
                <a:solidFill>
                  <a:srgbClr val="8C8C8C"/>
                </a:solidFill>
                <a:effectLst/>
                <a:latin typeface="JetBrains Mono"/>
              </a:rPr>
              <a:t># Keys view after dictionary modification: </a:t>
            </a:r>
            <a:r>
              <a:rPr lang="en-US" sz="1800" i="1" dirty="0" err="1">
                <a:solidFill>
                  <a:srgbClr val="8C8C8C"/>
                </a:solidFill>
                <a:effectLst/>
                <a:latin typeface="JetBrains Mono"/>
              </a:rPr>
              <a:t>dict_keys</a:t>
            </a:r>
            <a:r>
              <a:rPr lang="en-US" sz="1800" i="1" dirty="0">
                <a:solidFill>
                  <a:srgbClr val="8C8C8C"/>
                </a:solidFill>
                <a:effectLst/>
                <a:latin typeface="JetBrains Mono"/>
              </a:rPr>
              <a:t>(['a', 'b', 'c', 'd'])</a:t>
            </a:r>
            <a:endParaRPr lang="en-US" sz="1800" dirty="0">
              <a:solidFill>
                <a:srgbClr val="080808"/>
              </a:solidFill>
              <a:effectLst/>
              <a:latin typeface="JetBrains Mono"/>
            </a:endParaRPr>
          </a:p>
          <a:p>
            <a:endParaRPr lang="en-CA" dirty="0"/>
          </a:p>
        </p:txBody>
      </p:sp>
    </p:spTree>
    <p:extLst>
      <p:ext uri="{BB962C8B-B14F-4D97-AF65-F5344CB8AC3E}">
        <p14:creationId xmlns:p14="http://schemas.microsoft.com/office/powerpoint/2010/main" val="3127387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65183-F7C3-C681-2E81-3AB08903A4E9}"/>
              </a:ext>
            </a:extLst>
          </p:cNvPr>
          <p:cNvSpPr>
            <a:spLocks noGrp="1"/>
          </p:cNvSpPr>
          <p:nvPr>
            <p:ph type="title"/>
          </p:nvPr>
        </p:nvSpPr>
        <p:spPr/>
        <p:txBody>
          <a:bodyPr/>
          <a:lstStyle/>
          <a:p>
            <a:r>
              <a:rPr lang="en-US" dirty="0"/>
              <a:t>Values</a:t>
            </a:r>
          </a:p>
        </p:txBody>
      </p:sp>
      <p:sp>
        <p:nvSpPr>
          <p:cNvPr id="7" name="Content Placeholder 6">
            <a:extLst>
              <a:ext uri="{FF2B5EF4-FFF2-40B4-BE49-F238E27FC236}">
                <a16:creationId xmlns:a16="http://schemas.microsoft.com/office/drawing/2014/main" id="{A2AF6B53-E780-5592-CDFC-11356462E391}"/>
              </a:ext>
            </a:extLst>
          </p:cNvPr>
          <p:cNvSpPr>
            <a:spLocks noGrp="1"/>
          </p:cNvSpPr>
          <p:nvPr>
            <p:ph idx="1"/>
          </p:nvPr>
        </p:nvSpPr>
        <p:spPr/>
        <p:txBody>
          <a:bodyPr/>
          <a:lstStyle/>
          <a:p>
            <a:pPr>
              <a:buNone/>
            </a:pPr>
            <a:r>
              <a:rPr lang="en-US" sz="1800" b="0" i="0" dirty="0">
                <a:solidFill>
                  <a:srgbClr val="080808"/>
                </a:solidFill>
                <a:effectLst/>
                <a:latin typeface="JetBrains Mono"/>
              </a:rPr>
              <a:t>1    </a:t>
            </a:r>
            <a:r>
              <a:rPr lang="en-US" sz="1800" i="1" dirty="0">
                <a:solidFill>
                  <a:srgbClr val="8C8C8C"/>
                </a:solidFill>
                <a:effectLst/>
                <a:latin typeface="JetBrains Mono"/>
              </a:rPr>
              <a:t># Same thing with .values()</a:t>
            </a:r>
            <a:br>
              <a:rPr lang="en-US" sz="1800" i="1" dirty="0">
                <a:solidFill>
                  <a:srgbClr val="8C8C8C"/>
                </a:solidFill>
                <a:effectLst/>
                <a:latin typeface="JetBrains Mono"/>
              </a:rPr>
            </a:br>
            <a:r>
              <a:rPr lang="en-US" sz="1800" b="0" i="0" dirty="0">
                <a:solidFill>
                  <a:srgbClr val="080808"/>
                </a:solidFill>
                <a:effectLst/>
                <a:latin typeface="JetBrains Mono"/>
              </a:rPr>
              <a:t>2    </a:t>
            </a:r>
            <a:r>
              <a:rPr lang="en-US" sz="1800" dirty="0" err="1">
                <a:solidFill>
                  <a:srgbClr val="080808"/>
                </a:solidFill>
                <a:effectLst/>
                <a:latin typeface="JetBrains Mono"/>
              </a:rPr>
              <a:t>values_view</a:t>
            </a:r>
            <a:r>
              <a:rPr lang="en-US" sz="1800" dirty="0">
                <a:solidFill>
                  <a:srgbClr val="080808"/>
                </a:solidFill>
                <a:effectLst/>
                <a:latin typeface="JetBrains Mono"/>
              </a:rPr>
              <a:t> = </a:t>
            </a:r>
            <a:r>
              <a:rPr lang="en-US" sz="1800" dirty="0" err="1">
                <a:solidFill>
                  <a:srgbClr val="080808"/>
                </a:solidFill>
                <a:effectLst/>
                <a:latin typeface="JetBrains Mono"/>
              </a:rPr>
              <a:t>my_dict.values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3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80808"/>
                </a:solidFill>
                <a:effectLst/>
                <a:latin typeface="JetBrains Mono"/>
              </a:rPr>
              <a:t>values_view</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4    </a:t>
            </a:r>
            <a:r>
              <a:rPr lang="en-US" sz="1800" dirty="0" err="1">
                <a:solidFill>
                  <a:srgbClr val="080808"/>
                </a:solidFill>
                <a:effectLst/>
                <a:latin typeface="JetBrains Mono"/>
              </a:rPr>
              <a:t>my_dict</a:t>
            </a:r>
            <a:r>
              <a:rPr lang="en-US" sz="1800" dirty="0">
                <a:solidFill>
                  <a:srgbClr val="080808"/>
                </a:solidFill>
                <a:effectLst/>
                <a:latin typeface="JetBrains Mono"/>
              </a:rPr>
              <a:t>[</a:t>
            </a:r>
            <a:r>
              <a:rPr lang="en-US" sz="1800" dirty="0">
                <a:solidFill>
                  <a:srgbClr val="067D17"/>
                </a:solidFill>
                <a:effectLst/>
                <a:latin typeface="JetBrains Mono"/>
              </a:rPr>
              <a:t>'e'</a:t>
            </a:r>
            <a:r>
              <a:rPr lang="en-US" sz="1800" dirty="0">
                <a:solidFill>
                  <a:srgbClr val="080808"/>
                </a:solidFill>
                <a:effectLst/>
                <a:latin typeface="JetBrains Mono"/>
              </a:rPr>
              <a:t>] = </a:t>
            </a:r>
            <a:r>
              <a:rPr lang="en-US" sz="1800" dirty="0">
                <a:solidFill>
                  <a:srgbClr val="1750EB"/>
                </a:solidFill>
                <a:effectLst/>
                <a:latin typeface="JetBrains Mono"/>
              </a:rPr>
              <a:t>5</a:t>
            </a:r>
            <a:br>
              <a:rPr lang="en-US" sz="1800" dirty="0">
                <a:solidFill>
                  <a:srgbClr val="1750EB"/>
                </a:solidFill>
                <a:effectLst/>
                <a:latin typeface="JetBrains Mono"/>
              </a:rPr>
            </a:br>
            <a:r>
              <a:rPr lang="en-US" sz="1800" b="0" i="0" dirty="0">
                <a:solidFill>
                  <a:srgbClr val="080808"/>
                </a:solidFill>
                <a:effectLst/>
                <a:latin typeface="JetBrains Mono"/>
              </a:rPr>
              <a:t>5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67D17"/>
                </a:solidFill>
                <a:effectLst/>
                <a:latin typeface="JetBrains Mono"/>
              </a:rPr>
              <a:t>f"Values</a:t>
            </a:r>
            <a:r>
              <a:rPr lang="en-US" sz="1800" dirty="0">
                <a:solidFill>
                  <a:srgbClr val="067D17"/>
                </a:solidFill>
                <a:effectLst/>
                <a:latin typeface="JetBrains Mono"/>
              </a:rPr>
              <a:t> view after dictionary modification: </a:t>
            </a:r>
            <a:r>
              <a:rPr lang="en-US" sz="1800" dirty="0">
                <a:solidFill>
                  <a:srgbClr val="0037A6"/>
                </a:solidFill>
                <a:effectLst/>
                <a:latin typeface="JetBrains Mono"/>
              </a:rPr>
              <a:t>{</a:t>
            </a:r>
            <a:r>
              <a:rPr lang="en-US" sz="1800" dirty="0" err="1">
                <a:solidFill>
                  <a:srgbClr val="080808"/>
                </a:solidFill>
                <a:effectLst/>
                <a:latin typeface="JetBrains Mono"/>
              </a:rPr>
              <a:t>values_view</a:t>
            </a:r>
            <a:r>
              <a:rPr lang="en-US" sz="1800" dirty="0">
                <a:solidFill>
                  <a:srgbClr val="0037A6"/>
                </a:solidFill>
                <a:effectLst/>
                <a:latin typeface="JetBrains Mono"/>
              </a:rPr>
              <a:t>}</a:t>
            </a:r>
            <a:r>
              <a:rPr lang="en-US" sz="1800" dirty="0">
                <a:solidFill>
                  <a:srgbClr val="067D17"/>
                </a:solidFill>
                <a:effectLst/>
                <a:latin typeface="JetBrains Mono"/>
              </a:rPr>
              <a:t>"</a:t>
            </a:r>
            <a:r>
              <a:rPr lang="en-US" sz="1800" dirty="0">
                <a:solidFill>
                  <a:srgbClr val="080808"/>
                </a:solidFill>
                <a:effectLst/>
                <a:latin typeface="JetBrains Mono"/>
              </a:rPr>
              <a:t>)</a:t>
            </a:r>
          </a:p>
          <a:p>
            <a:r>
              <a:rPr lang="en-US" dirty="0">
                <a:solidFill>
                  <a:srgbClr val="080808"/>
                </a:solidFill>
                <a:latin typeface="JetBrains Mono"/>
              </a:rPr>
              <a:t>Values work pretty much the same as keys – you have a view over them, not accessing the actual values:</a:t>
            </a:r>
          </a:p>
          <a:p>
            <a:pPr marL="228600" lvl="1" indent="0">
              <a:buNone/>
            </a:pPr>
            <a:r>
              <a:rPr lang="en-US" dirty="0">
                <a:solidFill>
                  <a:srgbClr val="080808"/>
                </a:solidFill>
                <a:latin typeface="JetBrains Mono"/>
              </a:rPr>
              <a:t>“Values view after dictionary modification: </a:t>
            </a:r>
            <a:r>
              <a:rPr lang="en-US" dirty="0" err="1">
                <a:solidFill>
                  <a:srgbClr val="080808"/>
                </a:solidFill>
                <a:latin typeface="JetBrains Mono"/>
              </a:rPr>
              <a:t>dict_values</a:t>
            </a:r>
            <a:r>
              <a:rPr lang="en-US" dirty="0">
                <a:solidFill>
                  <a:srgbClr val="080808"/>
                </a:solidFill>
                <a:latin typeface="JetBrains Mono"/>
              </a:rPr>
              <a:t>([1, 2, 3, 4, 5])”</a:t>
            </a:r>
            <a:endParaRPr lang="en-US" dirty="0">
              <a:solidFill>
                <a:srgbClr val="080808"/>
              </a:solidFill>
              <a:effectLst/>
              <a:latin typeface="JetBrains Mono"/>
            </a:endParaRPr>
          </a:p>
          <a:p>
            <a:endParaRPr lang="en-CA" dirty="0"/>
          </a:p>
        </p:txBody>
      </p:sp>
    </p:spTree>
    <p:extLst>
      <p:ext uri="{BB962C8B-B14F-4D97-AF65-F5344CB8AC3E}">
        <p14:creationId xmlns:p14="http://schemas.microsoft.com/office/powerpoint/2010/main" val="2387627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32A11-934A-C5B5-D6AE-13E026838C54}"/>
              </a:ext>
            </a:extLst>
          </p:cNvPr>
          <p:cNvSpPr>
            <a:spLocks noGrp="1"/>
          </p:cNvSpPr>
          <p:nvPr>
            <p:ph type="title"/>
          </p:nvPr>
        </p:nvSpPr>
        <p:spPr/>
        <p:txBody>
          <a:bodyPr/>
          <a:lstStyle/>
          <a:p>
            <a:r>
              <a:rPr lang="en-US" dirty="0"/>
              <a:t>items</a:t>
            </a:r>
          </a:p>
        </p:txBody>
      </p:sp>
      <p:sp>
        <p:nvSpPr>
          <p:cNvPr id="3" name="Content Placeholder 2">
            <a:extLst>
              <a:ext uri="{FF2B5EF4-FFF2-40B4-BE49-F238E27FC236}">
                <a16:creationId xmlns:a16="http://schemas.microsoft.com/office/drawing/2014/main" id="{A817EC2E-662B-2119-7E26-3B81D94D50E1}"/>
              </a:ext>
            </a:extLst>
          </p:cNvPr>
          <p:cNvSpPr>
            <a:spLocks noGrp="1"/>
          </p:cNvSpPr>
          <p:nvPr>
            <p:ph idx="1"/>
          </p:nvPr>
        </p:nvSpPr>
        <p:spPr/>
        <p:txBody>
          <a:bodyPr>
            <a:normAutofit lnSpcReduction="10000"/>
          </a:bodyPr>
          <a:lstStyle/>
          <a:p>
            <a:pPr>
              <a:buNone/>
            </a:pPr>
            <a:r>
              <a:rPr lang="en-US" sz="1800" b="0" i="0" dirty="0">
                <a:solidFill>
                  <a:srgbClr val="080808"/>
                </a:solidFill>
                <a:effectLst/>
                <a:latin typeface="JetBrains Mono"/>
              </a:rPr>
              <a:t>	1    </a:t>
            </a:r>
            <a:r>
              <a:rPr lang="en-US" sz="1800" i="1" dirty="0">
                <a:solidFill>
                  <a:srgbClr val="8C8C8C"/>
                </a:solidFill>
                <a:effectLst/>
                <a:latin typeface="JetBrains Mono"/>
              </a:rPr>
              <a:t># .items() returns an '</a:t>
            </a:r>
            <a:r>
              <a:rPr lang="en-US" sz="1800" i="1" dirty="0" err="1">
                <a:solidFill>
                  <a:srgbClr val="8C8C8C"/>
                </a:solidFill>
                <a:effectLst/>
                <a:latin typeface="JetBrains Mono"/>
              </a:rPr>
              <a:t>iterable</a:t>
            </a:r>
            <a:r>
              <a:rPr lang="en-US" sz="1800" i="1" dirty="0">
                <a:solidFill>
                  <a:srgbClr val="8C8C8C"/>
                </a:solidFill>
                <a:effectLst/>
                <a:latin typeface="JetBrains Mono"/>
              </a:rPr>
              <a:t>'</a:t>
            </a:r>
            <a:br>
              <a:rPr lang="en-US" sz="1800" i="1" dirty="0">
                <a:solidFill>
                  <a:srgbClr val="8C8C8C"/>
                </a:solidFill>
                <a:effectLst/>
                <a:latin typeface="JetBrains Mono"/>
              </a:rPr>
            </a:br>
            <a:r>
              <a:rPr lang="en-US" sz="1800" b="0" i="0" dirty="0">
                <a:solidFill>
                  <a:srgbClr val="080808"/>
                </a:solidFill>
                <a:effectLst/>
                <a:latin typeface="JetBrains Mono"/>
              </a:rPr>
              <a:t>2    </a:t>
            </a:r>
            <a:r>
              <a:rPr lang="en-US" sz="1800" i="1" dirty="0">
                <a:solidFill>
                  <a:srgbClr val="8C8C8C"/>
                </a:solidFill>
                <a:effectLst/>
                <a:latin typeface="JetBrains Mono"/>
              </a:rPr>
              <a:t># </a:t>
            </a:r>
            <a:r>
              <a:rPr lang="en-US" sz="1800" i="1" dirty="0" err="1">
                <a:solidFill>
                  <a:srgbClr val="8C8C8C"/>
                </a:solidFill>
                <a:effectLst/>
                <a:latin typeface="JetBrains Mono"/>
              </a:rPr>
              <a:t>Iterable</a:t>
            </a:r>
            <a:r>
              <a:rPr lang="en-US" sz="1800" i="1" dirty="0">
                <a:solidFill>
                  <a:srgbClr val="8C8C8C"/>
                </a:solidFill>
                <a:effectLst/>
                <a:latin typeface="JetBrains Mono"/>
              </a:rPr>
              <a:t> - means it is a data structure that can be iterated over</a:t>
            </a:r>
            <a:br>
              <a:rPr lang="en-US" sz="1800" i="1" dirty="0">
                <a:solidFill>
                  <a:srgbClr val="8C8C8C"/>
                </a:solidFill>
                <a:effectLst/>
                <a:latin typeface="JetBrains Mono"/>
              </a:rPr>
            </a:br>
            <a:r>
              <a:rPr lang="en-US" sz="1800" b="0" i="0" dirty="0">
                <a:solidFill>
                  <a:srgbClr val="080808"/>
                </a:solidFill>
                <a:effectLst/>
                <a:latin typeface="JetBrains Mono"/>
              </a:rPr>
              <a:t>3    </a:t>
            </a:r>
            <a:r>
              <a:rPr lang="en-US" sz="1800" dirty="0" err="1">
                <a:solidFill>
                  <a:srgbClr val="080808"/>
                </a:solidFill>
                <a:effectLst/>
                <a:latin typeface="JetBrains Mono"/>
              </a:rPr>
              <a:t>items_view</a:t>
            </a:r>
            <a:r>
              <a:rPr lang="en-US" sz="1800" dirty="0">
                <a:solidFill>
                  <a:srgbClr val="080808"/>
                </a:solidFill>
                <a:effectLst/>
                <a:latin typeface="JetBrains Mono"/>
              </a:rPr>
              <a:t> = </a:t>
            </a:r>
            <a:r>
              <a:rPr lang="en-US" sz="1800" dirty="0" err="1">
                <a:solidFill>
                  <a:srgbClr val="080808"/>
                </a:solidFill>
                <a:effectLst/>
                <a:latin typeface="JetBrains Mono"/>
              </a:rPr>
              <a:t>my_dict.items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4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67D17"/>
                </a:solidFill>
                <a:effectLst/>
                <a:latin typeface="JetBrains Mono"/>
              </a:rPr>
              <a:t>f"Items</a:t>
            </a:r>
            <a:r>
              <a:rPr lang="en-US" sz="1800" dirty="0">
                <a:solidFill>
                  <a:srgbClr val="067D17"/>
                </a:solidFill>
                <a:effectLst/>
                <a:latin typeface="JetBrains Mono"/>
              </a:rPr>
              <a:t> view (tuples)): </a:t>
            </a:r>
            <a:r>
              <a:rPr lang="en-US" sz="1800" dirty="0">
                <a:solidFill>
                  <a:srgbClr val="0037A6"/>
                </a:solidFill>
                <a:effectLst/>
                <a:latin typeface="JetBrains Mono"/>
              </a:rPr>
              <a:t>{</a:t>
            </a:r>
            <a:r>
              <a:rPr lang="en-US" sz="1800" dirty="0" err="1">
                <a:solidFill>
                  <a:srgbClr val="080808"/>
                </a:solidFill>
                <a:effectLst/>
                <a:latin typeface="JetBrains Mono"/>
              </a:rPr>
              <a:t>items_view</a:t>
            </a:r>
            <a:r>
              <a:rPr lang="en-US" sz="1800" dirty="0">
                <a:solidFill>
                  <a:srgbClr val="0037A6"/>
                </a:solidFill>
                <a:effectLst/>
                <a:latin typeface="JetBrains Mono"/>
              </a:rPr>
              <a:t>}</a:t>
            </a:r>
            <a:r>
              <a:rPr lang="en-US" sz="1800" dirty="0">
                <a:solidFill>
                  <a:srgbClr val="067D17"/>
                </a:solidFill>
                <a:effectLst/>
                <a:latin typeface="JetBrains Mono"/>
              </a:rPr>
              <a:t>"</a:t>
            </a:r>
            <a:r>
              <a:rPr lang="en-US" sz="1800" dirty="0">
                <a:solidFill>
                  <a:srgbClr val="080808"/>
                </a:solidFill>
                <a:effectLst/>
                <a:latin typeface="JetBrains Mono"/>
              </a:rPr>
              <a:t>)</a:t>
            </a:r>
          </a:p>
          <a:p>
            <a:r>
              <a:rPr lang="en-CA" dirty="0"/>
              <a:t>Lists and dictionaries are both objects that are </a:t>
            </a:r>
            <a:r>
              <a:rPr lang="en-CA" dirty="0" err="1"/>
              <a:t>iterable</a:t>
            </a:r>
            <a:endParaRPr lang="en-CA" dirty="0"/>
          </a:p>
          <a:p>
            <a:pPr lvl="1"/>
            <a:r>
              <a:rPr lang="en-CA" dirty="0"/>
              <a:t>That means that they have been defined in a way where you can process them in an order that makes sense</a:t>
            </a:r>
          </a:p>
          <a:p>
            <a:pPr lvl="1"/>
            <a:r>
              <a:rPr lang="en-CA" dirty="0"/>
              <a:t>You can provide a method (named anything but usually items()) that can return an </a:t>
            </a:r>
            <a:r>
              <a:rPr lang="en-CA" dirty="0" err="1"/>
              <a:t>iterable</a:t>
            </a:r>
            <a:r>
              <a:rPr lang="en-CA" dirty="0"/>
              <a:t> even if your data structure is very complicated</a:t>
            </a:r>
          </a:p>
          <a:p>
            <a:pPr lvl="1"/>
            <a:r>
              <a:rPr lang="en-CA" dirty="0"/>
              <a:t>Particularly important down the road for trees</a:t>
            </a:r>
          </a:p>
          <a:p>
            <a:endParaRPr lang="en-CA" dirty="0"/>
          </a:p>
        </p:txBody>
      </p:sp>
    </p:spTree>
    <p:extLst>
      <p:ext uri="{BB962C8B-B14F-4D97-AF65-F5344CB8AC3E}">
        <p14:creationId xmlns:p14="http://schemas.microsoft.com/office/powerpoint/2010/main" val="593454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F4DD54-059F-9065-4BB5-877325B4E30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93B459D-C752-4605-C63D-E3E74D5C7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11" name="Rectangle 10">
            <a:extLst>
              <a:ext uri="{FF2B5EF4-FFF2-40B4-BE49-F238E27FC236}">
                <a16:creationId xmlns:a16="http://schemas.microsoft.com/office/drawing/2014/main" id="{E524C4BD-ECF1-3211-302A-C0BD11821B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9FEFFDB2-BB41-A01B-D582-FDB365201626}"/>
              </a:ext>
            </a:extLst>
          </p:cNvPr>
          <p:cNvSpPr>
            <a:spLocks noGrp="1"/>
          </p:cNvSpPr>
          <p:nvPr>
            <p:ph type="title"/>
          </p:nvPr>
        </p:nvSpPr>
        <p:spPr>
          <a:xfrm>
            <a:off x="804674" y="589097"/>
            <a:ext cx="3044950" cy="1627792"/>
          </a:xfrm>
        </p:spPr>
        <p:txBody>
          <a:bodyPr vert="horz" lIns="274320" tIns="182880" rIns="274320" bIns="182880" rtlCol="0" anchor="ctr" anchorCtr="1">
            <a:normAutofit/>
          </a:bodyPr>
          <a:lstStyle/>
          <a:p>
            <a:r>
              <a:rPr lang="en-US" dirty="0"/>
              <a:t>Common Iteration Patterns</a:t>
            </a:r>
          </a:p>
        </p:txBody>
      </p:sp>
      <p:sp>
        <p:nvSpPr>
          <p:cNvPr id="5" name="TextBox 4">
            <a:extLst>
              <a:ext uri="{FF2B5EF4-FFF2-40B4-BE49-F238E27FC236}">
                <a16:creationId xmlns:a16="http://schemas.microsoft.com/office/drawing/2014/main" id="{34445711-DA83-3B3D-B082-13E44A723AFF}"/>
              </a:ext>
            </a:extLst>
          </p:cNvPr>
          <p:cNvSpPr txBox="1"/>
          <p:nvPr/>
        </p:nvSpPr>
        <p:spPr>
          <a:xfrm>
            <a:off x="338117" y="2532983"/>
            <a:ext cx="4316180" cy="203132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FFFFFF"/>
                </a:solidFill>
                <a:effectLst/>
                <a:uLnTx/>
                <a:uFillTx/>
                <a:latin typeface="Gill Sans MT" panose="020B0502020104020203"/>
                <a:ea typeface="+mn-ea"/>
                <a:cs typeface="+mn-cs"/>
              </a:rPr>
              <a:t>Iterating over lists comes in many common patterns that you can use in your code:</a:t>
            </a:r>
          </a:p>
          <a:p>
            <a:pPr marL="742950" lvl="1" indent="-285750">
              <a:buFont typeface="Arial" panose="020B0604020202020204" pitchFamily="34" charset="0"/>
              <a:buChar char="•"/>
            </a:pPr>
            <a:r>
              <a:rPr lang="en-US" dirty="0">
                <a:solidFill>
                  <a:srgbClr val="FFFFFF"/>
                </a:solidFill>
                <a:latin typeface="Gill Sans MT" panose="020B0502020104020203"/>
              </a:rPr>
              <a:t>Iterate over keys</a:t>
            </a:r>
          </a:p>
          <a:p>
            <a:pPr marL="742950" lvl="1" indent="-285750">
              <a:buFont typeface="Arial" panose="020B0604020202020204" pitchFamily="34" charset="0"/>
              <a:buChar char="•"/>
            </a:pPr>
            <a:r>
              <a:rPr kumimoji="0" lang="en-US" b="0" i="0" u="none" strike="noStrike" kern="1200" cap="none" spc="0" normalizeH="0" baseline="0" noProof="0" dirty="0">
                <a:ln>
                  <a:noFill/>
                </a:ln>
                <a:solidFill>
                  <a:srgbClr val="FFFFFF"/>
                </a:solidFill>
                <a:effectLst/>
                <a:uLnTx/>
                <a:uFillTx/>
                <a:latin typeface="Gill Sans MT" panose="020B0502020104020203"/>
                <a:ea typeface="+mn-ea"/>
                <a:cs typeface="+mn-cs"/>
              </a:rPr>
              <a:t>Iterate over values</a:t>
            </a:r>
          </a:p>
          <a:p>
            <a:pPr marL="742950" lvl="1" indent="-285750">
              <a:buFont typeface="Arial" panose="020B0604020202020204" pitchFamily="34" charset="0"/>
              <a:buChar char="•"/>
            </a:pPr>
            <a:r>
              <a:rPr lang="en-US" dirty="0">
                <a:solidFill>
                  <a:srgbClr val="FFFFFF"/>
                </a:solidFill>
                <a:latin typeface="Gill Sans MT" panose="020B0502020104020203"/>
              </a:rPr>
              <a:t>Iterate over tuples</a:t>
            </a:r>
            <a:endParaRPr kumimoji="0" lang="en-US" b="0" i="0" u="none" strike="noStrike" kern="1200" cap="none" spc="0" normalizeH="0" baseline="0" noProof="0" dirty="0">
              <a:ln>
                <a:noFill/>
              </a:ln>
              <a:solidFill>
                <a:srgbClr val="FFFFFF"/>
              </a:solidFill>
              <a:effectLst/>
              <a:uLnTx/>
              <a:uFillTx/>
              <a:latin typeface="Gill Sans MT" panose="020B0502020104020203"/>
              <a:ea typeface="+mn-ea"/>
              <a:cs typeface="+mn-cs"/>
            </a:endParaRPr>
          </a:p>
          <a:p>
            <a:pPr marL="742950" lvl="1" indent="-285750">
              <a:buFont typeface="Arial" panose="020B0604020202020204" pitchFamily="34" charset="0"/>
              <a:buChar char="•"/>
            </a:pPr>
            <a:r>
              <a:rPr kumimoji="0" lang="en-US" b="0" i="0" u="none" strike="noStrike" kern="1200" cap="none" spc="0" normalizeH="0" baseline="0" noProof="0" dirty="0">
                <a:ln>
                  <a:noFill/>
                </a:ln>
                <a:solidFill>
                  <a:srgbClr val="FFFFFF"/>
                </a:solidFill>
                <a:effectLst/>
                <a:uLnTx/>
                <a:uFillTx/>
                <a:latin typeface="Gill Sans MT" panose="020B0502020104020203"/>
                <a:ea typeface="+mn-ea"/>
                <a:cs typeface="+mn-cs"/>
              </a:rPr>
              <a:t>Iterate over keys but access values</a:t>
            </a:r>
          </a:p>
        </p:txBody>
      </p:sp>
      <p:sp>
        <p:nvSpPr>
          <p:cNvPr id="6" name="Content Placeholder 5">
            <a:extLst>
              <a:ext uri="{FF2B5EF4-FFF2-40B4-BE49-F238E27FC236}">
                <a16:creationId xmlns:a16="http://schemas.microsoft.com/office/drawing/2014/main" id="{268E083D-F7D9-0607-050D-336777AF9E39}"/>
              </a:ext>
            </a:extLst>
          </p:cNvPr>
          <p:cNvSpPr>
            <a:spLocks noGrp="1"/>
          </p:cNvSpPr>
          <p:nvPr>
            <p:ph idx="1"/>
          </p:nvPr>
        </p:nvSpPr>
        <p:spPr>
          <a:xfrm>
            <a:off x="4846319" y="484632"/>
            <a:ext cx="7345679" cy="6016752"/>
          </a:xfrm>
        </p:spPr>
        <p:txBody>
          <a:bodyPr>
            <a:normAutofit fontScale="85000" lnSpcReduction="20000"/>
          </a:bodyPr>
          <a:lstStyle/>
          <a:p>
            <a:pPr>
              <a:buNone/>
            </a:pPr>
            <a:r>
              <a:rPr lang="en-US" sz="1800" b="0" i="0" dirty="0">
                <a:solidFill>
                  <a:srgbClr val="080808"/>
                </a:solidFill>
                <a:effectLst/>
                <a:latin typeface="JetBrains Mono"/>
              </a:rPr>
              <a:t>	01    </a:t>
            </a:r>
            <a:r>
              <a:rPr lang="en-US" sz="1800" i="1" dirty="0">
                <a:solidFill>
                  <a:srgbClr val="8C8C8C"/>
                </a:solidFill>
                <a:effectLst/>
                <a:latin typeface="JetBrains Mono"/>
              </a:rPr>
              <a:t># Iterating over dictionaries</a:t>
            </a:r>
            <a:br>
              <a:rPr lang="en-US" sz="1800" i="1" dirty="0">
                <a:solidFill>
                  <a:srgbClr val="8C8C8C"/>
                </a:solidFill>
                <a:effectLst/>
                <a:latin typeface="JetBrains Mono"/>
              </a:rPr>
            </a:br>
            <a:r>
              <a:rPr lang="en-US" sz="1800" b="0" i="0" dirty="0">
                <a:solidFill>
                  <a:srgbClr val="080808"/>
                </a:solidFill>
                <a:effectLst/>
                <a:latin typeface="JetBrains Mono"/>
              </a:rPr>
              <a:t>02    </a:t>
            </a:r>
            <a:r>
              <a:rPr lang="en-US" sz="1800" dirty="0" err="1">
                <a:solidFill>
                  <a:srgbClr val="080808"/>
                </a:solidFill>
                <a:effectLst/>
                <a:latin typeface="JetBrains Mono"/>
              </a:rPr>
              <a:t>my_dict</a:t>
            </a:r>
            <a:r>
              <a:rPr lang="en-US" sz="1800" dirty="0">
                <a:solidFill>
                  <a:srgbClr val="080808"/>
                </a:solidFill>
                <a:effectLst/>
                <a:latin typeface="JetBrains Mono"/>
              </a:rPr>
              <a:t> = {</a:t>
            </a:r>
            <a:r>
              <a:rPr lang="en-US" sz="1800" dirty="0">
                <a:solidFill>
                  <a:srgbClr val="067D17"/>
                </a:solidFill>
                <a:effectLst/>
                <a:latin typeface="JetBrains Mono"/>
              </a:rPr>
              <a:t>'a'</a:t>
            </a:r>
            <a:r>
              <a:rPr lang="en-US" sz="1800" dirty="0">
                <a:solidFill>
                  <a:srgbClr val="080808"/>
                </a:solidFill>
                <a:effectLst/>
                <a:latin typeface="JetBrains Mono"/>
              </a:rPr>
              <a:t>: </a:t>
            </a:r>
            <a:r>
              <a:rPr lang="en-US" sz="1800" dirty="0">
                <a:solidFill>
                  <a:srgbClr val="1750EB"/>
                </a:solidFill>
                <a:effectLst/>
                <a:latin typeface="JetBrains Mono"/>
              </a:rPr>
              <a:t>1</a:t>
            </a:r>
            <a:r>
              <a:rPr lang="en-US" sz="1800" dirty="0">
                <a:solidFill>
                  <a:srgbClr val="080808"/>
                </a:solidFill>
                <a:effectLst/>
                <a:latin typeface="JetBrains Mono"/>
              </a:rPr>
              <a:t>, </a:t>
            </a:r>
            <a:r>
              <a:rPr lang="en-US" sz="1800" dirty="0">
                <a:solidFill>
                  <a:srgbClr val="067D17"/>
                </a:solidFill>
                <a:effectLst/>
                <a:latin typeface="JetBrains Mono"/>
              </a:rPr>
              <a:t>'c'</a:t>
            </a:r>
            <a:r>
              <a:rPr lang="en-US" sz="1800" dirty="0">
                <a:solidFill>
                  <a:srgbClr val="080808"/>
                </a:solidFill>
                <a:effectLst/>
                <a:latin typeface="JetBrains Mono"/>
              </a:rPr>
              <a:t>: </a:t>
            </a:r>
            <a:r>
              <a:rPr lang="en-US" sz="1800" dirty="0">
                <a:solidFill>
                  <a:srgbClr val="1750EB"/>
                </a:solidFill>
                <a:effectLst/>
                <a:latin typeface="JetBrains Mono"/>
              </a:rPr>
              <a:t>3</a:t>
            </a:r>
            <a:r>
              <a:rPr lang="en-US" sz="1800" dirty="0">
                <a:solidFill>
                  <a:srgbClr val="080808"/>
                </a:solidFill>
                <a:effectLst/>
                <a:latin typeface="JetBrains Mono"/>
              </a:rPr>
              <a:t>, </a:t>
            </a:r>
            <a:r>
              <a:rPr lang="en-US" sz="1800" dirty="0">
                <a:solidFill>
                  <a:srgbClr val="067D17"/>
                </a:solidFill>
                <a:effectLst/>
                <a:latin typeface="JetBrains Mono"/>
              </a:rPr>
              <a:t>'b'</a:t>
            </a:r>
            <a:r>
              <a:rPr lang="en-US" sz="1800" dirty="0">
                <a:solidFill>
                  <a:srgbClr val="080808"/>
                </a:solidFill>
                <a:effectLst/>
                <a:latin typeface="JetBrains Mono"/>
              </a:rPr>
              <a:t>: </a:t>
            </a:r>
            <a:r>
              <a:rPr lang="en-US" sz="1800" dirty="0">
                <a:solidFill>
                  <a:srgbClr val="1750EB"/>
                </a:solidFill>
                <a:effectLst/>
                <a:latin typeface="JetBrains Mono"/>
              </a:rPr>
              <a:t>2</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03    </a:t>
            </a:r>
            <a:r>
              <a:rPr lang="en-US" sz="1800" dirty="0" err="1">
                <a:solidFill>
                  <a:srgbClr val="080808"/>
                </a:solidFill>
                <a:effectLst/>
                <a:latin typeface="JetBrains Mono"/>
              </a:rPr>
              <a:t>my_dict</a:t>
            </a:r>
            <a:r>
              <a:rPr lang="en-US" sz="1800" dirty="0">
                <a:solidFill>
                  <a:srgbClr val="080808"/>
                </a:solidFill>
                <a:effectLst/>
                <a:latin typeface="JetBrains Mono"/>
              </a:rPr>
              <a:t>[</a:t>
            </a:r>
            <a:r>
              <a:rPr lang="en-US" sz="1800" dirty="0">
                <a:solidFill>
                  <a:srgbClr val="067D17"/>
                </a:solidFill>
                <a:effectLst/>
                <a:latin typeface="JetBrains Mono"/>
              </a:rPr>
              <a:t>'d'</a:t>
            </a:r>
            <a:r>
              <a:rPr lang="en-US" sz="1800" dirty="0">
                <a:solidFill>
                  <a:srgbClr val="080808"/>
                </a:solidFill>
                <a:effectLst/>
                <a:latin typeface="JetBrains Mono"/>
              </a:rPr>
              <a:t>] = </a:t>
            </a:r>
            <a:r>
              <a:rPr lang="en-US" sz="1800" dirty="0">
                <a:solidFill>
                  <a:srgbClr val="1750EB"/>
                </a:solidFill>
                <a:effectLst/>
                <a:latin typeface="JetBrains Mono"/>
              </a:rPr>
              <a:t>4</a:t>
            </a:r>
            <a:br>
              <a:rPr lang="en-US" sz="1800" dirty="0">
                <a:solidFill>
                  <a:srgbClr val="1750EB"/>
                </a:solidFill>
                <a:effectLst/>
                <a:latin typeface="JetBrains Mono"/>
              </a:rPr>
            </a:br>
            <a:r>
              <a:rPr lang="en-US" sz="1800" b="0" i="0" dirty="0">
                <a:solidFill>
                  <a:srgbClr val="080808"/>
                </a:solidFill>
                <a:effectLst/>
                <a:latin typeface="JetBrains Mono"/>
              </a:rPr>
              <a:t>04    </a:t>
            </a:r>
            <a:r>
              <a:rPr lang="en-US" sz="1800" i="1" dirty="0">
                <a:solidFill>
                  <a:srgbClr val="8C8C8C"/>
                </a:solidFill>
                <a:effectLst/>
                <a:latin typeface="JetBrains Mono"/>
              </a:rPr>
              <a:t>#Iterates over the keys </a:t>
            </a:r>
            <a:br>
              <a:rPr lang="en-US" sz="1800" i="1" dirty="0">
                <a:solidFill>
                  <a:srgbClr val="8C8C8C"/>
                </a:solidFill>
                <a:effectLst/>
                <a:latin typeface="JetBrains Mono"/>
              </a:rPr>
            </a:br>
            <a:r>
              <a:rPr lang="en-US" sz="1800" b="0" i="0" dirty="0">
                <a:solidFill>
                  <a:srgbClr val="080808"/>
                </a:solidFill>
                <a:effectLst/>
                <a:latin typeface="JetBrains Mono"/>
              </a:rPr>
              <a:t>05    </a:t>
            </a:r>
            <a:r>
              <a:rPr lang="en-US" sz="1800" i="1" dirty="0">
                <a:solidFill>
                  <a:srgbClr val="8C8C8C"/>
                </a:solidFill>
                <a:effectLst/>
                <a:latin typeface="JetBrains Mono"/>
              </a:rPr>
              <a:t>#(in the order they were inserted)</a:t>
            </a:r>
            <a:br>
              <a:rPr lang="en-US" sz="1800" i="1" dirty="0">
                <a:solidFill>
                  <a:srgbClr val="8C8C8C"/>
                </a:solidFill>
                <a:effectLst/>
                <a:latin typeface="JetBrains Mono"/>
              </a:rPr>
            </a:br>
            <a:r>
              <a:rPr lang="en-US" sz="1800" b="0" i="0" dirty="0">
                <a:solidFill>
                  <a:srgbClr val="080808"/>
                </a:solidFill>
                <a:effectLst/>
                <a:latin typeface="JetBrains Mono"/>
              </a:rPr>
              <a:t>06    </a:t>
            </a:r>
            <a:r>
              <a:rPr lang="en-US" sz="1800" dirty="0">
                <a:solidFill>
                  <a:srgbClr val="0033B3"/>
                </a:solidFill>
                <a:effectLst/>
                <a:latin typeface="JetBrains Mono"/>
              </a:rPr>
              <a:t>for </a:t>
            </a:r>
            <a:r>
              <a:rPr lang="en-US" sz="1800" dirty="0">
                <a:solidFill>
                  <a:srgbClr val="080808"/>
                </a:solidFill>
                <a:effectLst/>
                <a:latin typeface="JetBrains Mono"/>
              </a:rPr>
              <a:t>k </a:t>
            </a:r>
            <a:r>
              <a:rPr lang="en-US" sz="1800" dirty="0">
                <a:solidFill>
                  <a:srgbClr val="0033B3"/>
                </a:solidFill>
                <a:effectLst/>
                <a:latin typeface="JetBrains Mono"/>
              </a:rPr>
              <a:t>in </a:t>
            </a:r>
            <a:r>
              <a:rPr lang="en-US" sz="1800" dirty="0" err="1">
                <a:solidFill>
                  <a:srgbClr val="080808"/>
                </a:solidFill>
                <a:effectLst/>
                <a:latin typeface="JetBrains Mono"/>
              </a:rPr>
              <a:t>my_dict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07    </a:t>
            </a: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(k, </a:t>
            </a:r>
            <a:r>
              <a:rPr lang="en-US" sz="1800" dirty="0">
                <a:solidFill>
                  <a:srgbClr val="660099"/>
                </a:solidFill>
                <a:effectLst/>
                <a:latin typeface="JetBrains Mono"/>
              </a:rPr>
              <a:t>end</a:t>
            </a:r>
            <a:r>
              <a:rPr lang="en-US" sz="1800" dirty="0">
                <a:solidFill>
                  <a:srgbClr val="080808"/>
                </a:solidFill>
                <a:effectLst/>
                <a:latin typeface="JetBrains Mono"/>
              </a:rPr>
              <a:t>=</a:t>
            </a: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08    </a:t>
            </a: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i="1" dirty="0">
                <a:solidFill>
                  <a:srgbClr val="8C8C8C"/>
                </a:solidFill>
                <a:effectLst/>
                <a:latin typeface="JetBrains Mono"/>
              </a:rPr>
              <a:t># a c b d </a:t>
            </a:r>
            <a:br>
              <a:rPr lang="en-US" sz="1800" i="1" dirty="0">
                <a:solidFill>
                  <a:srgbClr val="8C8C8C"/>
                </a:solidFill>
                <a:effectLst/>
                <a:latin typeface="JetBrains Mono"/>
              </a:rPr>
            </a:br>
            <a:r>
              <a:rPr lang="en-US" sz="1800" b="0" i="0" dirty="0">
                <a:solidFill>
                  <a:srgbClr val="080808"/>
                </a:solidFill>
                <a:effectLst/>
                <a:latin typeface="JetBrains Mono"/>
              </a:rPr>
              <a:t>09    </a:t>
            </a:r>
            <a:r>
              <a:rPr lang="en-US" sz="1800" i="1" dirty="0">
                <a:solidFill>
                  <a:srgbClr val="8C8C8C"/>
                </a:solidFill>
                <a:effectLst/>
                <a:latin typeface="JetBrains Mono"/>
              </a:rPr>
              <a:t>#Iterates over the keys</a:t>
            </a:r>
            <a:br>
              <a:rPr lang="en-US" sz="1800" i="1" dirty="0">
                <a:solidFill>
                  <a:srgbClr val="8C8C8C"/>
                </a:solidFill>
                <a:effectLst/>
                <a:latin typeface="JetBrains Mono"/>
              </a:rPr>
            </a:br>
            <a:r>
              <a:rPr lang="en-US" sz="1800" b="0" i="0" dirty="0">
                <a:solidFill>
                  <a:srgbClr val="080808"/>
                </a:solidFill>
                <a:effectLst/>
                <a:latin typeface="JetBrains Mono"/>
              </a:rPr>
              <a:t>10    </a:t>
            </a:r>
            <a:r>
              <a:rPr lang="en-US" sz="1800" i="1" dirty="0">
                <a:solidFill>
                  <a:srgbClr val="8C8C8C"/>
                </a:solidFill>
                <a:effectLst/>
                <a:latin typeface="JetBrains Mono"/>
              </a:rPr>
              <a:t>#Retrieve keys view</a:t>
            </a:r>
            <a:br>
              <a:rPr lang="en-US" sz="1800" i="1" dirty="0">
                <a:solidFill>
                  <a:srgbClr val="8C8C8C"/>
                </a:solidFill>
                <a:effectLst/>
                <a:latin typeface="JetBrains Mono"/>
              </a:rPr>
            </a:br>
            <a:r>
              <a:rPr lang="en-US" sz="1800" b="0" i="0" dirty="0">
                <a:solidFill>
                  <a:srgbClr val="080808"/>
                </a:solidFill>
                <a:effectLst/>
                <a:latin typeface="JetBrains Mono"/>
              </a:rPr>
              <a:t>11    </a:t>
            </a:r>
            <a:r>
              <a:rPr lang="en-US" sz="1800" dirty="0">
                <a:solidFill>
                  <a:srgbClr val="0033B3"/>
                </a:solidFill>
                <a:effectLst/>
                <a:latin typeface="JetBrains Mono"/>
              </a:rPr>
              <a:t>for </a:t>
            </a:r>
            <a:r>
              <a:rPr lang="en-US" sz="1800" dirty="0">
                <a:solidFill>
                  <a:srgbClr val="080808"/>
                </a:solidFill>
                <a:effectLst/>
                <a:latin typeface="JetBrains Mono"/>
              </a:rPr>
              <a:t>k </a:t>
            </a:r>
            <a:r>
              <a:rPr lang="en-US" sz="1800" dirty="0">
                <a:solidFill>
                  <a:srgbClr val="0033B3"/>
                </a:solidFill>
                <a:effectLst/>
                <a:latin typeface="JetBrains Mono"/>
              </a:rPr>
              <a:t>in </a:t>
            </a:r>
            <a:r>
              <a:rPr lang="en-US" sz="1800" dirty="0" err="1">
                <a:solidFill>
                  <a:srgbClr val="080808"/>
                </a:solidFill>
                <a:effectLst/>
                <a:latin typeface="JetBrains Mono"/>
              </a:rPr>
              <a:t>my_dict.keys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12    </a:t>
            </a: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(k, </a:t>
            </a:r>
            <a:r>
              <a:rPr lang="en-US" sz="1800" dirty="0">
                <a:solidFill>
                  <a:srgbClr val="660099"/>
                </a:solidFill>
                <a:effectLst/>
                <a:latin typeface="JetBrains Mono"/>
              </a:rPr>
              <a:t>end</a:t>
            </a:r>
            <a:r>
              <a:rPr lang="en-US" sz="1800" dirty="0">
                <a:solidFill>
                  <a:srgbClr val="080808"/>
                </a:solidFill>
                <a:effectLst/>
                <a:latin typeface="JetBrains Mono"/>
              </a:rPr>
              <a:t>=</a:t>
            </a: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13    </a:t>
            </a: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i="1" dirty="0">
                <a:solidFill>
                  <a:srgbClr val="8C8C8C"/>
                </a:solidFill>
                <a:effectLst/>
                <a:latin typeface="JetBrains Mono"/>
              </a:rPr>
              <a:t># a c b d </a:t>
            </a:r>
            <a:br>
              <a:rPr lang="en-US" sz="1800" i="1" dirty="0">
                <a:solidFill>
                  <a:srgbClr val="8C8C8C"/>
                </a:solidFill>
                <a:effectLst/>
                <a:latin typeface="JetBrains Mono"/>
              </a:rPr>
            </a:br>
            <a:r>
              <a:rPr lang="en-US" sz="1800" b="0" i="0" dirty="0">
                <a:solidFill>
                  <a:srgbClr val="080808"/>
                </a:solidFill>
                <a:effectLst/>
                <a:latin typeface="JetBrains Mono"/>
              </a:rPr>
              <a:t>14    </a:t>
            </a:r>
            <a:r>
              <a:rPr lang="en-US" sz="1800" i="1" dirty="0">
                <a:solidFill>
                  <a:srgbClr val="8C8C8C"/>
                </a:solidFill>
                <a:effectLst/>
                <a:latin typeface="JetBrains Mono"/>
              </a:rPr>
              <a:t>#Iterates over the values </a:t>
            </a:r>
            <a:br>
              <a:rPr lang="en-US" sz="1800" i="1" dirty="0">
                <a:solidFill>
                  <a:srgbClr val="8C8C8C"/>
                </a:solidFill>
                <a:effectLst/>
                <a:latin typeface="JetBrains Mono"/>
              </a:rPr>
            </a:br>
            <a:r>
              <a:rPr lang="en-US" sz="1800" b="0" i="0" dirty="0">
                <a:solidFill>
                  <a:srgbClr val="080808"/>
                </a:solidFill>
                <a:effectLst/>
                <a:latin typeface="JetBrains Mono"/>
              </a:rPr>
              <a:t>15    </a:t>
            </a:r>
            <a:r>
              <a:rPr lang="en-US" sz="1800" dirty="0">
                <a:solidFill>
                  <a:srgbClr val="0033B3"/>
                </a:solidFill>
                <a:effectLst/>
                <a:latin typeface="JetBrains Mono"/>
              </a:rPr>
              <a:t>for </a:t>
            </a:r>
            <a:r>
              <a:rPr lang="en-US" sz="1800" dirty="0">
                <a:solidFill>
                  <a:srgbClr val="080808"/>
                </a:solidFill>
                <a:effectLst/>
                <a:latin typeface="JetBrains Mono"/>
              </a:rPr>
              <a:t>v </a:t>
            </a:r>
            <a:r>
              <a:rPr lang="en-US" sz="1800" dirty="0">
                <a:solidFill>
                  <a:srgbClr val="0033B3"/>
                </a:solidFill>
                <a:effectLst/>
                <a:latin typeface="JetBrains Mono"/>
              </a:rPr>
              <a:t>in </a:t>
            </a:r>
            <a:r>
              <a:rPr lang="en-US" sz="1800" dirty="0" err="1">
                <a:solidFill>
                  <a:srgbClr val="080808"/>
                </a:solidFill>
                <a:effectLst/>
                <a:latin typeface="JetBrains Mono"/>
              </a:rPr>
              <a:t>my_dict.values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16    </a:t>
            </a: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(v, </a:t>
            </a:r>
            <a:r>
              <a:rPr lang="en-US" sz="1800" dirty="0">
                <a:solidFill>
                  <a:srgbClr val="660099"/>
                </a:solidFill>
                <a:effectLst/>
                <a:latin typeface="JetBrains Mono"/>
              </a:rPr>
              <a:t>end</a:t>
            </a:r>
            <a:r>
              <a:rPr lang="en-US" sz="1800" dirty="0">
                <a:solidFill>
                  <a:srgbClr val="080808"/>
                </a:solidFill>
                <a:effectLst/>
                <a:latin typeface="JetBrains Mono"/>
              </a:rPr>
              <a:t>=</a:t>
            </a: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17    </a:t>
            </a: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i="1" dirty="0">
                <a:solidFill>
                  <a:srgbClr val="8C8C8C"/>
                </a:solidFill>
                <a:effectLst/>
                <a:latin typeface="JetBrains Mono"/>
              </a:rPr>
              <a:t># 1 3 2 4 </a:t>
            </a:r>
            <a:br>
              <a:rPr lang="en-US" sz="1800" i="1" dirty="0">
                <a:solidFill>
                  <a:srgbClr val="8C8C8C"/>
                </a:solidFill>
                <a:effectLst/>
                <a:latin typeface="JetBrains Mono"/>
              </a:rPr>
            </a:br>
            <a:r>
              <a:rPr lang="en-US" sz="1800" b="0" i="0" dirty="0">
                <a:solidFill>
                  <a:srgbClr val="080808"/>
                </a:solidFill>
                <a:effectLst/>
                <a:latin typeface="JetBrains Mono"/>
              </a:rPr>
              <a:t>18    </a:t>
            </a:r>
            <a:r>
              <a:rPr lang="en-US" sz="1800" i="1" dirty="0">
                <a:solidFill>
                  <a:srgbClr val="8C8C8C"/>
                </a:solidFill>
                <a:effectLst/>
                <a:latin typeface="JetBrains Mono"/>
              </a:rPr>
              <a:t># </a:t>
            </a:r>
            <a:r>
              <a:rPr lang="en-US" sz="1800" i="1" dirty="0" err="1">
                <a:solidFill>
                  <a:srgbClr val="8C8C8C"/>
                </a:solidFill>
                <a:effectLst/>
                <a:latin typeface="JetBrains Mono"/>
              </a:rPr>
              <a:t>iterable</a:t>
            </a:r>
            <a:r>
              <a:rPr lang="en-US" sz="1800" i="1" dirty="0">
                <a:solidFill>
                  <a:srgbClr val="8C8C8C"/>
                </a:solidFill>
                <a:effectLst/>
                <a:latin typeface="JetBrains Mono"/>
              </a:rPr>
              <a:t> - data structure that can be iterated over</a:t>
            </a:r>
            <a:br>
              <a:rPr lang="en-US" sz="1800" i="1" dirty="0">
                <a:solidFill>
                  <a:srgbClr val="8C8C8C"/>
                </a:solidFill>
                <a:effectLst/>
                <a:latin typeface="JetBrains Mono"/>
              </a:rPr>
            </a:br>
            <a:r>
              <a:rPr lang="en-US" sz="1800" b="0" i="0" dirty="0">
                <a:solidFill>
                  <a:srgbClr val="080808"/>
                </a:solidFill>
                <a:effectLst/>
                <a:latin typeface="JetBrains Mono"/>
              </a:rPr>
              <a:t>19    </a:t>
            </a:r>
            <a:r>
              <a:rPr lang="en-US" sz="1800" i="1" dirty="0">
                <a:solidFill>
                  <a:srgbClr val="8C8C8C"/>
                </a:solidFill>
                <a:effectLst/>
                <a:latin typeface="JetBrains Mono"/>
              </a:rPr>
              <a:t># .items() - returns an </a:t>
            </a:r>
            <a:r>
              <a:rPr lang="en-US" sz="1800" i="1" dirty="0" err="1">
                <a:solidFill>
                  <a:srgbClr val="8C8C8C"/>
                </a:solidFill>
                <a:effectLst/>
                <a:latin typeface="JetBrains Mono"/>
              </a:rPr>
              <a:t>iterable</a:t>
            </a:r>
            <a:r>
              <a:rPr lang="en-US" sz="1800" i="1" dirty="0">
                <a:solidFill>
                  <a:srgbClr val="8C8C8C"/>
                </a:solidFill>
                <a:effectLst/>
                <a:latin typeface="JetBrains Mono"/>
              </a:rPr>
              <a:t> of tuples</a:t>
            </a:r>
            <a:br>
              <a:rPr lang="en-US" sz="1800" i="1" dirty="0">
                <a:solidFill>
                  <a:srgbClr val="8C8C8C"/>
                </a:solidFill>
                <a:effectLst/>
                <a:latin typeface="JetBrains Mono"/>
              </a:rPr>
            </a:br>
            <a:r>
              <a:rPr lang="en-US" sz="1800" b="0" i="0" dirty="0">
                <a:solidFill>
                  <a:srgbClr val="080808"/>
                </a:solidFill>
                <a:effectLst/>
                <a:latin typeface="JetBrains Mono"/>
              </a:rPr>
              <a:t>20    </a:t>
            </a:r>
            <a:r>
              <a:rPr lang="en-US" sz="1800" i="1" dirty="0">
                <a:solidFill>
                  <a:srgbClr val="8C8C8C"/>
                </a:solidFill>
                <a:effectLst/>
                <a:latin typeface="JetBrains Mono"/>
              </a:rPr>
              <a:t># Iterates over tuples</a:t>
            </a:r>
            <a:br>
              <a:rPr lang="en-US" sz="1800" i="1" dirty="0">
                <a:solidFill>
                  <a:srgbClr val="8C8C8C"/>
                </a:solidFill>
                <a:effectLst/>
                <a:latin typeface="JetBrains Mono"/>
              </a:rPr>
            </a:br>
            <a:r>
              <a:rPr lang="en-US" sz="1800" b="0" i="0" dirty="0">
                <a:solidFill>
                  <a:srgbClr val="080808"/>
                </a:solidFill>
                <a:effectLst/>
                <a:latin typeface="JetBrains Mono"/>
              </a:rPr>
              <a:t>21    </a:t>
            </a:r>
            <a:r>
              <a:rPr lang="en-US" sz="1800" dirty="0">
                <a:solidFill>
                  <a:srgbClr val="0033B3"/>
                </a:solidFill>
                <a:effectLst/>
                <a:latin typeface="JetBrains Mono"/>
              </a:rPr>
              <a:t>for </a:t>
            </a:r>
            <a:r>
              <a:rPr lang="en-US" sz="1800" dirty="0" err="1">
                <a:solidFill>
                  <a:srgbClr val="080808"/>
                </a:solidFill>
                <a:effectLst/>
                <a:latin typeface="JetBrains Mono"/>
              </a:rPr>
              <a:t>k,v</a:t>
            </a:r>
            <a:r>
              <a:rPr lang="en-US" sz="1800" dirty="0">
                <a:solidFill>
                  <a:srgbClr val="080808"/>
                </a:solidFill>
                <a:effectLst/>
                <a:latin typeface="JetBrains Mono"/>
              </a:rPr>
              <a:t> </a:t>
            </a:r>
            <a:r>
              <a:rPr lang="en-US" sz="1800" dirty="0">
                <a:solidFill>
                  <a:srgbClr val="0033B3"/>
                </a:solidFill>
                <a:effectLst/>
                <a:latin typeface="JetBrains Mono"/>
              </a:rPr>
              <a:t>in </a:t>
            </a:r>
            <a:r>
              <a:rPr lang="en-US" sz="1800" dirty="0" err="1">
                <a:solidFill>
                  <a:srgbClr val="080808"/>
                </a:solidFill>
                <a:effectLst/>
                <a:latin typeface="JetBrains Mono"/>
              </a:rPr>
              <a:t>my_dict.items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22    </a:t>
            </a: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80808"/>
                </a:solidFill>
                <a:effectLst/>
                <a:latin typeface="JetBrains Mono"/>
              </a:rPr>
              <a:t>k,v</a:t>
            </a:r>
            <a:r>
              <a:rPr lang="en-US" sz="1800" dirty="0">
                <a:solidFill>
                  <a:srgbClr val="080808"/>
                </a:solidFill>
                <a:effectLst/>
                <a:latin typeface="JetBrains Mono"/>
              </a:rPr>
              <a:t>, </a:t>
            </a:r>
            <a:r>
              <a:rPr lang="en-US" sz="1800" dirty="0">
                <a:solidFill>
                  <a:srgbClr val="660099"/>
                </a:solidFill>
                <a:effectLst/>
                <a:latin typeface="JetBrains Mono"/>
              </a:rPr>
              <a:t>end</a:t>
            </a:r>
            <a:r>
              <a:rPr lang="en-US" sz="1800" dirty="0">
                <a:solidFill>
                  <a:srgbClr val="080808"/>
                </a:solidFill>
                <a:effectLst/>
                <a:latin typeface="JetBrains Mono"/>
              </a:rPr>
              <a:t>= </a:t>
            </a: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23    </a:t>
            </a: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i="1" dirty="0">
                <a:solidFill>
                  <a:srgbClr val="8C8C8C"/>
                </a:solidFill>
                <a:effectLst/>
                <a:latin typeface="JetBrains Mono"/>
              </a:rPr>
              <a:t># a 1 c 3 b 2 d 4 </a:t>
            </a:r>
            <a:br>
              <a:rPr lang="en-US" sz="1800" i="1" dirty="0">
                <a:solidFill>
                  <a:srgbClr val="8C8C8C"/>
                </a:solidFill>
                <a:effectLst/>
                <a:latin typeface="JetBrains Mono"/>
              </a:rPr>
            </a:br>
            <a:r>
              <a:rPr lang="en-US" sz="1800" b="0" i="0" dirty="0">
                <a:solidFill>
                  <a:srgbClr val="080808"/>
                </a:solidFill>
                <a:effectLst/>
                <a:latin typeface="JetBrains Mono"/>
              </a:rPr>
              <a:t>24    </a:t>
            </a:r>
            <a:r>
              <a:rPr lang="en-US" sz="1800" dirty="0">
                <a:solidFill>
                  <a:srgbClr val="0033B3"/>
                </a:solidFill>
                <a:effectLst/>
                <a:latin typeface="JetBrains Mono"/>
              </a:rPr>
              <a:t>for </a:t>
            </a:r>
            <a:r>
              <a:rPr lang="en-US" sz="1800" dirty="0">
                <a:solidFill>
                  <a:srgbClr val="080808"/>
                </a:solidFill>
                <a:effectLst/>
                <a:latin typeface="JetBrains Mono"/>
              </a:rPr>
              <a:t>item </a:t>
            </a:r>
            <a:r>
              <a:rPr lang="en-US" sz="1800" dirty="0">
                <a:solidFill>
                  <a:srgbClr val="0033B3"/>
                </a:solidFill>
                <a:effectLst/>
                <a:latin typeface="JetBrains Mono"/>
              </a:rPr>
              <a:t>in </a:t>
            </a:r>
            <a:r>
              <a:rPr lang="en-US" sz="1800" dirty="0" err="1">
                <a:solidFill>
                  <a:srgbClr val="080808"/>
                </a:solidFill>
                <a:effectLst/>
                <a:latin typeface="JetBrains Mono"/>
              </a:rPr>
              <a:t>my_dict.items</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25    </a:t>
            </a: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(item[</a:t>
            </a:r>
            <a:r>
              <a:rPr lang="en-US" sz="1800" dirty="0">
                <a:solidFill>
                  <a:srgbClr val="1750EB"/>
                </a:solidFill>
                <a:effectLst/>
                <a:latin typeface="JetBrains Mono"/>
              </a:rPr>
              <a:t>0</a:t>
            </a:r>
            <a:r>
              <a:rPr lang="en-US" sz="1800" dirty="0">
                <a:solidFill>
                  <a:srgbClr val="080808"/>
                </a:solidFill>
                <a:effectLst/>
                <a:latin typeface="JetBrains Mono"/>
              </a:rPr>
              <a:t>], item[</a:t>
            </a:r>
            <a:r>
              <a:rPr lang="en-US" sz="1800" dirty="0">
                <a:solidFill>
                  <a:srgbClr val="1750EB"/>
                </a:solidFill>
                <a:effectLst/>
                <a:latin typeface="JetBrains Mono"/>
              </a:rPr>
              <a:t>1</a:t>
            </a:r>
            <a:r>
              <a:rPr lang="en-US" sz="1800" dirty="0">
                <a:solidFill>
                  <a:srgbClr val="080808"/>
                </a:solidFill>
                <a:effectLst/>
                <a:latin typeface="JetBrains Mono"/>
              </a:rPr>
              <a:t>], </a:t>
            </a:r>
            <a:r>
              <a:rPr lang="en-US" sz="1800" dirty="0">
                <a:solidFill>
                  <a:srgbClr val="660099"/>
                </a:solidFill>
                <a:effectLst/>
                <a:latin typeface="JetBrains Mono"/>
              </a:rPr>
              <a:t>end</a:t>
            </a:r>
            <a:r>
              <a:rPr lang="en-US" sz="1800" dirty="0">
                <a:solidFill>
                  <a:srgbClr val="080808"/>
                </a:solidFill>
                <a:effectLst/>
                <a:latin typeface="JetBrains Mono"/>
              </a:rPr>
              <a:t>= </a:t>
            </a: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26    </a:t>
            </a: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i="1" dirty="0">
                <a:solidFill>
                  <a:srgbClr val="8C8C8C"/>
                </a:solidFill>
                <a:effectLst/>
                <a:latin typeface="JetBrains Mono"/>
              </a:rPr>
              <a:t># a 1 c 3 b 2 d 4 </a:t>
            </a:r>
            <a:br>
              <a:rPr lang="en-US" sz="1800" i="1" dirty="0">
                <a:solidFill>
                  <a:srgbClr val="8C8C8C"/>
                </a:solidFill>
                <a:effectLst/>
                <a:latin typeface="JetBrains Mono"/>
              </a:rPr>
            </a:br>
            <a:r>
              <a:rPr lang="en-US" sz="1800" b="0" i="0" dirty="0">
                <a:solidFill>
                  <a:srgbClr val="080808"/>
                </a:solidFill>
                <a:effectLst/>
                <a:latin typeface="JetBrains Mono"/>
              </a:rPr>
              <a:t>27    </a:t>
            </a:r>
            <a:r>
              <a:rPr lang="en-US" sz="1800" i="1" dirty="0">
                <a:solidFill>
                  <a:srgbClr val="8C8C8C"/>
                </a:solidFill>
                <a:effectLst/>
                <a:latin typeface="JetBrains Mono"/>
              </a:rPr>
              <a:t>#Iterate over the keys but access the values</a:t>
            </a:r>
            <a:br>
              <a:rPr lang="en-US" sz="1800" i="1" dirty="0">
                <a:solidFill>
                  <a:srgbClr val="8C8C8C"/>
                </a:solidFill>
                <a:effectLst/>
                <a:latin typeface="JetBrains Mono"/>
              </a:rPr>
            </a:br>
            <a:r>
              <a:rPr lang="en-US" sz="1800" b="0" i="0" dirty="0">
                <a:solidFill>
                  <a:srgbClr val="080808"/>
                </a:solidFill>
                <a:effectLst/>
                <a:latin typeface="JetBrains Mono"/>
              </a:rPr>
              <a:t>28    </a:t>
            </a:r>
            <a:r>
              <a:rPr lang="en-US" sz="1800" dirty="0">
                <a:solidFill>
                  <a:srgbClr val="0033B3"/>
                </a:solidFill>
                <a:effectLst/>
                <a:latin typeface="JetBrains Mono"/>
              </a:rPr>
              <a:t>for </a:t>
            </a:r>
            <a:r>
              <a:rPr lang="en-US" sz="1800" dirty="0">
                <a:solidFill>
                  <a:srgbClr val="080808"/>
                </a:solidFill>
                <a:effectLst/>
                <a:latin typeface="JetBrains Mono"/>
              </a:rPr>
              <a:t>k </a:t>
            </a:r>
            <a:r>
              <a:rPr lang="en-US" sz="1800" dirty="0">
                <a:solidFill>
                  <a:srgbClr val="0033B3"/>
                </a:solidFill>
                <a:effectLst/>
                <a:latin typeface="JetBrains Mono"/>
              </a:rPr>
              <a:t>in </a:t>
            </a:r>
            <a:r>
              <a:rPr lang="en-US" sz="1800" dirty="0" err="1">
                <a:solidFill>
                  <a:srgbClr val="080808"/>
                </a:solidFill>
                <a:effectLst/>
                <a:latin typeface="JetBrains Mono"/>
              </a:rPr>
              <a:t>my_dict</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29    </a:t>
            </a: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(k, </a:t>
            </a:r>
            <a:r>
              <a:rPr lang="en-US" sz="1800" dirty="0" err="1">
                <a:solidFill>
                  <a:srgbClr val="080808"/>
                </a:solidFill>
                <a:effectLst/>
                <a:latin typeface="JetBrains Mono"/>
              </a:rPr>
              <a:t>my_dict</a:t>
            </a:r>
            <a:r>
              <a:rPr lang="en-US" sz="1800" dirty="0">
                <a:solidFill>
                  <a:srgbClr val="080808"/>
                </a:solidFill>
                <a:effectLst/>
                <a:latin typeface="JetBrains Mono"/>
              </a:rPr>
              <a:t>[k], </a:t>
            </a:r>
            <a:r>
              <a:rPr lang="en-US" sz="1800" dirty="0">
                <a:solidFill>
                  <a:srgbClr val="660099"/>
                </a:solidFill>
                <a:effectLst/>
                <a:latin typeface="JetBrains Mono"/>
              </a:rPr>
              <a:t>end</a:t>
            </a:r>
            <a:r>
              <a:rPr lang="en-US" sz="1800" dirty="0">
                <a:solidFill>
                  <a:srgbClr val="080808"/>
                </a:solidFill>
                <a:effectLst/>
                <a:latin typeface="JetBrains Mono"/>
              </a:rPr>
              <a:t>= </a:t>
            </a:r>
            <a:r>
              <a:rPr lang="en-US" sz="1800" dirty="0">
                <a:solidFill>
                  <a:srgbClr val="067D17"/>
                </a:solidFill>
                <a:effectLst/>
                <a:latin typeface="JetBrains Mono"/>
              </a:rPr>
              <a:t>" "</a:t>
            </a:r>
            <a:r>
              <a:rPr lang="en-US" sz="1800" dirty="0">
                <a:solidFill>
                  <a:srgbClr val="080808"/>
                </a:solidFill>
                <a:effectLst/>
                <a:latin typeface="JetBrains Mono"/>
              </a:rPr>
              <a:t>)</a:t>
            </a:r>
            <a:br>
              <a:rPr lang="en-US" sz="1800" dirty="0">
                <a:solidFill>
                  <a:srgbClr val="080808"/>
                </a:solidFill>
                <a:effectLst/>
                <a:latin typeface="JetBrains Mono"/>
              </a:rPr>
            </a:br>
            <a:r>
              <a:rPr lang="en-US" sz="1800" b="0" i="0" dirty="0">
                <a:solidFill>
                  <a:srgbClr val="080808"/>
                </a:solidFill>
                <a:effectLst/>
                <a:latin typeface="JetBrains Mono"/>
              </a:rPr>
              <a:t>30    </a:t>
            </a: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i="1" dirty="0">
                <a:solidFill>
                  <a:srgbClr val="8C8C8C"/>
                </a:solidFill>
                <a:effectLst/>
                <a:latin typeface="JetBrains Mono"/>
              </a:rPr>
              <a:t># a 1 c 3 b 2 d 4 </a:t>
            </a:r>
            <a:endParaRPr lang="en-US" sz="1800" dirty="0">
              <a:solidFill>
                <a:srgbClr val="080808"/>
              </a:solidFill>
              <a:effectLst/>
              <a:latin typeface="JetBrains Mono"/>
            </a:endParaRPr>
          </a:p>
        </p:txBody>
      </p:sp>
    </p:spTree>
    <p:extLst>
      <p:ext uri="{BB962C8B-B14F-4D97-AF65-F5344CB8AC3E}">
        <p14:creationId xmlns:p14="http://schemas.microsoft.com/office/powerpoint/2010/main" val="1386067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824B-01AA-7929-3510-F0EDE54E7186}"/>
              </a:ext>
            </a:extLst>
          </p:cNvPr>
          <p:cNvSpPr>
            <a:spLocks noGrp="1"/>
          </p:cNvSpPr>
          <p:nvPr>
            <p:ph type="title"/>
          </p:nvPr>
        </p:nvSpPr>
        <p:spPr>
          <a:xfrm>
            <a:off x="2231136" y="937260"/>
            <a:ext cx="7729728" cy="1188720"/>
          </a:xfrm>
        </p:spPr>
        <p:txBody>
          <a:bodyPr/>
          <a:lstStyle/>
          <a:p>
            <a:r>
              <a:rPr lang="en-US" dirty="0"/>
              <a:t>Avoiding a Key Error: .get</a:t>
            </a:r>
          </a:p>
        </p:txBody>
      </p:sp>
      <p:sp>
        <p:nvSpPr>
          <p:cNvPr id="3" name="Content Placeholder 2">
            <a:extLst>
              <a:ext uri="{FF2B5EF4-FFF2-40B4-BE49-F238E27FC236}">
                <a16:creationId xmlns:a16="http://schemas.microsoft.com/office/drawing/2014/main" id="{EFC1F417-6BBB-2887-C776-934F5D9B7C19}"/>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.get(key, default=None) </a:t>
            </a:r>
            <a:r>
              <a:rPr lang="en-US" dirty="0">
                <a:cs typeface="Courier New" panose="02070309020205020404" pitchFamily="49" charset="0"/>
              </a:rPr>
              <a:t>returns the value associated with a key (or default) if the key doesn’t exist</a:t>
            </a:r>
          </a:p>
        </p:txBody>
      </p:sp>
      <p:sp>
        <p:nvSpPr>
          <p:cNvPr id="4" name="TextBox 3">
            <a:extLst>
              <a:ext uri="{FF2B5EF4-FFF2-40B4-BE49-F238E27FC236}">
                <a16:creationId xmlns:a16="http://schemas.microsoft.com/office/drawing/2014/main" id="{AB755009-A58F-F294-9340-59D4284010E6}"/>
              </a:ext>
            </a:extLst>
          </p:cNvPr>
          <p:cNvSpPr txBox="1"/>
          <p:nvPr/>
        </p:nvSpPr>
        <p:spPr>
          <a:xfrm>
            <a:off x="1854926" y="3718559"/>
            <a:ext cx="9373400" cy="646331"/>
          </a:xfrm>
          <a:prstGeom prst="rect">
            <a:avLst/>
          </a:prstGeom>
          <a:noFill/>
        </p:spPr>
        <p:txBody>
          <a:bodyPr wrap="none" rtlCol="0">
            <a:spAutoFit/>
          </a:bodyPr>
          <a:lstStyle/>
          <a:p>
            <a:r>
              <a:rPr lang="en-US" dirty="0"/>
              <a:t>.get is useful because of the ability to supply a default. The [ ] operator does not have a default</a:t>
            </a:r>
          </a:p>
          <a:p>
            <a:r>
              <a:rPr lang="en-US" dirty="0"/>
              <a:t>Therefore extra care is required when using [] to avoid a </a:t>
            </a:r>
            <a:r>
              <a:rPr lang="en-US" dirty="0" err="1"/>
              <a:t>KeyError</a:t>
            </a:r>
            <a:r>
              <a:rPr lang="en-US" dirty="0"/>
              <a:t> which may crash your program</a:t>
            </a:r>
          </a:p>
        </p:txBody>
      </p:sp>
    </p:spTree>
    <p:extLst>
      <p:ext uri="{BB962C8B-B14F-4D97-AF65-F5344CB8AC3E}">
        <p14:creationId xmlns:p14="http://schemas.microsoft.com/office/powerpoint/2010/main" val="3564656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850FE-A062-226C-BBD6-A1E7A1567879}"/>
              </a:ext>
            </a:extLst>
          </p:cNvPr>
          <p:cNvSpPr>
            <a:spLocks noGrp="1"/>
          </p:cNvSpPr>
          <p:nvPr>
            <p:ph type="title"/>
          </p:nvPr>
        </p:nvSpPr>
        <p:spPr/>
        <p:txBody>
          <a:bodyPr/>
          <a:lstStyle/>
          <a:p>
            <a:r>
              <a:rPr lang="en-US" dirty="0"/>
              <a:t>When to Use Dictionaries</a:t>
            </a:r>
          </a:p>
        </p:txBody>
      </p:sp>
      <p:sp>
        <p:nvSpPr>
          <p:cNvPr id="3" name="Content Placeholder 2">
            <a:extLst>
              <a:ext uri="{FF2B5EF4-FFF2-40B4-BE49-F238E27FC236}">
                <a16:creationId xmlns:a16="http://schemas.microsoft.com/office/drawing/2014/main" id="{4DDC7BF0-6A38-4D58-7953-E86E515EDF27}"/>
              </a:ext>
            </a:extLst>
          </p:cNvPr>
          <p:cNvSpPr>
            <a:spLocks noGrp="1"/>
          </p:cNvSpPr>
          <p:nvPr>
            <p:ph idx="1"/>
          </p:nvPr>
        </p:nvSpPr>
        <p:spPr/>
        <p:txBody>
          <a:bodyPr/>
          <a:lstStyle/>
          <a:p>
            <a:r>
              <a:rPr lang="en-US" dirty="0"/>
              <a:t>Need to create an association</a:t>
            </a:r>
          </a:p>
          <a:p>
            <a:r>
              <a:rPr lang="en-US" dirty="0"/>
              <a:t>Need fast lookups based on a specific identifier (key)</a:t>
            </a:r>
          </a:p>
          <a:p>
            <a:r>
              <a:rPr lang="en-US" dirty="0"/>
              <a:t>Order of items doesn’t matter</a:t>
            </a:r>
          </a:p>
          <a:p>
            <a:r>
              <a:rPr lang="en-US" dirty="0"/>
              <a:t>Examples: </a:t>
            </a:r>
          </a:p>
          <a:p>
            <a:pPr lvl="1"/>
            <a:r>
              <a:rPr lang="en-US" dirty="0"/>
              <a:t>Configuration settings</a:t>
            </a:r>
          </a:p>
          <a:p>
            <a:pPr lvl="1"/>
            <a:r>
              <a:rPr lang="en-US" dirty="0"/>
              <a:t>Counting frequencies</a:t>
            </a:r>
          </a:p>
          <a:p>
            <a:pPr lvl="1"/>
            <a:r>
              <a:rPr lang="en-US" dirty="0"/>
              <a:t>Representing objects or records</a:t>
            </a:r>
          </a:p>
          <a:p>
            <a:pPr lvl="1"/>
            <a:endParaRPr lang="en-US" dirty="0"/>
          </a:p>
        </p:txBody>
      </p:sp>
    </p:spTree>
    <p:extLst>
      <p:ext uri="{BB962C8B-B14F-4D97-AF65-F5344CB8AC3E}">
        <p14:creationId xmlns:p14="http://schemas.microsoft.com/office/powerpoint/2010/main" val="3975330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0BEF-7504-10EE-0A7E-B151E3BDAEE1}"/>
              </a:ext>
            </a:extLst>
          </p:cNvPr>
          <p:cNvSpPr>
            <a:spLocks noGrp="1"/>
          </p:cNvSpPr>
          <p:nvPr>
            <p:ph type="title"/>
          </p:nvPr>
        </p:nvSpPr>
        <p:spPr/>
        <p:txBody>
          <a:bodyPr/>
          <a:lstStyle/>
          <a:p>
            <a:r>
              <a:rPr lang="en-CA" dirty="0"/>
              <a:t>FIND A Partner: Ciphers</a:t>
            </a:r>
          </a:p>
        </p:txBody>
      </p:sp>
      <p:sp>
        <p:nvSpPr>
          <p:cNvPr id="3" name="Content Placeholder 2">
            <a:extLst>
              <a:ext uri="{FF2B5EF4-FFF2-40B4-BE49-F238E27FC236}">
                <a16:creationId xmlns:a16="http://schemas.microsoft.com/office/drawing/2014/main" id="{51136ECD-B3B3-5013-7104-A2162C7A5472}"/>
              </a:ext>
            </a:extLst>
          </p:cNvPr>
          <p:cNvSpPr>
            <a:spLocks noGrp="1"/>
          </p:cNvSpPr>
          <p:nvPr>
            <p:ph idx="1"/>
          </p:nvPr>
        </p:nvSpPr>
        <p:spPr/>
        <p:txBody>
          <a:bodyPr>
            <a:normAutofit/>
          </a:bodyPr>
          <a:lstStyle/>
          <a:p>
            <a:r>
              <a:rPr lang="en-US" dirty="0"/>
              <a:t>You are given a list that represents a cipher.</a:t>
            </a:r>
          </a:p>
          <a:p>
            <a:pPr lvl="1"/>
            <a:r>
              <a:rPr lang="en-US" dirty="0"/>
              <a:t>Even positions contain symbols</a:t>
            </a:r>
          </a:p>
          <a:p>
            <a:pPr lvl="1"/>
            <a:r>
              <a:rPr lang="en-US" dirty="0"/>
              <a:t>Odd positions contain meanings</a:t>
            </a:r>
          </a:p>
          <a:p>
            <a:r>
              <a:rPr lang="en-US" dirty="0"/>
              <a:t>Assume one UNICODE symbol for each ASCII capital letter character</a:t>
            </a:r>
          </a:p>
          <a:p>
            <a:r>
              <a:rPr lang="en-US" dirty="0"/>
              <a:t>Task: Your task is to translate this list into a dictionary so it can be used to decode messages.</a:t>
            </a:r>
          </a:p>
          <a:p>
            <a:r>
              <a:rPr lang="en-US" dirty="0"/>
              <a:t>Task: Create a function called </a:t>
            </a:r>
            <a:r>
              <a:rPr lang="en-US" dirty="0" err="1"/>
              <a:t>transform_cipher</a:t>
            </a:r>
            <a:r>
              <a:rPr lang="en-US" dirty="0"/>
              <a:t> that takes in a list and returns a dictionary</a:t>
            </a:r>
            <a:endParaRPr lang="en-CA" dirty="0"/>
          </a:p>
        </p:txBody>
      </p:sp>
    </p:spTree>
    <p:extLst>
      <p:ext uri="{BB962C8B-B14F-4D97-AF65-F5344CB8AC3E}">
        <p14:creationId xmlns:p14="http://schemas.microsoft.com/office/powerpoint/2010/main" val="787102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DA874-C4B4-4177-1ACE-9453C3CC31CF}"/>
              </a:ext>
            </a:extLst>
          </p:cNvPr>
          <p:cNvSpPr>
            <a:spLocks noGrp="1"/>
          </p:cNvSpPr>
          <p:nvPr>
            <p:ph type="title"/>
          </p:nvPr>
        </p:nvSpPr>
        <p:spPr/>
        <p:txBody>
          <a:bodyPr/>
          <a:lstStyle/>
          <a:p>
            <a:r>
              <a:rPr lang="en-CA" dirty="0"/>
              <a:t>FIND A PARTNER: Generalization</a:t>
            </a:r>
          </a:p>
        </p:txBody>
      </p:sp>
      <p:sp>
        <p:nvSpPr>
          <p:cNvPr id="3" name="Content Placeholder 2">
            <a:extLst>
              <a:ext uri="{FF2B5EF4-FFF2-40B4-BE49-F238E27FC236}">
                <a16:creationId xmlns:a16="http://schemas.microsoft.com/office/drawing/2014/main" id="{F2DAD594-9296-767C-DC05-A4B622053619}"/>
              </a:ext>
            </a:extLst>
          </p:cNvPr>
          <p:cNvSpPr>
            <a:spLocks noGrp="1"/>
          </p:cNvSpPr>
          <p:nvPr>
            <p:ph idx="1"/>
          </p:nvPr>
        </p:nvSpPr>
        <p:spPr/>
        <p:txBody>
          <a:bodyPr/>
          <a:lstStyle/>
          <a:p>
            <a:r>
              <a:rPr lang="en-CA" dirty="0"/>
              <a:t>Assume that we do not want anyone to know how we have implemented the cipher – it could be a list, or it could be a dictionary</a:t>
            </a:r>
          </a:p>
          <a:p>
            <a:r>
              <a:rPr lang="en-CA" dirty="0"/>
              <a:t>Write two functions: </a:t>
            </a:r>
          </a:p>
          <a:p>
            <a:pPr lvl="1"/>
            <a:r>
              <a:rPr lang="en-CA" dirty="0"/>
              <a:t>One named encode which takes in a unencoded string, and returns an encoded string of symbols – but it should use a list inside for doing the encoding</a:t>
            </a:r>
          </a:p>
          <a:p>
            <a:pPr lvl="1"/>
            <a:r>
              <a:rPr lang="en-CA" dirty="0"/>
              <a:t>One named decode which takes in an encoded string of symbols and returns the decoded string – but it should use a dictionary inside for doing the decoding</a:t>
            </a:r>
          </a:p>
        </p:txBody>
      </p:sp>
    </p:spTree>
    <p:extLst>
      <p:ext uri="{BB962C8B-B14F-4D97-AF65-F5344CB8AC3E}">
        <p14:creationId xmlns:p14="http://schemas.microsoft.com/office/powerpoint/2010/main" val="4272630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9072-88B2-FEBE-9478-576224F4501A}"/>
              </a:ext>
            </a:extLst>
          </p:cNvPr>
          <p:cNvSpPr>
            <a:spLocks noGrp="1"/>
          </p:cNvSpPr>
          <p:nvPr>
            <p:ph type="title"/>
          </p:nvPr>
        </p:nvSpPr>
        <p:spPr/>
        <p:txBody>
          <a:bodyPr/>
          <a:lstStyle/>
          <a:p>
            <a:r>
              <a:rPr lang="en-US" dirty="0"/>
              <a:t>Dictionary Comprehensions</a:t>
            </a:r>
          </a:p>
        </p:txBody>
      </p:sp>
      <p:sp>
        <p:nvSpPr>
          <p:cNvPr id="3" name="Content Placeholder 2">
            <a:extLst>
              <a:ext uri="{FF2B5EF4-FFF2-40B4-BE49-F238E27FC236}">
                <a16:creationId xmlns:a16="http://schemas.microsoft.com/office/drawing/2014/main" id="{0437D816-054C-446F-B7DE-333A6566B901}"/>
              </a:ext>
            </a:extLst>
          </p:cNvPr>
          <p:cNvSpPr>
            <a:spLocks noGrp="1"/>
          </p:cNvSpPr>
          <p:nvPr>
            <p:ph idx="1"/>
          </p:nvPr>
        </p:nvSpPr>
        <p:spPr/>
        <p:txBody>
          <a:bodyPr>
            <a:normAutofit/>
          </a:bodyPr>
          <a:lstStyle/>
          <a:p>
            <a:r>
              <a:rPr lang="en-US" dirty="0"/>
              <a:t>Convert a sequence into a dictionary</a:t>
            </a:r>
          </a:p>
          <a:p>
            <a:pPr marL="0" indent="0">
              <a:buNone/>
            </a:pPr>
            <a:r>
              <a:rPr lang="en-US" dirty="0" err="1"/>
              <a:t>new_dict</a:t>
            </a:r>
            <a:r>
              <a:rPr lang="en-US" dirty="0"/>
              <a:t> = {</a:t>
            </a:r>
            <a:r>
              <a:rPr lang="en-US" dirty="0" err="1"/>
              <a:t>key_expression</a:t>
            </a:r>
            <a:r>
              <a:rPr lang="en-US" dirty="0"/>
              <a:t> : </a:t>
            </a:r>
            <a:r>
              <a:rPr lang="en-US" dirty="0" err="1"/>
              <a:t>value_expression</a:t>
            </a:r>
            <a:r>
              <a:rPr lang="en-US" dirty="0"/>
              <a:t> for item in </a:t>
            </a:r>
            <a:r>
              <a:rPr lang="en-US" dirty="0" err="1"/>
              <a:t>iterable</a:t>
            </a:r>
            <a:r>
              <a:rPr lang="en-US" dirty="0"/>
              <a:t>}</a:t>
            </a:r>
          </a:p>
          <a:p>
            <a:pPr marL="0" indent="0">
              <a:buNone/>
            </a:pPr>
            <a:endParaRPr lang="en-US" dirty="0"/>
          </a:p>
          <a:p>
            <a:pPr marL="0" indent="0">
              <a:buNone/>
            </a:pPr>
            <a:r>
              <a:rPr lang="en-US" dirty="0"/>
              <a:t>		Key : Value Pair</a:t>
            </a:r>
          </a:p>
          <a:p>
            <a:pPr>
              <a:buNone/>
            </a:pPr>
            <a:r>
              <a:rPr lang="en-US" sz="1800" dirty="0">
                <a:solidFill>
                  <a:srgbClr val="080808"/>
                </a:solidFill>
                <a:effectLst/>
                <a:latin typeface="JetBrains Mono"/>
              </a:rPr>
              <a:t>Example:</a:t>
            </a:r>
          </a:p>
          <a:p>
            <a:pPr>
              <a:buNone/>
            </a:pPr>
            <a:r>
              <a:rPr lang="en-US" sz="1800" dirty="0">
                <a:solidFill>
                  <a:srgbClr val="080808"/>
                </a:solidFill>
                <a:effectLst/>
                <a:latin typeface="JetBrains Mono"/>
              </a:rPr>
              <a:t>	numbers = [</a:t>
            </a:r>
            <a:r>
              <a:rPr lang="en-US" sz="1800" dirty="0">
                <a:solidFill>
                  <a:srgbClr val="1750EB"/>
                </a:solidFill>
                <a:effectLst/>
                <a:latin typeface="JetBrains Mono"/>
              </a:rPr>
              <a:t>1</a:t>
            </a:r>
            <a:r>
              <a:rPr lang="en-US" sz="1800" dirty="0">
                <a:solidFill>
                  <a:srgbClr val="080808"/>
                </a:solidFill>
                <a:effectLst/>
                <a:latin typeface="JetBrains Mono"/>
              </a:rPr>
              <a:t>, </a:t>
            </a:r>
            <a:r>
              <a:rPr lang="en-US" sz="1800" dirty="0">
                <a:solidFill>
                  <a:srgbClr val="1750EB"/>
                </a:solidFill>
                <a:effectLst/>
                <a:latin typeface="JetBrains Mono"/>
              </a:rPr>
              <a:t>2</a:t>
            </a:r>
            <a:r>
              <a:rPr lang="en-US" sz="1800" dirty="0">
                <a:solidFill>
                  <a:srgbClr val="080808"/>
                </a:solidFill>
                <a:effectLst/>
                <a:latin typeface="JetBrains Mono"/>
              </a:rPr>
              <a:t>, </a:t>
            </a:r>
            <a:r>
              <a:rPr lang="en-US" sz="1800" dirty="0">
                <a:solidFill>
                  <a:srgbClr val="1750EB"/>
                </a:solidFill>
                <a:effectLst/>
                <a:latin typeface="JetBrains Mono"/>
              </a:rPr>
              <a:t>3</a:t>
            </a:r>
            <a:r>
              <a:rPr lang="en-US" sz="1800" dirty="0">
                <a:solidFill>
                  <a:srgbClr val="080808"/>
                </a:solidFill>
                <a:effectLst/>
                <a:latin typeface="JetBrains Mono"/>
              </a:rPr>
              <a:t>, </a:t>
            </a:r>
            <a:r>
              <a:rPr lang="en-US" sz="1800" dirty="0">
                <a:solidFill>
                  <a:srgbClr val="1750EB"/>
                </a:solidFill>
                <a:effectLst/>
                <a:latin typeface="JetBrains Mono"/>
              </a:rPr>
              <a:t>4</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err="1">
                <a:solidFill>
                  <a:srgbClr val="080808"/>
                </a:solidFill>
                <a:effectLst/>
                <a:latin typeface="JetBrains Mono"/>
              </a:rPr>
              <a:t>squared_dict</a:t>
            </a:r>
            <a:r>
              <a:rPr lang="en-US" sz="1800" dirty="0">
                <a:solidFill>
                  <a:srgbClr val="080808"/>
                </a:solidFill>
                <a:effectLst/>
                <a:latin typeface="JetBrains Mono"/>
              </a:rPr>
              <a:t> = {num: num ** </a:t>
            </a:r>
            <a:r>
              <a:rPr lang="en-US" sz="1800" dirty="0">
                <a:solidFill>
                  <a:srgbClr val="1750EB"/>
                </a:solidFill>
                <a:effectLst/>
                <a:latin typeface="JetBrains Mono"/>
              </a:rPr>
              <a:t>2 </a:t>
            </a:r>
            <a:r>
              <a:rPr lang="en-US" sz="1800" dirty="0">
                <a:solidFill>
                  <a:srgbClr val="0033B3"/>
                </a:solidFill>
                <a:effectLst/>
                <a:latin typeface="JetBrains Mono"/>
              </a:rPr>
              <a:t>for </a:t>
            </a:r>
            <a:r>
              <a:rPr lang="en-US" sz="1800" dirty="0">
                <a:solidFill>
                  <a:srgbClr val="080808"/>
                </a:solidFill>
                <a:effectLst/>
                <a:latin typeface="JetBrains Mono"/>
              </a:rPr>
              <a:t>num </a:t>
            </a:r>
            <a:r>
              <a:rPr lang="en-US" sz="1800" dirty="0">
                <a:solidFill>
                  <a:srgbClr val="0033B3"/>
                </a:solidFill>
                <a:effectLst/>
                <a:latin typeface="JetBrains Mono"/>
              </a:rPr>
              <a:t>in </a:t>
            </a:r>
            <a:r>
              <a:rPr lang="en-US" sz="1800" dirty="0">
                <a:solidFill>
                  <a:srgbClr val="080808"/>
                </a:solidFill>
                <a:effectLst/>
                <a:latin typeface="JetBrains Mono"/>
              </a:rPr>
              <a:t>numbers}</a:t>
            </a:r>
            <a:br>
              <a:rPr lang="en-US" sz="1800" dirty="0">
                <a:solidFill>
                  <a:srgbClr val="080808"/>
                </a:solidFill>
                <a:effectLst/>
                <a:latin typeface="JetBrains Mono"/>
              </a:rPr>
            </a:br>
            <a:r>
              <a:rPr lang="en-US" sz="1800" i="1" dirty="0">
                <a:solidFill>
                  <a:srgbClr val="8C8C8C"/>
                </a:solidFill>
                <a:effectLst/>
                <a:latin typeface="JetBrains Mono"/>
              </a:rPr>
              <a:t># Result: {1: 1, 2: 4, 3: 9, 4: 16}</a:t>
            </a:r>
            <a:endParaRPr lang="en-US" dirty="0"/>
          </a:p>
        </p:txBody>
      </p:sp>
      <p:cxnSp>
        <p:nvCxnSpPr>
          <p:cNvPr id="6" name="Straight Arrow Connector 5">
            <a:extLst>
              <a:ext uri="{FF2B5EF4-FFF2-40B4-BE49-F238E27FC236}">
                <a16:creationId xmlns:a16="http://schemas.microsoft.com/office/drawing/2014/main" id="{07C1E08D-2845-8088-07E7-59947666B1B8}"/>
              </a:ext>
            </a:extLst>
          </p:cNvPr>
          <p:cNvCxnSpPr>
            <a:cxnSpLocks/>
          </p:cNvCxnSpPr>
          <p:nvPr/>
        </p:nvCxnSpPr>
        <p:spPr>
          <a:xfrm flipV="1">
            <a:off x="4356245" y="3368219"/>
            <a:ext cx="0" cy="591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96DF7C2-4F6E-0790-5421-98E9E83257CF}"/>
              </a:ext>
            </a:extLst>
          </p:cNvPr>
          <p:cNvCxnSpPr>
            <a:cxnSpLocks/>
          </p:cNvCxnSpPr>
          <p:nvPr/>
        </p:nvCxnSpPr>
        <p:spPr>
          <a:xfrm flipV="1">
            <a:off x="4992624" y="3319943"/>
            <a:ext cx="406376" cy="639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236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5AC0-5AA0-C0FC-9725-23D6E00DD30F}"/>
              </a:ext>
            </a:extLst>
          </p:cNvPr>
          <p:cNvSpPr>
            <a:spLocks noGrp="1"/>
          </p:cNvSpPr>
          <p:nvPr>
            <p:ph type="title"/>
          </p:nvPr>
        </p:nvSpPr>
        <p:spPr/>
        <p:txBody>
          <a:bodyPr/>
          <a:lstStyle/>
          <a:p>
            <a:r>
              <a:rPr lang="en-US" dirty="0"/>
              <a:t>Examples</a:t>
            </a:r>
          </a:p>
        </p:txBody>
      </p:sp>
      <p:sp>
        <p:nvSpPr>
          <p:cNvPr id="6" name="Content Placeholder 5">
            <a:extLst>
              <a:ext uri="{FF2B5EF4-FFF2-40B4-BE49-F238E27FC236}">
                <a16:creationId xmlns:a16="http://schemas.microsoft.com/office/drawing/2014/main" id="{8BD52749-9B4D-73BA-52CA-4AD24A219953}"/>
              </a:ext>
            </a:extLst>
          </p:cNvPr>
          <p:cNvSpPr>
            <a:spLocks noGrp="1"/>
          </p:cNvSpPr>
          <p:nvPr>
            <p:ph idx="1"/>
          </p:nvPr>
        </p:nvSpPr>
        <p:spPr/>
        <p:txBody>
          <a:bodyPr>
            <a:normAutofit fontScale="92500" lnSpcReduction="20000"/>
          </a:bodyPr>
          <a:lstStyle/>
          <a:p>
            <a:pPr>
              <a:buNone/>
            </a:pPr>
            <a:r>
              <a:rPr lang="en-CA" sz="1800" i="1" dirty="0">
                <a:solidFill>
                  <a:srgbClr val="8C8C8C"/>
                </a:solidFill>
                <a:effectLst/>
                <a:latin typeface="JetBrains Mono"/>
              </a:rPr>
              <a:t>	#optional condition</a:t>
            </a:r>
            <a:br>
              <a:rPr lang="en-CA" sz="1800" i="1" dirty="0">
                <a:solidFill>
                  <a:srgbClr val="8C8C8C"/>
                </a:solidFill>
                <a:effectLst/>
                <a:latin typeface="JetBrains Mono"/>
              </a:rPr>
            </a:br>
            <a:r>
              <a:rPr lang="en-CA" sz="1800" dirty="0" err="1">
                <a:solidFill>
                  <a:srgbClr val="080808"/>
                </a:solidFill>
                <a:effectLst/>
                <a:latin typeface="JetBrains Mono"/>
              </a:rPr>
              <a:t>original_dict</a:t>
            </a:r>
            <a:r>
              <a:rPr lang="en-CA" sz="1800" dirty="0">
                <a:solidFill>
                  <a:srgbClr val="080808"/>
                </a:solidFill>
                <a:effectLst/>
                <a:latin typeface="JetBrains Mono"/>
              </a:rPr>
              <a:t> = {</a:t>
            </a:r>
            <a:r>
              <a:rPr lang="en-CA" sz="1800" dirty="0">
                <a:solidFill>
                  <a:srgbClr val="067D17"/>
                </a:solidFill>
                <a:effectLst/>
                <a:latin typeface="JetBrains Mono"/>
              </a:rPr>
              <a:t>'a'</a:t>
            </a:r>
            <a:r>
              <a:rPr lang="en-CA" sz="1800" dirty="0">
                <a:solidFill>
                  <a:srgbClr val="080808"/>
                </a:solidFill>
                <a:effectLst/>
                <a:latin typeface="JetBrains Mono"/>
              </a:rPr>
              <a:t>: </a:t>
            </a:r>
            <a:r>
              <a:rPr lang="en-CA" sz="1800" dirty="0">
                <a:solidFill>
                  <a:srgbClr val="1750EB"/>
                </a:solidFill>
                <a:effectLst/>
                <a:latin typeface="JetBrains Mono"/>
              </a:rPr>
              <a:t>10</a:t>
            </a:r>
            <a:r>
              <a:rPr lang="en-CA" sz="1800" dirty="0">
                <a:solidFill>
                  <a:srgbClr val="080808"/>
                </a:solidFill>
                <a:effectLst/>
                <a:latin typeface="JetBrains Mono"/>
              </a:rPr>
              <a:t>, </a:t>
            </a:r>
            <a:r>
              <a:rPr lang="en-CA" sz="1800" dirty="0">
                <a:solidFill>
                  <a:srgbClr val="067D17"/>
                </a:solidFill>
                <a:effectLst/>
                <a:latin typeface="JetBrains Mono"/>
              </a:rPr>
              <a:t>'b'</a:t>
            </a:r>
            <a:r>
              <a:rPr lang="en-CA" sz="1800" dirty="0">
                <a:solidFill>
                  <a:srgbClr val="080808"/>
                </a:solidFill>
                <a:effectLst/>
                <a:latin typeface="JetBrains Mono"/>
              </a:rPr>
              <a:t>: </a:t>
            </a:r>
            <a:r>
              <a:rPr lang="en-CA" sz="1800" dirty="0">
                <a:solidFill>
                  <a:srgbClr val="1750EB"/>
                </a:solidFill>
                <a:effectLst/>
                <a:latin typeface="JetBrains Mono"/>
              </a:rPr>
              <a:t>25</a:t>
            </a:r>
            <a:r>
              <a:rPr lang="en-CA" sz="1800" dirty="0">
                <a:solidFill>
                  <a:srgbClr val="080808"/>
                </a:solidFill>
                <a:effectLst/>
                <a:latin typeface="JetBrains Mono"/>
              </a:rPr>
              <a:t>, </a:t>
            </a:r>
            <a:r>
              <a:rPr lang="en-CA" sz="1800" dirty="0">
                <a:solidFill>
                  <a:srgbClr val="067D17"/>
                </a:solidFill>
                <a:effectLst/>
                <a:latin typeface="JetBrains Mono"/>
              </a:rPr>
              <a:t>'c'</a:t>
            </a:r>
            <a:r>
              <a:rPr lang="en-CA" sz="1800" dirty="0">
                <a:solidFill>
                  <a:srgbClr val="080808"/>
                </a:solidFill>
                <a:effectLst/>
                <a:latin typeface="JetBrains Mono"/>
              </a:rPr>
              <a:t>: </a:t>
            </a:r>
            <a:r>
              <a:rPr lang="en-CA" sz="1800" dirty="0">
                <a:solidFill>
                  <a:srgbClr val="1750EB"/>
                </a:solidFill>
                <a:effectLst/>
                <a:latin typeface="JetBrains Mono"/>
              </a:rPr>
              <a:t>5</a:t>
            </a:r>
            <a:r>
              <a:rPr lang="en-CA" sz="1800" dirty="0">
                <a:solidFill>
                  <a:srgbClr val="080808"/>
                </a:solidFill>
                <a:effectLst/>
                <a:latin typeface="JetBrains Mono"/>
              </a:rPr>
              <a:t>, </a:t>
            </a:r>
            <a:r>
              <a:rPr lang="en-CA" sz="1800" dirty="0">
                <a:solidFill>
                  <a:srgbClr val="067D17"/>
                </a:solidFill>
                <a:effectLst/>
                <a:latin typeface="JetBrains Mono"/>
              </a:rPr>
              <a:t>'d'</a:t>
            </a:r>
            <a:r>
              <a:rPr lang="en-CA" sz="1800" dirty="0">
                <a:solidFill>
                  <a:srgbClr val="080808"/>
                </a:solidFill>
                <a:effectLst/>
                <a:latin typeface="JetBrains Mono"/>
              </a:rPr>
              <a:t>: </a:t>
            </a:r>
            <a:r>
              <a:rPr lang="en-CA" sz="1800" dirty="0">
                <a:solidFill>
                  <a:srgbClr val="1750EB"/>
                </a:solidFill>
                <a:effectLst/>
                <a:latin typeface="JetBrains Mono"/>
              </a:rPr>
              <a:t>30</a:t>
            </a:r>
            <a:r>
              <a:rPr lang="en-CA" sz="1800" dirty="0">
                <a:solidFill>
                  <a:srgbClr val="080808"/>
                </a:solidFill>
                <a:effectLst/>
                <a:latin typeface="JetBrains Mono"/>
              </a:rPr>
              <a:t>}</a:t>
            </a:r>
            <a:br>
              <a:rPr lang="en-CA" sz="1800" dirty="0">
                <a:solidFill>
                  <a:srgbClr val="080808"/>
                </a:solidFill>
                <a:effectLst/>
                <a:latin typeface="JetBrains Mono"/>
              </a:rPr>
            </a:br>
            <a:r>
              <a:rPr lang="en-CA" sz="1800" dirty="0" err="1">
                <a:solidFill>
                  <a:srgbClr val="080808"/>
                </a:solidFill>
                <a:effectLst/>
                <a:latin typeface="JetBrains Mono"/>
              </a:rPr>
              <a:t>filtered_and_doubled</a:t>
            </a:r>
            <a:r>
              <a:rPr lang="en-CA" sz="1800" dirty="0">
                <a:solidFill>
                  <a:srgbClr val="080808"/>
                </a:solidFill>
                <a:effectLst/>
                <a:latin typeface="JetBrains Mono"/>
              </a:rPr>
              <a:t> = {k: v * </a:t>
            </a:r>
            <a:r>
              <a:rPr lang="en-CA" sz="1800" dirty="0">
                <a:solidFill>
                  <a:srgbClr val="1750EB"/>
                </a:solidFill>
                <a:effectLst/>
                <a:latin typeface="JetBrains Mono"/>
              </a:rPr>
              <a:t>2 </a:t>
            </a:r>
            <a:r>
              <a:rPr lang="en-CA" sz="1800" dirty="0">
                <a:solidFill>
                  <a:srgbClr val="0033B3"/>
                </a:solidFill>
                <a:effectLst/>
                <a:latin typeface="JetBrains Mono"/>
              </a:rPr>
              <a:t>for </a:t>
            </a:r>
            <a:r>
              <a:rPr lang="en-CA" sz="1800" dirty="0">
                <a:solidFill>
                  <a:srgbClr val="080808"/>
                </a:solidFill>
                <a:effectLst/>
                <a:latin typeface="JetBrains Mono"/>
              </a:rPr>
              <a:t>k, v </a:t>
            </a:r>
            <a:r>
              <a:rPr lang="en-CA" sz="1800" dirty="0">
                <a:solidFill>
                  <a:srgbClr val="0033B3"/>
                </a:solidFill>
                <a:effectLst/>
                <a:latin typeface="JetBrains Mono"/>
              </a:rPr>
              <a:t>in </a:t>
            </a:r>
            <a:r>
              <a:rPr lang="en-CA" sz="1800" dirty="0" err="1">
                <a:solidFill>
                  <a:srgbClr val="080808"/>
                </a:solidFill>
                <a:effectLst/>
                <a:latin typeface="JetBrains Mono"/>
              </a:rPr>
              <a:t>original_dict.items</a:t>
            </a:r>
            <a:r>
              <a:rPr lang="en-CA" sz="1800" dirty="0">
                <a:solidFill>
                  <a:srgbClr val="080808"/>
                </a:solidFill>
                <a:effectLst/>
                <a:latin typeface="JetBrains Mono"/>
              </a:rPr>
              <a:t>() </a:t>
            </a:r>
            <a:r>
              <a:rPr lang="en-CA" sz="1800" dirty="0">
                <a:solidFill>
                  <a:srgbClr val="0033B3"/>
                </a:solidFill>
                <a:effectLst/>
                <a:latin typeface="JetBrains Mono"/>
              </a:rPr>
              <a:t>if </a:t>
            </a:r>
            <a:r>
              <a:rPr lang="en-CA" sz="1800" dirty="0">
                <a:solidFill>
                  <a:srgbClr val="080808"/>
                </a:solidFill>
                <a:effectLst/>
                <a:latin typeface="JetBrains Mono"/>
              </a:rPr>
              <a:t>v &gt; </a:t>
            </a:r>
            <a:r>
              <a:rPr lang="en-CA" sz="1800" dirty="0">
                <a:solidFill>
                  <a:srgbClr val="1750EB"/>
                </a:solidFill>
                <a:effectLst/>
                <a:latin typeface="JetBrains Mono"/>
              </a:rPr>
              <a:t>15</a:t>
            </a:r>
            <a:r>
              <a:rPr lang="en-CA" sz="1800" dirty="0">
                <a:solidFill>
                  <a:srgbClr val="080808"/>
                </a:solidFill>
                <a:effectLst/>
                <a:latin typeface="JetBrains Mono"/>
              </a:rPr>
              <a:t>}</a:t>
            </a:r>
            <a:br>
              <a:rPr lang="en-CA" sz="1800" dirty="0">
                <a:solidFill>
                  <a:srgbClr val="080808"/>
                </a:solidFill>
                <a:effectLst/>
                <a:latin typeface="JetBrains Mono"/>
              </a:rPr>
            </a:br>
            <a:r>
              <a:rPr lang="en-CA" sz="1800" i="1" dirty="0">
                <a:solidFill>
                  <a:srgbClr val="8C8C8C"/>
                </a:solidFill>
                <a:effectLst/>
                <a:latin typeface="JetBrains Mono"/>
              </a:rPr>
              <a:t># Result: {'b': 50, 'd': 60}</a:t>
            </a:r>
          </a:p>
          <a:p>
            <a:pPr>
              <a:buNone/>
            </a:pPr>
            <a:endParaRPr lang="en-CA" i="1" dirty="0">
              <a:solidFill>
                <a:srgbClr val="8C8C8C"/>
              </a:solidFill>
              <a:latin typeface="JetBrains Mono"/>
            </a:endParaRPr>
          </a:p>
          <a:p>
            <a:pPr>
              <a:buNone/>
            </a:pPr>
            <a:r>
              <a:rPr lang="en-CA" sz="1800" i="1" dirty="0">
                <a:solidFill>
                  <a:srgbClr val="8C8C8C"/>
                </a:solidFill>
                <a:effectLst/>
                <a:latin typeface="JetBrains Mono"/>
              </a:rPr>
              <a:t>	# dictionary from list of tuples</a:t>
            </a:r>
            <a:br>
              <a:rPr lang="en-CA" sz="1800" i="1" dirty="0">
                <a:solidFill>
                  <a:srgbClr val="8C8C8C"/>
                </a:solidFill>
                <a:effectLst/>
                <a:latin typeface="JetBrains Mono"/>
              </a:rPr>
            </a:br>
            <a:br>
              <a:rPr lang="en-CA" sz="1800" i="1" dirty="0">
                <a:solidFill>
                  <a:srgbClr val="8C8C8C"/>
                </a:solidFill>
                <a:effectLst/>
                <a:latin typeface="JetBrains Mono"/>
              </a:rPr>
            </a:br>
            <a:r>
              <a:rPr lang="en-CA" sz="1800" dirty="0">
                <a:solidFill>
                  <a:srgbClr val="080808"/>
                </a:solidFill>
                <a:effectLst/>
                <a:latin typeface="JetBrains Mono"/>
              </a:rPr>
              <a:t>data = [(</a:t>
            </a:r>
            <a:r>
              <a:rPr lang="en-CA" sz="1800" dirty="0">
                <a:solidFill>
                  <a:srgbClr val="067D17"/>
                </a:solidFill>
                <a:effectLst/>
                <a:latin typeface="JetBrains Mono"/>
              </a:rPr>
              <a:t>'apple'</a:t>
            </a:r>
            <a:r>
              <a:rPr lang="en-CA" sz="1800" dirty="0">
                <a:solidFill>
                  <a:srgbClr val="080808"/>
                </a:solidFill>
                <a:effectLst/>
                <a:latin typeface="JetBrains Mono"/>
              </a:rPr>
              <a:t>, </a:t>
            </a:r>
            <a:r>
              <a:rPr lang="en-CA" sz="1800" dirty="0">
                <a:solidFill>
                  <a:srgbClr val="1750EB"/>
                </a:solidFill>
                <a:effectLst/>
                <a:latin typeface="JetBrains Mono"/>
              </a:rPr>
              <a:t>1</a:t>
            </a:r>
            <a:r>
              <a:rPr lang="en-CA" sz="1800" dirty="0">
                <a:solidFill>
                  <a:srgbClr val="080808"/>
                </a:solidFill>
                <a:effectLst/>
                <a:latin typeface="JetBrains Mono"/>
              </a:rPr>
              <a:t>), (</a:t>
            </a:r>
            <a:r>
              <a:rPr lang="en-CA" sz="1800" dirty="0">
                <a:solidFill>
                  <a:srgbClr val="067D17"/>
                </a:solidFill>
                <a:effectLst/>
                <a:latin typeface="JetBrains Mono"/>
              </a:rPr>
              <a:t>'banana'</a:t>
            </a:r>
            <a:r>
              <a:rPr lang="en-CA" sz="1800" dirty="0">
                <a:solidFill>
                  <a:srgbClr val="080808"/>
                </a:solidFill>
                <a:effectLst/>
                <a:latin typeface="JetBrains Mono"/>
              </a:rPr>
              <a:t>, </a:t>
            </a:r>
            <a:r>
              <a:rPr lang="en-CA" sz="1800" dirty="0">
                <a:solidFill>
                  <a:srgbClr val="1750EB"/>
                </a:solidFill>
                <a:effectLst/>
                <a:latin typeface="JetBrains Mono"/>
              </a:rPr>
              <a:t>2</a:t>
            </a:r>
            <a:r>
              <a:rPr lang="en-CA" sz="1800" dirty="0">
                <a:solidFill>
                  <a:srgbClr val="080808"/>
                </a:solidFill>
                <a:effectLst/>
                <a:latin typeface="JetBrains Mono"/>
              </a:rPr>
              <a:t>), (</a:t>
            </a:r>
            <a:r>
              <a:rPr lang="en-CA" sz="1800" dirty="0">
                <a:solidFill>
                  <a:srgbClr val="067D17"/>
                </a:solidFill>
                <a:effectLst/>
                <a:latin typeface="JetBrains Mono"/>
              </a:rPr>
              <a:t>'cherry'</a:t>
            </a:r>
            <a:r>
              <a:rPr lang="en-CA" sz="1800" dirty="0">
                <a:solidFill>
                  <a:srgbClr val="080808"/>
                </a:solidFill>
                <a:effectLst/>
                <a:latin typeface="JetBrains Mono"/>
              </a:rPr>
              <a:t>, </a:t>
            </a:r>
            <a:r>
              <a:rPr lang="en-CA" sz="1800" dirty="0">
                <a:solidFill>
                  <a:srgbClr val="1750EB"/>
                </a:solidFill>
                <a:effectLst/>
                <a:latin typeface="JetBrains Mono"/>
              </a:rPr>
              <a:t>3</a:t>
            </a:r>
            <a:r>
              <a:rPr lang="en-CA" sz="1800" dirty="0">
                <a:solidFill>
                  <a:srgbClr val="080808"/>
                </a:solidFill>
                <a:effectLst/>
                <a:latin typeface="JetBrains Mono"/>
              </a:rPr>
              <a:t>)]</a:t>
            </a:r>
            <a:br>
              <a:rPr lang="en-CA" sz="1800" dirty="0">
                <a:solidFill>
                  <a:srgbClr val="080808"/>
                </a:solidFill>
                <a:effectLst/>
                <a:latin typeface="JetBrains Mono"/>
              </a:rPr>
            </a:br>
            <a:r>
              <a:rPr lang="en-CA" sz="1800" dirty="0" err="1">
                <a:solidFill>
                  <a:srgbClr val="080808"/>
                </a:solidFill>
                <a:effectLst/>
                <a:latin typeface="JetBrains Mono"/>
              </a:rPr>
              <a:t>fruit_counts</a:t>
            </a:r>
            <a:r>
              <a:rPr lang="en-CA" sz="1800" dirty="0">
                <a:solidFill>
                  <a:srgbClr val="080808"/>
                </a:solidFill>
                <a:effectLst/>
                <a:latin typeface="JetBrains Mono"/>
              </a:rPr>
              <a:t> = {fruit: count </a:t>
            </a:r>
            <a:r>
              <a:rPr lang="en-CA" sz="1800" dirty="0">
                <a:solidFill>
                  <a:srgbClr val="0033B3"/>
                </a:solidFill>
                <a:effectLst/>
                <a:latin typeface="JetBrains Mono"/>
              </a:rPr>
              <a:t>for </a:t>
            </a:r>
            <a:r>
              <a:rPr lang="en-CA" sz="1800" dirty="0">
                <a:solidFill>
                  <a:srgbClr val="080808"/>
                </a:solidFill>
                <a:effectLst/>
                <a:latin typeface="JetBrains Mono"/>
              </a:rPr>
              <a:t>fruit, count </a:t>
            </a:r>
            <a:r>
              <a:rPr lang="en-CA" sz="1800" dirty="0">
                <a:solidFill>
                  <a:srgbClr val="0033B3"/>
                </a:solidFill>
                <a:effectLst/>
                <a:latin typeface="JetBrains Mono"/>
              </a:rPr>
              <a:t>in </a:t>
            </a:r>
            <a:r>
              <a:rPr lang="en-CA" sz="1800" dirty="0">
                <a:solidFill>
                  <a:srgbClr val="080808"/>
                </a:solidFill>
                <a:effectLst/>
                <a:latin typeface="JetBrains Mono"/>
              </a:rPr>
              <a:t>data}</a:t>
            </a:r>
            <a:br>
              <a:rPr lang="en-CA" sz="1800" dirty="0">
                <a:solidFill>
                  <a:srgbClr val="080808"/>
                </a:solidFill>
                <a:effectLst/>
                <a:latin typeface="JetBrains Mono"/>
              </a:rPr>
            </a:br>
            <a:r>
              <a:rPr lang="en-CA" sz="1800" i="1" dirty="0">
                <a:solidFill>
                  <a:srgbClr val="8C8C8C"/>
                </a:solidFill>
                <a:effectLst/>
                <a:latin typeface="JetBrains Mono"/>
              </a:rPr>
              <a:t># Result: {'apple': 1, 'banana': 2, 'cherry': 3}</a:t>
            </a:r>
            <a:br>
              <a:rPr lang="en-CA" sz="1800" i="1" dirty="0">
                <a:solidFill>
                  <a:srgbClr val="8C8C8C"/>
                </a:solidFill>
                <a:effectLst/>
                <a:latin typeface="JetBrains Mono"/>
              </a:rPr>
            </a:br>
            <a:br>
              <a:rPr lang="en-CA" sz="1800" i="1" dirty="0">
                <a:solidFill>
                  <a:srgbClr val="8C8C8C"/>
                </a:solidFill>
                <a:effectLst/>
                <a:latin typeface="JetBrains Mono"/>
              </a:rPr>
            </a:br>
            <a:r>
              <a:rPr lang="en-CA" sz="1800" dirty="0">
                <a:solidFill>
                  <a:srgbClr val="000080"/>
                </a:solidFill>
                <a:effectLst/>
                <a:latin typeface="JetBrains Mono"/>
              </a:rPr>
              <a:t>print</a:t>
            </a:r>
            <a:r>
              <a:rPr lang="en-CA" sz="1800" dirty="0">
                <a:solidFill>
                  <a:srgbClr val="080808"/>
                </a:solidFill>
                <a:effectLst/>
                <a:latin typeface="JetBrains Mono"/>
              </a:rPr>
              <a:t>(</a:t>
            </a:r>
            <a:r>
              <a:rPr lang="en-CA" sz="1800" dirty="0" err="1">
                <a:solidFill>
                  <a:srgbClr val="080808"/>
                </a:solidFill>
                <a:effectLst/>
                <a:latin typeface="JetBrains Mono"/>
              </a:rPr>
              <a:t>fruit_counts</a:t>
            </a:r>
            <a:r>
              <a:rPr lang="en-CA" sz="1800" dirty="0">
                <a:solidFill>
                  <a:srgbClr val="080808"/>
                </a:solidFill>
                <a:effectLst/>
                <a:latin typeface="JetBrains Mono"/>
              </a:rPr>
              <a:t>)</a:t>
            </a:r>
          </a:p>
          <a:p>
            <a:pPr>
              <a:buNone/>
            </a:pPr>
            <a:endParaRPr lang="en-CA" i="1" dirty="0">
              <a:solidFill>
                <a:srgbClr val="8C8C8C"/>
              </a:solidFill>
              <a:latin typeface="JetBrains Mono"/>
            </a:endParaRPr>
          </a:p>
          <a:p>
            <a:pPr>
              <a:buNone/>
            </a:pPr>
            <a:endParaRPr lang="en-CA" sz="1800" dirty="0">
              <a:solidFill>
                <a:srgbClr val="080808"/>
              </a:solidFill>
              <a:effectLst/>
              <a:latin typeface="JetBrains Mono"/>
            </a:endParaRPr>
          </a:p>
          <a:p>
            <a:endParaRPr lang="en-CA" dirty="0"/>
          </a:p>
        </p:txBody>
      </p:sp>
    </p:spTree>
    <p:extLst>
      <p:ext uri="{BB962C8B-B14F-4D97-AF65-F5344CB8AC3E}">
        <p14:creationId xmlns:p14="http://schemas.microsoft.com/office/powerpoint/2010/main" val="3709516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12DD-0CF1-5F40-6F26-746BEAA41D07}"/>
              </a:ext>
            </a:extLst>
          </p:cNvPr>
          <p:cNvSpPr>
            <a:spLocks noGrp="1"/>
          </p:cNvSpPr>
          <p:nvPr>
            <p:ph type="title"/>
          </p:nvPr>
        </p:nvSpPr>
        <p:spPr/>
        <p:txBody>
          <a:bodyPr/>
          <a:lstStyle/>
          <a:p>
            <a:r>
              <a:rPr lang="en-US" dirty="0"/>
              <a:t>Conditional Expression</a:t>
            </a:r>
          </a:p>
        </p:txBody>
      </p:sp>
      <p:sp>
        <p:nvSpPr>
          <p:cNvPr id="3" name="Content Placeholder 2">
            <a:extLst>
              <a:ext uri="{FF2B5EF4-FFF2-40B4-BE49-F238E27FC236}">
                <a16:creationId xmlns:a16="http://schemas.microsoft.com/office/drawing/2014/main" id="{19A44950-B988-A4D7-F48A-47EA94D3085B}"/>
              </a:ext>
            </a:extLst>
          </p:cNvPr>
          <p:cNvSpPr>
            <a:spLocks noGrp="1"/>
          </p:cNvSpPr>
          <p:nvPr>
            <p:ph idx="1"/>
          </p:nvPr>
        </p:nvSpPr>
        <p:spPr>
          <a:xfrm>
            <a:off x="2231136" y="2638044"/>
            <a:ext cx="7729728" cy="3872484"/>
          </a:xfrm>
        </p:spPr>
        <p:txBody>
          <a:bodyPr>
            <a:normAutofit lnSpcReduction="10000"/>
          </a:bodyPr>
          <a:lstStyle/>
          <a:p>
            <a:r>
              <a:rPr lang="en-US" dirty="0"/>
              <a:t>Can be used anywhere an expression is expected</a:t>
            </a:r>
          </a:p>
          <a:p>
            <a:pPr>
              <a:buNone/>
            </a:pPr>
            <a:r>
              <a:rPr lang="en-US" sz="1800" dirty="0">
                <a:solidFill>
                  <a:srgbClr val="080808"/>
                </a:solidFill>
                <a:effectLst/>
                <a:latin typeface="JetBrains Mono"/>
              </a:rPr>
              <a:t>		</a:t>
            </a:r>
            <a:r>
              <a:rPr lang="en-US" sz="1800" dirty="0" err="1">
                <a:solidFill>
                  <a:srgbClr val="080808"/>
                </a:solidFill>
                <a:effectLst/>
                <a:latin typeface="JetBrains Mono"/>
              </a:rPr>
              <a:t>value_if_true</a:t>
            </a:r>
            <a:r>
              <a:rPr lang="en-US" sz="1800" dirty="0">
                <a:solidFill>
                  <a:srgbClr val="080808"/>
                </a:solidFill>
                <a:effectLst/>
                <a:latin typeface="JetBrains Mono"/>
              </a:rPr>
              <a:t> </a:t>
            </a:r>
            <a:r>
              <a:rPr lang="en-US" sz="1800" dirty="0">
                <a:solidFill>
                  <a:srgbClr val="0033B3"/>
                </a:solidFill>
                <a:effectLst/>
                <a:latin typeface="JetBrains Mono"/>
              </a:rPr>
              <a:t>if </a:t>
            </a:r>
            <a:r>
              <a:rPr lang="en-US" sz="1800" dirty="0">
                <a:solidFill>
                  <a:srgbClr val="080808"/>
                </a:solidFill>
                <a:effectLst/>
                <a:latin typeface="JetBrains Mono"/>
              </a:rPr>
              <a:t>condition </a:t>
            </a:r>
            <a:r>
              <a:rPr lang="en-US" sz="1800" dirty="0">
                <a:solidFill>
                  <a:srgbClr val="0033B3"/>
                </a:solidFill>
                <a:effectLst/>
                <a:latin typeface="JetBrains Mono"/>
              </a:rPr>
              <a:t>else </a:t>
            </a:r>
            <a:r>
              <a:rPr lang="en-US" sz="1800" dirty="0" err="1">
                <a:solidFill>
                  <a:srgbClr val="080808"/>
                </a:solidFill>
                <a:effectLst/>
                <a:latin typeface="JetBrains Mono"/>
              </a:rPr>
              <a:t>value_if_false</a:t>
            </a:r>
            <a:endParaRPr lang="en-US" sz="1800" dirty="0">
              <a:solidFill>
                <a:srgbClr val="080808"/>
              </a:solidFill>
              <a:effectLst/>
              <a:latin typeface="JetBrains Mono"/>
            </a:endParaRPr>
          </a:p>
          <a:p>
            <a:pPr>
              <a:buNone/>
            </a:pPr>
            <a:r>
              <a:rPr lang="en-US" dirty="0"/>
              <a:t>Examples:</a:t>
            </a:r>
          </a:p>
          <a:p>
            <a:pPr>
              <a:buNone/>
            </a:pPr>
            <a:r>
              <a:rPr lang="en-US" sz="1800" i="1" dirty="0">
                <a:solidFill>
                  <a:srgbClr val="8C8C8C"/>
                </a:solidFill>
                <a:effectLst/>
                <a:latin typeface="JetBrains Mono"/>
              </a:rPr>
              <a:t>	# conditional expression</a:t>
            </a:r>
            <a:br>
              <a:rPr lang="en-US" sz="1800" i="1" dirty="0">
                <a:solidFill>
                  <a:srgbClr val="8C8C8C"/>
                </a:solidFill>
                <a:effectLst/>
                <a:latin typeface="JetBrains Mono"/>
              </a:rPr>
            </a:br>
            <a:r>
              <a:rPr lang="en-US" sz="1800" dirty="0">
                <a:solidFill>
                  <a:srgbClr val="080808"/>
                </a:solidFill>
                <a:effectLst/>
                <a:latin typeface="JetBrains Mono"/>
              </a:rPr>
              <a:t>time = </a:t>
            </a:r>
            <a:r>
              <a:rPr lang="en-US" sz="1800" dirty="0">
                <a:solidFill>
                  <a:srgbClr val="1750EB"/>
                </a:solidFill>
                <a:effectLst/>
                <a:latin typeface="JetBrains Mono"/>
              </a:rPr>
              <a:t>13</a:t>
            </a:r>
            <a:br>
              <a:rPr lang="en-US" sz="1800" dirty="0">
                <a:solidFill>
                  <a:srgbClr val="1750EB"/>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 </a:t>
            </a:r>
            <a:r>
              <a:rPr lang="en-US" sz="1800" dirty="0">
                <a:solidFill>
                  <a:srgbClr val="067D17"/>
                </a:solidFill>
                <a:effectLst/>
                <a:latin typeface="JetBrains Mono"/>
              </a:rPr>
              <a:t>"good morning" </a:t>
            </a:r>
            <a:r>
              <a:rPr lang="en-US" sz="1800" dirty="0">
                <a:solidFill>
                  <a:srgbClr val="0033B3"/>
                </a:solidFill>
                <a:effectLst/>
                <a:latin typeface="JetBrains Mono"/>
              </a:rPr>
              <a:t>if </a:t>
            </a:r>
            <a:r>
              <a:rPr lang="en-US" sz="1800" dirty="0">
                <a:solidFill>
                  <a:srgbClr val="080808"/>
                </a:solidFill>
                <a:effectLst/>
                <a:latin typeface="JetBrains Mono"/>
              </a:rPr>
              <a:t>time &lt; </a:t>
            </a:r>
            <a:r>
              <a:rPr lang="en-US" sz="1800" dirty="0">
                <a:solidFill>
                  <a:srgbClr val="1750EB"/>
                </a:solidFill>
                <a:effectLst/>
                <a:latin typeface="JetBrains Mono"/>
              </a:rPr>
              <a:t>12 </a:t>
            </a:r>
            <a:r>
              <a:rPr lang="en-US" sz="1800" dirty="0">
                <a:solidFill>
                  <a:srgbClr val="0033B3"/>
                </a:solidFill>
                <a:effectLst/>
                <a:latin typeface="JetBrains Mono"/>
              </a:rPr>
              <a:t>else </a:t>
            </a:r>
            <a:r>
              <a:rPr lang="en-US" sz="1800" dirty="0">
                <a:solidFill>
                  <a:srgbClr val="067D17"/>
                </a:solidFill>
                <a:effectLst/>
                <a:latin typeface="JetBrains Mono"/>
              </a:rPr>
              <a:t>"good afternoon"</a:t>
            </a:r>
            <a:r>
              <a:rPr lang="en-US" sz="1800" dirty="0">
                <a:solidFill>
                  <a:srgbClr val="080808"/>
                </a:solidFill>
                <a:effectLst/>
                <a:latin typeface="JetBrains Mono"/>
              </a:rPr>
              <a:t>)</a:t>
            </a:r>
          </a:p>
          <a:p>
            <a:pPr>
              <a:buNone/>
            </a:pPr>
            <a:r>
              <a:rPr lang="en-CA" sz="1800" i="1" dirty="0">
                <a:solidFill>
                  <a:srgbClr val="8C8C8C"/>
                </a:solidFill>
                <a:effectLst/>
                <a:latin typeface="JetBrains Mono"/>
              </a:rPr>
              <a:t>	#if-else condition</a:t>
            </a:r>
            <a:br>
              <a:rPr lang="en-CA" sz="1800" i="1" dirty="0">
                <a:solidFill>
                  <a:srgbClr val="8C8C8C"/>
                </a:solidFill>
                <a:effectLst/>
                <a:latin typeface="JetBrains Mono"/>
              </a:rPr>
            </a:br>
            <a:r>
              <a:rPr lang="en-CA" sz="1800" dirty="0">
                <a:solidFill>
                  <a:srgbClr val="080808"/>
                </a:solidFill>
                <a:effectLst/>
                <a:latin typeface="JetBrains Mono"/>
              </a:rPr>
              <a:t>data = {</a:t>
            </a:r>
            <a:r>
              <a:rPr lang="en-CA" sz="1800" dirty="0">
                <a:solidFill>
                  <a:srgbClr val="067D17"/>
                </a:solidFill>
                <a:effectLst/>
                <a:latin typeface="JetBrains Mono"/>
              </a:rPr>
              <a:t>'A'</a:t>
            </a:r>
            <a:r>
              <a:rPr lang="en-CA" sz="1800" dirty="0">
                <a:solidFill>
                  <a:srgbClr val="080808"/>
                </a:solidFill>
                <a:effectLst/>
                <a:latin typeface="JetBrains Mono"/>
              </a:rPr>
              <a:t>: </a:t>
            </a:r>
            <a:r>
              <a:rPr lang="en-CA" sz="1800" dirty="0">
                <a:solidFill>
                  <a:srgbClr val="1750EB"/>
                </a:solidFill>
                <a:effectLst/>
                <a:latin typeface="JetBrains Mono"/>
              </a:rPr>
              <a:t>10</a:t>
            </a:r>
            <a:r>
              <a:rPr lang="en-CA" sz="1800" dirty="0">
                <a:solidFill>
                  <a:srgbClr val="080808"/>
                </a:solidFill>
                <a:effectLst/>
                <a:latin typeface="JetBrains Mono"/>
              </a:rPr>
              <a:t>, </a:t>
            </a:r>
            <a:r>
              <a:rPr lang="en-CA" sz="1800" dirty="0">
                <a:solidFill>
                  <a:srgbClr val="067D17"/>
                </a:solidFill>
                <a:effectLst/>
                <a:latin typeface="JetBrains Mono"/>
              </a:rPr>
              <a:t>'B'</a:t>
            </a:r>
            <a:r>
              <a:rPr lang="en-CA" sz="1800" dirty="0">
                <a:solidFill>
                  <a:srgbClr val="080808"/>
                </a:solidFill>
                <a:effectLst/>
                <a:latin typeface="JetBrains Mono"/>
              </a:rPr>
              <a:t>: </a:t>
            </a:r>
            <a:r>
              <a:rPr lang="en-CA" sz="1800" dirty="0">
                <a:solidFill>
                  <a:srgbClr val="1750EB"/>
                </a:solidFill>
                <a:effectLst/>
                <a:latin typeface="JetBrains Mono"/>
              </a:rPr>
              <a:t>5</a:t>
            </a:r>
            <a:r>
              <a:rPr lang="en-CA" sz="1800" dirty="0">
                <a:solidFill>
                  <a:srgbClr val="080808"/>
                </a:solidFill>
                <a:effectLst/>
                <a:latin typeface="JetBrains Mono"/>
              </a:rPr>
              <a:t>, </a:t>
            </a:r>
            <a:r>
              <a:rPr lang="en-CA" sz="1800" dirty="0">
                <a:solidFill>
                  <a:srgbClr val="067D17"/>
                </a:solidFill>
                <a:effectLst/>
                <a:latin typeface="JetBrains Mono"/>
              </a:rPr>
              <a:t>'C'</a:t>
            </a:r>
            <a:r>
              <a:rPr lang="en-CA" sz="1800" dirty="0">
                <a:solidFill>
                  <a:srgbClr val="080808"/>
                </a:solidFill>
                <a:effectLst/>
                <a:latin typeface="JetBrains Mono"/>
              </a:rPr>
              <a:t>: </a:t>
            </a:r>
            <a:r>
              <a:rPr lang="en-CA" sz="1800" dirty="0">
                <a:solidFill>
                  <a:srgbClr val="1750EB"/>
                </a:solidFill>
                <a:effectLst/>
                <a:latin typeface="JetBrains Mono"/>
              </a:rPr>
              <a:t>12</a:t>
            </a:r>
            <a:r>
              <a:rPr lang="en-CA" sz="1800" dirty="0">
                <a:solidFill>
                  <a:srgbClr val="080808"/>
                </a:solidFill>
                <a:effectLst/>
                <a:latin typeface="JetBrains Mono"/>
              </a:rPr>
              <a:t>}</a:t>
            </a:r>
            <a:br>
              <a:rPr lang="en-CA" sz="1800" dirty="0">
                <a:solidFill>
                  <a:srgbClr val="080808"/>
                </a:solidFill>
                <a:effectLst/>
                <a:latin typeface="JetBrains Mono"/>
              </a:rPr>
            </a:br>
            <a:r>
              <a:rPr lang="en-CA" sz="1800" dirty="0" err="1">
                <a:solidFill>
                  <a:srgbClr val="080808"/>
                </a:solidFill>
                <a:effectLst/>
                <a:latin typeface="JetBrains Mono"/>
              </a:rPr>
              <a:t>transformed_values</a:t>
            </a:r>
            <a:r>
              <a:rPr lang="en-CA" sz="1800" dirty="0">
                <a:solidFill>
                  <a:srgbClr val="080808"/>
                </a:solidFill>
                <a:effectLst/>
                <a:latin typeface="JetBrains Mono"/>
              </a:rPr>
              <a:t> = {k: </a:t>
            </a:r>
            <a:r>
              <a:rPr lang="en-CA" sz="1800" dirty="0">
                <a:solidFill>
                  <a:srgbClr val="067D17"/>
                </a:solidFill>
                <a:effectLst/>
                <a:latin typeface="JetBrains Mono"/>
              </a:rPr>
              <a:t>"High" </a:t>
            </a:r>
            <a:r>
              <a:rPr lang="en-CA" sz="1800" dirty="0">
                <a:solidFill>
                  <a:srgbClr val="0033B3"/>
                </a:solidFill>
                <a:effectLst/>
                <a:latin typeface="JetBrains Mono"/>
              </a:rPr>
              <a:t>if </a:t>
            </a:r>
            <a:r>
              <a:rPr lang="en-CA" sz="1800" dirty="0">
                <a:solidFill>
                  <a:srgbClr val="080808"/>
                </a:solidFill>
                <a:effectLst/>
                <a:latin typeface="JetBrains Mono"/>
              </a:rPr>
              <a:t>v &gt; </a:t>
            </a:r>
            <a:r>
              <a:rPr lang="en-CA" sz="1800" dirty="0">
                <a:solidFill>
                  <a:srgbClr val="1750EB"/>
                </a:solidFill>
                <a:effectLst/>
                <a:latin typeface="JetBrains Mono"/>
              </a:rPr>
              <a:t>10 </a:t>
            </a:r>
            <a:r>
              <a:rPr lang="en-CA" sz="1800" dirty="0">
                <a:solidFill>
                  <a:srgbClr val="0033B3"/>
                </a:solidFill>
                <a:effectLst/>
                <a:latin typeface="JetBrains Mono"/>
              </a:rPr>
              <a:t>else </a:t>
            </a:r>
            <a:r>
              <a:rPr lang="en-CA" sz="1800" dirty="0">
                <a:solidFill>
                  <a:srgbClr val="067D17"/>
                </a:solidFill>
                <a:effectLst/>
                <a:latin typeface="JetBrains Mono"/>
              </a:rPr>
              <a:t>"Low" </a:t>
            </a:r>
            <a:r>
              <a:rPr lang="en-CA" sz="1800" dirty="0">
                <a:solidFill>
                  <a:srgbClr val="0033B3"/>
                </a:solidFill>
                <a:effectLst/>
                <a:latin typeface="JetBrains Mono"/>
              </a:rPr>
              <a:t>for </a:t>
            </a:r>
            <a:r>
              <a:rPr lang="en-CA" sz="1800" dirty="0">
                <a:solidFill>
                  <a:srgbClr val="080808"/>
                </a:solidFill>
                <a:effectLst/>
                <a:latin typeface="JetBrains Mono"/>
              </a:rPr>
              <a:t>k, v </a:t>
            </a:r>
            <a:r>
              <a:rPr lang="en-CA" sz="1800" dirty="0">
                <a:solidFill>
                  <a:srgbClr val="0033B3"/>
                </a:solidFill>
                <a:effectLst/>
                <a:latin typeface="JetBrains Mono"/>
              </a:rPr>
              <a:t>in </a:t>
            </a:r>
            <a:r>
              <a:rPr lang="en-CA" sz="1800" dirty="0" err="1">
                <a:solidFill>
                  <a:srgbClr val="080808"/>
                </a:solidFill>
                <a:effectLst/>
                <a:latin typeface="JetBrains Mono"/>
              </a:rPr>
              <a:t>data.items</a:t>
            </a:r>
            <a:r>
              <a:rPr lang="en-CA" sz="1800" dirty="0">
                <a:solidFill>
                  <a:srgbClr val="080808"/>
                </a:solidFill>
                <a:effectLst/>
                <a:latin typeface="JetBrains Mono"/>
              </a:rPr>
              <a:t>()}</a:t>
            </a:r>
            <a:br>
              <a:rPr lang="en-CA" sz="1800" dirty="0">
                <a:solidFill>
                  <a:srgbClr val="080808"/>
                </a:solidFill>
                <a:effectLst/>
                <a:latin typeface="JetBrains Mono"/>
              </a:rPr>
            </a:br>
            <a:r>
              <a:rPr lang="en-CA" sz="1800" i="1" dirty="0">
                <a:solidFill>
                  <a:srgbClr val="8C8C8C"/>
                </a:solidFill>
                <a:effectLst/>
                <a:latin typeface="JetBrains Mono"/>
              </a:rPr>
              <a:t># Result: {'A': 'High', 'B': 'Low', 'C': 'High'}</a:t>
            </a:r>
            <a:endParaRPr lang="en-CA" sz="1800" dirty="0">
              <a:solidFill>
                <a:srgbClr val="080808"/>
              </a:solidFill>
              <a:effectLst/>
              <a:latin typeface="JetBrains Mono"/>
            </a:endParaRPr>
          </a:p>
          <a:p>
            <a:pPr>
              <a:buNone/>
            </a:pPr>
            <a:br>
              <a:rPr lang="en-US" sz="1800" dirty="0">
                <a:solidFill>
                  <a:srgbClr val="080808"/>
                </a:solidFill>
                <a:effectLst/>
                <a:latin typeface="JetBrains Mono"/>
              </a:rPr>
            </a:br>
            <a:endParaRPr lang="en-US" sz="1800" dirty="0">
              <a:solidFill>
                <a:srgbClr val="080808"/>
              </a:solidFill>
              <a:effectLst/>
              <a:latin typeface="JetBrains Mono"/>
            </a:endParaRPr>
          </a:p>
          <a:p>
            <a:endParaRPr lang="en-US" dirty="0"/>
          </a:p>
          <a:p>
            <a:endParaRPr lang="en-US" dirty="0"/>
          </a:p>
        </p:txBody>
      </p:sp>
    </p:spTree>
    <p:extLst>
      <p:ext uri="{BB962C8B-B14F-4D97-AF65-F5344CB8AC3E}">
        <p14:creationId xmlns:p14="http://schemas.microsoft.com/office/powerpoint/2010/main" val="2170602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887E2-3733-5B68-C143-4E7AE9D8B297}"/>
              </a:ext>
            </a:extLst>
          </p:cNvPr>
          <p:cNvSpPr>
            <a:spLocks noGrp="1"/>
          </p:cNvSpPr>
          <p:nvPr>
            <p:ph type="title"/>
          </p:nvPr>
        </p:nvSpPr>
        <p:spPr/>
        <p:txBody>
          <a:bodyPr vert="horz" lIns="274320" tIns="182880" rIns="274320" bIns="182880" rtlCol="0" anchor="ctr" anchorCtr="1">
            <a:normAutofit/>
          </a:bodyPr>
          <a:lstStyle/>
          <a:p>
            <a:r>
              <a:rPr lang="en-US" sz="3200"/>
              <a:t>Self-check</a:t>
            </a:r>
          </a:p>
        </p:txBody>
      </p:sp>
      <p:sp>
        <p:nvSpPr>
          <p:cNvPr id="3" name="Content Placeholder 2">
            <a:extLst>
              <a:ext uri="{FF2B5EF4-FFF2-40B4-BE49-F238E27FC236}">
                <a16:creationId xmlns:a16="http://schemas.microsoft.com/office/drawing/2014/main" id="{49719A4C-45A0-AE70-FCCB-6598C528B349}"/>
              </a:ext>
            </a:extLst>
          </p:cNvPr>
          <p:cNvSpPr>
            <a:spLocks noGrp="1"/>
          </p:cNvSpPr>
          <p:nvPr>
            <p:ph idx="1"/>
          </p:nvPr>
        </p:nvSpPr>
        <p:spPr/>
        <p:txBody>
          <a:bodyPr vert="horz" lIns="91440" tIns="45720" rIns="91440" bIns="45720" rtlCol="0">
            <a:normAutofit/>
          </a:bodyPr>
          <a:lstStyle/>
          <a:p>
            <a:pPr marL="0" indent="0">
              <a:buNone/>
            </a:pPr>
            <a:r>
              <a:rPr lang="en-US" kern="1200" dirty="0">
                <a:solidFill>
                  <a:schemeClr val="tx1"/>
                </a:solidFill>
                <a:latin typeface="+mn-lt"/>
                <a:ea typeface="+mn-ea"/>
                <a:cs typeface="+mn-cs"/>
              </a:rPr>
              <a:t>What is stored in status?</a:t>
            </a:r>
          </a:p>
          <a:p>
            <a:pPr>
              <a:buNone/>
            </a:pPr>
            <a:r>
              <a:rPr lang="en-US" sz="1800" i="1" dirty="0">
                <a:solidFill>
                  <a:srgbClr val="8C8C8C"/>
                </a:solidFill>
                <a:effectLst/>
                <a:latin typeface="JetBrains Mono"/>
              </a:rPr>
              <a:t>	# Self-check</a:t>
            </a:r>
            <a:br>
              <a:rPr lang="en-US" sz="1800" i="1" dirty="0">
                <a:solidFill>
                  <a:srgbClr val="8C8C8C"/>
                </a:solidFill>
                <a:effectLst/>
                <a:latin typeface="JetBrains Mono"/>
              </a:rPr>
            </a:br>
            <a:r>
              <a:rPr lang="en-US" sz="1800" dirty="0">
                <a:solidFill>
                  <a:srgbClr val="080808"/>
                </a:solidFill>
                <a:effectLst/>
                <a:latin typeface="JetBrains Mono"/>
              </a:rPr>
              <a:t>age = </a:t>
            </a:r>
            <a:r>
              <a:rPr lang="en-US" sz="1800" dirty="0">
                <a:solidFill>
                  <a:srgbClr val="1750EB"/>
                </a:solidFill>
                <a:effectLst/>
                <a:latin typeface="JetBrains Mono"/>
              </a:rPr>
              <a:t>20</a:t>
            </a:r>
            <a:br>
              <a:rPr lang="en-US" sz="1800" dirty="0">
                <a:solidFill>
                  <a:srgbClr val="1750EB"/>
                </a:solidFill>
                <a:effectLst/>
                <a:latin typeface="JetBrains Mono"/>
              </a:rPr>
            </a:br>
            <a:r>
              <a:rPr lang="en-US" sz="1800" dirty="0">
                <a:solidFill>
                  <a:srgbClr val="080808"/>
                </a:solidFill>
                <a:effectLst/>
                <a:latin typeface="JetBrains Mono"/>
              </a:rPr>
              <a:t>status = </a:t>
            </a:r>
            <a:r>
              <a:rPr lang="en-US" sz="1800" dirty="0">
                <a:solidFill>
                  <a:srgbClr val="067D17"/>
                </a:solidFill>
                <a:effectLst/>
                <a:latin typeface="JetBrains Mono"/>
              </a:rPr>
              <a:t>"Adult" </a:t>
            </a:r>
            <a:r>
              <a:rPr lang="en-US" sz="1800" dirty="0">
                <a:solidFill>
                  <a:srgbClr val="0033B3"/>
                </a:solidFill>
                <a:effectLst/>
                <a:latin typeface="JetBrains Mono"/>
              </a:rPr>
              <a:t>if </a:t>
            </a:r>
            <a:r>
              <a:rPr lang="en-US" sz="1800" dirty="0">
                <a:solidFill>
                  <a:srgbClr val="080808"/>
                </a:solidFill>
                <a:effectLst/>
                <a:latin typeface="JetBrains Mono"/>
              </a:rPr>
              <a:t>age &gt;= </a:t>
            </a:r>
            <a:r>
              <a:rPr lang="en-US" sz="1800" dirty="0">
                <a:solidFill>
                  <a:srgbClr val="1750EB"/>
                </a:solidFill>
                <a:effectLst/>
                <a:latin typeface="JetBrains Mono"/>
              </a:rPr>
              <a:t>18 </a:t>
            </a:r>
            <a:r>
              <a:rPr lang="en-US" sz="1800" dirty="0">
                <a:solidFill>
                  <a:srgbClr val="0033B3"/>
                </a:solidFill>
                <a:effectLst/>
                <a:latin typeface="JetBrains Mono"/>
              </a:rPr>
              <a:t>else </a:t>
            </a:r>
            <a:r>
              <a:rPr lang="en-US" sz="1800" dirty="0">
                <a:solidFill>
                  <a:srgbClr val="067D17"/>
                </a:solidFill>
                <a:effectLst/>
                <a:latin typeface="JetBrains Mono"/>
              </a:rPr>
              <a:t>"Minor"</a:t>
            </a:r>
            <a:endParaRPr lang="en-US" sz="1800" dirty="0">
              <a:solidFill>
                <a:srgbClr val="080808"/>
              </a:solidFill>
              <a:effectLst/>
              <a:latin typeface="JetBrains Mono"/>
            </a:endParaRPr>
          </a:p>
          <a:p>
            <a:pPr marL="0" indent="0" algn="ctr">
              <a:buNone/>
            </a:pPr>
            <a:endParaRPr lang="en-US" kern="1200" dirty="0">
              <a:solidFill>
                <a:schemeClr val="tx1"/>
              </a:solidFill>
              <a:latin typeface="+mn-lt"/>
              <a:ea typeface="+mn-ea"/>
              <a:cs typeface="+mn-cs"/>
            </a:endParaRPr>
          </a:p>
        </p:txBody>
      </p:sp>
    </p:spTree>
    <p:extLst>
      <p:ext uri="{BB962C8B-B14F-4D97-AF65-F5344CB8AC3E}">
        <p14:creationId xmlns:p14="http://schemas.microsoft.com/office/powerpoint/2010/main" val="130914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6B191-3013-8A45-FC4C-8354A2E00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4B1F3-58F6-EBF2-C439-E5D3344DEB5C}"/>
              </a:ext>
            </a:extLst>
          </p:cNvPr>
          <p:cNvSpPr>
            <a:spLocks noGrp="1"/>
          </p:cNvSpPr>
          <p:nvPr>
            <p:ph type="title"/>
          </p:nvPr>
        </p:nvSpPr>
        <p:spPr/>
        <p:txBody>
          <a:bodyPr vert="horz" lIns="274320" tIns="182880" rIns="274320" bIns="182880" rtlCol="0" anchor="ctr" anchorCtr="1">
            <a:normAutofit/>
          </a:bodyPr>
          <a:lstStyle/>
          <a:p>
            <a:r>
              <a:rPr lang="en-US" sz="3200"/>
              <a:t>Self-check</a:t>
            </a:r>
          </a:p>
        </p:txBody>
      </p:sp>
      <p:sp>
        <p:nvSpPr>
          <p:cNvPr id="3" name="Content Placeholder 2">
            <a:extLst>
              <a:ext uri="{FF2B5EF4-FFF2-40B4-BE49-F238E27FC236}">
                <a16:creationId xmlns:a16="http://schemas.microsoft.com/office/drawing/2014/main" id="{5097B01B-E303-5BC1-C464-EE924015E2D7}"/>
              </a:ext>
            </a:extLst>
          </p:cNvPr>
          <p:cNvSpPr>
            <a:spLocks noGrp="1"/>
          </p:cNvSpPr>
          <p:nvPr>
            <p:ph idx="1"/>
          </p:nvPr>
        </p:nvSpPr>
        <p:spPr/>
        <p:txBody>
          <a:bodyPr vert="horz" lIns="91440" tIns="45720" rIns="91440" bIns="45720" rtlCol="0">
            <a:normAutofit/>
          </a:bodyPr>
          <a:lstStyle/>
          <a:p>
            <a:pPr>
              <a:buNone/>
            </a:pPr>
            <a:br>
              <a:rPr lang="en-CA" i="1" dirty="0">
                <a:solidFill>
                  <a:srgbClr val="8C8C8C"/>
                </a:solidFill>
                <a:latin typeface="JetBrains Mono"/>
              </a:rPr>
            </a:br>
            <a:r>
              <a:rPr lang="en-CA" dirty="0" err="1">
                <a:solidFill>
                  <a:srgbClr val="080808"/>
                </a:solidFill>
                <a:latin typeface="JetBrains Mono"/>
              </a:rPr>
              <a:t>realnames</a:t>
            </a:r>
            <a:r>
              <a:rPr lang="en-CA" dirty="0">
                <a:solidFill>
                  <a:srgbClr val="080808"/>
                </a:solidFill>
                <a:latin typeface="JetBrains Mono"/>
              </a:rPr>
              <a:t> = { </a:t>
            </a:r>
            <a:r>
              <a:rPr lang="en-CA" dirty="0">
                <a:solidFill>
                  <a:srgbClr val="067D17"/>
                </a:solidFill>
                <a:latin typeface="JetBrains Mono"/>
              </a:rPr>
              <a:t>"Marilyn Monroe" </a:t>
            </a:r>
            <a:r>
              <a:rPr lang="en-CA" dirty="0">
                <a:solidFill>
                  <a:srgbClr val="080808"/>
                </a:solidFill>
                <a:latin typeface="JetBrains Mono"/>
              </a:rPr>
              <a:t>: </a:t>
            </a:r>
            <a:r>
              <a:rPr lang="en-CA" dirty="0">
                <a:solidFill>
                  <a:srgbClr val="067D17"/>
                </a:solidFill>
                <a:latin typeface="JetBrains Mono"/>
              </a:rPr>
              <a:t>"Norma Mortenson"</a:t>
            </a:r>
            <a:r>
              <a:rPr lang="en-CA" dirty="0">
                <a:solidFill>
                  <a:srgbClr val="080808"/>
                </a:solidFill>
                <a:latin typeface="JetBrains Mono"/>
              </a:rPr>
              <a:t>,</a:t>
            </a:r>
            <a:br>
              <a:rPr lang="en-CA" dirty="0">
                <a:solidFill>
                  <a:srgbClr val="080808"/>
                </a:solidFill>
                <a:latin typeface="JetBrains Mono"/>
              </a:rPr>
            </a:br>
            <a:r>
              <a:rPr lang="en-CA" dirty="0">
                <a:solidFill>
                  <a:srgbClr val="080808"/>
                </a:solidFill>
                <a:latin typeface="JetBrains Mono"/>
              </a:rPr>
              <a:t>                    </a:t>
            </a:r>
            <a:r>
              <a:rPr lang="en-CA" dirty="0">
                <a:solidFill>
                  <a:srgbClr val="067D17"/>
                </a:solidFill>
                <a:latin typeface="JetBrains Mono"/>
              </a:rPr>
              <a:t>"Nicolas Cage"   </a:t>
            </a:r>
            <a:r>
              <a:rPr lang="en-CA" dirty="0">
                <a:solidFill>
                  <a:srgbClr val="080808"/>
                </a:solidFill>
                <a:latin typeface="JetBrains Mono"/>
              </a:rPr>
              <a:t>: </a:t>
            </a:r>
            <a:r>
              <a:rPr lang="en-CA" dirty="0">
                <a:solidFill>
                  <a:srgbClr val="067D17"/>
                </a:solidFill>
                <a:latin typeface="JetBrains Mono"/>
              </a:rPr>
              <a:t>"Nicolas Coppola"</a:t>
            </a:r>
            <a:r>
              <a:rPr lang="en-CA" dirty="0">
                <a:solidFill>
                  <a:srgbClr val="080808"/>
                </a:solidFill>
                <a:latin typeface="JetBrains Mono"/>
              </a:rPr>
              <a:t>,</a:t>
            </a:r>
            <a:br>
              <a:rPr lang="en-CA" dirty="0">
                <a:solidFill>
                  <a:srgbClr val="080808"/>
                </a:solidFill>
                <a:latin typeface="JetBrains Mono"/>
              </a:rPr>
            </a:br>
            <a:r>
              <a:rPr lang="en-CA" dirty="0">
                <a:solidFill>
                  <a:srgbClr val="080808"/>
                </a:solidFill>
                <a:latin typeface="JetBrains Mono"/>
              </a:rPr>
              <a:t>             </a:t>
            </a:r>
            <a:r>
              <a:rPr lang="en-CA" dirty="0">
                <a:solidFill>
                  <a:srgbClr val="067D17"/>
                </a:solidFill>
                <a:latin typeface="JetBrains Mono"/>
              </a:rPr>
              <a:t>"Albert Brooks" </a:t>
            </a:r>
            <a:r>
              <a:rPr lang="en-CA" dirty="0">
                <a:solidFill>
                  <a:srgbClr val="080808"/>
                </a:solidFill>
                <a:latin typeface="JetBrains Mono"/>
              </a:rPr>
              <a:t>: </a:t>
            </a:r>
            <a:r>
              <a:rPr lang="en-CA" dirty="0">
                <a:solidFill>
                  <a:srgbClr val="067D17"/>
                </a:solidFill>
                <a:latin typeface="JetBrains Mono"/>
              </a:rPr>
              <a:t>"Albert Einstein"</a:t>
            </a:r>
            <a:r>
              <a:rPr lang="en-CA" dirty="0">
                <a:solidFill>
                  <a:srgbClr val="080808"/>
                </a:solidFill>
                <a:latin typeface="JetBrains Mono"/>
              </a:rPr>
              <a:t>,</a:t>
            </a:r>
            <a:br>
              <a:rPr lang="en-CA" dirty="0">
                <a:solidFill>
                  <a:srgbClr val="080808"/>
                </a:solidFill>
                <a:latin typeface="JetBrains Mono"/>
              </a:rPr>
            </a:br>
            <a:r>
              <a:rPr lang="en-CA" dirty="0">
                <a:solidFill>
                  <a:srgbClr val="080808"/>
                </a:solidFill>
                <a:latin typeface="JetBrains Mono"/>
              </a:rPr>
              <a:t>            </a:t>
            </a:r>
            <a:r>
              <a:rPr lang="en-CA" dirty="0">
                <a:solidFill>
                  <a:srgbClr val="067D17"/>
                </a:solidFill>
                <a:latin typeface="JetBrains Mono"/>
              </a:rPr>
              <a:t>"Elton John" </a:t>
            </a:r>
            <a:r>
              <a:rPr lang="en-CA" dirty="0">
                <a:solidFill>
                  <a:srgbClr val="080808"/>
                </a:solidFill>
                <a:latin typeface="JetBrains Mono"/>
              </a:rPr>
              <a:t>: </a:t>
            </a:r>
            <a:r>
              <a:rPr lang="en-CA" dirty="0">
                <a:solidFill>
                  <a:srgbClr val="067D17"/>
                </a:solidFill>
                <a:latin typeface="JetBrains Mono"/>
              </a:rPr>
              <a:t>"Reginald Dwight"</a:t>
            </a:r>
            <a:r>
              <a:rPr lang="en-CA" dirty="0">
                <a:solidFill>
                  <a:srgbClr val="080808"/>
                </a:solidFill>
                <a:latin typeface="JetBrains Mono"/>
              </a:rPr>
              <a:t>}</a:t>
            </a:r>
            <a:br>
              <a:rPr lang="en-CA" dirty="0">
                <a:solidFill>
                  <a:srgbClr val="080808"/>
                </a:solidFill>
                <a:latin typeface="JetBrains Mono"/>
              </a:rPr>
            </a:br>
            <a:br>
              <a:rPr lang="en-CA" dirty="0">
                <a:solidFill>
                  <a:srgbClr val="080808"/>
                </a:solidFill>
                <a:latin typeface="JetBrains Mono"/>
              </a:rPr>
            </a:br>
            <a:r>
              <a:rPr lang="en-CA" i="1" dirty="0">
                <a:solidFill>
                  <a:srgbClr val="8C8C8C"/>
                </a:solidFill>
                <a:latin typeface="JetBrains Mono"/>
              </a:rPr>
              <a:t>#What is stored in rev?</a:t>
            </a:r>
            <a:br>
              <a:rPr lang="en-CA" i="1" dirty="0">
                <a:solidFill>
                  <a:srgbClr val="8C8C8C"/>
                </a:solidFill>
                <a:latin typeface="JetBrains Mono"/>
              </a:rPr>
            </a:br>
            <a:r>
              <a:rPr lang="en-CA" dirty="0">
                <a:solidFill>
                  <a:srgbClr val="080808"/>
                </a:solidFill>
                <a:latin typeface="JetBrains Mono"/>
              </a:rPr>
              <a:t>rev = { </a:t>
            </a:r>
            <a:r>
              <a:rPr lang="en-CA" dirty="0" err="1">
                <a:solidFill>
                  <a:srgbClr val="080808"/>
                </a:solidFill>
                <a:latin typeface="JetBrains Mono"/>
              </a:rPr>
              <a:t>realnames</a:t>
            </a:r>
            <a:r>
              <a:rPr lang="en-CA" dirty="0">
                <a:solidFill>
                  <a:srgbClr val="080808"/>
                </a:solidFill>
                <a:latin typeface="JetBrains Mono"/>
              </a:rPr>
              <a:t>[k]:k </a:t>
            </a:r>
            <a:r>
              <a:rPr lang="en-CA" dirty="0">
                <a:solidFill>
                  <a:srgbClr val="0033B3"/>
                </a:solidFill>
                <a:latin typeface="JetBrains Mono"/>
              </a:rPr>
              <a:t>for </a:t>
            </a:r>
            <a:r>
              <a:rPr lang="en-CA" dirty="0">
                <a:solidFill>
                  <a:srgbClr val="080808"/>
                </a:solidFill>
                <a:latin typeface="JetBrains Mono"/>
              </a:rPr>
              <a:t>k </a:t>
            </a:r>
            <a:r>
              <a:rPr lang="en-CA" dirty="0">
                <a:solidFill>
                  <a:srgbClr val="0033B3"/>
                </a:solidFill>
                <a:latin typeface="JetBrains Mono"/>
              </a:rPr>
              <a:t>in </a:t>
            </a:r>
            <a:r>
              <a:rPr lang="en-CA" dirty="0" err="1">
                <a:solidFill>
                  <a:srgbClr val="080808"/>
                </a:solidFill>
                <a:latin typeface="JetBrains Mono"/>
              </a:rPr>
              <a:t>realnames</a:t>
            </a:r>
            <a:r>
              <a:rPr lang="en-CA" dirty="0">
                <a:solidFill>
                  <a:srgbClr val="080808"/>
                </a:solidFill>
                <a:latin typeface="JetBrains Mono"/>
              </a:rPr>
              <a:t>}</a:t>
            </a:r>
            <a:br>
              <a:rPr lang="en-CA" dirty="0">
                <a:solidFill>
                  <a:srgbClr val="080808"/>
                </a:solidFill>
                <a:latin typeface="JetBrains Mono"/>
              </a:rPr>
            </a:br>
            <a:br>
              <a:rPr lang="en-CA" dirty="0">
                <a:solidFill>
                  <a:srgbClr val="080808"/>
                </a:solidFill>
                <a:latin typeface="JetBrains Mono"/>
              </a:rPr>
            </a:br>
            <a:r>
              <a:rPr lang="en-CA" dirty="0">
                <a:solidFill>
                  <a:srgbClr val="000080"/>
                </a:solidFill>
                <a:latin typeface="JetBrains Mono"/>
              </a:rPr>
              <a:t>print</a:t>
            </a:r>
            <a:r>
              <a:rPr lang="en-CA" dirty="0">
                <a:solidFill>
                  <a:srgbClr val="080808"/>
                </a:solidFill>
                <a:latin typeface="JetBrains Mono"/>
              </a:rPr>
              <a:t>(rev)</a:t>
            </a:r>
          </a:p>
          <a:p>
            <a:pPr marL="0" indent="0">
              <a:buNone/>
            </a:pPr>
            <a:endParaRPr lang="en-CA" dirty="0"/>
          </a:p>
          <a:p>
            <a:pPr marL="0" indent="0" algn="ctr">
              <a:buNone/>
            </a:pPr>
            <a:endParaRPr lang="en-US" kern="1200" dirty="0">
              <a:solidFill>
                <a:schemeClr val="tx1"/>
              </a:solidFill>
              <a:latin typeface="+mn-lt"/>
              <a:ea typeface="+mn-ea"/>
              <a:cs typeface="+mn-cs"/>
            </a:endParaRPr>
          </a:p>
        </p:txBody>
      </p:sp>
    </p:spTree>
    <p:extLst>
      <p:ext uri="{BB962C8B-B14F-4D97-AF65-F5344CB8AC3E}">
        <p14:creationId xmlns:p14="http://schemas.microsoft.com/office/powerpoint/2010/main" val="26114832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68F42-5A68-7D28-8400-7507D8574D4B}"/>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2200"/>
              <a:t>Extra Practice with Mutable Objects</a:t>
            </a:r>
          </a:p>
        </p:txBody>
      </p:sp>
      <p:sp>
        <p:nvSpPr>
          <p:cNvPr id="5" name="Content Placeholder 4">
            <a:extLst>
              <a:ext uri="{FF2B5EF4-FFF2-40B4-BE49-F238E27FC236}">
                <a16:creationId xmlns:a16="http://schemas.microsoft.com/office/drawing/2014/main" id="{8A8F1BE7-2993-6D60-2FDC-D3E7F3BDAD86}"/>
              </a:ext>
            </a:extLst>
          </p:cNvPr>
          <p:cNvSpPr>
            <a:spLocks noGrp="1"/>
          </p:cNvSpPr>
          <p:nvPr>
            <p:ph idx="1"/>
          </p:nvPr>
        </p:nvSpPr>
        <p:spPr>
          <a:xfrm>
            <a:off x="4352544" y="1351186"/>
            <a:ext cx="5422392" cy="4244942"/>
          </a:xfrm>
        </p:spPr>
        <p:txBody>
          <a:bodyPr>
            <a:normAutofit/>
          </a:bodyPr>
          <a:lstStyle/>
          <a:p>
            <a:pPr>
              <a:buNone/>
            </a:pPr>
            <a:r>
              <a:rPr lang="en-CA" dirty="0">
                <a:solidFill>
                  <a:srgbClr val="080808"/>
                </a:solidFill>
                <a:latin typeface="JetBrains Mono"/>
              </a:rPr>
              <a:t>	</a:t>
            </a:r>
            <a:r>
              <a:rPr lang="en-CA" sz="1800" dirty="0">
                <a:solidFill>
                  <a:srgbClr val="080808"/>
                </a:solidFill>
                <a:effectLst/>
                <a:latin typeface="JetBrains Mono"/>
              </a:rPr>
              <a:t>mt1 = [</a:t>
            </a:r>
            <a:r>
              <a:rPr lang="en-CA" sz="1800" dirty="0">
                <a:solidFill>
                  <a:srgbClr val="1750EB"/>
                </a:solidFill>
                <a:effectLst/>
                <a:latin typeface="JetBrains Mono"/>
              </a:rPr>
              <a:t>99</a:t>
            </a:r>
            <a:r>
              <a:rPr lang="en-CA" sz="1800" dirty="0">
                <a:solidFill>
                  <a:srgbClr val="080808"/>
                </a:solidFill>
                <a:effectLst/>
                <a:latin typeface="JetBrains Mono"/>
              </a:rPr>
              <a:t>, </a:t>
            </a:r>
            <a:r>
              <a:rPr lang="en-CA" sz="1800" dirty="0">
                <a:solidFill>
                  <a:srgbClr val="1750EB"/>
                </a:solidFill>
                <a:effectLst/>
                <a:latin typeface="JetBrains Mono"/>
              </a:rPr>
              <a:t>98</a:t>
            </a:r>
            <a:r>
              <a:rPr lang="en-CA" sz="1800" dirty="0">
                <a:solidFill>
                  <a:srgbClr val="080808"/>
                </a:solidFill>
                <a:effectLst/>
                <a:latin typeface="JetBrains Mono"/>
              </a:rPr>
              <a:t>, </a:t>
            </a:r>
            <a:r>
              <a:rPr lang="en-CA" sz="1800" dirty="0">
                <a:solidFill>
                  <a:srgbClr val="1750EB"/>
                </a:solidFill>
                <a:effectLst/>
                <a:latin typeface="JetBrains Mono"/>
              </a:rPr>
              <a:t>97</a:t>
            </a:r>
            <a:r>
              <a:rPr lang="en-CA" sz="1800" dirty="0">
                <a:solidFill>
                  <a:srgbClr val="080808"/>
                </a:solidFill>
                <a:effectLst/>
                <a:latin typeface="JetBrains Mono"/>
              </a:rPr>
              <a:t>, </a:t>
            </a:r>
            <a:r>
              <a:rPr lang="en-CA" sz="1800" dirty="0">
                <a:solidFill>
                  <a:srgbClr val="1750EB"/>
                </a:solidFill>
                <a:effectLst/>
                <a:latin typeface="JetBrains Mono"/>
              </a:rPr>
              <a:t>90</a:t>
            </a:r>
            <a:r>
              <a:rPr lang="en-CA" sz="1800" dirty="0">
                <a:solidFill>
                  <a:srgbClr val="080808"/>
                </a:solidFill>
                <a:effectLst/>
                <a:latin typeface="JetBrains Mono"/>
              </a:rPr>
              <a:t>, </a:t>
            </a:r>
            <a:r>
              <a:rPr lang="en-CA" sz="1800" dirty="0">
                <a:solidFill>
                  <a:srgbClr val="1750EB"/>
                </a:solidFill>
                <a:effectLst/>
                <a:latin typeface="JetBrains Mono"/>
              </a:rPr>
              <a:t>82</a:t>
            </a:r>
            <a:r>
              <a:rPr lang="en-CA" sz="1800" dirty="0">
                <a:solidFill>
                  <a:srgbClr val="080808"/>
                </a:solidFill>
                <a:effectLst/>
                <a:latin typeface="JetBrains Mono"/>
              </a:rPr>
              <a:t>, </a:t>
            </a:r>
            <a:r>
              <a:rPr lang="en-CA" sz="1800" dirty="0">
                <a:solidFill>
                  <a:srgbClr val="1750EB"/>
                </a:solidFill>
                <a:effectLst/>
                <a:latin typeface="JetBrains Mono"/>
              </a:rPr>
              <a:t>55</a:t>
            </a:r>
            <a:r>
              <a:rPr lang="en-CA" sz="1800" dirty="0">
                <a:solidFill>
                  <a:srgbClr val="080808"/>
                </a:solidFill>
                <a:effectLst/>
                <a:latin typeface="JetBrains Mono"/>
              </a:rPr>
              <a:t>]</a:t>
            </a:r>
            <a:br>
              <a:rPr lang="en-CA" sz="1800" dirty="0">
                <a:solidFill>
                  <a:srgbClr val="080808"/>
                </a:solidFill>
                <a:effectLst/>
                <a:latin typeface="JetBrains Mono"/>
              </a:rPr>
            </a:br>
            <a:r>
              <a:rPr lang="en-CA" sz="1800" dirty="0">
                <a:solidFill>
                  <a:srgbClr val="080808"/>
                </a:solidFill>
                <a:effectLst/>
                <a:latin typeface="JetBrains Mono"/>
              </a:rPr>
              <a:t>mt2 = [</a:t>
            </a:r>
            <a:r>
              <a:rPr lang="en-CA" sz="1800" dirty="0">
                <a:solidFill>
                  <a:srgbClr val="1750EB"/>
                </a:solidFill>
                <a:effectLst/>
                <a:latin typeface="JetBrains Mono"/>
              </a:rPr>
              <a:t>96</a:t>
            </a:r>
            <a:r>
              <a:rPr lang="en-CA" sz="1800" dirty="0">
                <a:solidFill>
                  <a:srgbClr val="080808"/>
                </a:solidFill>
                <a:effectLst/>
                <a:latin typeface="JetBrains Mono"/>
              </a:rPr>
              <a:t>, </a:t>
            </a:r>
            <a:r>
              <a:rPr lang="en-CA" sz="1800" dirty="0">
                <a:solidFill>
                  <a:srgbClr val="1750EB"/>
                </a:solidFill>
                <a:effectLst/>
                <a:latin typeface="JetBrains Mono"/>
              </a:rPr>
              <a:t>94</a:t>
            </a:r>
            <a:r>
              <a:rPr lang="en-CA" sz="1800" dirty="0">
                <a:solidFill>
                  <a:srgbClr val="080808"/>
                </a:solidFill>
                <a:effectLst/>
                <a:latin typeface="JetBrains Mono"/>
              </a:rPr>
              <a:t>, </a:t>
            </a:r>
            <a:r>
              <a:rPr lang="en-CA" sz="1800" dirty="0">
                <a:solidFill>
                  <a:srgbClr val="1750EB"/>
                </a:solidFill>
                <a:effectLst/>
                <a:latin typeface="JetBrains Mono"/>
              </a:rPr>
              <a:t>90</a:t>
            </a:r>
            <a:r>
              <a:rPr lang="en-CA" sz="1800" dirty="0">
                <a:solidFill>
                  <a:srgbClr val="080808"/>
                </a:solidFill>
                <a:effectLst/>
                <a:latin typeface="JetBrains Mono"/>
              </a:rPr>
              <a:t>, </a:t>
            </a:r>
            <a:r>
              <a:rPr lang="en-CA" sz="1800" dirty="0">
                <a:solidFill>
                  <a:srgbClr val="1750EB"/>
                </a:solidFill>
                <a:effectLst/>
                <a:latin typeface="JetBrains Mono"/>
              </a:rPr>
              <a:t>81</a:t>
            </a:r>
            <a:r>
              <a:rPr lang="en-CA" sz="1800" dirty="0">
                <a:solidFill>
                  <a:srgbClr val="080808"/>
                </a:solidFill>
                <a:effectLst/>
                <a:latin typeface="JetBrains Mono"/>
              </a:rPr>
              <a:t>, </a:t>
            </a:r>
            <a:r>
              <a:rPr lang="en-CA" sz="1800" dirty="0">
                <a:solidFill>
                  <a:srgbClr val="1750EB"/>
                </a:solidFill>
                <a:effectLst/>
                <a:latin typeface="JetBrains Mono"/>
              </a:rPr>
              <a:t>47</a:t>
            </a:r>
            <a:r>
              <a:rPr lang="en-CA" sz="1800" dirty="0">
                <a:solidFill>
                  <a:srgbClr val="080808"/>
                </a:solidFill>
                <a:effectLst/>
                <a:latin typeface="JetBrains Mono"/>
              </a:rPr>
              <a:t>]</a:t>
            </a:r>
            <a:br>
              <a:rPr lang="en-CA" sz="1800" dirty="0">
                <a:solidFill>
                  <a:srgbClr val="080808"/>
                </a:solidFill>
                <a:effectLst/>
                <a:latin typeface="JetBrains Mono"/>
              </a:rPr>
            </a:br>
            <a:br>
              <a:rPr lang="en-CA" sz="1800" dirty="0">
                <a:solidFill>
                  <a:srgbClr val="080808"/>
                </a:solidFill>
                <a:effectLst/>
                <a:latin typeface="JetBrains Mono"/>
              </a:rPr>
            </a:br>
            <a:r>
              <a:rPr lang="en-CA" sz="1800" dirty="0">
                <a:solidFill>
                  <a:srgbClr val="080808"/>
                </a:solidFill>
                <a:effectLst/>
                <a:latin typeface="JetBrains Mono"/>
              </a:rPr>
              <a:t>grades = { </a:t>
            </a:r>
            <a:r>
              <a:rPr lang="en-CA" sz="1800" dirty="0">
                <a:solidFill>
                  <a:srgbClr val="067D17"/>
                </a:solidFill>
                <a:effectLst/>
                <a:latin typeface="JetBrains Mono"/>
              </a:rPr>
              <a:t>"MT1" </a:t>
            </a:r>
            <a:r>
              <a:rPr lang="en-CA" sz="1800" dirty="0">
                <a:solidFill>
                  <a:srgbClr val="080808"/>
                </a:solidFill>
                <a:effectLst/>
                <a:latin typeface="JetBrains Mono"/>
              </a:rPr>
              <a:t>: mt1,</a:t>
            </a:r>
            <a:br>
              <a:rPr lang="en-CA" sz="1800" dirty="0">
                <a:solidFill>
                  <a:srgbClr val="080808"/>
                </a:solidFill>
                <a:effectLst/>
                <a:latin typeface="JetBrains Mono"/>
              </a:rPr>
            </a:br>
            <a:r>
              <a:rPr lang="en-CA" sz="1800" dirty="0">
                <a:solidFill>
                  <a:srgbClr val="080808"/>
                </a:solidFill>
                <a:effectLst/>
                <a:latin typeface="JetBrains Mono"/>
              </a:rPr>
              <a:t>           </a:t>
            </a:r>
            <a:r>
              <a:rPr lang="en-CA" sz="1800" dirty="0">
                <a:solidFill>
                  <a:srgbClr val="067D17"/>
                </a:solidFill>
                <a:effectLst/>
                <a:latin typeface="JetBrains Mono"/>
              </a:rPr>
              <a:t>"MT2" </a:t>
            </a:r>
            <a:r>
              <a:rPr lang="en-CA" sz="1800" dirty="0">
                <a:solidFill>
                  <a:srgbClr val="080808"/>
                </a:solidFill>
                <a:effectLst/>
                <a:latin typeface="JetBrains Mono"/>
              </a:rPr>
              <a:t>: mt2 }</a:t>
            </a:r>
            <a:br>
              <a:rPr lang="en-CA" sz="1800" dirty="0">
                <a:solidFill>
                  <a:srgbClr val="080808"/>
                </a:solidFill>
                <a:effectLst/>
                <a:latin typeface="JetBrains Mono"/>
              </a:rPr>
            </a:br>
            <a:br>
              <a:rPr lang="en-CA" sz="1800" dirty="0">
                <a:solidFill>
                  <a:srgbClr val="080808"/>
                </a:solidFill>
                <a:effectLst/>
                <a:latin typeface="JetBrains Mono"/>
              </a:rPr>
            </a:br>
            <a:r>
              <a:rPr lang="en-CA" sz="1800" i="1" dirty="0">
                <a:solidFill>
                  <a:srgbClr val="8C8C8C"/>
                </a:solidFill>
                <a:effectLst/>
                <a:latin typeface="JetBrains Mono"/>
              </a:rPr>
              <a:t>#also alters the mt1 list</a:t>
            </a:r>
            <a:br>
              <a:rPr lang="en-CA" sz="1800" i="1" dirty="0">
                <a:solidFill>
                  <a:srgbClr val="8C8C8C"/>
                </a:solidFill>
                <a:effectLst/>
                <a:latin typeface="JetBrains Mono"/>
              </a:rPr>
            </a:br>
            <a:r>
              <a:rPr lang="en-CA" sz="1800" dirty="0">
                <a:solidFill>
                  <a:srgbClr val="080808"/>
                </a:solidFill>
                <a:effectLst/>
                <a:latin typeface="JetBrains Mono"/>
              </a:rPr>
              <a:t>grades[</a:t>
            </a:r>
            <a:r>
              <a:rPr lang="en-CA" sz="1800" dirty="0">
                <a:solidFill>
                  <a:srgbClr val="067D17"/>
                </a:solidFill>
                <a:effectLst/>
                <a:latin typeface="JetBrains Mono"/>
              </a:rPr>
              <a:t>"MT1"</a:t>
            </a:r>
            <a:r>
              <a:rPr lang="en-CA" sz="1800" dirty="0">
                <a:solidFill>
                  <a:srgbClr val="080808"/>
                </a:solidFill>
                <a:effectLst/>
                <a:latin typeface="JetBrains Mono"/>
              </a:rPr>
              <a:t>].append(</a:t>
            </a:r>
            <a:r>
              <a:rPr lang="en-CA" sz="1800" dirty="0">
                <a:solidFill>
                  <a:srgbClr val="1750EB"/>
                </a:solidFill>
                <a:effectLst/>
                <a:latin typeface="JetBrains Mono"/>
              </a:rPr>
              <a:t>46</a:t>
            </a:r>
            <a:r>
              <a:rPr lang="en-CA" sz="1800" dirty="0">
                <a:solidFill>
                  <a:srgbClr val="080808"/>
                </a:solidFill>
                <a:effectLst/>
                <a:latin typeface="JetBrains Mono"/>
              </a:rPr>
              <a:t>)</a:t>
            </a:r>
            <a:br>
              <a:rPr lang="en-CA" sz="1800" dirty="0">
                <a:solidFill>
                  <a:srgbClr val="080808"/>
                </a:solidFill>
                <a:effectLst/>
                <a:latin typeface="JetBrains Mono"/>
              </a:rPr>
            </a:br>
            <a:br>
              <a:rPr lang="en-CA" sz="1800" dirty="0">
                <a:solidFill>
                  <a:srgbClr val="080808"/>
                </a:solidFill>
                <a:effectLst/>
                <a:latin typeface="JetBrains Mono"/>
              </a:rPr>
            </a:br>
            <a:r>
              <a:rPr lang="en-CA" sz="1800" i="1" dirty="0">
                <a:solidFill>
                  <a:srgbClr val="8C8C8C"/>
                </a:solidFill>
                <a:effectLst/>
                <a:latin typeface="JetBrains Mono"/>
              </a:rPr>
              <a:t>#changes what grades["MT1"] refers to</a:t>
            </a:r>
            <a:br>
              <a:rPr lang="en-CA" sz="1800" i="1" dirty="0">
                <a:solidFill>
                  <a:srgbClr val="8C8C8C"/>
                </a:solidFill>
                <a:effectLst/>
                <a:latin typeface="JetBrains Mono"/>
              </a:rPr>
            </a:br>
            <a:r>
              <a:rPr lang="en-CA" sz="1800" dirty="0">
                <a:solidFill>
                  <a:srgbClr val="080808"/>
                </a:solidFill>
                <a:effectLst/>
                <a:latin typeface="JetBrains Mono"/>
              </a:rPr>
              <a:t>grades[</a:t>
            </a:r>
            <a:r>
              <a:rPr lang="en-CA" sz="1800" dirty="0">
                <a:solidFill>
                  <a:srgbClr val="067D17"/>
                </a:solidFill>
                <a:effectLst/>
                <a:latin typeface="JetBrains Mono"/>
              </a:rPr>
              <a:t>"MT1"</a:t>
            </a:r>
            <a:r>
              <a:rPr lang="en-CA" sz="1800" dirty="0">
                <a:solidFill>
                  <a:srgbClr val="080808"/>
                </a:solidFill>
                <a:effectLst/>
                <a:latin typeface="JetBrains Mono"/>
              </a:rPr>
              <a:t>] = grades[</a:t>
            </a:r>
            <a:r>
              <a:rPr lang="en-CA" sz="1800" dirty="0">
                <a:solidFill>
                  <a:srgbClr val="067D17"/>
                </a:solidFill>
                <a:effectLst/>
                <a:latin typeface="JetBrains Mono"/>
              </a:rPr>
              <a:t>"MT1"</a:t>
            </a:r>
            <a:r>
              <a:rPr lang="en-CA" sz="1800" dirty="0">
                <a:solidFill>
                  <a:srgbClr val="080808"/>
                </a:solidFill>
                <a:effectLst/>
                <a:latin typeface="JetBrains Mono"/>
              </a:rPr>
              <a:t>][</a:t>
            </a:r>
            <a:r>
              <a:rPr lang="en-CA" sz="1800" dirty="0">
                <a:solidFill>
                  <a:srgbClr val="1750EB"/>
                </a:solidFill>
                <a:effectLst/>
                <a:latin typeface="JetBrains Mono"/>
              </a:rPr>
              <a:t>0</a:t>
            </a:r>
            <a:r>
              <a:rPr lang="en-CA" sz="1800" dirty="0">
                <a:solidFill>
                  <a:srgbClr val="080808"/>
                </a:solidFill>
                <a:effectLst/>
                <a:latin typeface="JetBrains Mono"/>
              </a:rPr>
              <a:t>:</a:t>
            </a:r>
            <a:r>
              <a:rPr lang="en-CA" sz="1800" dirty="0">
                <a:solidFill>
                  <a:srgbClr val="1750EB"/>
                </a:solidFill>
                <a:effectLst/>
                <a:latin typeface="JetBrains Mono"/>
              </a:rPr>
              <a:t>2</a:t>
            </a:r>
            <a:r>
              <a:rPr lang="en-CA" sz="1800" dirty="0">
                <a:solidFill>
                  <a:srgbClr val="080808"/>
                </a:solidFill>
                <a:effectLst/>
                <a:latin typeface="JetBrains Mono"/>
              </a:rPr>
              <a:t>]</a:t>
            </a:r>
            <a:br>
              <a:rPr lang="en-CA" sz="1800" dirty="0">
                <a:solidFill>
                  <a:srgbClr val="080808"/>
                </a:solidFill>
                <a:effectLst/>
                <a:latin typeface="JetBrains Mono"/>
              </a:rPr>
            </a:br>
            <a:br>
              <a:rPr lang="en-CA" sz="1800" dirty="0">
                <a:solidFill>
                  <a:srgbClr val="080808"/>
                </a:solidFill>
                <a:effectLst/>
                <a:latin typeface="JetBrains Mono"/>
              </a:rPr>
            </a:br>
            <a:r>
              <a:rPr lang="en-CA" sz="1800" dirty="0">
                <a:solidFill>
                  <a:srgbClr val="000080"/>
                </a:solidFill>
                <a:effectLst/>
                <a:latin typeface="JetBrains Mono"/>
              </a:rPr>
              <a:t>print</a:t>
            </a:r>
            <a:r>
              <a:rPr lang="en-CA" sz="1800" dirty="0">
                <a:solidFill>
                  <a:srgbClr val="080808"/>
                </a:solidFill>
                <a:effectLst/>
                <a:latin typeface="JetBrains Mono"/>
              </a:rPr>
              <a:t>(grades)</a:t>
            </a:r>
            <a:br>
              <a:rPr lang="en-CA" sz="1800" dirty="0">
                <a:solidFill>
                  <a:srgbClr val="080808"/>
                </a:solidFill>
                <a:effectLst/>
                <a:latin typeface="JetBrains Mono"/>
              </a:rPr>
            </a:br>
            <a:r>
              <a:rPr lang="en-CA" sz="1800" dirty="0">
                <a:solidFill>
                  <a:srgbClr val="000080"/>
                </a:solidFill>
                <a:effectLst/>
                <a:latin typeface="JetBrains Mono"/>
              </a:rPr>
              <a:t>print</a:t>
            </a:r>
            <a:r>
              <a:rPr lang="en-CA" sz="1800" dirty="0">
                <a:solidFill>
                  <a:srgbClr val="080808"/>
                </a:solidFill>
                <a:effectLst/>
                <a:latin typeface="JetBrains Mono"/>
              </a:rPr>
              <a:t>(mt1)</a:t>
            </a:r>
          </a:p>
        </p:txBody>
      </p:sp>
    </p:spTree>
    <p:extLst>
      <p:ext uri="{BB962C8B-B14F-4D97-AF65-F5344CB8AC3E}">
        <p14:creationId xmlns:p14="http://schemas.microsoft.com/office/powerpoint/2010/main" val="28699377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9D9F3-011D-C96B-1D24-95B19553939E}"/>
              </a:ext>
            </a:extLst>
          </p:cNvPr>
          <p:cNvSpPr>
            <a:spLocks noGrp="1"/>
          </p:cNvSpPr>
          <p:nvPr>
            <p:ph type="title"/>
          </p:nvPr>
        </p:nvSpPr>
        <p:spPr>
          <a:xfrm>
            <a:off x="804671" y="964692"/>
            <a:ext cx="4879901" cy="1188720"/>
          </a:xfrm>
        </p:spPr>
        <p:txBody>
          <a:bodyPr>
            <a:normAutofit/>
          </a:bodyPr>
          <a:lstStyle/>
          <a:p>
            <a:r>
              <a:rPr lang="en-US" dirty="0"/>
              <a:t>Find a Partner</a:t>
            </a:r>
          </a:p>
        </p:txBody>
      </p:sp>
      <p:sp>
        <p:nvSpPr>
          <p:cNvPr id="3" name="Content Placeholder 2">
            <a:extLst>
              <a:ext uri="{FF2B5EF4-FFF2-40B4-BE49-F238E27FC236}">
                <a16:creationId xmlns:a16="http://schemas.microsoft.com/office/drawing/2014/main" id="{D1BF759D-D277-76AE-D663-88400CE976E1}"/>
              </a:ext>
            </a:extLst>
          </p:cNvPr>
          <p:cNvSpPr>
            <a:spLocks noGrp="1"/>
          </p:cNvSpPr>
          <p:nvPr>
            <p:ph idx="1"/>
          </p:nvPr>
        </p:nvSpPr>
        <p:spPr>
          <a:xfrm>
            <a:off x="804672" y="2638044"/>
            <a:ext cx="4805172" cy="4000881"/>
          </a:xfrm>
        </p:spPr>
        <p:txBody>
          <a:bodyPr>
            <a:normAutofit fontScale="85000" lnSpcReduction="20000"/>
          </a:bodyPr>
          <a:lstStyle/>
          <a:p>
            <a:pPr>
              <a:lnSpc>
                <a:spcPct val="90000"/>
              </a:lnSpc>
            </a:pPr>
            <a:r>
              <a:rPr lang="en-US" sz="1400" dirty="0"/>
              <a:t>You have a 2-dimensional image where there is a boundary of some kind.</a:t>
            </a:r>
          </a:p>
          <a:p>
            <a:pPr lvl="1">
              <a:lnSpc>
                <a:spcPct val="90000"/>
              </a:lnSpc>
            </a:pPr>
            <a:r>
              <a:rPr lang="en-US" sz="1400" dirty="0"/>
              <a:t>Example: </a:t>
            </a:r>
          </a:p>
          <a:p>
            <a:pPr lvl="2">
              <a:lnSpc>
                <a:spcPct val="90000"/>
              </a:lnSpc>
            </a:pPr>
            <a:r>
              <a:rPr lang="en-US" sz="1400" dirty="0"/>
              <a:t>An outline of your </a:t>
            </a:r>
            <a:r>
              <a:rPr lang="en-US" sz="1400" dirty="0" err="1"/>
              <a:t>favourite</a:t>
            </a:r>
            <a:r>
              <a:rPr lang="en-US" sz="1400" dirty="0"/>
              <a:t> character</a:t>
            </a:r>
          </a:p>
          <a:p>
            <a:pPr lvl="2">
              <a:lnSpc>
                <a:spcPct val="90000"/>
              </a:lnSpc>
            </a:pPr>
            <a:r>
              <a:rPr lang="en-US" sz="1400" dirty="0"/>
              <a:t>A map with a coastline boundary</a:t>
            </a:r>
          </a:p>
          <a:p>
            <a:pPr>
              <a:lnSpc>
                <a:spcPct val="90000"/>
              </a:lnSpc>
            </a:pPr>
            <a:r>
              <a:rPr lang="en-US" sz="1600" dirty="0"/>
              <a:t>You have 3 characters that can represent inside the boundary, outside the boundary, and the boundary itself:</a:t>
            </a:r>
          </a:p>
          <a:p>
            <a:pPr lvl="1">
              <a:lnSpc>
                <a:spcPct val="90000"/>
              </a:lnSpc>
            </a:pPr>
            <a:r>
              <a:rPr lang="en-US" sz="1400" dirty="0"/>
              <a:t>@ - Boundary</a:t>
            </a:r>
          </a:p>
          <a:p>
            <a:pPr lvl="1">
              <a:lnSpc>
                <a:spcPct val="90000"/>
              </a:lnSpc>
            </a:pPr>
            <a:r>
              <a:rPr lang="en-US" sz="1400" dirty="0"/>
              <a:t># - outside the boundary</a:t>
            </a:r>
          </a:p>
          <a:p>
            <a:pPr lvl="1">
              <a:lnSpc>
                <a:spcPct val="90000"/>
              </a:lnSpc>
            </a:pPr>
            <a:r>
              <a:rPr lang="en-US" sz="1400" dirty="0"/>
              <a:t>. – Inside the boundary</a:t>
            </a:r>
          </a:p>
          <a:p>
            <a:pPr>
              <a:lnSpc>
                <a:spcPct val="90000"/>
              </a:lnSpc>
            </a:pPr>
            <a:r>
              <a:rPr lang="en-US" sz="1600" dirty="0"/>
              <a:t>Encoded message:  @ = 1, # = 0, . = 2</a:t>
            </a:r>
          </a:p>
          <a:p>
            <a:pPr lvl="1">
              <a:lnSpc>
                <a:spcPct val="90000"/>
              </a:lnSpc>
            </a:pPr>
            <a:r>
              <a:rPr lang="en-US" sz="1400" dirty="0"/>
              <a:t>How would you store the picture?</a:t>
            </a:r>
          </a:p>
          <a:p>
            <a:pPr lvl="1">
              <a:lnSpc>
                <a:spcPct val="90000"/>
              </a:lnSpc>
            </a:pPr>
            <a:r>
              <a:rPr lang="en-US" sz="1400" dirty="0"/>
              <a:t>How would you store the translation?</a:t>
            </a:r>
          </a:p>
          <a:p>
            <a:pPr lvl="1">
              <a:lnSpc>
                <a:spcPct val="90000"/>
              </a:lnSpc>
            </a:pPr>
            <a:r>
              <a:rPr lang="en-US" sz="1400" dirty="0"/>
              <a:t>How would you store the mapping between characters?</a:t>
            </a:r>
          </a:p>
          <a:p>
            <a:pPr lvl="1">
              <a:lnSpc>
                <a:spcPct val="90000"/>
              </a:lnSpc>
            </a:pPr>
            <a:r>
              <a:rPr lang="en-US" sz="1400" dirty="0"/>
              <a:t>Sketch the algorithm you would use to create the encoding</a:t>
            </a:r>
          </a:p>
          <a:p>
            <a:pPr lvl="1">
              <a:lnSpc>
                <a:spcPct val="90000"/>
              </a:lnSpc>
            </a:pPr>
            <a:r>
              <a:rPr lang="en-US" sz="1400" dirty="0"/>
              <a:t>Translate that into Python</a:t>
            </a:r>
          </a:p>
        </p:txBody>
      </p:sp>
      <p:pic>
        <p:nvPicPr>
          <p:cNvPr id="1032" name="Picture 8" descr="Superman Silhouette Vector Art, Icons, and Graphics for Free ...">
            <a:extLst>
              <a:ext uri="{FF2B5EF4-FFF2-40B4-BE49-F238E27FC236}">
                <a16:creationId xmlns:a16="http://schemas.microsoft.com/office/drawing/2014/main" id="{58FE68DE-D633-BEAB-7E62-30F6E927201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41977" y="1196337"/>
            <a:ext cx="2161366" cy="153789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ree printable Pokemon stencils and templates">
            <a:extLst>
              <a:ext uri="{FF2B5EF4-FFF2-40B4-BE49-F238E27FC236}">
                <a16:creationId xmlns:a16="http://schemas.microsoft.com/office/drawing/2014/main" id="{1113628C-F397-D8CC-E35F-246BE38A574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451846" y="805352"/>
            <a:ext cx="1739899" cy="23198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375 Prince Edward Island Silhouette Royalty-Free Images ...">
            <a:extLst>
              <a:ext uri="{FF2B5EF4-FFF2-40B4-BE49-F238E27FC236}">
                <a16:creationId xmlns:a16="http://schemas.microsoft.com/office/drawing/2014/main" id="{044A52A2-3B05-0D77-6F1A-BB99ABD40EA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7086"/>
          <a:stretch>
            <a:fillRect/>
          </a:stretch>
        </p:blipFill>
        <p:spPr bwMode="auto">
          <a:xfrm>
            <a:off x="6941976" y="3746140"/>
            <a:ext cx="2161367" cy="140072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on Goku silhouette, dragon ball anime ...">
            <a:extLst>
              <a:ext uri="{FF2B5EF4-FFF2-40B4-BE49-F238E27FC236}">
                <a16:creationId xmlns:a16="http://schemas.microsoft.com/office/drawing/2014/main" id="{92773964-63D6-CA95-BB35-8E244E5BB7C6}"/>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9276491" y="3401199"/>
            <a:ext cx="2090609" cy="2090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708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AEE0E9B-C78F-5EA8-B7D8-BE3C8BAC8E84}"/>
              </a:ext>
            </a:extLst>
          </p:cNvPr>
          <p:cNvSpPr>
            <a:spLocks noGrp="1"/>
          </p:cNvSpPr>
          <p:nvPr>
            <p:ph type="title"/>
          </p:nvPr>
        </p:nvSpPr>
        <p:spPr/>
        <p:txBody>
          <a:bodyPr/>
          <a:lstStyle/>
          <a:p>
            <a:r>
              <a:rPr lang="en-CA" dirty="0"/>
              <a:t>Encoding Example</a:t>
            </a:r>
          </a:p>
        </p:txBody>
      </p:sp>
      <p:sp>
        <p:nvSpPr>
          <p:cNvPr id="8" name="Content Placeholder 7">
            <a:extLst>
              <a:ext uri="{FF2B5EF4-FFF2-40B4-BE49-F238E27FC236}">
                <a16:creationId xmlns:a16="http://schemas.microsoft.com/office/drawing/2014/main" id="{0684BC9B-8DC7-906F-7ACF-09CCAAC1957B}"/>
              </a:ext>
            </a:extLst>
          </p:cNvPr>
          <p:cNvSpPr>
            <a:spLocks noGrp="1"/>
          </p:cNvSpPr>
          <p:nvPr>
            <p:ph sz="half" idx="1"/>
          </p:nvPr>
        </p:nvSpPr>
        <p:spPr/>
        <p:txBody>
          <a:bodyPr/>
          <a:lstStyle/>
          <a:p>
            <a:pPr marL="0" indent="0">
              <a:buNone/>
            </a:pPr>
            <a:r>
              <a:rPr lang="en-CA" dirty="0">
                <a:latin typeface="JetBrains Mono"/>
              </a:rPr>
              <a:t>0	0	0	0	0</a:t>
            </a:r>
          </a:p>
          <a:p>
            <a:pPr marL="0" indent="0">
              <a:buNone/>
            </a:pPr>
            <a:r>
              <a:rPr lang="en-CA" dirty="0">
                <a:latin typeface="JetBrains Mono"/>
              </a:rPr>
              <a:t>0	1	1	1	0</a:t>
            </a:r>
          </a:p>
          <a:p>
            <a:pPr marL="0" indent="0">
              <a:buNone/>
            </a:pPr>
            <a:r>
              <a:rPr lang="en-CA" dirty="0">
                <a:latin typeface="JetBrains Mono"/>
              </a:rPr>
              <a:t>0	1	2	1	0</a:t>
            </a:r>
          </a:p>
          <a:p>
            <a:pPr marL="0" indent="0">
              <a:buNone/>
            </a:pPr>
            <a:r>
              <a:rPr lang="en-CA" dirty="0">
                <a:latin typeface="JetBrains Mono"/>
              </a:rPr>
              <a:t>0	1	2	1	0</a:t>
            </a:r>
          </a:p>
          <a:p>
            <a:pPr marL="0" indent="0">
              <a:buNone/>
            </a:pPr>
            <a:r>
              <a:rPr lang="en-CA" dirty="0">
                <a:latin typeface="JetBrains Mono"/>
              </a:rPr>
              <a:t>0	1	1	1	0</a:t>
            </a:r>
          </a:p>
          <a:p>
            <a:pPr marL="0" indent="0">
              <a:buNone/>
            </a:pPr>
            <a:r>
              <a:rPr lang="en-CA" dirty="0">
                <a:latin typeface="JetBrains Mono"/>
              </a:rPr>
              <a:t>0	0	0	0	0</a:t>
            </a:r>
          </a:p>
        </p:txBody>
      </p:sp>
      <p:sp>
        <p:nvSpPr>
          <p:cNvPr id="9" name="Content Placeholder 8">
            <a:extLst>
              <a:ext uri="{FF2B5EF4-FFF2-40B4-BE49-F238E27FC236}">
                <a16:creationId xmlns:a16="http://schemas.microsoft.com/office/drawing/2014/main" id="{6ACED5F5-7457-AE65-7E5C-D296F8A7FD9C}"/>
              </a:ext>
            </a:extLst>
          </p:cNvPr>
          <p:cNvSpPr>
            <a:spLocks noGrp="1"/>
          </p:cNvSpPr>
          <p:nvPr>
            <p:ph sz="half" idx="2"/>
          </p:nvPr>
        </p:nvSpPr>
        <p:spPr/>
        <p:txBody>
          <a:bodyPr/>
          <a:lstStyle/>
          <a:p>
            <a:pPr marL="0" indent="0">
              <a:buNone/>
            </a:pPr>
            <a:r>
              <a:rPr lang="en-CA" dirty="0">
                <a:latin typeface="JetBrains Mono"/>
              </a:rPr>
              <a:t>#	#	#	#	#</a:t>
            </a:r>
          </a:p>
          <a:p>
            <a:pPr marL="0" indent="0">
              <a:buNone/>
            </a:pPr>
            <a:r>
              <a:rPr lang="en-CA" dirty="0">
                <a:latin typeface="JetBrains Mono"/>
              </a:rPr>
              <a:t>#	@	@	@	#</a:t>
            </a:r>
          </a:p>
          <a:p>
            <a:pPr marL="0" indent="0">
              <a:buNone/>
            </a:pPr>
            <a:r>
              <a:rPr lang="en-CA" dirty="0">
                <a:latin typeface="JetBrains Mono"/>
              </a:rPr>
              <a:t>#	@	.	@	#</a:t>
            </a:r>
          </a:p>
          <a:p>
            <a:pPr marL="0" indent="0">
              <a:buNone/>
            </a:pPr>
            <a:r>
              <a:rPr lang="en-CA" dirty="0">
                <a:latin typeface="JetBrains Mono"/>
              </a:rPr>
              <a:t>#	@	.	@	#</a:t>
            </a:r>
          </a:p>
          <a:p>
            <a:pPr marL="0" indent="0">
              <a:buNone/>
            </a:pPr>
            <a:r>
              <a:rPr lang="en-CA" dirty="0">
                <a:latin typeface="JetBrains Mono"/>
              </a:rPr>
              <a:t>#	@	@	@	#</a:t>
            </a:r>
          </a:p>
          <a:p>
            <a:pPr marL="0" indent="0">
              <a:buNone/>
            </a:pPr>
            <a:r>
              <a:rPr lang="en-CA" dirty="0">
                <a:latin typeface="JetBrains Mono"/>
              </a:rPr>
              <a:t>#	#	#	#	#</a:t>
            </a:r>
          </a:p>
        </p:txBody>
      </p:sp>
    </p:spTree>
    <p:extLst>
      <p:ext uri="{BB962C8B-B14F-4D97-AF65-F5344CB8AC3E}">
        <p14:creationId xmlns:p14="http://schemas.microsoft.com/office/powerpoint/2010/main" val="39727409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A53D2-2978-50D7-22E4-4AF37B8E3443}"/>
              </a:ext>
            </a:extLst>
          </p:cNvPr>
          <p:cNvSpPr>
            <a:spLocks noGrp="1"/>
          </p:cNvSpPr>
          <p:nvPr>
            <p:ph type="title"/>
          </p:nvPr>
        </p:nvSpPr>
        <p:spPr/>
        <p:txBody>
          <a:bodyPr/>
          <a:lstStyle/>
          <a:p>
            <a:r>
              <a:rPr lang="en-CA" dirty="0"/>
              <a:t>Try At Home: Character Frequency</a:t>
            </a:r>
          </a:p>
        </p:txBody>
      </p:sp>
      <p:sp>
        <p:nvSpPr>
          <p:cNvPr id="3" name="Content Placeholder 2">
            <a:extLst>
              <a:ext uri="{FF2B5EF4-FFF2-40B4-BE49-F238E27FC236}">
                <a16:creationId xmlns:a16="http://schemas.microsoft.com/office/drawing/2014/main" id="{1B228D48-7DB2-0268-1538-DE85565E07FB}"/>
              </a:ext>
            </a:extLst>
          </p:cNvPr>
          <p:cNvSpPr>
            <a:spLocks noGrp="1"/>
          </p:cNvSpPr>
          <p:nvPr>
            <p:ph idx="1"/>
          </p:nvPr>
        </p:nvSpPr>
        <p:spPr/>
        <p:txBody>
          <a:bodyPr>
            <a:normAutofit lnSpcReduction="10000"/>
          </a:bodyPr>
          <a:lstStyle/>
          <a:p>
            <a:r>
              <a:rPr lang="en-CA" dirty="0"/>
              <a:t>Consider that we want to count the number of times a letter appears in any text</a:t>
            </a:r>
          </a:p>
          <a:p>
            <a:r>
              <a:rPr lang="en-US" dirty="0"/>
              <a:t>Example: "the quick brown fox jumps over the lazy dog"</a:t>
            </a:r>
          </a:p>
          <a:p>
            <a:pPr lvl="1"/>
            <a:r>
              <a:rPr lang="en-CA" dirty="0"/>
              <a:t>{'b':1, 'r':1, 'o':2, 'w':1, 'n':1, 'd':1, 'g’:1}</a:t>
            </a:r>
          </a:p>
          <a:p>
            <a:r>
              <a:rPr lang="en-CA" dirty="0"/>
              <a:t>Write an algorithm that creates this dictionary from any text</a:t>
            </a:r>
          </a:p>
          <a:p>
            <a:pPr lvl="1"/>
            <a:r>
              <a:rPr lang="en-CA" dirty="0"/>
              <a:t>What questions do you need to ask about the design?</a:t>
            </a:r>
          </a:p>
          <a:p>
            <a:r>
              <a:rPr lang="en-CA" dirty="0"/>
              <a:t>Now, assume that we want to reuse this algorithm again and again – what is the function that you would define?</a:t>
            </a:r>
            <a:br>
              <a:rPr lang="en-US" dirty="0"/>
            </a:br>
            <a:endParaRPr lang="en-US" dirty="0"/>
          </a:p>
          <a:p>
            <a:endParaRPr lang="en-CA" dirty="0"/>
          </a:p>
        </p:txBody>
      </p:sp>
    </p:spTree>
    <p:extLst>
      <p:ext uri="{BB962C8B-B14F-4D97-AF65-F5344CB8AC3E}">
        <p14:creationId xmlns:p14="http://schemas.microsoft.com/office/powerpoint/2010/main" val="876667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2053F-CFDC-2E94-5797-19CC9C6B5FCF}"/>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AD275838-F0D9-E63E-0ED2-D68E306979BE}"/>
              </a:ext>
            </a:extLst>
          </p:cNvPr>
          <p:cNvSpPr>
            <a:spLocks noGrp="1"/>
          </p:cNvSpPr>
          <p:nvPr>
            <p:ph idx="1"/>
          </p:nvPr>
        </p:nvSpPr>
        <p:spPr/>
        <p:txBody>
          <a:bodyPr/>
          <a:lstStyle/>
          <a:p>
            <a:r>
              <a:rPr lang="en-US" dirty="0"/>
              <a:t>Create a dictionary to store information about your favorite book</a:t>
            </a:r>
          </a:p>
          <a:p>
            <a:pPr lvl="1"/>
            <a:r>
              <a:rPr lang="en-US" dirty="0"/>
              <a:t>Author, title, year, pages, </a:t>
            </a:r>
            <a:r>
              <a:rPr lang="en-US" dirty="0" err="1"/>
              <a:t>etc</a:t>
            </a:r>
            <a:endParaRPr lang="en-US" dirty="0"/>
          </a:p>
          <a:p>
            <a:r>
              <a:rPr lang="en-US" dirty="0"/>
              <a:t>Create a dictionary where the keys are book titles and the values are a dictionary like the one you created above </a:t>
            </a:r>
          </a:p>
          <a:p>
            <a:pPr lvl="1"/>
            <a:r>
              <a:rPr lang="en-US" dirty="0"/>
              <a:t>Add 3 books to this dictionary</a:t>
            </a:r>
          </a:p>
          <a:p>
            <a:pPr lvl="1"/>
            <a:r>
              <a:rPr lang="en-US" dirty="0"/>
              <a:t>update the pages for each entry to increase it by 1</a:t>
            </a:r>
          </a:p>
          <a:p>
            <a:r>
              <a:rPr lang="en-US" dirty="0"/>
              <a:t>For a given string create a dictionary to count the occurrences of each letter in the string </a:t>
            </a:r>
          </a:p>
        </p:txBody>
      </p:sp>
    </p:spTree>
    <p:extLst>
      <p:ext uri="{BB962C8B-B14F-4D97-AF65-F5344CB8AC3E}">
        <p14:creationId xmlns:p14="http://schemas.microsoft.com/office/powerpoint/2010/main" val="2575452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5AA1F-A9F3-F5F8-E9F5-4C1C6D0D3E01}"/>
              </a:ext>
            </a:extLst>
          </p:cNvPr>
          <p:cNvSpPr>
            <a:spLocks noGrp="1"/>
          </p:cNvSpPr>
          <p:nvPr>
            <p:ph type="title"/>
          </p:nvPr>
        </p:nvSpPr>
        <p:spPr>
          <a:xfrm>
            <a:off x="2231136" y="225104"/>
            <a:ext cx="7729728" cy="1188720"/>
          </a:xfrm>
        </p:spPr>
        <p:txBody>
          <a:bodyPr/>
          <a:lstStyle/>
          <a:p>
            <a:r>
              <a:rPr lang="en-US" dirty="0"/>
              <a:t>Try At Home: Food chain</a:t>
            </a:r>
            <a:br>
              <a:rPr lang="en-US"/>
            </a:br>
            <a:r>
              <a:rPr lang="en-US"/>
              <a:t>(Challenging)</a:t>
            </a:r>
            <a:endParaRPr lang="en-US" dirty="0"/>
          </a:p>
        </p:txBody>
      </p:sp>
      <p:sp>
        <p:nvSpPr>
          <p:cNvPr id="3" name="Content Placeholder 2">
            <a:extLst>
              <a:ext uri="{FF2B5EF4-FFF2-40B4-BE49-F238E27FC236}">
                <a16:creationId xmlns:a16="http://schemas.microsoft.com/office/drawing/2014/main" id="{D616C5F4-B3DB-FD12-C8B3-F50E49983E77}"/>
              </a:ext>
            </a:extLst>
          </p:cNvPr>
          <p:cNvSpPr>
            <a:spLocks noGrp="1"/>
          </p:cNvSpPr>
          <p:nvPr>
            <p:ph idx="1"/>
          </p:nvPr>
        </p:nvSpPr>
        <p:spPr>
          <a:xfrm>
            <a:off x="2231136" y="1878008"/>
            <a:ext cx="7729728" cy="4105933"/>
          </a:xfrm>
        </p:spPr>
        <p:txBody>
          <a:bodyPr>
            <a:normAutofit fontScale="62500" lnSpcReduction="20000"/>
          </a:bodyPr>
          <a:lstStyle/>
          <a:p>
            <a:r>
              <a:rPr lang="en-US" b="1" dirty="0"/>
              <a:t>Find a Partner: Food Chain</a:t>
            </a:r>
            <a:endParaRPr lang="en-US" dirty="0"/>
          </a:p>
          <a:p>
            <a:pPr lvl="1"/>
            <a:r>
              <a:rPr lang="en-US" dirty="0"/>
              <a:t>Some creatures producers, meaning they do not eat anyone other creature.  Others are apex predators meaning they are eaten by no one else.  Some creatures only eat producers, meaning they are vegetarian.</a:t>
            </a:r>
          </a:p>
          <a:p>
            <a:pPr lvl="1"/>
            <a:r>
              <a:rPr lang="en-US" dirty="0"/>
              <a:t>Assume that we have food systems that are stored in lists. </a:t>
            </a:r>
          </a:p>
          <a:p>
            <a:pPr lvl="1"/>
            <a:r>
              <a:rPr lang="en-US" dirty="0"/>
              <a:t>The first in the list is the predator and the remaining is a list of prey that they eat.</a:t>
            </a:r>
          </a:p>
          <a:p>
            <a:pPr lvl="1"/>
            <a:r>
              <a:rPr lang="en-US" dirty="0"/>
              <a:t>Example: Birds eat Prawn, Mussels, Crab, Limpets and Whelk</a:t>
            </a:r>
          </a:p>
          <a:p>
            <a:pPr lvl="2"/>
            <a:r>
              <a:rPr lang="en-CA" dirty="0" err="1">
                <a:solidFill>
                  <a:srgbClr val="000000"/>
                </a:solidFill>
                <a:latin typeface="Courier New" panose="02070309020205020404" pitchFamily="49" charset="0"/>
              </a:rPr>
              <a:t>Bird,Prawn,Mussels,Crab,Limpets,Whelk</a:t>
            </a:r>
            <a:endParaRPr lang="en-US" dirty="0"/>
          </a:p>
          <a:p>
            <a:r>
              <a:rPr lang="en-US" dirty="0"/>
              <a:t>Consider:</a:t>
            </a:r>
          </a:p>
          <a:p>
            <a:pPr lvl="1"/>
            <a:r>
              <a:rPr lang="en-US" dirty="0"/>
              <a:t>How would we transform these into a dictionary that would help us manage our data better?</a:t>
            </a:r>
          </a:p>
          <a:p>
            <a:pPr lvl="1"/>
            <a:r>
              <a:rPr lang="en-US" dirty="0"/>
              <a:t>What is the design of your dictionary?  Do you need to know anything else?</a:t>
            </a:r>
          </a:p>
          <a:p>
            <a:pPr lvl="1"/>
            <a:r>
              <a:rPr lang="en-US" dirty="0"/>
              <a:t>How do we do it as a loop?  How do we do it as a comprehension?</a:t>
            </a:r>
          </a:p>
          <a:p>
            <a:r>
              <a:rPr lang="en-US" b="1" dirty="0"/>
              <a:t>After creating that dictionary, answer each of the following questions?</a:t>
            </a:r>
            <a:endParaRPr lang="en-US" dirty="0"/>
          </a:p>
          <a:p>
            <a:pPr lvl="1"/>
            <a:r>
              <a:rPr lang="en-US" dirty="0"/>
              <a:t>Determine the apex predators</a:t>
            </a:r>
          </a:p>
          <a:p>
            <a:pPr lvl="1"/>
            <a:r>
              <a:rPr lang="en-US" dirty="0"/>
              <a:t>Determine the producers</a:t>
            </a:r>
          </a:p>
          <a:p>
            <a:pPr lvl="1"/>
            <a:r>
              <a:rPr lang="en-US" dirty="0"/>
              <a:t>Determine the tastiest organisms (most eaten)</a:t>
            </a:r>
          </a:p>
          <a:p>
            <a:pPr lvl="1"/>
            <a:r>
              <a:rPr lang="en-US" dirty="0"/>
              <a:t>Determine the omnivores who eat both producers and non-producers?</a:t>
            </a:r>
          </a:p>
          <a:p>
            <a:pPr lvl="1"/>
            <a:r>
              <a:rPr lang="en-US" dirty="0"/>
              <a:t>At each step consider - can you use parts of your previous solution?</a:t>
            </a:r>
          </a:p>
          <a:p>
            <a:endParaRPr lang="en-US" dirty="0"/>
          </a:p>
        </p:txBody>
      </p:sp>
      <p:pic>
        <p:nvPicPr>
          <p:cNvPr id="6" name="Picture 5">
            <a:extLst>
              <a:ext uri="{FF2B5EF4-FFF2-40B4-BE49-F238E27FC236}">
                <a16:creationId xmlns:a16="http://schemas.microsoft.com/office/drawing/2014/main" id="{55905F92-A523-B3E7-3991-BE8E26761423}"/>
              </a:ext>
            </a:extLst>
          </p:cNvPr>
          <p:cNvPicPr>
            <a:picLocks noChangeAspect="1"/>
          </p:cNvPicPr>
          <p:nvPr/>
        </p:nvPicPr>
        <p:blipFill>
          <a:blip r:embed="rId2"/>
          <a:stretch>
            <a:fillRect/>
          </a:stretch>
        </p:blipFill>
        <p:spPr>
          <a:xfrm>
            <a:off x="7990870" y="2965077"/>
            <a:ext cx="3939988" cy="3939988"/>
          </a:xfrm>
          <a:prstGeom prst="rect">
            <a:avLst/>
          </a:prstGeom>
        </p:spPr>
      </p:pic>
    </p:spTree>
    <p:extLst>
      <p:ext uri="{BB962C8B-B14F-4D97-AF65-F5344CB8AC3E}">
        <p14:creationId xmlns:p14="http://schemas.microsoft.com/office/powerpoint/2010/main" val="17417803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DCC82-1571-7355-7283-D4C3C211A6CA}"/>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307B857D-8F8B-7858-C0FF-B0BE743B4A01}"/>
              </a:ext>
            </a:extLst>
          </p:cNvPr>
          <p:cNvSpPr>
            <a:spLocks noGrp="1"/>
          </p:cNvSpPr>
          <p:nvPr>
            <p:ph idx="1"/>
          </p:nvPr>
        </p:nvSpPr>
        <p:spPr>
          <a:xfrm>
            <a:off x="2231136" y="2301867"/>
            <a:ext cx="7729728" cy="3101983"/>
          </a:xfrm>
        </p:spPr>
        <p:txBody>
          <a:bodyPr/>
          <a:lstStyle/>
          <a:p>
            <a:r>
              <a:rPr lang="en-US" dirty="0"/>
              <a:t>Consider the predator-prey relationship: predators eat prey</a:t>
            </a:r>
          </a:p>
        </p:txBody>
      </p:sp>
      <p:sp>
        <p:nvSpPr>
          <p:cNvPr id="5" name="TextBox 4">
            <a:extLst>
              <a:ext uri="{FF2B5EF4-FFF2-40B4-BE49-F238E27FC236}">
                <a16:creationId xmlns:a16="http://schemas.microsoft.com/office/drawing/2014/main" id="{4435CFB5-C0BB-FAFD-5274-ABA8035392EC}"/>
              </a:ext>
            </a:extLst>
          </p:cNvPr>
          <p:cNvSpPr txBox="1"/>
          <p:nvPr/>
        </p:nvSpPr>
        <p:spPr>
          <a:xfrm>
            <a:off x="2901204" y="2668439"/>
            <a:ext cx="6098240" cy="2585323"/>
          </a:xfrm>
          <a:prstGeom prst="rect">
            <a:avLst/>
          </a:prstGeom>
          <a:noFill/>
        </p:spPr>
        <p:txBody>
          <a:bodyPr wrap="square">
            <a:spAutoFit/>
          </a:bodyPr>
          <a:lstStyle/>
          <a:p>
            <a:pPr algn="l">
              <a:buNone/>
            </a:pPr>
            <a:r>
              <a:rPr lang="en-CA" b="0" i="0" dirty="0" err="1">
                <a:solidFill>
                  <a:srgbClr val="000000"/>
                </a:solidFill>
                <a:effectLst/>
                <a:latin typeface="Courier New" panose="02070309020205020404" pitchFamily="49" charset="0"/>
              </a:rPr>
              <a:t>Bird,Prawn,Mussels,Crab,Limpets,Whelk</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Crab,Mussels,Limpets</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Fish,Prawn</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Limpets,Seaweed</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Lobster,Crab,Mussels,Limpets,Whelk</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Mussels,Phytoplankton,Zooplankton</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Prawn,Zooplankton</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Whelk,Limpets,Mussels</a:t>
            </a:r>
            <a:endParaRPr lang="en-CA" b="0" i="0" dirty="0">
              <a:solidFill>
                <a:srgbClr val="000000"/>
              </a:solidFill>
              <a:effectLst/>
              <a:latin typeface="Courier New" panose="02070309020205020404" pitchFamily="49" charset="0"/>
            </a:endParaRPr>
          </a:p>
          <a:p>
            <a:pPr algn="l">
              <a:buNone/>
            </a:pPr>
            <a:r>
              <a:rPr lang="en-CA" b="0" i="0" dirty="0" err="1">
                <a:solidFill>
                  <a:srgbClr val="000000"/>
                </a:solidFill>
                <a:effectLst/>
                <a:latin typeface="Courier New" panose="02070309020205020404" pitchFamily="49" charset="0"/>
              </a:rPr>
              <a:t>Zooplankton,Phytoplankton</a:t>
            </a:r>
            <a:endParaRPr lang="en-CA" b="0" i="0" dirty="0">
              <a:solidFill>
                <a:srgbClr val="000000"/>
              </a:solidFill>
              <a:effectLst/>
              <a:latin typeface="Courier New" panose="02070309020205020404" pitchFamily="49" charset="0"/>
            </a:endParaRPr>
          </a:p>
        </p:txBody>
      </p:sp>
    </p:spTree>
    <p:extLst>
      <p:ext uri="{BB962C8B-B14F-4D97-AF65-F5344CB8AC3E}">
        <p14:creationId xmlns:p14="http://schemas.microsoft.com/office/powerpoint/2010/main" val="1183285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F9BDC-D8D2-04F1-83AD-3C2AC6F81F4F}"/>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8677D0E-4F7C-8562-C49D-8115D3574375}"/>
              </a:ext>
            </a:extLst>
          </p:cNvPr>
          <p:cNvSpPr>
            <a:spLocks noGrp="1"/>
          </p:cNvSpPr>
          <p:nvPr>
            <p:ph idx="1"/>
          </p:nvPr>
        </p:nvSpPr>
        <p:spPr/>
        <p:txBody>
          <a:bodyPr/>
          <a:lstStyle/>
          <a:p>
            <a:r>
              <a:rPr lang="en-US" dirty="0"/>
              <a:t>Dictionaries are a data structure capable of storing key and value pairs</a:t>
            </a:r>
          </a:p>
          <a:p>
            <a:r>
              <a:rPr lang="en-US" dirty="0"/>
              <a:t>They offer fast lookup capabilities given a key</a:t>
            </a:r>
          </a:p>
          <a:p>
            <a:r>
              <a:rPr lang="en-US" dirty="0"/>
              <a:t>They are a mutable object</a:t>
            </a:r>
          </a:p>
          <a:p>
            <a:r>
              <a:rPr lang="en-US" dirty="0"/>
              <a:t>But the keys must be comprised of an immutable type</a:t>
            </a:r>
          </a:p>
          <a:p>
            <a:r>
              <a:rPr lang="en-US" dirty="0"/>
              <a:t>Combined with Lists they offer mechanism to represent many data storage options</a:t>
            </a:r>
          </a:p>
        </p:txBody>
      </p:sp>
    </p:spTree>
    <p:extLst>
      <p:ext uri="{BB962C8B-B14F-4D97-AF65-F5344CB8AC3E}">
        <p14:creationId xmlns:p14="http://schemas.microsoft.com/office/powerpoint/2010/main" val="39783078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1826</TotalTime>
  <Words>4176</Words>
  <Application>Microsoft Office PowerPoint</Application>
  <PresentationFormat>Widescreen</PresentationFormat>
  <Paragraphs>232</Paragraphs>
  <Slides>36</Slides>
  <Notes>3</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Arial</vt:lpstr>
      <vt:lpstr>Courier New</vt:lpstr>
      <vt:lpstr>Gill Sans MT</vt:lpstr>
      <vt:lpstr>JetBrains Mono</vt:lpstr>
      <vt:lpstr>Parcel</vt:lpstr>
      <vt:lpstr>DICTIONARIES</vt:lpstr>
      <vt:lpstr>JUPYTER Notebook</vt:lpstr>
      <vt:lpstr>Dictionary</vt:lpstr>
      <vt:lpstr>Dictionary</vt:lpstr>
      <vt:lpstr>Creating a Dictionary</vt:lpstr>
      <vt:lpstr>Dictionary Example</vt:lpstr>
      <vt:lpstr>Accessing Values</vt:lpstr>
      <vt:lpstr>REUSING Keys</vt:lpstr>
      <vt:lpstr>List of Dictionaries</vt:lpstr>
      <vt:lpstr>NESTED Dictionaries</vt:lpstr>
      <vt:lpstr>Adding or Modifying Elements</vt:lpstr>
      <vt:lpstr>A Note on .Pop</vt:lpstr>
      <vt:lpstr>Self-check</vt:lpstr>
      <vt:lpstr>Self-check</vt:lpstr>
      <vt:lpstr>Dictionary Methods</vt:lpstr>
      <vt:lpstr>Keys</vt:lpstr>
      <vt:lpstr>Values</vt:lpstr>
      <vt:lpstr>items</vt:lpstr>
      <vt:lpstr>Common Iteration Patterns</vt:lpstr>
      <vt:lpstr>Avoiding a Key Error: .get</vt:lpstr>
      <vt:lpstr>When to Use Dictionaries</vt:lpstr>
      <vt:lpstr>FIND A Partner: Ciphers</vt:lpstr>
      <vt:lpstr>FIND A PARTNER: Generalization</vt:lpstr>
      <vt:lpstr>Dictionary Comprehensions</vt:lpstr>
      <vt:lpstr>Examples</vt:lpstr>
      <vt:lpstr>Conditional Expression</vt:lpstr>
      <vt:lpstr>Self-check</vt:lpstr>
      <vt:lpstr>Self-check</vt:lpstr>
      <vt:lpstr>Extra Practice with Mutable Objects</vt:lpstr>
      <vt:lpstr>Find a Partner</vt:lpstr>
      <vt:lpstr>Encoding Example</vt:lpstr>
      <vt:lpstr>Try At Home: Character Frequency</vt:lpstr>
      <vt:lpstr>Try at home</vt:lpstr>
      <vt:lpstr>Try At Home: Food chain (Challenging)</vt:lpstr>
      <vt:lpstr>Try At Home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3</cp:revision>
  <cp:lastPrinted>2025-11-19T16:14:43Z</cp:lastPrinted>
  <dcterms:created xsi:type="dcterms:W3CDTF">2025-11-18T17:42:24Z</dcterms:created>
  <dcterms:modified xsi:type="dcterms:W3CDTF">2026-07-23T02:18:06Z</dcterms:modified>
</cp:coreProperties>
</file>