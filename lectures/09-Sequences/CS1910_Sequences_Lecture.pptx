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notesMasterIdLst>
    <p:notesMasterId r:id="rId26"/>
  </p:notesMasterIdLst>
  <p:sldIdLst>
    <p:sldId id="313" r:id="rId2"/>
    <p:sldId id="260" r:id="rId3"/>
    <p:sldId id="261" r:id="rId4"/>
    <p:sldId id="262" r:id="rId5"/>
    <p:sldId id="263" r:id="rId6"/>
    <p:sldId id="264" r:id="rId7"/>
    <p:sldId id="267" r:id="rId8"/>
    <p:sldId id="268" r:id="rId9"/>
    <p:sldId id="265" r:id="rId10"/>
    <p:sldId id="266" r:id="rId11"/>
    <p:sldId id="269" r:id="rId12"/>
    <p:sldId id="270" r:id="rId13"/>
    <p:sldId id="271" r:id="rId14"/>
    <p:sldId id="272" r:id="rId15"/>
    <p:sldId id="275" r:id="rId16"/>
    <p:sldId id="276" r:id="rId17"/>
    <p:sldId id="273" r:id="rId18"/>
    <p:sldId id="274" r:id="rId19"/>
    <p:sldId id="277" r:id="rId20"/>
    <p:sldId id="278" r:id="rId21"/>
    <p:sldId id="279" r:id="rId22"/>
    <p:sldId id="280" r:id="rId23"/>
    <p:sldId id="282" r:id="rId24"/>
    <p:sldId id="28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5A2AE4-149B-403A-8CAB-0BD2A5B874B4}" v="1" dt="2026-07-23T02:15:00.4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68"/>
    <p:restoredTop sz="72061" autoAdjust="0"/>
  </p:normalViewPr>
  <p:slideViewPr>
    <p:cSldViewPr snapToGrid="0">
      <p:cViewPr varScale="1">
        <p:scale>
          <a:sx n="78" d="100"/>
          <a:sy n="78" d="100"/>
        </p:scale>
        <p:origin x="192" y="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topher Power" userId="83706efc-52ec-4aad-b93a-e27c6e901a30" providerId="ADAL" clId="{97D26654-64D5-4042-8583-A5886BB6B01E}"/>
    <pc:docChg chg="undo custSel addSld delSld modSld">
      <pc:chgData name="Christopher Power" userId="83706efc-52ec-4aad-b93a-e27c6e901a30" providerId="ADAL" clId="{97D26654-64D5-4042-8583-A5886BB6B01E}" dt="2026-07-23T02:15:11.932" v="770" actId="47"/>
      <pc:docMkLst>
        <pc:docMk/>
      </pc:docMkLst>
      <pc:sldChg chg="modSp del mod">
        <pc:chgData name="Christopher Power" userId="83706efc-52ec-4aad-b93a-e27c6e901a30" providerId="ADAL" clId="{97D26654-64D5-4042-8583-A5886BB6B01E}" dt="2026-07-23T02:15:10.654" v="768" actId="47"/>
        <pc:sldMkLst>
          <pc:docMk/>
          <pc:sldMk cId="540613930" sldId="256"/>
        </pc:sldMkLst>
      </pc:sldChg>
      <pc:sldChg chg="del">
        <pc:chgData name="Christopher Power" userId="83706efc-52ec-4aad-b93a-e27c6e901a30" providerId="ADAL" clId="{97D26654-64D5-4042-8583-A5886BB6B01E}" dt="2026-07-23T02:15:11.358" v="769" actId="47"/>
        <pc:sldMkLst>
          <pc:docMk/>
          <pc:sldMk cId="663341042" sldId="283"/>
        </pc:sldMkLst>
      </pc:sldChg>
      <pc:sldChg chg="del">
        <pc:chgData name="Christopher Power" userId="83706efc-52ec-4aad-b93a-e27c6e901a30" providerId="ADAL" clId="{97D26654-64D5-4042-8583-A5886BB6B01E}" dt="2026-07-23T02:15:11.932" v="770" actId="47"/>
        <pc:sldMkLst>
          <pc:docMk/>
          <pc:sldMk cId="1895986551" sldId="284"/>
        </pc:sldMkLst>
      </pc:sldChg>
      <pc:sldChg chg="modSp add mod">
        <pc:chgData name="Christopher Power" userId="83706efc-52ec-4aad-b93a-e27c6e901a30" providerId="ADAL" clId="{97D26654-64D5-4042-8583-A5886BB6B01E}" dt="2026-07-23T02:15:04.978" v="767" actId="20577"/>
        <pc:sldMkLst>
          <pc:docMk/>
          <pc:sldMk cId="3002068836" sldId="313"/>
        </pc:sldMkLst>
        <pc:spChg chg="mod">
          <ac:chgData name="Christopher Power" userId="83706efc-52ec-4aad-b93a-e27c6e901a30" providerId="ADAL" clId="{97D26654-64D5-4042-8583-A5886BB6B01E}" dt="2026-07-23T02:15:04.978" v="767" actId="20577"/>
          <ac:spMkLst>
            <pc:docMk/>
            <pc:sldMk cId="3002068836" sldId="313"/>
            <ac:spMk id="2" creationId="{C93DC5BA-038A-1370-693A-933684213ED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85323A-822E-E84A-9FEB-A103DD03B04F}" type="datetimeFigureOut">
              <a:rPr lang="en-US" smtClean="0"/>
              <a:t>10/28/26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F92D9-E9D5-EA45-93E3-E28E893B5AE2}" type="slidenum">
              <a:rPr lang="en-US" smtClean="0"/>
              <a:t>‹#›</a:t>
            </a:fld>
            <a:endParaRPr lang="en-US"/>
          </a:p>
        </p:txBody>
      </p:sp>
    </p:spTree>
    <p:extLst>
      <p:ext uri="{BB962C8B-B14F-4D97-AF65-F5344CB8AC3E}">
        <p14:creationId xmlns:p14="http://schemas.microsoft.com/office/powerpoint/2010/main" val="1505437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7B4F92D9-E9D5-EA45-93E3-E28E893B5AE2}" type="slidenum">
              <a:rPr lang="en-US" smtClean="0"/>
              <a:t>7</a:t>
            </a:fld>
            <a:endParaRPr lang="en-US"/>
          </a:p>
        </p:txBody>
      </p:sp>
    </p:spTree>
    <p:extLst>
      <p:ext uri="{BB962C8B-B14F-4D97-AF65-F5344CB8AC3E}">
        <p14:creationId xmlns:p14="http://schemas.microsoft.com/office/powerpoint/2010/main" val="35499782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Possible Hint: The </a:t>
            </a:r>
            <a:r>
              <a:rPr lang="en-US" b="1" dirty="0"/>
              <a:t>score is an unnecessary detail </a:t>
            </a:r>
          </a:p>
        </p:txBody>
      </p:sp>
      <p:sp>
        <p:nvSpPr>
          <p:cNvPr id="4" name="Slide Number Placeholder 3"/>
          <p:cNvSpPr>
            <a:spLocks noGrp="1"/>
          </p:cNvSpPr>
          <p:nvPr>
            <p:ph type="sldNum" sz="quarter" idx="5"/>
          </p:nvPr>
        </p:nvSpPr>
        <p:spPr/>
        <p:txBody>
          <a:bodyPr/>
          <a:lstStyle/>
          <a:p>
            <a:fld id="{7B4F92D9-E9D5-EA45-93E3-E28E893B5AE2}" type="slidenum">
              <a:rPr lang="en-US" smtClean="0"/>
              <a:t>16</a:t>
            </a:fld>
            <a:endParaRPr lang="en-US"/>
          </a:p>
        </p:txBody>
      </p:sp>
    </p:spTree>
    <p:extLst>
      <p:ext uri="{BB962C8B-B14F-4D97-AF65-F5344CB8AC3E}">
        <p14:creationId xmlns:p14="http://schemas.microsoft.com/office/powerpoint/2010/main" val="39842635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10/28/26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10/28/26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10/28/26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10/28/26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10/28/26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10/28/26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10/28/26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10/28/26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10/28/26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10/28/26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10/28/26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10/28/26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github/UPEI-CS/CS1910-Students/blob/main/lectures/09-Sequences/CS1910_Sequences_Workbook.ipynb"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DC5BA-038A-1370-693A-933684213ED6}"/>
              </a:ext>
            </a:extLst>
          </p:cNvPr>
          <p:cNvSpPr>
            <a:spLocks noGrp="1"/>
          </p:cNvSpPr>
          <p:nvPr>
            <p:ph type="ctrTitle"/>
          </p:nvPr>
        </p:nvSpPr>
        <p:spPr>
          <a:xfrm>
            <a:off x="965198" y="2474895"/>
            <a:ext cx="6212764" cy="1908215"/>
          </a:xfrm>
          <a:noFill/>
          <a:ln>
            <a:solidFill>
              <a:schemeClr val="tx1"/>
            </a:solidFill>
          </a:ln>
        </p:spPr>
        <p:txBody>
          <a:bodyPr wrap="square">
            <a:normAutofit/>
          </a:bodyPr>
          <a:lstStyle/>
          <a:p>
            <a:r>
              <a:rPr lang="en-US" sz="4000" dirty="0">
                <a:solidFill>
                  <a:schemeClr val="tx1"/>
                </a:solidFill>
              </a:rPr>
              <a:t>SEQUENCES</a:t>
            </a:r>
          </a:p>
        </p:txBody>
      </p:sp>
      <p:sp>
        <p:nvSpPr>
          <p:cNvPr id="8" name="Rectangle 7">
            <a:extLst>
              <a:ext uri="{FF2B5EF4-FFF2-40B4-BE49-F238E27FC236}">
                <a16:creationId xmlns:a16="http://schemas.microsoft.com/office/drawing/2014/main" id="{157A82F3-F6C4-4325-8C9C-7DF1AD06B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9872" y="0"/>
            <a:ext cx="4062128" cy="6858000"/>
          </a:xfrm>
          <a:prstGeom prst="rect">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Gill Sans MT" panose="020B0502020104020203"/>
              <a:ea typeface="+mn-ea"/>
              <a:cs typeface="+mn-cs"/>
            </a:endParaRPr>
          </a:p>
        </p:txBody>
      </p:sp>
      <p:sp>
        <p:nvSpPr>
          <p:cNvPr id="3" name="Subtitle 2">
            <a:extLst>
              <a:ext uri="{FF2B5EF4-FFF2-40B4-BE49-F238E27FC236}">
                <a16:creationId xmlns:a16="http://schemas.microsoft.com/office/drawing/2014/main" id="{C5AB9C7C-BEF1-C07A-6A77-DBDD71480AAD}"/>
              </a:ext>
            </a:extLst>
          </p:cNvPr>
          <p:cNvSpPr>
            <a:spLocks noGrp="1"/>
          </p:cNvSpPr>
          <p:nvPr>
            <p:ph type="subTitle" idx="1"/>
          </p:nvPr>
        </p:nvSpPr>
        <p:spPr>
          <a:xfrm>
            <a:off x="8533732" y="2173266"/>
            <a:ext cx="3254408" cy="2511468"/>
          </a:xfrm>
        </p:spPr>
        <p:txBody>
          <a:bodyPr anchor="ctr">
            <a:normAutofit/>
          </a:bodyPr>
          <a:lstStyle/>
          <a:p>
            <a:r>
              <a:rPr lang="en-US" sz="2400" dirty="0">
                <a:solidFill>
                  <a:schemeClr val="tx2">
                    <a:lumMod val="90000"/>
                  </a:schemeClr>
                </a:solidFill>
              </a:rPr>
              <a:t>CS1910</a:t>
            </a:r>
          </a:p>
          <a:p>
            <a:r>
              <a:rPr lang="en-US" sz="2400" dirty="0">
                <a:solidFill>
                  <a:schemeClr val="tx2">
                    <a:lumMod val="90000"/>
                  </a:schemeClr>
                </a:solidFill>
              </a:rPr>
              <a:t>Computer Science I</a:t>
            </a:r>
          </a:p>
        </p:txBody>
      </p:sp>
    </p:spTree>
    <p:extLst>
      <p:ext uri="{BB962C8B-B14F-4D97-AF65-F5344CB8AC3E}">
        <p14:creationId xmlns:p14="http://schemas.microsoft.com/office/powerpoint/2010/main" val="300206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338C0-66AB-148B-AEB1-DE7475C03329}"/>
              </a:ext>
            </a:extLst>
          </p:cNvPr>
          <p:cNvSpPr>
            <a:spLocks noGrp="1"/>
          </p:cNvSpPr>
          <p:nvPr>
            <p:ph type="title"/>
          </p:nvPr>
        </p:nvSpPr>
        <p:spPr/>
        <p:txBody>
          <a:bodyPr/>
          <a:lstStyle/>
          <a:p>
            <a:r>
              <a:rPr lang="en-US" dirty="0"/>
              <a:t>Code Examples</a:t>
            </a:r>
          </a:p>
        </p:txBody>
      </p:sp>
      <p:sp>
        <p:nvSpPr>
          <p:cNvPr id="3" name="Content Placeholder 2">
            <a:extLst>
              <a:ext uri="{FF2B5EF4-FFF2-40B4-BE49-F238E27FC236}">
                <a16:creationId xmlns:a16="http://schemas.microsoft.com/office/drawing/2014/main" id="{52BF1C45-1BC6-1344-58B8-103FD029F2E3}"/>
              </a:ext>
            </a:extLst>
          </p:cNvPr>
          <p:cNvSpPr>
            <a:spLocks noGrp="1"/>
          </p:cNvSpPr>
          <p:nvPr>
            <p:ph idx="1"/>
          </p:nvPr>
        </p:nvSpPr>
        <p:spPr/>
        <p:txBody>
          <a:bodyPr/>
          <a:lstStyle/>
          <a:p>
            <a:r>
              <a:rPr lang="en-US" dirty="0">
                <a:hlinkClick r:id="rId2"/>
              </a:rPr>
              <a:t>https://colab.research.google.com/github/UPEI-CS/CS1910-Students/blob/main/lectures/09-Sequences/CS1910_Sequences_Workbook.ipynb</a:t>
            </a:r>
            <a:endParaRPr lang="en-US" dirty="0"/>
          </a:p>
          <a:p>
            <a:endParaRPr lang="en-US" dirty="0"/>
          </a:p>
        </p:txBody>
      </p:sp>
    </p:spTree>
    <p:extLst>
      <p:ext uri="{BB962C8B-B14F-4D97-AF65-F5344CB8AC3E}">
        <p14:creationId xmlns:p14="http://schemas.microsoft.com/office/powerpoint/2010/main" val="645151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E95C7-D631-8D24-2E07-5A0DD1247184}"/>
              </a:ext>
            </a:extLst>
          </p:cNvPr>
          <p:cNvSpPr>
            <a:spLocks noGrp="1"/>
          </p:cNvSpPr>
          <p:nvPr>
            <p:ph type="title"/>
          </p:nvPr>
        </p:nvSpPr>
        <p:spPr/>
        <p:txBody>
          <a:bodyPr/>
          <a:lstStyle/>
          <a:p>
            <a:r>
              <a:rPr lang="en-US" dirty="0"/>
              <a:t>Sequence</a:t>
            </a:r>
          </a:p>
        </p:txBody>
      </p:sp>
      <p:sp>
        <p:nvSpPr>
          <p:cNvPr id="3" name="Content Placeholder 2">
            <a:extLst>
              <a:ext uri="{FF2B5EF4-FFF2-40B4-BE49-F238E27FC236}">
                <a16:creationId xmlns:a16="http://schemas.microsoft.com/office/drawing/2014/main" id="{97B36B11-84F1-B284-6B1E-E6AC253183B7}"/>
              </a:ext>
            </a:extLst>
          </p:cNvPr>
          <p:cNvSpPr>
            <a:spLocks noGrp="1"/>
          </p:cNvSpPr>
          <p:nvPr>
            <p:ph idx="1"/>
          </p:nvPr>
        </p:nvSpPr>
        <p:spPr/>
        <p:txBody>
          <a:bodyPr/>
          <a:lstStyle/>
          <a:p>
            <a:r>
              <a:rPr lang="en-US" dirty="0"/>
              <a:t>Compound data type consisting of one of more pieces of data in a specific order</a:t>
            </a:r>
          </a:p>
          <a:p>
            <a:r>
              <a:rPr lang="en-US" dirty="0"/>
              <a:t>An example sequence is a string</a:t>
            </a:r>
          </a:p>
        </p:txBody>
      </p:sp>
      <p:sp>
        <p:nvSpPr>
          <p:cNvPr id="7" name="TextBox 6">
            <a:extLst>
              <a:ext uri="{FF2B5EF4-FFF2-40B4-BE49-F238E27FC236}">
                <a16:creationId xmlns:a16="http://schemas.microsoft.com/office/drawing/2014/main" id="{8149C403-05A1-24FE-8710-1B22616ACB44}"/>
              </a:ext>
            </a:extLst>
          </p:cNvPr>
          <p:cNvSpPr txBox="1"/>
          <p:nvPr/>
        </p:nvSpPr>
        <p:spPr>
          <a:xfrm>
            <a:off x="3789400" y="3958403"/>
            <a:ext cx="2803973" cy="369332"/>
          </a:xfrm>
          <a:prstGeom prst="rect">
            <a:avLst/>
          </a:prstGeom>
          <a:noFill/>
        </p:spPr>
        <p:txBody>
          <a:bodyPr wrap="none" rtlCol="0">
            <a:spAutoFit/>
          </a:bodyPr>
          <a:lstStyle/>
          <a:p>
            <a:r>
              <a:rPr lang="en-US" dirty="0" err="1">
                <a:latin typeface="Courier New" panose="02070309020205020404" pitchFamily="49" charset="0"/>
                <a:cs typeface="Courier New" panose="02070309020205020404" pitchFamily="49" charset="0"/>
              </a:rPr>
              <a:t>my_string</a:t>
            </a:r>
            <a:r>
              <a:rPr lang="en-US" dirty="0">
                <a:latin typeface="Courier New" panose="02070309020205020404" pitchFamily="49" charset="0"/>
                <a:cs typeface="Courier New" panose="02070309020205020404" pitchFamily="49" charset="0"/>
              </a:rPr>
              <a:t> = “HELLO”</a:t>
            </a:r>
          </a:p>
        </p:txBody>
      </p:sp>
      <p:sp>
        <p:nvSpPr>
          <p:cNvPr id="9" name="Right Brace 8">
            <a:extLst>
              <a:ext uri="{FF2B5EF4-FFF2-40B4-BE49-F238E27FC236}">
                <a16:creationId xmlns:a16="http://schemas.microsoft.com/office/drawing/2014/main" id="{872A0170-7EFA-6DA5-7586-B6211EB7A646}"/>
              </a:ext>
            </a:extLst>
          </p:cNvPr>
          <p:cNvSpPr/>
          <p:nvPr/>
        </p:nvSpPr>
        <p:spPr>
          <a:xfrm rot="5400000">
            <a:off x="5791200" y="4253567"/>
            <a:ext cx="330200" cy="787400"/>
          </a:xfrm>
          <a:prstGeom prst="rightBrace">
            <a:avLst/>
          </a:prstGeom>
          <a:ln w="1905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0" name="TextBox 9">
            <a:extLst>
              <a:ext uri="{FF2B5EF4-FFF2-40B4-BE49-F238E27FC236}">
                <a16:creationId xmlns:a16="http://schemas.microsoft.com/office/drawing/2014/main" id="{688ABCE8-0584-5338-AE12-053DDD945560}"/>
              </a:ext>
            </a:extLst>
          </p:cNvPr>
          <p:cNvSpPr txBox="1"/>
          <p:nvPr/>
        </p:nvSpPr>
        <p:spPr>
          <a:xfrm>
            <a:off x="4344611" y="5091531"/>
            <a:ext cx="4010778" cy="369332"/>
          </a:xfrm>
          <a:prstGeom prst="rect">
            <a:avLst/>
          </a:prstGeom>
          <a:noFill/>
          <a:ln>
            <a:solidFill>
              <a:srgbClr val="404040"/>
            </a:solidFill>
          </a:ln>
        </p:spPr>
        <p:txBody>
          <a:bodyPr wrap="none" rtlCol="0">
            <a:spAutoFit/>
          </a:bodyPr>
          <a:lstStyle/>
          <a:p>
            <a:r>
              <a:rPr lang="en-US" dirty="0"/>
              <a:t>Multiple pieces of data in a specific order</a:t>
            </a:r>
          </a:p>
        </p:txBody>
      </p:sp>
    </p:spTree>
    <p:extLst>
      <p:ext uri="{BB962C8B-B14F-4D97-AF65-F5344CB8AC3E}">
        <p14:creationId xmlns:p14="http://schemas.microsoft.com/office/powerpoint/2010/main" val="585294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9B398-4850-DB22-4666-F8D039046EE2}"/>
              </a:ext>
            </a:extLst>
          </p:cNvPr>
          <p:cNvSpPr>
            <a:spLocks noGrp="1"/>
          </p:cNvSpPr>
          <p:nvPr>
            <p:ph type="title"/>
          </p:nvPr>
        </p:nvSpPr>
        <p:spPr>
          <a:xfrm>
            <a:off x="2231135" y="396172"/>
            <a:ext cx="7729728" cy="1188720"/>
          </a:xfrm>
        </p:spPr>
        <p:txBody>
          <a:bodyPr/>
          <a:lstStyle/>
          <a:p>
            <a:r>
              <a:rPr lang="en-US" dirty="0"/>
              <a:t>Indexing</a:t>
            </a:r>
          </a:p>
        </p:txBody>
      </p:sp>
      <p:sp>
        <p:nvSpPr>
          <p:cNvPr id="3" name="Content Placeholder 2">
            <a:extLst>
              <a:ext uri="{FF2B5EF4-FFF2-40B4-BE49-F238E27FC236}">
                <a16:creationId xmlns:a16="http://schemas.microsoft.com/office/drawing/2014/main" id="{7D664838-4AD0-AF13-A861-84FB62F38A88}"/>
              </a:ext>
            </a:extLst>
          </p:cNvPr>
          <p:cNvSpPr>
            <a:spLocks noGrp="1"/>
          </p:cNvSpPr>
          <p:nvPr>
            <p:ph idx="1"/>
          </p:nvPr>
        </p:nvSpPr>
        <p:spPr>
          <a:xfrm>
            <a:off x="2231135" y="1802450"/>
            <a:ext cx="7729728" cy="3926546"/>
          </a:xfrm>
        </p:spPr>
        <p:txBody>
          <a:bodyPr>
            <a:normAutofit fontScale="85000" lnSpcReduction="10000"/>
          </a:bodyPr>
          <a:lstStyle/>
          <a:p>
            <a:r>
              <a:rPr lang="en-US" sz="2400" dirty="0"/>
              <a:t>Each data item in a sequence has a position (aka an offset)</a:t>
            </a:r>
          </a:p>
          <a:p>
            <a:r>
              <a:rPr lang="en-US" sz="2400" dirty="0"/>
              <a:t>The position is denoted using an integer </a:t>
            </a:r>
          </a:p>
          <a:p>
            <a:endParaRPr lang="en-US" sz="2400" dirty="0"/>
          </a:p>
          <a:p>
            <a:endParaRPr lang="en-US" sz="2400" dirty="0"/>
          </a:p>
          <a:p>
            <a:endParaRPr lang="en-US" sz="2400" dirty="0"/>
          </a:p>
          <a:p>
            <a:endParaRPr lang="en-US" sz="2400" dirty="0"/>
          </a:p>
          <a:p>
            <a:endParaRPr lang="en-US" sz="2400" dirty="0"/>
          </a:p>
          <a:p>
            <a:r>
              <a:rPr lang="en-US" sz="2400" dirty="0"/>
              <a:t>This string has 5 characters, the first character is at offset 0 the last character is at offset 4</a:t>
            </a:r>
          </a:p>
          <a:p>
            <a:pPr lvl="1"/>
            <a:r>
              <a:rPr lang="en-US" sz="2400" dirty="0"/>
              <a:t>Starting our counts from 0 takes some practice / getting used to</a:t>
            </a:r>
          </a:p>
          <a:p>
            <a:pPr lvl="1"/>
            <a:endParaRPr lang="en-US" sz="2200" dirty="0"/>
          </a:p>
          <a:p>
            <a:endParaRPr lang="en-US" sz="2400" dirty="0"/>
          </a:p>
        </p:txBody>
      </p:sp>
      <p:grpSp>
        <p:nvGrpSpPr>
          <p:cNvPr id="4" name="Group 3">
            <a:extLst>
              <a:ext uri="{FF2B5EF4-FFF2-40B4-BE49-F238E27FC236}">
                <a16:creationId xmlns:a16="http://schemas.microsoft.com/office/drawing/2014/main" id="{D628D4BE-0274-57AC-FBED-6A17DF9F76D0}"/>
              </a:ext>
            </a:extLst>
          </p:cNvPr>
          <p:cNvGrpSpPr/>
          <p:nvPr/>
        </p:nvGrpSpPr>
        <p:grpSpPr>
          <a:xfrm>
            <a:off x="1229755" y="3429000"/>
            <a:ext cx="9434797" cy="741680"/>
            <a:chOff x="1608692" y="4443035"/>
            <a:chExt cx="9434797" cy="741680"/>
          </a:xfrm>
        </p:grpSpPr>
        <p:graphicFrame>
          <p:nvGraphicFramePr>
            <p:cNvPr id="5" name="Content Placeholder 3">
              <a:extLst>
                <a:ext uri="{FF2B5EF4-FFF2-40B4-BE49-F238E27FC236}">
                  <a16:creationId xmlns:a16="http://schemas.microsoft.com/office/drawing/2014/main" id="{BF4E74C0-A41A-E189-0288-0091DAA5FAD5}"/>
                </a:ext>
              </a:extLst>
            </p:cNvPr>
            <p:cNvGraphicFramePr>
              <a:graphicFrameLocks/>
            </p:cNvGraphicFramePr>
            <p:nvPr>
              <p:extLst>
                <p:ext uri="{D42A27DB-BD31-4B8C-83A1-F6EECF244321}">
                  <p14:modId xmlns:p14="http://schemas.microsoft.com/office/powerpoint/2010/main" val="3399003429"/>
                </p:ext>
              </p:extLst>
            </p:nvPr>
          </p:nvGraphicFramePr>
          <p:xfrm>
            <a:off x="3312364" y="4443035"/>
            <a:ext cx="7731125" cy="741680"/>
          </p:xfrm>
          <a:graphic>
            <a:graphicData uri="http://schemas.openxmlformats.org/drawingml/2006/table">
              <a:tbl>
                <a:tblPr firstRow="1" bandRow="1">
                  <a:tableStyleId>{5C22544A-7EE6-4342-B048-85BDC9FD1C3A}</a:tableStyleId>
                </a:tblPr>
                <a:tblGrid>
                  <a:gridCol w="1161161">
                    <a:extLst>
                      <a:ext uri="{9D8B030D-6E8A-4147-A177-3AD203B41FA5}">
                        <a16:colId xmlns:a16="http://schemas.microsoft.com/office/drawing/2014/main" val="657872191"/>
                      </a:ext>
                    </a:extLst>
                  </a:gridCol>
                  <a:gridCol w="1931289">
                    <a:extLst>
                      <a:ext uri="{9D8B030D-6E8A-4147-A177-3AD203B41FA5}">
                        <a16:colId xmlns:a16="http://schemas.microsoft.com/office/drawing/2014/main" val="1418214526"/>
                      </a:ext>
                    </a:extLst>
                  </a:gridCol>
                  <a:gridCol w="1546225">
                    <a:extLst>
                      <a:ext uri="{9D8B030D-6E8A-4147-A177-3AD203B41FA5}">
                        <a16:colId xmlns:a16="http://schemas.microsoft.com/office/drawing/2014/main" val="1031694031"/>
                      </a:ext>
                    </a:extLst>
                  </a:gridCol>
                  <a:gridCol w="1546225">
                    <a:extLst>
                      <a:ext uri="{9D8B030D-6E8A-4147-A177-3AD203B41FA5}">
                        <a16:colId xmlns:a16="http://schemas.microsoft.com/office/drawing/2014/main" val="2445783171"/>
                      </a:ext>
                    </a:extLst>
                  </a:gridCol>
                  <a:gridCol w="1546225">
                    <a:extLst>
                      <a:ext uri="{9D8B030D-6E8A-4147-A177-3AD203B41FA5}">
                        <a16:colId xmlns:a16="http://schemas.microsoft.com/office/drawing/2014/main" val="3903259911"/>
                      </a:ext>
                    </a:extLst>
                  </a:gridCol>
                </a:tblGrid>
                <a:tr h="370840">
                  <a:tc>
                    <a:txBody>
                      <a:bodyPr/>
                      <a:lstStyle/>
                      <a:p>
                        <a:pPr algn="ctr"/>
                        <a:r>
                          <a:rPr lang="en-US" dirty="0"/>
                          <a:t>H</a:t>
                        </a:r>
                      </a:p>
                    </a:txBody>
                    <a:tcPr/>
                  </a:tc>
                  <a:tc>
                    <a:txBody>
                      <a:bodyPr/>
                      <a:lstStyle/>
                      <a:p>
                        <a:pPr algn="ctr"/>
                        <a:r>
                          <a:rPr lang="en-US" dirty="0"/>
                          <a:t>E</a:t>
                        </a:r>
                      </a:p>
                    </a:txBody>
                    <a:tcPr/>
                  </a:tc>
                  <a:tc>
                    <a:txBody>
                      <a:bodyPr/>
                      <a:lstStyle/>
                      <a:p>
                        <a:pPr algn="ctr"/>
                        <a:r>
                          <a:rPr lang="en-US" dirty="0"/>
                          <a:t>L</a:t>
                        </a:r>
                      </a:p>
                    </a:txBody>
                    <a:tcPr/>
                  </a:tc>
                  <a:tc>
                    <a:txBody>
                      <a:bodyPr/>
                      <a:lstStyle/>
                      <a:p>
                        <a:pPr algn="ctr"/>
                        <a:r>
                          <a:rPr lang="en-US" dirty="0"/>
                          <a:t>L</a:t>
                        </a:r>
                      </a:p>
                    </a:txBody>
                    <a:tcPr/>
                  </a:tc>
                  <a:tc>
                    <a:txBody>
                      <a:bodyPr/>
                      <a:lstStyle/>
                      <a:p>
                        <a:pPr algn="ctr"/>
                        <a:r>
                          <a:rPr lang="en-US" dirty="0"/>
                          <a:t>O</a:t>
                        </a:r>
                      </a:p>
                    </a:txBody>
                    <a:tcPr/>
                  </a:tc>
                  <a:extLst>
                    <a:ext uri="{0D108BD9-81ED-4DB2-BD59-A6C34878D82A}">
                      <a16:rowId xmlns:a16="http://schemas.microsoft.com/office/drawing/2014/main" val="1354180335"/>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extLst>
                    <a:ext uri="{0D108BD9-81ED-4DB2-BD59-A6C34878D82A}">
                      <a16:rowId xmlns:a16="http://schemas.microsoft.com/office/drawing/2014/main" val="124033881"/>
                    </a:ext>
                  </a:extLst>
                </a:tr>
              </a:tbl>
            </a:graphicData>
          </a:graphic>
        </p:graphicFrame>
        <p:sp>
          <p:nvSpPr>
            <p:cNvPr id="6" name="TextBox 5">
              <a:extLst>
                <a:ext uri="{FF2B5EF4-FFF2-40B4-BE49-F238E27FC236}">
                  <a16:creationId xmlns:a16="http://schemas.microsoft.com/office/drawing/2014/main" id="{87B7B4D1-570E-7C7C-C335-9C12CD7CFC59}"/>
                </a:ext>
              </a:extLst>
            </p:cNvPr>
            <p:cNvSpPr txBox="1"/>
            <p:nvPr/>
          </p:nvSpPr>
          <p:spPr>
            <a:xfrm>
              <a:off x="1608692" y="4813875"/>
              <a:ext cx="1578317" cy="369332"/>
            </a:xfrm>
            <a:prstGeom prst="rect">
              <a:avLst/>
            </a:prstGeom>
            <a:noFill/>
          </p:spPr>
          <p:txBody>
            <a:bodyPr wrap="none" rtlCol="0">
              <a:spAutoFit/>
            </a:bodyPr>
            <a:lstStyle/>
            <a:p>
              <a:r>
                <a:rPr lang="en-US" dirty="0"/>
                <a:t>Offset Position</a:t>
              </a:r>
            </a:p>
          </p:txBody>
        </p:sp>
        <p:sp>
          <p:nvSpPr>
            <p:cNvPr id="7" name="TextBox 6">
              <a:extLst>
                <a:ext uri="{FF2B5EF4-FFF2-40B4-BE49-F238E27FC236}">
                  <a16:creationId xmlns:a16="http://schemas.microsoft.com/office/drawing/2014/main" id="{1BE9C864-26FB-9C61-66DE-A8F689401380}"/>
                </a:ext>
              </a:extLst>
            </p:cNvPr>
            <p:cNvSpPr txBox="1"/>
            <p:nvPr/>
          </p:nvSpPr>
          <p:spPr>
            <a:xfrm>
              <a:off x="1799770" y="4444543"/>
              <a:ext cx="1130438" cy="369332"/>
            </a:xfrm>
            <a:prstGeom prst="rect">
              <a:avLst/>
            </a:prstGeom>
            <a:noFill/>
          </p:spPr>
          <p:txBody>
            <a:bodyPr wrap="none" rtlCol="0">
              <a:spAutoFit/>
            </a:bodyPr>
            <a:lstStyle/>
            <a:p>
              <a:r>
                <a:rPr lang="en-US" dirty="0"/>
                <a:t>Character</a:t>
              </a:r>
            </a:p>
          </p:txBody>
        </p:sp>
      </p:grpSp>
    </p:spTree>
    <p:extLst>
      <p:ext uri="{BB962C8B-B14F-4D97-AF65-F5344CB8AC3E}">
        <p14:creationId xmlns:p14="http://schemas.microsoft.com/office/powerpoint/2010/main" val="36761339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4A36C-B7C5-A64C-946B-54CB3CB1EEB6}"/>
              </a:ext>
            </a:extLst>
          </p:cNvPr>
          <p:cNvSpPr>
            <a:spLocks noGrp="1"/>
          </p:cNvSpPr>
          <p:nvPr>
            <p:ph type="title"/>
          </p:nvPr>
        </p:nvSpPr>
        <p:spPr/>
        <p:txBody>
          <a:bodyPr/>
          <a:lstStyle/>
          <a:p>
            <a:r>
              <a:rPr lang="en-US" dirty="0"/>
              <a:t>Indexes </a:t>
            </a:r>
          </a:p>
        </p:txBody>
      </p:sp>
      <p:sp>
        <p:nvSpPr>
          <p:cNvPr id="3" name="Content Placeholder 2">
            <a:extLst>
              <a:ext uri="{FF2B5EF4-FFF2-40B4-BE49-F238E27FC236}">
                <a16:creationId xmlns:a16="http://schemas.microsoft.com/office/drawing/2014/main" id="{70E3E0B4-E795-88B7-71A3-10A0026119C7}"/>
              </a:ext>
            </a:extLst>
          </p:cNvPr>
          <p:cNvSpPr>
            <a:spLocks noGrp="1"/>
          </p:cNvSpPr>
          <p:nvPr>
            <p:ph idx="1"/>
          </p:nvPr>
        </p:nvSpPr>
        <p:spPr/>
        <p:txBody>
          <a:bodyPr/>
          <a:lstStyle/>
          <a:p>
            <a:r>
              <a:rPr lang="en-US" dirty="0"/>
              <a:t>To access a character from a string you can use square brackets [ ] </a:t>
            </a:r>
          </a:p>
          <a:p>
            <a:r>
              <a:rPr lang="en-US" dirty="0"/>
              <a:t>Example: </a:t>
            </a:r>
          </a:p>
          <a:p>
            <a:pPr marL="228600" lvl="1" indent="0">
              <a:buNone/>
            </a:pP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my_string</a:t>
            </a:r>
            <a:r>
              <a:rPr lang="en-US" dirty="0">
                <a:latin typeface="Courier New" panose="02070309020205020404" pitchFamily="49" charset="0"/>
                <a:cs typeface="Courier New" panose="02070309020205020404" pitchFamily="49" charset="0"/>
              </a:rPr>
              <a:t>[1] </a:t>
            </a:r>
          </a:p>
          <a:p>
            <a:pPr marL="457200" lvl="2" indent="0">
              <a:buNone/>
            </a:pPr>
            <a:r>
              <a:rPr lang="en-US" dirty="0">
                <a:latin typeface="Courier New" panose="02070309020205020404" pitchFamily="49" charset="0"/>
                <a:cs typeface="Courier New" panose="02070309020205020404" pitchFamily="49" charset="0"/>
              </a:rPr>
              <a:t>	# accesses </a:t>
            </a:r>
            <a:r>
              <a:rPr lang="en-US" dirty="0" err="1">
                <a:latin typeface="Courier New" panose="02070309020205020404" pitchFamily="49" charset="0"/>
                <a:cs typeface="Courier New" panose="02070309020205020404" pitchFamily="49" charset="0"/>
              </a:rPr>
              <a:t>my_string</a:t>
            </a:r>
            <a:r>
              <a:rPr lang="en-US" dirty="0">
                <a:latin typeface="Courier New" panose="02070309020205020404" pitchFamily="49" charset="0"/>
                <a:cs typeface="Courier New" panose="02070309020205020404" pitchFamily="49" charset="0"/>
              </a:rPr>
              <a:t> at offset 1 (or the letter ”E”)</a:t>
            </a:r>
          </a:p>
          <a:p>
            <a:r>
              <a:rPr lang="en-US" dirty="0">
                <a:cs typeface="Courier New" panose="02070309020205020404" pitchFamily="49" charset="0"/>
              </a:rPr>
              <a:t>Although we say this accesses a character or letter from the string, what is returned is also a string (just a string with one character)</a:t>
            </a:r>
          </a:p>
          <a:p>
            <a:r>
              <a:rPr lang="en-US" dirty="0">
                <a:cs typeface="Courier New" panose="02070309020205020404" pitchFamily="49" charset="0"/>
              </a:rPr>
              <a:t>Again, note that offset 1 is the 2</a:t>
            </a:r>
            <a:r>
              <a:rPr lang="en-US" baseline="30000" dirty="0">
                <a:cs typeface="Courier New" panose="02070309020205020404" pitchFamily="49" charset="0"/>
              </a:rPr>
              <a:t>nd</a:t>
            </a:r>
            <a:r>
              <a:rPr lang="en-US" dirty="0">
                <a:cs typeface="Courier New" panose="02070309020205020404" pitchFamily="49" charset="0"/>
              </a:rPr>
              <a:t> character position or E (not H)</a:t>
            </a:r>
          </a:p>
        </p:txBody>
      </p:sp>
      <p:grpSp>
        <p:nvGrpSpPr>
          <p:cNvPr id="4" name="Group 3">
            <a:extLst>
              <a:ext uri="{FF2B5EF4-FFF2-40B4-BE49-F238E27FC236}">
                <a16:creationId xmlns:a16="http://schemas.microsoft.com/office/drawing/2014/main" id="{5A4E1762-B574-5B29-52EB-9C06BC0D31D1}"/>
              </a:ext>
            </a:extLst>
          </p:cNvPr>
          <p:cNvGrpSpPr/>
          <p:nvPr/>
        </p:nvGrpSpPr>
        <p:grpSpPr>
          <a:xfrm>
            <a:off x="1080465" y="5767885"/>
            <a:ext cx="9434797" cy="741680"/>
            <a:chOff x="1608692" y="4443035"/>
            <a:chExt cx="9434797" cy="741680"/>
          </a:xfrm>
        </p:grpSpPr>
        <p:graphicFrame>
          <p:nvGraphicFramePr>
            <p:cNvPr id="5" name="Content Placeholder 3">
              <a:extLst>
                <a:ext uri="{FF2B5EF4-FFF2-40B4-BE49-F238E27FC236}">
                  <a16:creationId xmlns:a16="http://schemas.microsoft.com/office/drawing/2014/main" id="{28FC5379-2E13-9CB4-8549-66046776C605}"/>
                </a:ext>
              </a:extLst>
            </p:cNvPr>
            <p:cNvGraphicFramePr>
              <a:graphicFrameLocks/>
            </p:cNvGraphicFramePr>
            <p:nvPr>
              <p:extLst>
                <p:ext uri="{D42A27DB-BD31-4B8C-83A1-F6EECF244321}">
                  <p14:modId xmlns:p14="http://schemas.microsoft.com/office/powerpoint/2010/main" val="972578762"/>
                </p:ext>
              </p:extLst>
            </p:nvPr>
          </p:nvGraphicFramePr>
          <p:xfrm>
            <a:off x="3312364" y="4443035"/>
            <a:ext cx="7731125" cy="741680"/>
          </p:xfrm>
          <a:graphic>
            <a:graphicData uri="http://schemas.openxmlformats.org/drawingml/2006/table">
              <a:tbl>
                <a:tblPr firstRow="1" bandRow="1">
                  <a:tableStyleId>{5C22544A-7EE6-4342-B048-85BDC9FD1C3A}</a:tableStyleId>
                </a:tblPr>
                <a:tblGrid>
                  <a:gridCol w="1161161">
                    <a:extLst>
                      <a:ext uri="{9D8B030D-6E8A-4147-A177-3AD203B41FA5}">
                        <a16:colId xmlns:a16="http://schemas.microsoft.com/office/drawing/2014/main" val="657872191"/>
                      </a:ext>
                    </a:extLst>
                  </a:gridCol>
                  <a:gridCol w="1931289">
                    <a:extLst>
                      <a:ext uri="{9D8B030D-6E8A-4147-A177-3AD203B41FA5}">
                        <a16:colId xmlns:a16="http://schemas.microsoft.com/office/drawing/2014/main" val="1418214526"/>
                      </a:ext>
                    </a:extLst>
                  </a:gridCol>
                  <a:gridCol w="1546225">
                    <a:extLst>
                      <a:ext uri="{9D8B030D-6E8A-4147-A177-3AD203B41FA5}">
                        <a16:colId xmlns:a16="http://schemas.microsoft.com/office/drawing/2014/main" val="1031694031"/>
                      </a:ext>
                    </a:extLst>
                  </a:gridCol>
                  <a:gridCol w="1546225">
                    <a:extLst>
                      <a:ext uri="{9D8B030D-6E8A-4147-A177-3AD203B41FA5}">
                        <a16:colId xmlns:a16="http://schemas.microsoft.com/office/drawing/2014/main" val="2445783171"/>
                      </a:ext>
                    </a:extLst>
                  </a:gridCol>
                  <a:gridCol w="1546225">
                    <a:extLst>
                      <a:ext uri="{9D8B030D-6E8A-4147-A177-3AD203B41FA5}">
                        <a16:colId xmlns:a16="http://schemas.microsoft.com/office/drawing/2014/main" val="3903259911"/>
                      </a:ext>
                    </a:extLst>
                  </a:gridCol>
                </a:tblGrid>
                <a:tr h="370840">
                  <a:tc>
                    <a:txBody>
                      <a:bodyPr/>
                      <a:lstStyle/>
                      <a:p>
                        <a:pPr algn="ctr"/>
                        <a:r>
                          <a:rPr lang="en-US" dirty="0"/>
                          <a:t>H</a:t>
                        </a:r>
                      </a:p>
                    </a:txBody>
                    <a:tcPr/>
                  </a:tc>
                  <a:tc>
                    <a:txBody>
                      <a:bodyPr/>
                      <a:lstStyle/>
                      <a:p>
                        <a:pPr algn="ctr"/>
                        <a:r>
                          <a:rPr lang="en-US" dirty="0"/>
                          <a:t>E</a:t>
                        </a:r>
                      </a:p>
                    </a:txBody>
                    <a:tcPr/>
                  </a:tc>
                  <a:tc>
                    <a:txBody>
                      <a:bodyPr/>
                      <a:lstStyle/>
                      <a:p>
                        <a:pPr algn="ctr"/>
                        <a:r>
                          <a:rPr lang="en-US" dirty="0"/>
                          <a:t>L</a:t>
                        </a:r>
                      </a:p>
                    </a:txBody>
                    <a:tcPr/>
                  </a:tc>
                  <a:tc>
                    <a:txBody>
                      <a:bodyPr/>
                      <a:lstStyle/>
                      <a:p>
                        <a:pPr algn="ctr"/>
                        <a:r>
                          <a:rPr lang="en-US" dirty="0"/>
                          <a:t>L</a:t>
                        </a:r>
                      </a:p>
                    </a:txBody>
                    <a:tcPr/>
                  </a:tc>
                  <a:tc>
                    <a:txBody>
                      <a:bodyPr/>
                      <a:lstStyle/>
                      <a:p>
                        <a:pPr algn="ctr"/>
                        <a:r>
                          <a:rPr lang="en-US" dirty="0"/>
                          <a:t>O</a:t>
                        </a:r>
                      </a:p>
                    </a:txBody>
                    <a:tcPr/>
                  </a:tc>
                  <a:extLst>
                    <a:ext uri="{0D108BD9-81ED-4DB2-BD59-A6C34878D82A}">
                      <a16:rowId xmlns:a16="http://schemas.microsoft.com/office/drawing/2014/main" val="1354180335"/>
                    </a:ext>
                  </a:extLst>
                </a:tr>
                <a:tr h="370840">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extLst>
                    <a:ext uri="{0D108BD9-81ED-4DB2-BD59-A6C34878D82A}">
                      <a16:rowId xmlns:a16="http://schemas.microsoft.com/office/drawing/2014/main" val="124033881"/>
                    </a:ext>
                  </a:extLst>
                </a:tr>
              </a:tbl>
            </a:graphicData>
          </a:graphic>
        </p:graphicFrame>
        <p:sp>
          <p:nvSpPr>
            <p:cNvPr id="6" name="TextBox 5">
              <a:extLst>
                <a:ext uri="{FF2B5EF4-FFF2-40B4-BE49-F238E27FC236}">
                  <a16:creationId xmlns:a16="http://schemas.microsoft.com/office/drawing/2014/main" id="{534052FB-355A-1A21-5372-FFB3D5D9CC97}"/>
                </a:ext>
              </a:extLst>
            </p:cNvPr>
            <p:cNvSpPr txBox="1"/>
            <p:nvPr/>
          </p:nvSpPr>
          <p:spPr>
            <a:xfrm>
              <a:off x="1608692" y="4813875"/>
              <a:ext cx="1578317" cy="369332"/>
            </a:xfrm>
            <a:prstGeom prst="rect">
              <a:avLst/>
            </a:prstGeom>
            <a:noFill/>
          </p:spPr>
          <p:txBody>
            <a:bodyPr wrap="none" rtlCol="0">
              <a:spAutoFit/>
            </a:bodyPr>
            <a:lstStyle/>
            <a:p>
              <a:r>
                <a:rPr lang="en-US" dirty="0"/>
                <a:t>Offset Position</a:t>
              </a:r>
            </a:p>
          </p:txBody>
        </p:sp>
        <p:sp>
          <p:nvSpPr>
            <p:cNvPr id="7" name="TextBox 6">
              <a:extLst>
                <a:ext uri="{FF2B5EF4-FFF2-40B4-BE49-F238E27FC236}">
                  <a16:creationId xmlns:a16="http://schemas.microsoft.com/office/drawing/2014/main" id="{8D2ACCD2-03D3-4A1F-C041-F741252C17E3}"/>
                </a:ext>
              </a:extLst>
            </p:cNvPr>
            <p:cNvSpPr txBox="1"/>
            <p:nvPr/>
          </p:nvSpPr>
          <p:spPr>
            <a:xfrm>
              <a:off x="1799770" y="4444543"/>
              <a:ext cx="1130438" cy="369332"/>
            </a:xfrm>
            <a:prstGeom prst="rect">
              <a:avLst/>
            </a:prstGeom>
            <a:noFill/>
          </p:spPr>
          <p:txBody>
            <a:bodyPr wrap="none" rtlCol="0">
              <a:spAutoFit/>
            </a:bodyPr>
            <a:lstStyle/>
            <a:p>
              <a:r>
                <a:rPr lang="en-US" dirty="0"/>
                <a:t>Character</a:t>
              </a:r>
            </a:p>
          </p:txBody>
        </p:sp>
      </p:grpSp>
      <p:cxnSp>
        <p:nvCxnSpPr>
          <p:cNvPr id="9" name="Straight Arrow Connector 8">
            <a:extLst>
              <a:ext uri="{FF2B5EF4-FFF2-40B4-BE49-F238E27FC236}">
                <a16:creationId xmlns:a16="http://schemas.microsoft.com/office/drawing/2014/main" id="{67441018-90BA-3787-B4FE-EBAF31F00DAD}"/>
              </a:ext>
            </a:extLst>
          </p:cNvPr>
          <p:cNvCxnSpPr>
            <a:cxnSpLocks/>
          </p:cNvCxnSpPr>
          <p:nvPr/>
        </p:nvCxnSpPr>
        <p:spPr>
          <a:xfrm>
            <a:off x="1489820" y="5347810"/>
            <a:ext cx="1280929" cy="4972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D083BCE-ADE8-DDF0-9079-8381227DD196}"/>
              </a:ext>
            </a:extLst>
          </p:cNvPr>
          <p:cNvSpPr txBox="1"/>
          <p:nvPr/>
        </p:nvSpPr>
        <p:spPr>
          <a:xfrm>
            <a:off x="479737" y="5009581"/>
            <a:ext cx="1425390" cy="369332"/>
          </a:xfrm>
          <a:prstGeom prst="rect">
            <a:avLst/>
          </a:prstGeom>
          <a:noFill/>
          <a:ln>
            <a:solidFill>
              <a:schemeClr val="accent1"/>
            </a:solidFill>
          </a:ln>
        </p:spPr>
        <p:txBody>
          <a:bodyPr wrap="none" rtlCol="0">
            <a:spAutoFit/>
          </a:bodyPr>
          <a:lstStyle/>
          <a:p>
            <a:r>
              <a:rPr lang="en-US" dirty="0" err="1">
                <a:latin typeface="Courier New" panose="02070309020205020404" pitchFamily="49" charset="0"/>
                <a:cs typeface="Courier New" panose="02070309020205020404" pitchFamily="49" charset="0"/>
              </a:rPr>
              <a:t>my_string</a:t>
            </a:r>
            <a:endParaRPr lang="en-US"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75809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8F63B-6F17-28B1-966B-148FE9A6816E}"/>
              </a:ext>
            </a:extLst>
          </p:cNvPr>
          <p:cNvSpPr>
            <a:spLocks noGrp="1"/>
          </p:cNvSpPr>
          <p:nvPr>
            <p:ph type="title"/>
          </p:nvPr>
        </p:nvSpPr>
        <p:spPr/>
        <p:txBody>
          <a:bodyPr/>
          <a:lstStyle/>
          <a:p>
            <a:r>
              <a:rPr lang="en-US" dirty="0"/>
              <a:t>Indexes</a:t>
            </a:r>
          </a:p>
        </p:txBody>
      </p:sp>
      <p:sp>
        <p:nvSpPr>
          <p:cNvPr id="3" name="Content Placeholder 2">
            <a:extLst>
              <a:ext uri="{FF2B5EF4-FFF2-40B4-BE49-F238E27FC236}">
                <a16:creationId xmlns:a16="http://schemas.microsoft.com/office/drawing/2014/main" id="{2395990A-1FA4-7808-73FA-CC4F1EC7BF9D}"/>
              </a:ext>
            </a:extLst>
          </p:cNvPr>
          <p:cNvSpPr>
            <a:spLocks noGrp="1"/>
          </p:cNvSpPr>
          <p:nvPr>
            <p:ph idx="1"/>
          </p:nvPr>
        </p:nvSpPr>
        <p:spPr>
          <a:xfrm>
            <a:off x="2231136" y="2153412"/>
            <a:ext cx="7729728" cy="3586615"/>
          </a:xfrm>
        </p:spPr>
        <p:txBody>
          <a:bodyPr>
            <a:normAutofit fontScale="92500" lnSpcReduction="20000"/>
          </a:bodyPr>
          <a:lstStyle/>
          <a:p>
            <a:r>
              <a:rPr lang="en-US" dirty="0"/>
              <a:t>Offsets can be negative </a:t>
            </a:r>
          </a:p>
          <a:p>
            <a:pPr lvl="1"/>
            <a:r>
              <a:rPr lang="en-US" dirty="0"/>
              <a:t>-1 is the last letter in a string it is preceded by </a:t>
            </a:r>
          </a:p>
          <a:p>
            <a:pPr lvl="1"/>
            <a:r>
              <a:rPr lang="en-US" dirty="0"/>
              <a:t>-2  is 2</a:t>
            </a:r>
            <a:r>
              <a:rPr lang="en-US" baseline="30000" dirty="0"/>
              <a:t>nd</a:t>
            </a:r>
            <a:r>
              <a:rPr lang="en-US" dirty="0"/>
              <a:t> last letter in a string and so on</a:t>
            </a:r>
          </a:p>
          <a:p>
            <a:r>
              <a:rPr lang="en-US" dirty="0" err="1">
                <a:latin typeface="Courier New" panose="02070309020205020404" pitchFamily="49" charset="0"/>
                <a:cs typeface="Courier New" panose="02070309020205020404" pitchFamily="49" charset="0"/>
              </a:rPr>
              <a:t>IndexError</a:t>
            </a:r>
            <a:r>
              <a:rPr lang="en-US" dirty="0">
                <a:latin typeface="Courier New" panose="02070309020205020404" pitchFamily="49" charset="0"/>
                <a:cs typeface="Courier New" panose="02070309020205020404" pitchFamily="49" charset="0"/>
              </a:rPr>
              <a:t>: string index out of range </a:t>
            </a:r>
          </a:p>
          <a:p>
            <a:pPr lvl="1"/>
            <a:r>
              <a:rPr lang="en-US" dirty="0">
                <a:cs typeface="Courier New" panose="02070309020205020404" pitchFamily="49" charset="0"/>
              </a:rPr>
              <a:t>Error produced if you try to access an index position that is off the end of the string</a:t>
            </a:r>
          </a:p>
          <a:p>
            <a:pPr lvl="1"/>
            <a:r>
              <a:rPr lang="en-US" dirty="0">
                <a:cs typeface="Courier New" panose="02070309020205020404" pitchFamily="49" charset="0"/>
              </a:rPr>
              <a:t>Example: </a:t>
            </a:r>
          </a:p>
          <a:p>
            <a:pPr lvl="1"/>
            <a:endParaRPr lang="en-US" dirty="0">
              <a:cs typeface="Courier New" panose="02070309020205020404" pitchFamily="49" charset="0"/>
            </a:endParaRPr>
          </a:p>
          <a:p>
            <a:pPr lvl="1"/>
            <a:endParaRPr lang="en-US" dirty="0">
              <a:cs typeface="Courier New" panose="02070309020205020404" pitchFamily="49" charset="0"/>
            </a:endParaRPr>
          </a:p>
          <a:p>
            <a:pPr lvl="1"/>
            <a:endParaRPr lang="en-US" dirty="0">
              <a:cs typeface="Courier New" panose="02070309020205020404" pitchFamily="49" charset="0"/>
            </a:endParaRPr>
          </a:p>
          <a:p>
            <a:pPr lvl="1"/>
            <a:endParaRPr lang="en-US" dirty="0">
              <a:cs typeface="Courier New" panose="02070309020205020404" pitchFamily="49" charset="0"/>
            </a:endParaRPr>
          </a:p>
          <a:p>
            <a:r>
              <a:rPr lang="en-US" dirty="0"/>
              <a:t>Indexes can also be expressions:</a:t>
            </a:r>
          </a:p>
          <a:p>
            <a:pPr lvl="1"/>
            <a:endParaRPr lang="en-US" dirty="0">
              <a:cs typeface="Courier New" panose="02070309020205020404" pitchFamily="49" charset="0"/>
            </a:endParaRPr>
          </a:p>
        </p:txBody>
      </p:sp>
      <p:pic>
        <p:nvPicPr>
          <p:cNvPr id="4" name="Picture 3">
            <a:extLst>
              <a:ext uri="{FF2B5EF4-FFF2-40B4-BE49-F238E27FC236}">
                <a16:creationId xmlns:a16="http://schemas.microsoft.com/office/drawing/2014/main" id="{968E65C6-27A3-632D-34DD-86DCF272E0A7}"/>
              </a:ext>
            </a:extLst>
          </p:cNvPr>
          <p:cNvPicPr>
            <a:picLocks noChangeAspect="1"/>
          </p:cNvPicPr>
          <p:nvPr/>
        </p:nvPicPr>
        <p:blipFill>
          <a:blip r:embed="rId2"/>
          <a:stretch>
            <a:fillRect/>
          </a:stretch>
        </p:blipFill>
        <p:spPr>
          <a:xfrm>
            <a:off x="2742259" y="4043265"/>
            <a:ext cx="3746500" cy="1219200"/>
          </a:xfrm>
          <a:prstGeom prst="rect">
            <a:avLst/>
          </a:prstGeom>
        </p:spPr>
      </p:pic>
      <p:pic>
        <p:nvPicPr>
          <p:cNvPr id="6" name="Picture 5">
            <a:extLst>
              <a:ext uri="{FF2B5EF4-FFF2-40B4-BE49-F238E27FC236}">
                <a16:creationId xmlns:a16="http://schemas.microsoft.com/office/drawing/2014/main" id="{F4A04F7A-51C6-5791-E0B2-B6A0834C00C5}"/>
              </a:ext>
            </a:extLst>
          </p:cNvPr>
          <p:cNvPicPr>
            <a:picLocks noChangeAspect="1"/>
          </p:cNvPicPr>
          <p:nvPr/>
        </p:nvPicPr>
        <p:blipFill>
          <a:blip r:embed="rId3"/>
          <a:stretch>
            <a:fillRect/>
          </a:stretch>
        </p:blipFill>
        <p:spPr>
          <a:xfrm>
            <a:off x="2742259" y="5642258"/>
            <a:ext cx="2870200" cy="673100"/>
          </a:xfrm>
          <a:prstGeom prst="rect">
            <a:avLst/>
          </a:prstGeom>
        </p:spPr>
      </p:pic>
      <p:cxnSp>
        <p:nvCxnSpPr>
          <p:cNvPr id="8" name="Straight Arrow Connector 7">
            <a:extLst>
              <a:ext uri="{FF2B5EF4-FFF2-40B4-BE49-F238E27FC236}">
                <a16:creationId xmlns:a16="http://schemas.microsoft.com/office/drawing/2014/main" id="{C97EDA6E-902C-A716-3204-A3DCDCF14D69}"/>
              </a:ext>
            </a:extLst>
          </p:cNvPr>
          <p:cNvCxnSpPr>
            <a:cxnSpLocks/>
          </p:cNvCxnSpPr>
          <p:nvPr/>
        </p:nvCxnSpPr>
        <p:spPr>
          <a:xfrm flipH="1">
            <a:off x="5290457" y="6176865"/>
            <a:ext cx="339634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3B31A382-8FC0-2246-AB0C-5C95DD3ED83F}"/>
              </a:ext>
            </a:extLst>
          </p:cNvPr>
          <p:cNvSpPr txBox="1"/>
          <p:nvPr/>
        </p:nvSpPr>
        <p:spPr>
          <a:xfrm>
            <a:off x="8686800" y="5978808"/>
            <a:ext cx="1930337" cy="369332"/>
          </a:xfrm>
          <a:prstGeom prst="rect">
            <a:avLst/>
          </a:prstGeom>
          <a:noFill/>
        </p:spPr>
        <p:txBody>
          <a:bodyPr wrap="none" rtlCol="0">
            <a:spAutoFit/>
          </a:bodyPr>
          <a:lstStyle/>
          <a:p>
            <a:r>
              <a:rPr lang="en-US" dirty="0"/>
              <a:t>Must be an integer</a:t>
            </a:r>
          </a:p>
        </p:txBody>
      </p:sp>
    </p:spTree>
    <p:extLst>
      <p:ext uri="{BB962C8B-B14F-4D97-AF65-F5344CB8AC3E}">
        <p14:creationId xmlns:p14="http://schemas.microsoft.com/office/powerpoint/2010/main" val="1813244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15CD2E-57AD-FDFD-E20E-556A61E044B9}"/>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a:t>quickHitters</a:t>
            </a:r>
          </a:p>
        </p:txBody>
      </p:sp>
      <p:pic>
        <p:nvPicPr>
          <p:cNvPr id="8" name="Content Placeholder 7">
            <a:extLst>
              <a:ext uri="{FF2B5EF4-FFF2-40B4-BE49-F238E27FC236}">
                <a16:creationId xmlns:a16="http://schemas.microsoft.com/office/drawing/2014/main" id="{82490766-9954-A045-F3D4-DA1A3E898E40}"/>
              </a:ext>
            </a:extLst>
          </p:cNvPr>
          <p:cNvPicPr>
            <a:picLocks noGrp="1" noChangeAspect="1"/>
          </p:cNvPicPr>
          <p:nvPr>
            <p:ph idx="1"/>
          </p:nvPr>
        </p:nvPicPr>
        <p:blipFill>
          <a:blip r:embed="rId3"/>
          <a:stretch>
            <a:fillRect/>
          </a:stretch>
        </p:blipFill>
        <p:spPr>
          <a:xfrm>
            <a:off x="1573663" y="640078"/>
            <a:ext cx="9044674" cy="3301307"/>
          </a:xfrm>
          <a:prstGeom prst="rect">
            <a:avLst/>
          </a:prstGeom>
        </p:spPr>
      </p:pic>
    </p:spTree>
    <p:extLst>
      <p:ext uri="{BB962C8B-B14F-4D97-AF65-F5344CB8AC3E}">
        <p14:creationId xmlns:p14="http://schemas.microsoft.com/office/powerpoint/2010/main" val="32436330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E56683-90A0-49FB-271D-63015E23BA93}"/>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EC7FF834-B204-4967-8D47-8BB36EAF0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780A22D-61EA-43E3-BD94-3E39CF9021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18509"/>
            <a:ext cx="12192000" cy="193949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DEB7EB-2806-7D19-56F4-3D8AA221F4F4}"/>
              </a:ext>
            </a:extLst>
          </p:cNvPr>
          <p:cNvSpPr>
            <a:spLocks noGrp="1"/>
          </p:cNvSpPr>
          <p:nvPr>
            <p:ph type="title"/>
          </p:nvPr>
        </p:nvSpPr>
        <p:spPr>
          <a:xfrm>
            <a:off x="1600200" y="4269282"/>
            <a:ext cx="8991600" cy="1264762"/>
          </a:xfrm>
        </p:spPr>
        <p:txBody>
          <a:bodyPr vert="horz" lIns="274320" tIns="182880" rIns="274320" bIns="182880" rtlCol="0" anchor="ctr" anchorCtr="1">
            <a:normAutofit/>
          </a:bodyPr>
          <a:lstStyle/>
          <a:p>
            <a:r>
              <a:rPr lang="en-US" sz="3200"/>
              <a:t>quickHitters</a:t>
            </a:r>
          </a:p>
        </p:txBody>
      </p:sp>
      <p:pic>
        <p:nvPicPr>
          <p:cNvPr id="8" name="Content Placeholder 7" descr="A screenshot of a computer code&#10;&#10;AI-generated content may be incorrect.">
            <a:extLst>
              <a:ext uri="{FF2B5EF4-FFF2-40B4-BE49-F238E27FC236}">
                <a16:creationId xmlns:a16="http://schemas.microsoft.com/office/drawing/2014/main" id="{2D837C86-BDF6-8D4A-A0AB-0D76B78175E1}"/>
              </a:ext>
            </a:extLst>
          </p:cNvPr>
          <p:cNvPicPr>
            <a:picLocks noGrp="1" noChangeAspect="1"/>
          </p:cNvPicPr>
          <p:nvPr>
            <p:ph idx="1"/>
          </p:nvPr>
        </p:nvPicPr>
        <p:blipFill>
          <a:blip r:embed="rId2"/>
          <a:stretch>
            <a:fillRect/>
          </a:stretch>
        </p:blipFill>
        <p:spPr>
          <a:xfrm>
            <a:off x="1573663" y="640078"/>
            <a:ext cx="9044674" cy="3301307"/>
          </a:xfrm>
          <a:prstGeom prst="rect">
            <a:avLst/>
          </a:prstGeom>
        </p:spPr>
      </p:pic>
      <p:pic>
        <p:nvPicPr>
          <p:cNvPr id="6" name="Picture 5">
            <a:extLst>
              <a:ext uri="{FF2B5EF4-FFF2-40B4-BE49-F238E27FC236}">
                <a16:creationId xmlns:a16="http://schemas.microsoft.com/office/drawing/2014/main" id="{53BC8FAD-82CA-BEA9-078D-4F696147A4B8}"/>
              </a:ext>
            </a:extLst>
          </p:cNvPr>
          <p:cNvPicPr>
            <a:picLocks noChangeAspect="1"/>
          </p:cNvPicPr>
          <p:nvPr/>
        </p:nvPicPr>
        <p:blipFill>
          <a:blip r:embed="rId3"/>
          <a:stretch>
            <a:fillRect/>
          </a:stretch>
        </p:blipFill>
        <p:spPr>
          <a:xfrm>
            <a:off x="10804849" y="2140187"/>
            <a:ext cx="817903" cy="1635806"/>
          </a:xfrm>
          <a:prstGeom prst="rect">
            <a:avLst/>
          </a:prstGeom>
          <a:effectLst>
            <a:outerShdw blurRad="50800" dist="38100" dir="2700000" algn="tl" rotWithShape="0">
              <a:prstClr val="black">
                <a:alpha val="40000"/>
              </a:prstClr>
            </a:outerShdw>
          </a:effectLst>
        </p:spPr>
      </p:pic>
      <p:cxnSp>
        <p:nvCxnSpPr>
          <p:cNvPr id="12" name="Straight Arrow Connector 11">
            <a:extLst>
              <a:ext uri="{FF2B5EF4-FFF2-40B4-BE49-F238E27FC236}">
                <a16:creationId xmlns:a16="http://schemas.microsoft.com/office/drawing/2014/main" id="{2C2DC85F-17EE-9CB5-C21F-209C6B0C7CA2}"/>
              </a:ext>
            </a:extLst>
          </p:cNvPr>
          <p:cNvCxnSpPr/>
          <p:nvPr/>
        </p:nvCxnSpPr>
        <p:spPr>
          <a:xfrm flipV="1">
            <a:off x="2164702" y="3941385"/>
            <a:ext cx="2164702" cy="1946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4818AC71-5179-B348-B185-14DAB56BDD4E}"/>
              </a:ext>
            </a:extLst>
          </p:cNvPr>
          <p:cNvSpPr txBox="1"/>
          <p:nvPr/>
        </p:nvSpPr>
        <p:spPr>
          <a:xfrm>
            <a:off x="1573663" y="5950067"/>
            <a:ext cx="8696420" cy="400110"/>
          </a:xfrm>
          <a:prstGeom prst="rect">
            <a:avLst/>
          </a:prstGeom>
          <a:noFill/>
          <a:ln>
            <a:solidFill>
              <a:schemeClr val="accent1"/>
            </a:solidFill>
          </a:ln>
        </p:spPr>
        <p:txBody>
          <a:bodyPr wrap="none" rtlCol="0">
            <a:spAutoFit/>
          </a:bodyPr>
          <a:lstStyle/>
          <a:p>
            <a:r>
              <a:rPr lang="en-US" sz="2000" dirty="0">
                <a:solidFill>
                  <a:schemeClr val="bg1"/>
                </a:solidFill>
              </a:rPr>
              <a:t>Single letter string is still a string so [ ] index can be apply to it, and to that and, …</a:t>
            </a:r>
          </a:p>
        </p:txBody>
      </p:sp>
    </p:spTree>
    <p:extLst>
      <p:ext uri="{BB962C8B-B14F-4D97-AF65-F5344CB8AC3E}">
        <p14:creationId xmlns:p14="http://schemas.microsoft.com/office/powerpoint/2010/main" val="10828094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63183-4313-F3C7-6145-935358F73B30}"/>
              </a:ext>
            </a:extLst>
          </p:cNvPr>
          <p:cNvSpPr>
            <a:spLocks noGrp="1"/>
          </p:cNvSpPr>
          <p:nvPr>
            <p:ph type="title"/>
          </p:nvPr>
        </p:nvSpPr>
        <p:spPr>
          <a:xfrm>
            <a:off x="640079" y="640079"/>
            <a:ext cx="3402531" cy="5272242"/>
          </a:xfrm>
        </p:spPr>
        <p:txBody>
          <a:bodyPr>
            <a:normAutofit/>
          </a:bodyPr>
          <a:lstStyle/>
          <a:p>
            <a:r>
              <a:rPr lang="en-US" dirty="0"/>
              <a:t>Self-Check</a:t>
            </a:r>
          </a:p>
        </p:txBody>
      </p:sp>
      <p:sp>
        <p:nvSpPr>
          <p:cNvPr id="3" name="Content Placeholder 2">
            <a:extLst>
              <a:ext uri="{FF2B5EF4-FFF2-40B4-BE49-F238E27FC236}">
                <a16:creationId xmlns:a16="http://schemas.microsoft.com/office/drawing/2014/main" id="{4FA2D425-FC04-D14F-4A82-E0CFE1296B36}"/>
              </a:ext>
            </a:extLst>
          </p:cNvPr>
          <p:cNvSpPr>
            <a:spLocks noGrp="1"/>
          </p:cNvSpPr>
          <p:nvPr>
            <p:ph idx="1"/>
          </p:nvPr>
        </p:nvSpPr>
        <p:spPr>
          <a:xfrm>
            <a:off x="4613088" y="1380931"/>
            <a:ext cx="6883072" cy="936889"/>
          </a:xfrm>
        </p:spPr>
        <p:txBody>
          <a:bodyPr>
            <a:normAutofit/>
          </a:bodyPr>
          <a:lstStyle/>
          <a:p>
            <a:pPr marL="0" indent="0">
              <a:buNone/>
            </a:pPr>
            <a:r>
              <a:rPr lang="en-US" sz="3600" dirty="0"/>
              <a:t>What is the output?</a:t>
            </a:r>
          </a:p>
          <a:p>
            <a:endParaRPr lang="en-US" sz="3600" dirty="0"/>
          </a:p>
          <a:p>
            <a:pPr marL="0" indent="0">
              <a:buNone/>
            </a:pPr>
            <a:endParaRPr lang="en-US" sz="3600" dirty="0"/>
          </a:p>
        </p:txBody>
      </p:sp>
      <p:pic>
        <p:nvPicPr>
          <p:cNvPr id="5" name="Picture 4">
            <a:extLst>
              <a:ext uri="{FF2B5EF4-FFF2-40B4-BE49-F238E27FC236}">
                <a16:creationId xmlns:a16="http://schemas.microsoft.com/office/drawing/2014/main" id="{5406AFA8-F305-97BC-80B0-769F2EBCEB57}"/>
              </a:ext>
            </a:extLst>
          </p:cNvPr>
          <p:cNvPicPr>
            <a:picLocks noChangeAspect="1"/>
          </p:cNvPicPr>
          <p:nvPr/>
        </p:nvPicPr>
        <p:blipFill>
          <a:blip r:embed="rId2"/>
          <a:stretch>
            <a:fillRect/>
          </a:stretch>
        </p:blipFill>
        <p:spPr>
          <a:xfrm>
            <a:off x="4583458" y="2510065"/>
            <a:ext cx="6912702" cy="2341854"/>
          </a:xfrm>
          <a:prstGeom prst="rect">
            <a:avLst/>
          </a:prstGeom>
        </p:spPr>
      </p:pic>
    </p:spTree>
    <p:extLst>
      <p:ext uri="{BB962C8B-B14F-4D97-AF65-F5344CB8AC3E}">
        <p14:creationId xmlns:p14="http://schemas.microsoft.com/office/powerpoint/2010/main" val="20517642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F912B4-7CCA-DC3E-C7EE-1C8EFF2872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5C2BD-174B-0A67-E1C8-E4A51FACB509}"/>
              </a:ext>
            </a:extLst>
          </p:cNvPr>
          <p:cNvSpPr>
            <a:spLocks noGrp="1"/>
          </p:cNvSpPr>
          <p:nvPr>
            <p:ph type="title"/>
          </p:nvPr>
        </p:nvSpPr>
        <p:spPr>
          <a:xfrm>
            <a:off x="640079" y="640079"/>
            <a:ext cx="3402531" cy="5272242"/>
          </a:xfrm>
        </p:spPr>
        <p:txBody>
          <a:bodyPr>
            <a:normAutofit/>
          </a:bodyPr>
          <a:lstStyle/>
          <a:p>
            <a:r>
              <a:rPr lang="en-US" dirty="0"/>
              <a:t>Self-Check</a:t>
            </a:r>
          </a:p>
        </p:txBody>
      </p:sp>
      <p:sp>
        <p:nvSpPr>
          <p:cNvPr id="3" name="Content Placeholder 2">
            <a:extLst>
              <a:ext uri="{FF2B5EF4-FFF2-40B4-BE49-F238E27FC236}">
                <a16:creationId xmlns:a16="http://schemas.microsoft.com/office/drawing/2014/main" id="{A57267BB-FD02-014C-EC88-F5843D22C491}"/>
              </a:ext>
            </a:extLst>
          </p:cNvPr>
          <p:cNvSpPr>
            <a:spLocks noGrp="1"/>
          </p:cNvSpPr>
          <p:nvPr>
            <p:ph idx="1"/>
          </p:nvPr>
        </p:nvSpPr>
        <p:spPr>
          <a:xfrm>
            <a:off x="4613088" y="1380931"/>
            <a:ext cx="6883072" cy="936889"/>
          </a:xfrm>
        </p:spPr>
        <p:txBody>
          <a:bodyPr>
            <a:normAutofit/>
          </a:bodyPr>
          <a:lstStyle/>
          <a:p>
            <a:pPr marL="0" indent="0">
              <a:buNone/>
            </a:pPr>
            <a:r>
              <a:rPr lang="en-US" sz="3600" dirty="0"/>
              <a:t>What is the output?</a:t>
            </a:r>
          </a:p>
          <a:p>
            <a:endParaRPr lang="en-US" sz="3600" dirty="0"/>
          </a:p>
          <a:p>
            <a:pPr marL="0" indent="0">
              <a:buNone/>
            </a:pPr>
            <a:endParaRPr lang="en-US" sz="3600" dirty="0"/>
          </a:p>
        </p:txBody>
      </p:sp>
      <p:pic>
        <p:nvPicPr>
          <p:cNvPr id="5" name="Picture 4">
            <a:extLst>
              <a:ext uri="{FF2B5EF4-FFF2-40B4-BE49-F238E27FC236}">
                <a16:creationId xmlns:a16="http://schemas.microsoft.com/office/drawing/2014/main" id="{E0F358AF-DDA6-5E6A-00C4-1EFEC069A60A}"/>
              </a:ext>
            </a:extLst>
          </p:cNvPr>
          <p:cNvPicPr>
            <a:picLocks noChangeAspect="1"/>
          </p:cNvPicPr>
          <p:nvPr/>
        </p:nvPicPr>
        <p:blipFill>
          <a:blip r:embed="rId2"/>
          <a:stretch>
            <a:fillRect/>
          </a:stretch>
        </p:blipFill>
        <p:spPr>
          <a:xfrm>
            <a:off x="4583458" y="2510065"/>
            <a:ext cx="6912702" cy="2341854"/>
          </a:xfrm>
          <a:prstGeom prst="rect">
            <a:avLst/>
          </a:prstGeom>
        </p:spPr>
      </p:pic>
      <p:sp>
        <p:nvSpPr>
          <p:cNvPr id="4" name="TextBox 3">
            <a:extLst>
              <a:ext uri="{FF2B5EF4-FFF2-40B4-BE49-F238E27FC236}">
                <a16:creationId xmlns:a16="http://schemas.microsoft.com/office/drawing/2014/main" id="{53E0CFDE-D637-F5F4-A603-4B745C9B10E6}"/>
              </a:ext>
            </a:extLst>
          </p:cNvPr>
          <p:cNvSpPr txBox="1"/>
          <p:nvPr/>
        </p:nvSpPr>
        <p:spPr>
          <a:xfrm>
            <a:off x="5512474" y="5542989"/>
            <a:ext cx="2406428" cy="584775"/>
          </a:xfrm>
          <a:prstGeom prst="rect">
            <a:avLst/>
          </a:prstGeom>
          <a:noFill/>
        </p:spPr>
        <p:txBody>
          <a:bodyPr wrap="none" rtlCol="0">
            <a:spAutoFit/>
          </a:bodyPr>
          <a:lstStyle/>
          <a:p>
            <a:r>
              <a:rPr lang="en-US" sz="3200" dirty="0">
                <a:latin typeface="Courier New" panose="02070309020205020404" pitchFamily="49" charset="0"/>
                <a:cs typeface="Courier New" panose="02070309020205020404" pitchFamily="49" charset="0"/>
              </a:rPr>
              <a:t>backwards</a:t>
            </a:r>
          </a:p>
        </p:txBody>
      </p:sp>
    </p:spTree>
    <p:extLst>
      <p:ext uri="{BB962C8B-B14F-4D97-AF65-F5344CB8AC3E}">
        <p14:creationId xmlns:p14="http://schemas.microsoft.com/office/powerpoint/2010/main" val="29258934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E0F3C4-A612-F051-71D2-BBC69380E40A}"/>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Slicing</a:t>
            </a:r>
          </a:p>
        </p:txBody>
      </p:sp>
      <p:sp>
        <p:nvSpPr>
          <p:cNvPr id="7" name="Content Placeholder 2">
            <a:extLst>
              <a:ext uri="{FF2B5EF4-FFF2-40B4-BE49-F238E27FC236}">
                <a16:creationId xmlns:a16="http://schemas.microsoft.com/office/drawing/2014/main" id="{25ABC5F3-5AD9-7630-936A-C580E87772CD}"/>
              </a:ext>
            </a:extLst>
          </p:cNvPr>
          <p:cNvSpPr>
            <a:spLocks noGrp="1"/>
          </p:cNvSpPr>
          <p:nvPr>
            <p:ph idx="1"/>
          </p:nvPr>
        </p:nvSpPr>
        <p:spPr>
          <a:xfrm>
            <a:off x="5433294" y="692804"/>
            <a:ext cx="5320696" cy="4053840"/>
          </a:xfrm>
        </p:spPr>
        <p:txBody>
          <a:bodyPr anchor="ctr">
            <a:normAutofit/>
          </a:bodyPr>
          <a:lstStyle/>
          <a:p>
            <a:r>
              <a:rPr lang="en-US" sz="2400" dirty="0"/>
              <a:t>Selecting zero of more items of a sequence and forming them into a new sequence</a:t>
            </a:r>
          </a:p>
          <a:p>
            <a:r>
              <a:rPr lang="en-US" sz="2400" dirty="0"/>
              <a:t>Uses the slicing operator </a:t>
            </a:r>
            <a:r>
              <a:rPr lang="en-US" sz="2400" b="1" dirty="0"/>
              <a:t>: </a:t>
            </a:r>
          </a:p>
          <a:p>
            <a:r>
              <a:rPr lang="en-US" sz="2400" dirty="0"/>
              <a:t>Slices are inclusive of the lower bound but exclusive of the upper bound</a:t>
            </a:r>
          </a:p>
          <a:p>
            <a:r>
              <a:rPr lang="en-US" sz="2400" dirty="0"/>
              <a:t>Include a step size (optional)</a:t>
            </a:r>
          </a:p>
        </p:txBody>
      </p:sp>
      <p:sp>
        <p:nvSpPr>
          <p:cNvPr id="4" name="TextBox 3">
            <a:extLst>
              <a:ext uri="{FF2B5EF4-FFF2-40B4-BE49-F238E27FC236}">
                <a16:creationId xmlns:a16="http://schemas.microsoft.com/office/drawing/2014/main" id="{F734B7E6-6E53-68C8-3BB1-413B230F6081}"/>
              </a:ext>
            </a:extLst>
          </p:cNvPr>
          <p:cNvSpPr txBox="1"/>
          <p:nvPr/>
        </p:nvSpPr>
        <p:spPr>
          <a:xfrm>
            <a:off x="4945905" y="4775664"/>
            <a:ext cx="6268063" cy="461665"/>
          </a:xfrm>
          <a:prstGeom prst="rect">
            <a:avLst/>
          </a:prstGeom>
          <a:noFill/>
        </p:spPr>
        <p:txBody>
          <a:bodyPr wrap="none" rtlCol="0">
            <a:spAutoFit/>
          </a:bodyPr>
          <a:lstStyle/>
          <a:p>
            <a:r>
              <a:rPr lang="en-US" sz="2400" dirty="0">
                <a:latin typeface="Courier New" panose="02070309020205020404" pitchFamily="49" charset="0"/>
                <a:cs typeface="Courier New" panose="02070309020205020404" pitchFamily="49" charset="0"/>
              </a:rPr>
              <a:t>slice = </a:t>
            </a:r>
            <a:r>
              <a:rPr lang="en-US" sz="2400" dirty="0" err="1">
                <a:latin typeface="Courier New" panose="02070309020205020404" pitchFamily="49" charset="0"/>
                <a:cs typeface="Courier New" panose="02070309020205020404" pitchFamily="49" charset="0"/>
              </a:rPr>
              <a:t>my_string</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start:end:step</a:t>
            </a:r>
            <a:r>
              <a:rPr lang="en-US" sz="2400" dirty="0">
                <a:latin typeface="Courier New" panose="02070309020205020404" pitchFamily="49" charset="0"/>
                <a:cs typeface="Courier New" panose="02070309020205020404" pitchFamily="49" charset="0"/>
              </a:rPr>
              <a:t>]</a:t>
            </a:r>
          </a:p>
        </p:txBody>
      </p:sp>
      <p:cxnSp>
        <p:nvCxnSpPr>
          <p:cNvPr id="14" name="Straight Arrow Connector 13">
            <a:extLst>
              <a:ext uri="{FF2B5EF4-FFF2-40B4-BE49-F238E27FC236}">
                <a16:creationId xmlns:a16="http://schemas.microsoft.com/office/drawing/2014/main" id="{A9C88AFB-A5C4-0453-7E87-CE1ECC0A4DDA}"/>
              </a:ext>
            </a:extLst>
          </p:cNvPr>
          <p:cNvCxnSpPr/>
          <p:nvPr/>
        </p:nvCxnSpPr>
        <p:spPr>
          <a:xfrm flipV="1">
            <a:off x="8677469" y="5271516"/>
            <a:ext cx="0" cy="500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D887F5EB-3BEA-491F-18E7-27DE76187F40}"/>
              </a:ext>
            </a:extLst>
          </p:cNvPr>
          <p:cNvSpPr txBox="1"/>
          <p:nvPr/>
        </p:nvSpPr>
        <p:spPr>
          <a:xfrm>
            <a:off x="5089355" y="5862998"/>
            <a:ext cx="5976751" cy="646331"/>
          </a:xfrm>
          <a:prstGeom prst="rect">
            <a:avLst/>
          </a:prstGeom>
          <a:noFill/>
          <a:ln>
            <a:solidFill>
              <a:schemeClr val="accent1"/>
            </a:solidFill>
          </a:ln>
        </p:spPr>
        <p:txBody>
          <a:bodyPr wrap="square" rtlCol="0">
            <a:spAutoFit/>
          </a:bodyPr>
          <a:lstStyle/>
          <a:p>
            <a:r>
              <a:rPr lang="en-US" dirty="0"/>
              <a:t>Returns characters between start up to but not including end taking a step size of step </a:t>
            </a:r>
          </a:p>
        </p:txBody>
      </p:sp>
    </p:spTree>
    <p:extLst>
      <p:ext uri="{BB962C8B-B14F-4D97-AF65-F5344CB8AC3E}">
        <p14:creationId xmlns:p14="http://schemas.microsoft.com/office/powerpoint/2010/main" val="26559932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3B15F-6F28-F0B2-1478-75C7BB6BFF2D}"/>
              </a:ext>
            </a:extLst>
          </p:cNvPr>
          <p:cNvSpPr>
            <a:spLocks noGrp="1"/>
          </p:cNvSpPr>
          <p:nvPr>
            <p:ph type="title"/>
          </p:nvPr>
        </p:nvSpPr>
        <p:spPr/>
        <p:txBody>
          <a:bodyPr/>
          <a:lstStyle/>
          <a:p>
            <a:r>
              <a:rPr lang="en-US" dirty="0"/>
              <a:t>Slicing Step Size</a:t>
            </a:r>
          </a:p>
        </p:txBody>
      </p:sp>
      <p:sp>
        <p:nvSpPr>
          <p:cNvPr id="3" name="Content Placeholder 2">
            <a:extLst>
              <a:ext uri="{FF2B5EF4-FFF2-40B4-BE49-F238E27FC236}">
                <a16:creationId xmlns:a16="http://schemas.microsoft.com/office/drawing/2014/main" id="{3C83E96B-58EE-5E3C-E96B-55BC2ED2AA20}"/>
              </a:ext>
            </a:extLst>
          </p:cNvPr>
          <p:cNvSpPr>
            <a:spLocks noGrp="1"/>
          </p:cNvSpPr>
          <p:nvPr>
            <p:ph idx="1"/>
          </p:nvPr>
        </p:nvSpPr>
        <p:spPr/>
        <p:txBody>
          <a:bodyPr>
            <a:normAutofit fontScale="70000" lnSpcReduction="20000"/>
          </a:bodyPr>
          <a:lstStyle/>
          <a:p>
            <a:r>
              <a:rPr lang="en-US" sz="2400" dirty="0"/>
              <a:t>A second colon and 3</a:t>
            </a:r>
            <a:r>
              <a:rPr lang="en-US" sz="2400" baseline="30000" dirty="0"/>
              <a:t>rd</a:t>
            </a:r>
            <a:r>
              <a:rPr lang="en-US" sz="2400" dirty="0"/>
              <a:t> integer specifies a step size </a:t>
            </a:r>
          </a:p>
          <a:p>
            <a:r>
              <a:rPr lang="en-US" sz="2400" dirty="0"/>
              <a:t>Allows every 2</a:t>
            </a:r>
            <a:r>
              <a:rPr lang="en-US" sz="2400" baseline="30000" dirty="0"/>
              <a:t>nd</a:t>
            </a:r>
            <a:r>
              <a:rPr lang="en-US" sz="2400" dirty="0"/>
              <a:t> or 3rd or other .. Character to be selected</a:t>
            </a:r>
          </a:p>
          <a:p>
            <a:endParaRPr lang="en-US" sz="2400" dirty="0"/>
          </a:p>
          <a:p>
            <a:pPr>
              <a:buNone/>
            </a:pPr>
            <a:r>
              <a:rPr lang="en-US" sz="2400" i="1" dirty="0">
                <a:solidFill>
                  <a:srgbClr val="8C8C8C"/>
                </a:solidFill>
                <a:effectLst/>
                <a:latin typeface="JetBrains Mono"/>
              </a:rPr>
              <a:t>#Slicing Examples</a:t>
            </a:r>
            <a:br>
              <a:rPr lang="en-US" sz="2400" i="1" dirty="0">
                <a:solidFill>
                  <a:srgbClr val="8C8C8C"/>
                </a:solidFill>
                <a:effectLst/>
                <a:latin typeface="JetBrains Mono"/>
              </a:rPr>
            </a:br>
            <a:r>
              <a:rPr lang="en-US" sz="2400" dirty="0">
                <a:solidFill>
                  <a:srgbClr val="080808"/>
                </a:solidFill>
                <a:effectLst/>
                <a:latin typeface="JetBrains Mono"/>
              </a:rPr>
              <a:t>s = </a:t>
            </a:r>
            <a:r>
              <a:rPr lang="en-US" sz="2400" dirty="0">
                <a:solidFill>
                  <a:srgbClr val="067D17"/>
                </a:solidFill>
                <a:effectLst/>
                <a:latin typeface="JetBrains Mono"/>
              </a:rPr>
              <a:t>"Blueberry"</a:t>
            </a:r>
            <a:br>
              <a:rPr lang="en-US" sz="2400" dirty="0">
                <a:solidFill>
                  <a:srgbClr val="067D17"/>
                </a:solidFill>
                <a:effectLst/>
                <a:latin typeface="JetBrains Mono"/>
              </a:rPr>
            </a:br>
            <a:br>
              <a:rPr lang="en-US" sz="2400" dirty="0">
                <a:solidFill>
                  <a:srgbClr val="067D17"/>
                </a:solidFill>
                <a:effectLst/>
                <a:latin typeface="JetBrains Mono"/>
              </a:rPr>
            </a:br>
            <a:r>
              <a:rPr lang="en-US" sz="2400" i="1" dirty="0">
                <a:solidFill>
                  <a:srgbClr val="8C8C8C"/>
                </a:solidFill>
                <a:effectLst/>
                <a:latin typeface="JetBrains Mono"/>
              </a:rPr>
              <a:t># Every other character from the whole string</a:t>
            </a:r>
            <a:br>
              <a:rPr lang="en-US" sz="2400" i="1" dirty="0">
                <a:solidFill>
                  <a:srgbClr val="8C8C8C"/>
                </a:solidFill>
                <a:effectLst/>
                <a:latin typeface="JetBrains Mono"/>
              </a:rPr>
            </a:br>
            <a:r>
              <a:rPr lang="en-US" sz="2400" i="1" dirty="0">
                <a:solidFill>
                  <a:srgbClr val="8C8C8C"/>
                </a:solidFill>
                <a:effectLst/>
                <a:latin typeface="JetBrains Mono"/>
              </a:rPr>
              <a:t># start at index 0, go to </a:t>
            </a:r>
            <a:r>
              <a:rPr lang="en-US" sz="2400" i="1" dirty="0" err="1">
                <a:solidFill>
                  <a:srgbClr val="8C8C8C"/>
                </a:solidFill>
                <a:effectLst/>
                <a:latin typeface="JetBrains Mono"/>
              </a:rPr>
              <a:t>len</a:t>
            </a:r>
            <a:r>
              <a:rPr lang="en-US" sz="2400" i="1" dirty="0">
                <a:solidFill>
                  <a:srgbClr val="8C8C8C"/>
                </a:solidFill>
                <a:effectLst/>
                <a:latin typeface="JetBrains Mono"/>
              </a:rPr>
              <a:t>(s), step by 2</a:t>
            </a:r>
            <a:br>
              <a:rPr lang="en-US" sz="2400" i="1" dirty="0">
                <a:solidFill>
                  <a:srgbClr val="8C8C8C"/>
                </a:solidFill>
                <a:effectLst/>
                <a:latin typeface="JetBrains Mono"/>
              </a:rPr>
            </a:br>
            <a:r>
              <a:rPr lang="en-US" sz="2400" dirty="0">
                <a:solidFill>
                  <a:srgbClr val="000080"/>
                </a:solidFill>
                <a:effectLst/>
                <a:latin typeface="JetBrains Mono"/>
              </a:rPr>
              <a:t>print</a:t>
            </a:r>
            <a:r>
              <a:rPr lang="en-US" sz="2400" dirty="0">
                <a:solidFill>
                  <a:srgbClr val="080808"/>
                </a:solidFill>
                <a:effectLst/>
                <a:latin typeface="JetBrains Mono"/>
              </a:rPr>
              <a:t>(s[</a:t>
            </a:r>
            <a:r>
              <a:rPr lang="en-US" sz="2400" dirty="0">
                <a:solidFill>
                  <a:srgbClr val="1750EB"/>
                </a:solidFill>
                <a:effectLst/>
                <a:latin typeface="JetBrains Mono"/>
              </a:rPr>
              <a:t>0</a:t>
            </a:r>
            <a:r>
              <a:rPr lang="en-US" sz="2400" dirty="0">
                <a:solidFill>
                  <a:srgbClr val="080808"/>
                </a:solidFill>
                <a:effectLst/>
                <a:latin typeface="JetBrains Mono"/>
              </a:rPr>
              <a:t>:</a:t>
            </a:r>
            <a:r>
              <a:rPr lang="en-US" sz="2400" dirty="0">
                <a:solidFill>
                  <a:srgbClr val="000080"/>
                </a:solidFill>
                <a:effectLst/>
                <a:latin typeface="JetBrains Mono"/>
              </a:rPr>
              <a:t>len</a:t>
            </a:r>
            <a:r>
              <a:rPr lang="en-US" sz="2400" dirty="0">
                <a:solidFill>
                  <a:srgbClr val="080808"/>
                </a:solidFill>
                <a:effectLst/>
                <a:latin typeface="JetBrains Mono"/>
              </a:rPr>
              <a:t>(s):</a:t>
            </a:r>
            <a:r>
              <a:rPr lang="en-US" sz="2400" dirty="0">
                <a:solidFill>
                  <a:srgbClr val="1750EB"/>
                </a:solidFill>
                <a:effectLst/>
                <a:latin typeface="JetBrains Mono"/>
              </a:rPr>
              <a:t>2</a:t>
            </a:r>
            <a:r>
              <a:rPr lang="en-US" sz="2400" dirty="0">
                <a:solidFill>
                  <a:srgbClr val="080808"/>
                </a:solidFill>
                <a:effectLst/>
                <a:latin typeface="JetBrains Mono"/>
              </a:rPr>
              <a:t>])   </a:t>
            </a:r>
            <a:r>
              <a:rPr lang="en-US" sz="2400" i="1" dirty="0">
                <a:solidFill>
                  <a:srgbClr val="8C8C8C"/>
                </a:solidFill>
                <a:effectLst/>
                <a:latin typeface="JetBrains Mono"/>
              </a:rPr>
              <a:t># </a:t>
            </a:r>
            <a:r>
              <a:rPr lang="en-US" sz="2400" i="1" dirty="0" err="1">
                <a:solidFill>
                  <a:srgbClr val="8C8C8C"/>
                </a:solidFill>
                <a:effectLst/>
                <a:latin typeface="JetBrains Mono"/>
              </a:rPr>
              <a:t>Bubry</a:t>
            </a:r>
            <a:r>
              <a:rPr lang="en-US" sz="2400" i="1" dirty="0">
                <a:solidFill>
                  <a:srgbClr val="8C8C8C"/>
                </a:solidFill>
                <a:effectLst/>
                <a:latin typeface="JetBrains Mono"/>
              </a:rPr>
              <a:t>'</a:t>
            </a:r>
            <a:br>
              <a:rPr lang="en-US" sz="2400" i="1" dirty="0">
                <a:solidFill>
                  <a:srgbClr val="8C8C8C"/>
                </a:solidFill>
                <a:effectLst/>
                <a:latin typeface="JetBrains Mono"/>
              </a:rPr>
            </a:br>
            <a:br>
              <a:rPr lang="en-US" sz="2400" i="1" dirty="0">
                <a:solidFill>
                  <a:srgbClr val="8C8C8C"/>
                </a:solidFill>
                <a:effectLst/>
                <a:latin typeface="JetBrains Mono"/>
              </a:rPr>
            </a:br>
            <a:r>
              <a:rPr lang="en-US" sz="2400" i="1" dirty="0">
                <a:solidFill>
                  <a:srgbClr val="8C8C8C"/>
                </a:solidFill>
                <a:effectLst/>
                <a:latin typeface="JetBrains Mono"/>
              </a:rPr>
              <a:t># Every third character between offsets 2 (inclusive) and 7 (exclusive)</a:t>
            </a:r>
            <a:br>
              <a:rPr lang="en-US" sz="2400" i="1" dirty="0">
                <a:solidFill>
                  <a:srgbClr val="8C8C8C"/>
                </a:solidFill>
                <a:effectLst/>
                <a:latin typeface="JetBrains Mono"/>
              </a:rPr>
            </a:br>
            <a:r>
              <a:rPr lang="en-US" sz="2400" dirty="0">
                <a:solidFill>
                  <a:srgbClr val="000080"/>
                </a:solidFill>
                <a:effectLst/>
                <a:latin typeface="JetBrains Mono"/>
              </a:rPr>
              <a:t>print</a:t>
            </a:r>
            <a:r>
              <a:rPr lang="en-US" sz="2400" dirty="0">
                <a:solidFill>
                  <a:srgbClr val="080808"/>
                </a:solidFill>
                <a:effectLst/>
                <a:latin typeface="JetBrains Mono"/>
              </a:rPr>
              <a:t>(s[</a:t>
            </a:r>
            <a:r>
              <a:rPr lang="en-US" sz="2400" dirty="0">
                <a:solidFill>
                  <a:srgbClr val="1750EB"/>
                </a:solidFill>
                <a:effectLst/>
                <a:latin typeface="JetBrains Mono"/>
              </a:rPr>
              <a:t>2</a:t>
            </a:r>
            <a:r>
              <a:rPr lang="en-US" sz="2400" dirty="0">
                <a:solidFill>
                  <a:srgbClr val="080808"/>
                </a:solidFill>
                <a:effectLst/>
                <a:latin typeface="JetBrains Mono"/>
              </a:rPr>
              <a:t>:</a:t>
            </a:r>
            <a:r>
              <a:rPr lang="en-US" sz="2400" dirty="0">
                <a:solidFill>
                  <a:srgbClr val="1750EB"/>
                </a:solidFill>
                <a:effectLst/>
                <a:latin typeface="JetBrains Mono"/>
              </a:rPr>
              <a:t>7</a:t>
            </a:r>
            <a:r>
              <a:rPr lang="en-US" sz="2400" dirty="0">
                <a:solidFill>
                  <a:srgbClr val="080808"/>
                </a:solidFill>
                <a:effectLst/>
                <a:latin typeface="JetBrains Mono"/>
              </a:rPr>
              <a:t>:</a:t>
            </a:r>
            <a:r>
              <a:rPr lang="en-US" sz="2400" dirty="0">
                <a:solidFill>
                  <a:srgbClr val="1750EB"/>
                </a:solidFill>
                <a:effectLst/>
                <a:latin typeface="JetBrains Mono"/>
              </a:rPr>
              <a:t>3</a:t>
            </a:r>
            <a:r>
              <a:rPr lang="en-US" sz="2400" dirty="0">
                <a:solidFill>
                  <a:srgbClr val="080808"/>
                </a:solidFill>
                <a:effectLst/>
                <a:latin typeface="JetBrains Mono"/>
              </a:rPr>
              <a:t>])        </a:t>
            </a:r>
            <a:r>
              <a:rPr lang="en-US" sz="2400" i="1" dirty="0">
                <a:solidFill>
                  <a:srgbClr val="8C8C8C"/>
                </a:solidFill>
                <a:effectLst/>
                <a:latin typeface="JetBrains Mono"/>
              </a:rPr>
              <a:t># ‘</a:t>
            </a:r>
            <a:r>
              <a:rPr lang="en-US" sz="2400" i="1" dirty="0" err="1">
                <a:solidFill>
                  <a:srgbClr val="8C8C8C"/>
                </a:solidFill>
                <a:effectLst/>
                <a:latin typeface="JetBrains Mono"/>
              </a:rPr>
              <a:t>ue</a:t>
            </a:r>
            <a:r>
              <a:rPr lang="en-US" sz="2400" i="1" dirty="0">
                <a:solidFill>
                  <a:srgbClr val="8C8C8C"/>
                </a:solidFill>
                <a:effectLst/>
                <a:latin typeface="JetBrains Mono"/>
              </a:rPr>
              <a:t>'</a:t>
            </a:r>
            <a:endParaRPr lang="en-US" sz="2400" dirty="0">
              <a:solidFill>
                <a:srgbClr val="080808"/>
              </a:solidFill>
              <a:effectLst/>
              <a:latin typeface="JetBrains Mono"/>
            </a:endParaRPr>
          </a:p>
          <a:p>
            <a:endParaRPr lang="en-US" sz="2400" dirty="0"/>
          </a:p>
        </p:txBody>
      </p:sp>
    </p:spTree>
    <p:extLst>
      <p:ext uri="{BB962C8B-B14F-4D97-AF65-F5344CB8AC3E}">
        <p14:creationId xmlns:p14="http://schemas.microsoft.com/office/powerpoint/2010/main" val="4034661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DFF2DF-37D3-E4A5-7BC2-66928E30C66C}"/>
              </a:ext>
            </a:extLst>
          </p:cNvPr>
          <p:cNvSpPr>
            <a:spLocks noGrp="1"/>
          </p:cNvSpPr>
          <p:nvPr>
            <p:ph type="title"/>
          </p:nvPr>
        </p:nvSpPr>
        <p:spPr/>
        <p:txBody>
          <a:bodyPr/>
          <a:lstStyle/>
          <a:p>
            <a:r>
              <a:rPr lang="en-US" dirty="0"/>
              <a:t>Slicing Defaults</a:t>
            </a:r>
          </a:p>
        </p:txBody>
      </p:sp>
      <p:sp>
        <p:nvSpPr>
          <p:cNvPr id="3" name="Content Placeholder 2">
            <a:extLst>
              <a:ext uri="{FF2B5EF4-FFF2-40B4-BE49-F238E27FC236}">
                <a16:creationId xmlns:a16="http://schemas.microsoft.com/office/drawing/2014/main" id="{5FC4B2C2-6F1F-9059-B2C8-1357DE0029E1}"/>
              </a:ext>
            </a:extLst>
          </p:cNvPr>
          <p:cNvSpPr>
            <a:spLocks noGrp="1"/>
          </p:cNvSpPr>
          <p:nvPr>
            <p:ph sz="half" idx="1"/>
          </p:nvPr>
        </p:nvSpPr>
        <p:spPr/>
        <p:txBody>
          <a:bodyPr>
            <a:normAutofit fontScale="92500" lnSpcReduction="20000"/>
          </a:bodyPr>
          <a:lstStyle/>
          <a:p>
            <a:r>
              <a:rPr lang="en-US" sz="2400" dirty="0"/>
              <a:t>General form: seq[</a:t>
            </a:r>
            <a:r>
              <a:rPr lang="en-US" sz="2400" dirty="0" err="1"/>
              <a:t>start:stop:step</a:t>
            </a:r>
            <a:r>
              <a:rPr lang="en-US" sz="2400" dirty="0"/>
              <a:t>]</a:t>
            </a:r>
          </a:p>
          <a:p>
            <a:r>
              <a:rPr lang="en-US" sz="2400" dirty="0"/>
              <a:t>Defaults:</a:t>
            </a:r>
          </a:p>
          <a:p>
            <a:pPr lvl="1"/>
            <a:r>
              <a:rPr lang="en-US" sz="2200" dirty="0"/>
              <a:t>start defaults to 0 (or </a:t>
            </a:r>
            <a:r>
              <a:rPr lang="en-US" sz="2200" dirty="0" err="1"/>
              <a:t>len</a:t>
            </a:r>
            <a:r>
              <a:rPr lang="en-US" sz="2200" dirty="0"/>
              <a:t>(seq)-1 if step is negative)</a:t>
            </a:r>
          </a:p>
          <a:p>
            <a:pPr lvl="1"/>
            <a:r>
              <a:rPr lang="en-US" sz="2200" dirty="0"/>
              <a:t>stop defaults to </a:t>
            </a:r>
            <a:r>
              <a:rPr lang="en-US" sz="2200" dirty="0" err="1"/>
              <a:t>len</a:t>
            </a:r>
            <a:r>
              <a:rPr lang="en-US" sz="2200" dirty="0"/>
              <a:t>(seq) (or -1 conceptually for negative steps)</a:t>
            </a:r>
          </a:p>
          <a:p>
            <a:pPr lvl="1"/>
            <a:r>
              <a:rPr lang="en-US" sz="2200" dirty="0"/>
              <a:t>step defaults to 1stop is exclusive.</a:t>
            </a:r>
          </a:p>
          <a:p>
            <a:pPr lvl="1"/>
            <a:r>
              <a:rPr lang="en-US" sz="2200" dirty="0"/>
              <a:t>Negative step walks backwards (handy for reversals: seq[::-1]).</a:t>
            </a:r>
            <a:endParaRPr lang="en-US" sz="1800" dirty="0"/>
          </a:p>
        </p:txBody>
      </p:sp>
      <p:sp>
        <p:nvSpPr>
          <p:cNvPr id="4" name="Content Placeholder 3">
            <a:extLst>
              <a:ext uri="{FF2B5EF4-FFF2-40B4-BE49-F238E27FC236}">
                <a16:creationId xmlns:a16="http://schemas.microsoft.com/office/drawing/2014/main" id="{50A88CBB-1D4F-F53B-510B-BF9F0BC305AD}"/>
              </a:ext>
            </a:extLst>
          </p:cNvPr>
          <p:cNvSpPr>
            <a:spLocks noGrp="1"/>
          </p:cNvSpPr>
          <p:nvPr>
            <p:ph sz="half" idx="2"/>
          </p:nvPr>
        </p:nvSpPr>
        <p:spPr>
          <a:xfrm>
            <a:off x="6338315" y="2638044"/>
            <a:ext cx="5451349" cy="3101982"/>
          </a:xfrm>
        </p:spPr>
        <p:txBody>
          <a:bodyPr>
            <a:normAutofit fontScale="92500" lnSpcReduction="20000"/>
          </a:bodyPr>
          <a:lstStyle/>
          <a:p>
            <a:pPr>
              <a:buNone/>
            </a:pPr>
            <a:r>
              <a:rPr lang="en-CA" dirty="0">
                <a:solidFill>
                  <a:srgbClr val="080808"/>
                </a:solidFill>
                <a:effectLst/>
                <a:latin typeface="JetBrains Mono"/>
              </a:rPr>
              <a:t>t = </a:t>
            </a:r>
            <a:r>
              <a:rPr lang="en-CA" dirty="0">
                <a:solidFill>
                  <a:srgbClr val="067D17"/>
                </a:solidFill>
                <a:effectLst/>
                <a:latin typeface="JetBrains Mono"/>
              </a:rPr>
              <a:t>"Charlottetown"</a:t>
            </a:r>
            <a:br>
              <a:rPr lang="en-CA" dirty="0">
                <a:solidFill>
                  <a:srgbClr val="067D17"/>
                </a:solidFill>
                <a:effectLst/>
                <a:latin typeface="JetBrains Mono"/>
              </a:rPr>
            </a:br>
            <a:br>
              <a:rPr lang="en-CA" dirty="0">
                <a:solidFill>
                  <a:srgbClr val="067D17"/>
                </a:solidFill>
                <a:effectLst/>
                <a:latin typeface="JetBrains Mono"/>
              </a:rPr>
            </a:br>
            <a:r>
              <a:rPr lang="en-CA" i="1" dirty="0">
                <a:solidFill>
                  <a:srgbClr val="8C8C8C"/>
                </a:solidFill>
                <a:effectLst/>
                <a:latin typeface="JetBrains Mono"/>
              </a:rPr>
              <a:t># Reverse the whole string</a:t>
            </a:r>
            <a:br>
              <a:rPr lang="en-CA" i="1" dirty="0">
                <a:solidFill>
                  <a:srgbClr val="8C8C8C"/>
                </a:solidFill>
                <a:effectLst/>
                <a:latin typeface="JetBrains Mono"/>
              </a:rPr>
            </a:br>
            <a:r>
              <a:rPr lang="en-CA" dirty="0">
                <a:solidFill>
                  <a:srgbClr val="000080"/>
                </a:solidFill>
                <a:effectLst/>
                <a:latin typeface="JetBrains Mono"/>
              </a:rPr>
              <a:t>print</a:t>
            </a:r>
            <a:r>
              <a:rPr lang="en-CA" dirty="0">
                <a:solidFill>
                  <a:srgbClr val="080808"/>
                </a:solidFill>
                <a:effectLst/>
                <a:latin typeface="JetBrains Mono"/>
              </a:rPr>
              <a:t>(t[::-</a:t>
            </a:r>
            <a:r>
              <a:rPr lang="en-CA" dirty="0">
                <a:solidFill>
                  <a:srgbClr val="1750EB"/>
                </a:solidFill>
                <a:effectLst/>
                <a:latin typeface="JetBrains Mono"/>
              </a:rPr>
              <a:t>1</a:t>
            </a:r>
            <a:r>
              <a:rPr lang="en-CA" dirty="0">
                <a:solidFill>
                  <a:srgbClr val="080808"/>
                </a:solidFill>
                <a:effectLst/>
                <a:latin typeface="JetBrains Mono"/>
              </a:rPr>
              <a:t>])         </a:t>
            </a:r>
            <a:r>
              <a:rPr lang="en-CA" i="1" dirty="0">
                <a:solidFill>
                  <a:srgbClr val="8C8C8C"/>
                </a:solidFill>
                <a:effectLst/>
                <a:latin typeface="JetBrains Mono"/>
              </a:rPr>
              <a:t># '</a:t>
            </a:r>
            <a:r>
              <a:rPr lang="en-CA" i="1" dirty="0" err="1">
                <a:solidFill>
                  <a:srgbClr val="8C8C8C"/>
                </a:solidFill>
                <a:effectLst/>
                <a:latin typeface="JetBrains Mono"/>
              </a:rPr>
              <a:t>nwotte</a:t>
            </a:r>
            <a:r>
              <a:rPr lang="en-CA" i="1" dirty="0">
                <a:solidFill>
                  <a:srgbClr val="8C8C8C"/>
                </a:solidFill>
                <a:effectLst/>
                <a:latin typeface="JetBrains Mono"/>
              </a:rPr>
              <a:t> </a:t>
            </a:r>
            <a:r>
              <a:rPr lang="en-CA" i="1" dirty="0" err="1">
                <a:solidFill>
                  <a:srgbClr val="8C8C8C"/>
                </a:solidFill>
                <a:effectLst/>
                <a:latin typeface="JetBrains Mono"/>
              </a:rPr>
              <a:t>tl</a:t>
            </a:r>
            <a:r>
              <a:rPr lang="en-CA" i="1" dirty="0">
                <a:solidFill>
                  <a:srgbClr val="8C8C8C"/>
                </a:solidFill>
                <a:effectLst/>
                <a:latin typeface="JetBrains Mono"/>
              </a:rPr>
              <a:t> o </a:t>
            </a:r>
            <a:r>
              <a:rPr lang="en-CA" i="1" dirty="0" err="1">
                <a:solidFill>
                  <a:srgbClr val="8C8C8C"/>
                </a:solidFill>
                <a:effectLst/>
                <a:latin typeface="JetBrains Mono"/>
              </a:rPr>
              <a:t>tralhC</a:t>
            </a:r>
            <a:r>
              <a:rPr lang="en-CA" i="1" dirty="0">
                <a:solidFill>
                  <a:srgbClr val="8C8C8C"/>
                </a:solidFill>
                <a:effectLst/>
                <a:latin typeface="JetBrains Mono"/>
              </a:rPr>
              <a:t>' (no spaces in the actual output: '</a:t>
            </a:r>
            <a:r>
              <a:rPr lang="en-CA" i="1" dirty="0" err="1">
                <a:solidFill>
                  <a:srgbClr val="8C8C8C"/>
                </a:solidFill>
                <a:effectLst/>
                <a:latin typeface="JetBrains Mono"/>
              </a:rPr>
              <a:t>nwottetolrahC</a:t>
            </a:r>
            <a:r>
              <a:rPr lang="en-CA" i="1" dirty="0">
                <a:solidFill>
                  <a:srgbClr val="8C8C8C"/>
                </a:solidFill>
                <a:effectLst/>
                <a:latin typeface="JetBrains Mono"/>
              </a:rPr>
              <a:t>')</a:t>
            </a:r>
            <a:br>
              <a:rPr lang="en-CA" i="1" dirty="0">
                <a:solidFill>
                  <a:srgbClr val="8C8C8C"/>
                </a:solidFill>
                <a:effectLst/>
                <a:latin typeface="JetBrains Mono"/>
              </a:rPr>
            </a:br>
            <a:br>
              <a:rPr lang="en-CA" i="1" dirty="0">
                <a:solidFill>
                  <a:srgbClr val="8C8C8C"/>
                </a:solidFill>
                <a:effectLst/>
                <a:latin typeface="JetBrains Mono"/>
              </a:rPr>
            </a:br>
            <a:r>
              <a:rPr lang="en-CA" i="1" dirty="0">
                <a:solidFill>
                  <a:srgbClr val="8C8C8C"/>
                </a:solidFill>
                <a:effectLst/>
                <a:latin typeface="JetBrains Mono"/>
              </a:rPr>
              <a:t># Every second character in reverse, starting from the last character down to index 3 (exclusive)</a:t>
            </a:r>
            <a:br>
              <a:rPr lang="en-CA" i="1" dirty="0">
                <a:solidFill>
                  <a:srgbClr val="8C8C8C"/>
                </a:solidFill>
                <a:effectLst/>
                <a:latin typeface="JetBrains Mono"/>
              </a:rPr>
            </a:br>
            <a:r>
              <a:rPr lang="en-CA" dirty="0">
                <a:solidFill>
                  <a:srgbClr val="000080"/>
                </a:solidFill>
                <a:effectLst/>
                <a:latin typeface="JetBrains Mono"/>
              </a:rPr>
              <a:t>print</a:t>
            </a:r>
            <a:r>
              <a:rPr lang="en-CA" dirty="0">
                <a:solidFill>
                  <a:srgbClr val="080808"/>
                </a:solidFill>
                <a:effectLst/>
                <a:latin typeface="JetBrains Mono"/>
              </a:rPr>
              <a:t>(t[:</a:t>
            </a:r>
            <a:r>
              <a:rPr lang="en-CA" dirty="0">
                <a:solidFill>
                  <a:srgbClr val="1750EB"/>
                </a:solidFill>
                <a:effectLst/>
                <a:latin typeface="JetBrains Mono"/>
              </a:rPr>
              <a:t>3</a:t>
            </a:r>
            <a:r>
              <a:rPr lang="en-CA" dirty="0">
                <a:solidFill>
                  <a:srgbClr val="080808"/>
                </a:solidFill>
                <a:effectLst/>
                <a:latin typeface="JetBrains Mono"/>
              </a:rPr>
              <a:t>:-</a:t>
            </a:r>
            <a:r>
              <a:rPr lang="en-CA" dirty="0">
                <a:solidFill>
                  <a:srgbClr val="1750EB"/>
                </a:solidFill>
                <a:effectLst/>
                <a:latin typeface="JetBrains Mono"/>
              </a:rPr>
              <a:t>2</a:t>
            </a:r>
            <a:r>
              <a:rPr lang="en-CA" dirty="0">
                <a:solidFill>
                  <a:srgbClr val="080808"/>
                </a:solidFill>
                <a:effectLst/>
                <a:latin typeface="JetBrains Mono"/>
              </a:rPr>
              <a:t>])        </a:t>
            </a:r>
            <a:r>
              <a:rPr lang="en-CA" i="1" dirty="0">
                <a:solidFill>
                  <a:srgbClr val="8C8C8C"/>
                </a:solidFill>
                <a:effectLst/>
                <a:latin typeface="JetBrains Mono"/>
              </a:rPr>
              <a:t># takes indices </a:t>
            </a:r>
            <a:r>
              <a:rPr lang="en-CA" i="1" dirty="0" err="1">
                <a:solidFill>
                  <a:srgbClr val="8C8C8C"/>
                </a:solidFill>
                <a:effectLst/>
                <a:latin typeface="JetBrains Mono"/>
              </a:rPr>
              <a:t>len</a:t>
            </a:r>
            <a:r>
              <a:rPr lang="en-CA" i="1" dirty="0">
                <a:solidFill>
                  <a:srgbClr val="8C8C8C"/>
                </a:solidFill>
                <a:effectLst/>
                <a:latin typeface="JetBrains Mono"/>
              </a:rPr>
              <a:t>(t)-1, </a:t>
            </a:r>
            <a:r>
              <a:rPr lang="en-CA" i="1" dirty="0" err="1">
                <a:solidFill>
                  <a:srgbClr val="8C8C8C"/>
                </a:solidFill>
                <a:effectLst/>
                <a:latin typeface="JetBrains Mono"/>
              </a:rPr>
              <a:t>len</a:t>
            </a:r>
            <a:r>
              <a:rPr lang="en-CA" i="1" dirty="0">
                <a:solidFill>
                  <a:srgbClr val="8C8C8C"/>
                </a:solidFill>
                <a:effectLst/>
                <a:latin typeface="JetBrains Mono"/>
              </a:rPr>
              <a:t>(t)-3, ... down to &gt; 3</a:t>
            </a:r>
            <a:endParaRPr lang="en-CA" dirty="0">
              <a:solidFill>
                <a:srgbClr val="080808"/>
              </a:solidFill>
              <a:effectLst/>
              <a:latin typeface="JetBrains Mono"/>
            </a:endParaRPr>
          </a:p>
          <a:p>
            <a:endParaRPr lang="en-CA" dirty="0"/>
          </a:p>
        </p:txBody>
      </p:sp>
    </p:spTree>
    <p:extLst>
      <p:ext uri="{BB962C8B-B14F-4D97-AF65-F5344CB8AC3E}">
        <p14:creationId xmlns:p14="http://schemas.microsoft.com/office/powerpoint/2010/main" val="8724503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DB51D-0966-E46C-F006-E65DE13FAAFB}"/>
              </a:ext>
            </a:extLst>
          </p:cNvPr>
          <p:cNvSpPr>
            <a:spLocks noGrp="1"/>
          </p:cNvSpPr>
          <p:nvPr>
            <p:ph type="title"/>
          </p:nvPr>
        </p:nvSpPr>
        <p:spPr/>
        <p:txBody>
          <a:bodyPr/>
          <a:lstStyle/>
          <a:p>
            <a:r>
              <a:rPr lang="en-US" dirty="0"/>
              <a:t>Slicing Examples</a:t>
            </a:r>
          </a:p>
        </p:txBody>
      </p:sp>
      <p:pic>
        <p:nvPicPr>
          <p:cNvPr id="4" name="Content Placeholder 3">
            <a:extLst>
              <a:ext uri="{FF2B5EF4-FFF2-40B4-BE49-F238E27FC236}">
                <a16:creationId xmlns:a16="http://schemas.microsoft.com/office/drawing/2014/main" id="{63A8740A-23ED-82BE-9D20-3F78AFE114F7}"/>
              </a:ext>
            </a:extLst>
          </p:cNvPr>
          <p:cNvPicPr>
            <a:picLocks noGrp="1" noChangeAspect="1"/>
          </p:cNvPicPr>
          <p:nvPr>
            <p:ph idx="1"/>
          </p:nvPr>
        </p:nvPicPr>
        <p:blipFill>
          <a:blip r:embed="rId2"/>
          <a:stretch>
            <a:fillRect/>
          </a:stretch>
        </p:blipFill>
        <p:spPr>
          <a:xfrm>
            <a:off x="1079993" y="2332638"/>
            <a:ext cx="10436175" cy="3690210"/>
          </a:xfrm>
          <a:prstGeom prst="rect">
            <a:avLst/>
          </a:prstGeom>
        </p:spPr>
      </p:pic>
    </p:spTree>
    <p:extLst>
      <p:ext uri="{BB962C8B-B14F-4D97-AF65-F5344CB8AC3E}">
        <p14:creationId xmlns:p14="http://schemas.microsoft.com/office/powerpoint/2010/main" val="30388497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58E0E-5755-7571-0AF6-BCB173E45636}"/>
              </a:ext>
            </a:extLst>
          </p:cNvPr>
          <p:cNvSpPr>
            <a:spLocks noGrp="1"/>
          </p:cNvSpPr>
          <p:nvPr>
            <p:ph type="title"/>
          </p:nvPr>
        </p:nvSpPr>
        <p:spPr/>
        <p:txBody>
          <a:bodyPr/>
          <a:lstStyle/>
          <a:p>
            <a:r>
              <a:rPr lang="en-US" dirty="0"/>
              <a:t>Find A Partner</a:t>
            </a:r>
          </a:p>
        </p:txBody>
      </p:sp>
      <p:sp>
        <p:nvSpPr>
          <p:cNvPr id="3" name="Content Placeholder 2">
            <a:extLst>
              <a:ext uri="{FF2B5EF4-FFF2-40B4-BE49-F238E27FC236}">
                <a16:creationId xmlns:a16="http://schemas.microsoft.com/office/drawing/2014/main" id="{7AE950A0-4395-B855-358B-67E923BD9B5B}"/>
              </a:ext>
            </a:extLst>
          </p:cNvPr>
          <p:cNvSpPr>
            <a:spLocks noGrp="1"/>
          </p:cNvSpPr>
          <p:nvPr>
            <p:ph idx="1"/>
          </p:nvPr>
        </p:nvSpPr>
        <p:spPr>
          <a:xfrm>
            <a:off x="2231136" y="2638044"/>
            <a:ext cx="7729728" cy="3930707"/>
          </a:xfrm>
        </p:spPr>
        <p:txBody>
          <a:bodyPr>
            <a:normAutofit lnSpcReduction="10000"/>
          </a:bodyPr>
          <a:lstStyle/>
          <a:p>
            <a:r>
              <a:rPr lang="en-US" dirty="0"/>
              <a:t>In one-on-one basketball games, there are often the following rules: </a:t>
            </a:r>
          </a:p>
          <a:p>
            <a:pPr lvl="1"/>
            <a:r>
              <a:rPr lang="en-US" dirty="0"/>
              <a:t>Games go to 11 but you must win by 2</a:t>
            </a:r>
          </a:p>
          <a:p>
            <a:pPr lvl="2"/>
            <a:r>
              <a:rPr lang="en-US" dirty="0"/>
              <a:t>If the game is tied 10-10 then the first person to gain an advantage of 2 points is the winner</a:t>
            </a:r>
          </a:p>
          <a:p>
            <a:pPr lvl="1"/>
            <a:r>
              <a:rPr lang="en-US" dirty="0"/>
              <a:t>Each shot is either worth 1 or 2 points</a:t>
            </a:r>
          </a:p>
          <a:p>
            <a:pPr lvl="1"/>
            <a:r>
              <a:rPr lang="en-US" dirty="0"/>
              <a:t>Consider that the record of a one-on-on basketball game are given as a single string with the order of the points scored.  The form is the player (A or B) who scored the points followed by an integer giving the number of points they scored.</a:t>
            </a:r>
          </a:p>
          <a:p>
            <a:r>
              <a:rPr lang="en-US" dirty="0"/>
              <a:t>For example:</a:t>
            </a:r>
          </a:p>
          <a:p>
            <a:pPr lvl="1"/>
            <a:r>
              <a:rPr lang="en-US" dirty="0"/>
              <a:t>A2A2A2A1A2A1B2B2B2B2B2B2 </a:t>
            </a:r>
          </a:p>
          <a:p>
            <a:r>
              <a:rPr lang="en-US" dirty="0"/>
              <a:t>The above gives a game in which player A scores the first 10 points but then player B scores the next 12 thus winning the game (first to 11 (win by 2)) </a:t>
            </a:r>
          </a:p>
        </p:txBody>
      </p:sp>
    </p:spTree>
    <p:extLst>
      <p:ext uri="{BB962C8B-B14F-4D97-AF65-F5344CB8AC3E}">
        <p14:creationId xmlns:p14="http://schemas.microsoft.com/office/powerpoint/2010/main" val="3761815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B7227-BAEB-F362-362D-F332DAC82F9B}"/>
              </a:ext>
            </a:extLst>
          </p:cNvPr>
          <p:cNvSpPr>
            <a:spLocks noGrp="1"/>
          </p:cNvSpPr>
          <p:nvPr>
            <p:ph type="title"/>
          </p:nvPr>
        </p:nvSpPr>
        <p:spPr/>
        <p:txBody>
          <a:bodyPr/>
          <a:lstStyle/>
          <a:p>
            <a:r>
              <a:rPr lang="en-US" dirty="0"/>
              <a:t>Find A Partner</a:t>
            </a:r>
          </a:p>
        </p:txBody>
      </p:sp>
      <p:sp>
        <p:nvSpPr>
          <p:cNvPr id="3" name="Content Placeholder 2">
            <a:extLst>
              <a:ext uri="{FF2B5EF4-FFF2-40B4-BE49-F238E27FC236}">
                <a16:creationId xmlns:a16="http://schemas.microsoft.com/office/drawing/2014/main" id="{CFDCC7EE-A0E3-74AB-CF80-645CBB487BD7}"/>
              </a:ext>
            </a:extLst>
          </p:cNvPr>
          <p:cNvSpPr>
            <a:spLocks noGrp="1"/>
          </p:cNvSpPr>
          <p:nvPr>
            <p:ph idx="1"/>
          </p:nvPr>
        </p:nvSpPr>
        <p:spPr>
          <a:xfrm>
            <a:off x="2231136" y="2328672"/>
            <a:ext cx="7729728" cy="3998976"/>
          </a:xfrm>
        </p:spPr>
        <p:txBody>
          <a:bodyPr>
            <a:normAutofit/>
          </a:bodyPr>
          <a:lstStyle/>
          <a:p>
            <a:r>
              <a:rPr lang="en-US" dirty="0"/>
              <a:t>Write a program that given a record of a one-on-one basketball game prints out the winner of the game </a:t>
            </a:r>
          </a:p>
          <a:p>
            <a:r>
              <a:rPr lang="en-US" dirty="0"/>
              <a:t>Start with Computational Thinking </a:t>
            </a:r>
          </a:p>
          <a:p>
            <a:pPr lvl="1"/>
            <a:r>
              <a:rPr lang="en-US" dirty="0"/>
              <a:t>Decompose the problem</a:t>
            </a:r>
          </a:p>
          <a:p>
            <a:pPr lvl="1"/>
            <a:r>
              <a:rPr lang="en-US" dirty="0"/>
              <a:t>Identify Patterns</a:t>
            </a:r>
          </a:p>
          <a:p>
            <a:pPr lvl="1"/>
            <a:r>
              <a:rPr lang="en-US" dirty="0"/>
              <a:t>Abstraction</a:t>
            </a:r>
          </a:p>
          <a:p>
            <a:pPr lvl="2"/>
            <a:r>
              <a:rPr lang="en-US" dirty="0"/>
              <a:t>Filter out the unnecessary details </a:t>
            </a:r>
          </a:p>
          <a:p>
            <a:pPr lvl="1"/>
            <a:r>
              <a:rPr lang="en-US" dirty="0"/>
              <a:t>Validation </a:t>
            </a:r>
          </a:p>
          <a:p>
            <a:pPr lvl="2"/>
            <a:r>
              <a:rPr lang="en-US" dirty="0"/>
              <a:t>How can you tell if your program is working correctly</a:t>
            </a:r>
          </a:p>
        </p:txBody>
      </p:sp>
    </p:spTree>
    <p:extLst>
      <p:ext uri="{BB962C8B-B14F-4D97-AF65-F5344CB8AC3E}">
        <p14:creationId xmlns:p14="http://schemas.microsoft.com/office/powerpoint/2010/main" val="18016362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DAC9D-8CF1-1BF6-5D18-79343F06C01D}"/>
              </a:ext>
            </a:extLst>
          </p:cNvPr>
          <p:cNvSpPr>
            <a:spLocks noGrp="1"/>
          </p:cNvSpPr>
          <p:nvPr>
            <p:ph type="title"/>
          </p:nvPr>
        </p:nvSpPr>
        <p:spPr>
          <a:xfrm>
            <a:off x="804672" y="964692"/>
            <a:ext cx="3066937" cy="1188720"/>
          </a:xfrm>
        </p:spPr>
        <p:txBody>
          <a:bodyPr>
            <a:normAutofit/>
          </a:bodyPr>
          <a:lstStyle/>
          <a:p>
            <a:r>
              <a:rPr lang="en-US" dirty="0"/>
              <a:t>Traversal</a:t>
            </a:r>
          </a:p>
        </p:txBody>
      </p:sp>
      <p:sp>
        <p:nvSpPr>
          <p:cNvPr id="3" name="Content Placeholder 2">
            <a:extLst>
              <a:ext uri="{FF2B5EF4-FFF2-40B4-BE49-F238E27FC236}">
                <a16:creationId xmlns:a16="http://schemas.microsoft.com/office/drawing/2014/main" id="{C5470F18-E46D-A678-7993-F5C03A9F8DA7}"/>
              </a:ext>
            </a:extLst>
          </p:cNvPr>
          <p:cNvSpPr>
            <a:spLocks noGrp="1"/>
          </p:cNvSpPr>
          <p:nvPr>
            <p:ph idx="1"/>
          </p:nvPr>
        </p:nvSpPr>
        <p:spPr>
          <a:xfrm>
            <a:off x="575453" y="2638044"/>
            <a:ext cx="3525374" cy="3263206"/>
          </a:xfrm>
        </p:spPr>
        <p:txBody>
          <a:bodyPr>
            <a:normAutofit/>
          </a:bodyPr>
          <a:lstStyle/>
          <a:p>
            <a:r>
              <a:rPr lang="en-US" dirty="0"/>
              <a:t>Traversing (or systematically visiting) each character in a string can be done with a for loop</a:t>
            </a:r>
          </a:p>
          <a:p>
            <a:endParaRPr lang="en-US" dirty="0"/>
          </a:p>
        </p:txBody>
      </p:sp>
      <p:sp>
        <p:nvSpPr>
          <p:cNvPr id="13" name="Rectangle 12">
            <a:extLst>
              <a:ext uri="{FF2B5EF4-FFF2-40B4-BE49-F238E27FC236}">
                <a16:creationId xmlns:a16="http://schemas.microsoft.com/office/drawing/2014/main" id="{6515FC82-3453-4CBE-8895-4CCFF33952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94182" y="964692"/>
            <a:ext cx="6885432" cy="4936558"/>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C5FD847B-65C0-4027-8DFC-70CB42451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7802" y="1128683"/>
            <a:ext cx="6558192" cy="4608576"/>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2202A3A5-6E7A-726C-FF1E-FA55CC5190B3}"/>
              </a:ext>
            </a:extLst>
          </p:cNvPr>
          <p:cNvPicPr>
            <a:picLocks noChangeAspect="1"/>
          </p:cNvPicPr>
          <p:nvPr/>
        </p:nvPicPr>
        <p:blipFill>
          <a:blip r:embed="rId2"/>
          <a:stretch>
            <a:fillRect/>
          </a:stretch>
        </p:blipFill>
        <p:spPr>
          <a:xfrm>
            <a:off x="4823366" y="1510365"/>
            <a:ext cx="6227064" cy="3845212"/>
          </a:xfrm>
          <a:prstGeom prst="rect">
            <a:avLst/>
          </a:prstGeom>
        </p:spPr>
      </p:pic>
      <p:cxnSp>
        <p:nvCxnSpPr>
          <p:cNvPr id="6" name="Straight Arrow Connector 5">
            <a:extLst>
              <a:ext uri="{FF2B5EF4-FFF2-40B4-BE49-F238E27FC236}">
                <a16:creationId xmlns:a16="http://schemas.microsoft.com/office/drawing/2014/main" id="{2F357597-87C0-434D-1098-2E7B0AE4A707}"/>
              </a:ext>
            </a:extLst>
          </p:cNvPr>
          <p:cNvCxnSpPr>
            <a:cxnSpLocks/>
            <a:stCxn id="7" idx="3"/>
          </p:cNvCxnSpPr>
          <p:nvPr/>
        </p:nvCxnSpPr>
        <p:spPr>
          <a:xfrm flipV="1">
            <a:off x="3652848" y="5206482"/>
            <a:ext cx="1497650" cy="14909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6B5121C-BE20-D09F-929E-C5F1CCAD4202}"/>
              </a:ext>
            </a:extLst>
          </p:cNvPr>
          <p:cNvSpPr txBox="1"/>
          <p:nvPr/>
        </p:nvSpPr>
        <p:spPr>
          <a:xfrm>
            <a:off x="281625" y="5032411"/>
            <a:ext cx="3371223" cy="646331"/>
          </a:xfrm>
          <a:prstGeom prst="rect">
            <a:avLst/>
          </a:prstGeom>
          <a:noFill/>
          <a:ln>
            <a:solidFill>
              <a:schemeClr val="accent1"/>
            </a:solidFill>
          </a:ln>
        </p:spPr>
        <p:txBody>
          <a:bodyPr wrap="square" rtlCol="0">
            <a:spAutoFit/>
          </a:bodyPr>
          <a:lstStyle/>
          <a:p>
            <a:r>
              <a:rPr lang="en-US" dirty="0"/>
              <a:t>What happens if we forget the </a:t>
            </a:r>
            <a:r>
              <a:rPr lang="en-US" dirty="0">
                <a:latin typeface="Courier New" panose="02070309020205020404" pitchFamily="49" charset="0"/>
                <a:cs typeface="Courier New" panose="02070309020205020404" pitchFamily="49" charset="0"/>
              </a:rPr>
              <a:t>count += 1 line ?</a:t>
            </a:r>
          </a:p>
        </p:txBody>
      </p:sp>
    </p:spTree>
    <p:extLst>
      <p:ext uri="{BB962C8B-B14F-4D97-AF65-F5344CB8AC3E}">
        <p14:creationId xmlns:p14="http://schemas.microsoft.com/office/powerpoint/2010/main" val="4183381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65E59F-CAB0-8EA4-88FB-C7CA99287CE5}"/>
              </a:ext>
            </a:extLst>
          </p:cNvPr>
          <p:cNvSpPr>
            <a:spLocks noGrp="1"/>
          </p:cNvSpPr>
          <p:nvPr>
            <p:ph type="title"/>
          </p:nvPr>
        </p:nvSpPr>
        <p:spPr>
          <a:xfrm>
            <a:off x="643468" y="820010"/>
            <a:ext cx="3415288" cy="3212654"/>
          </a:xfrm>
          <a:noFill/>
          <a:ln>
            <a:solidFill>
              <a:schemeClr val="bg1"/>
            </a:solidFill>
          </a:ln>
        </p:spPr>
        <p:txBody>
          <a:bodyPr vert="horz" lIns="274320" tIns="182880" rIns="274320" bIns="182880" rtlCol="0" anchor="ctr" anchorCtr="1">
            <a:normAutofit/>
          </a:bodyPr>
          <a:lstStyle/>
          <a:p>
            <a:r>
              <a:rPr lang="en-US" sz="3800">
                <a:solidFill>
                  <a:schemeClr val="bg1"/>
                </a:solidFill>
              </a:rPr>
              <a:t>Self-check</a:t>
            </a:r>
          </a:p>
        </p:txBody>
      </p:sp>
      <p:sp>
        <p:nvSpPr>
          <p:cNvPr id="3" name="Content Placeholder 2">
            <a:extLst>
              <a:ext uri="{FF2B5EF4-FFF2-40B4-BE49-F238E27FC236}">
                <a16:creationId xmlns:a16="http://schemas.microsoft.com/office/drawing/2014/main" id="{FC8B1740-C254-56CB-4A40-048E9C5D7272}"/>
              </a:ext>
            </a:extLst>
          </p:cNvPr>
          <p:cNvSpPr>
            <a:spLocks noGrp="1"/>
          </p:cNvSpPr>
          <p:nvPr>
            <p:ph idx="1"/>
          </p:nvPr>
        </p:nvSpPr>
        <p:spPr>
          <a:xfrm>
            <a:off x="699777" y="4352544"/>
            <a:ext cx="3415288" cy="1239894"/>
          </a:xfrm>
        </p:spPr>
        <p:txBody>
          <a:bodyPr vert="horz" lIns="91440" tIns="45720" rIns="91440" bIns="45720" rtlCol="0">
            <a:normAutofit/>
          </a:bodyPr>
          <a:lstStyle/>
          <a:p>
            <a:pPr marL="0" indent="0" algn="ctr">
              <a:buNone/>
            </a:pPr>
            <a:r>
              <a:rPr lang="en-US" sz="2000" kern="1200">
                <a:solidFill>
                  <a:schemeClr val="bg1"/>
                </a:solidFill>
                <a:latin typeface="+mn-lt"/>
                <a:ea typeface="+mn-ea"/>
                <a:cs typeface="+mn-cs"/>
              </a:rPr>
              <a:t>Which of these traversals will print out every second letter in my_string</a:t>
            </a:r>
          </a:p>
        </p:txBody>
      </p:sp>
      <p:pic>
        <p:nvPicPr>
          <p:cNvPr id="4" name="Picture 3">
            <a:extLst>
              <a:ext uri="{FF2B5EF4-FFF2-40B4-BE49-F238E27FC236}">
                <a16:creationId xmlns:a16="http://schemas.microsoft.com/office/drawing/2014/main" id="{16392B86-B915-3E40-C0F4-FD5471A26D5C}"/>
              </a:ext>
            </a:extLst>
          </p:cNvPr>
          <p:cNvPicPr>
            <a:picLocks noChangeAspect="1"/>
          </p:cNvPicPr>
          <p:nvPr/>
        </p:nvPicPr>
        <p:blipFill>
          <a:blip r:embed="rId2"/>
          <a:stretch>
            <a:fillRect/>
          </a:stretch>
        </p:blipFill>
        <p:spPr>
          <a:xfrm>
            <a:off x="5297763" y="895141"/>
            <a:ext cx="6250769" cy="4906851"/>
          </a:xfrm>
          <a:prstGeom prst="rect">
            <a:avLst/>
          </a:prstGeom>
        </p:spPr>
      </p:pic>
      <p:sp>
        <p:nvSpPr>
          <p:cNvPr id="5" name="TextBox 4">
            <a:extLst>
              <a:ext uri="{FF2B5EF4-FFF2-40B4-BE49-F238E27FC236}">
                <a16:creationId xmlns:a16="http://schemas.microsoft.com/office/drawing/2014/main" id="{FB5A13BB-C156-0A2D-CC8E-0D034CF25E45}"/>
              </a:ext>
            </a:extLst>
          </p:cNvPr>
          <p:cNvSpPr txBox="1"/>
          <p:nvPr/>
        </p:nvSpPr>
        <p:spPr>
          <a:xfrm>
            <a:off x="4946727" y="1776709"/>
            <a:ext cx="300082" cy="369332"/>
          </a:xfrm>
          <a:prstGeom prst="rect">
            <a:avLst/>
          </a:prstGeom>
          <a:noFill/>
          <a:ln>
            <a:solidFill>
              <a:srgbClr val="404040"/>
            </a:solidFill>
          </a:ln>
        </p:spPr>
        <p:txBody>
          <a:bodyPr wrap="none" rtlCol="0">
            <a:spAutoFit/>
          </a:bodyPr>
          <a:lstStyle/>
          <a:p>
            <a:r>
              <a:rPr lang="en-US" dirty="0"/>
              <a:t>1</a:t>
            </a:r>
          </a:p>
        </p:txBody>
      </p:sp>
      <p:sp>
        <p:nvSpPr>
          <p:cNvPr id="6" name="TextBox 5">
            <a:extLst>
              <a:ext uri="{FF2B5EF4-FFF2-40B4-BE49-F238E27FC236}">
                <a16:creationId xmlns:a16="http://schemas.microsoft.com/office/drawing/2014/main" id="{AA5850DB-3372-35A2-7070-E25E2D8EA91C}"/>
              </a:ext>
            </a:extLst>
          </p:cNvPr>
          <p:cNvSpPr txBox="1"/>
          <p:nvPr/>
        </p:nvSpPr>
        <p:spPr>
          <a:xfrm>
            <a:off x="4928817" y="2975341"/>
            <a:ext cx="300082" cy="369332"/>
          </a:xfrm>
          <a:prstGeom prst="rect">
            <a:avLst/>
          </a:prstGeom>
          <a:noFill/>
          <a:ln>
            <a:solidFill>
              <a:srgbClr val="404040"/>
            </a:solidFill>
          </a:ln>
        </p:spPr>
        <p:txBody>
          <a:bodyPr wrap="none" rtlCol="0">
            <a:spAutoFit/>
          </a:bodyPr>
          <a:lstStyle/>
          <a:p>
            <a:r>
              <a:rPr lang="en-US" dirty="0"/>
              <a:t>2</a:t>
            </a:r>
          </a:p>
        </p:txBody>
      </p:sp>
      <p:sp>
        <p:nvSpPr>
          <p:cNvPr id="7" name="TextBox 6">
            <a:extLst>
              <a:ext uri="{FF2B5EF4-FFF2-40B4-BE49-F238E27FC236}">
                <a16:creationId xmlns:a16="http://schemas.microsoft.com/office/drawing/2014/main" id="{15DA8C75-9089-063F-D0EC-4591AF9BA00D}"/>
              </a:ext>
            </a:extLst>
          </p:cNvPr>
          <p:cNvSpPr txBox="1"/>
          <p:nvPr/>
        </p:nvSpPr>
        <p:spPr>
          <a:xfrm>
            <a:off x="4928817" y="4132688"/>
            <a:ext cx="300082" cy="369332"/>
          </a:xfrm>
          <a:prstGeom prst="rect">
            <a:avLst/>
          </a:prstGeom>
          <a:noFill/>
          <a:ln>
            <a:solidFill>
              <a:srgbClr val="404040"/>
            </a:solidFill>
          </a:ln>
        </p:spPr>
        <p:txBody>
          <a:bodyPr wrap="none" rtlCol="0">
            <a:spAutoFit/>
          </a:bodyPr>
          <a:lstStyle/>
          <a:p>
            <a:r>
              <a:rPr lang="en-US" dirty="0"/>
              <a:t>3</a:t>
            </a:r>
          </a:p>
        </p:txBody>
      </p:sp>
    </p:spTree>
    <p:extLst>
      <p:ext uri="{BB962C8B-B14F-4D97-AF65-F5344CB8AC3E}">
        <p14:creationId xmlns:p14="http://schemas.microsoft.com/office/powerpoint/2010/main" val="10124755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5C8BD05-2163-A265-B990-0047A336D1EB}"/>
            </a:ext>
          </a:extLst>
        </p:cNvPr>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3F47E20B-1205-4238-A82B-90EF577F32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13567AC-EB9A-47A9-B6EC-B5BDB73B11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654296" cy="6858000"/>
          </a:xfrm>
          <a:prstGeom prst="rect">
            <a:avLst/>
          </a:prstGeom>
          <a:solidFill>
            <a:schemeClr val="tx2"/>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7B2F5A-099C-C172-29D0-EDE5F9400FFF}"/>
              </a:ext>
            </a:extLst>
          </p:cNvPr>
          <p:cNvSpPr>
            <a:spLocks noGrp="1"/>
          </p:cNvSpPr>
          <p:nvPr>
            <p:ph type="title"/>
          </p:nvPr>
        </p:nvSpPr>
        <p:spPr>
          <a:xfrm>
            <a:off x="643468" y="820010"/>
            <a:ext cx="3415288" cy="3212654"/>
          </a:xfrm>
          <a:noFill/>
          <a:ln>
            <a:solidFill>
              <a:schemeClr val="bg1"/>
            </a:solidFill>
          </a:ln>
        </p:spPr>
        <p:txBody>
          <a:bodyPr vert="horz" lIns="274320" tIns="182880" rIns="274320" bIns="182880" rtlCol="0" anchor="ctr" anchorCtr="1">
            <a:normAutofit/>
          </a:bodyPr>
          <a:lstStyle/>
          <a:p>
            <a:r>
              <a:rPr lang="en-US" sz="3800">
                <a:solidFill>
                  <a:schemeClr val="bg1"/>
                </a:solidFill>
              </a:rPr>
              <a:t>Self-check</a:t>
            </a:r>
          </a:p>
        </p:txBody>
      </p:sp>
      <p:sp>
        <p:nvSpPr>
          <p:cNvPr id="3" name="Content Placeholder 2">
            <a:extLst>
              <a:ext uri="{FF2B5EF4-FFF2-40B4-BE49-F238E27FC236}">
                <a16:creationId xmlns:a16="http://schemas.microsoft.com/office/drawing/2014/main" id="{E96C9933-0EF8-A7FE-7CA2-E6EBFC953829}"/>
              </a:ext>
            </a:extLst>
          </p:cNvPr>
          <p:cNvSpPr>
            <a:spLocks noGrp="1"/>
          </p:cNvSpPr>
          <p:nvPr>
            <p:ph idx="1"/>
          </p:nvPr>
        </p:nvSpPr>
        <p:spPr>
          <a:xfrm>
            <a:off x="699777" y="4352544"/>
            <a:ext cx="3415288" cy="1239894"/>
          </a:xfrm>
        </p:spPr>
        <p:txBody>
          <a:bodyPr vert="horz" lIns="91440" tIns="45720" rIns="91440" bIns="45720" rtlCol="0">
            <a:normAutofit/>
          </a:bodyPr>
          <a:lstStyle/>
          <a:p>
            <a:pPr marL="0" indent="0" algn="ctr">
              <a:buNone/>
            </a:pPr>
            <a:r>
              <a:rPr lang="en-US" sz="2000" kern="1200">
                <a:solidFill>
                  <a:schemeClr val="bg1"/>
                </a:solidFill>
                <a:latin typeface="+mn-lt"/>
                <a:ea typeface="+mn-ea"/>
                <a:cs typeface="+mn-cs"/>
              </a:rPr>
              <a:t>Which of these traversals will print out every second letter in my_string</a:t>
            </a:r>
          </a:p>
        </p:txBody>
      </p:sp>
      <p:pic>
        <p:nvPicPr>
          <p:cNvPr id="4" name="Picture 3">
            <a:extLst>
              <a:ext uri="{FF2B5EF4-FFF2-40B4-BE49-F238E27FC236}">
                <a16:creationId xmlns:a16="http://schemas.microsoft.com/office/drawing/2014/main" id="{89EC0BC8-61A8-CFC8-5032-7AB293CE0FD6}"/>
              </a:ext>
            </a:extLst>
          </p:cNvPr>
          <p:cNvPicPr>
            <a:picLocks noChangeAspect="1"/>
          </p:cNvPicPr>
          <p:nvPr/>
        </p:nvPicPr>
        <p:blipFill>
          <a:blip r:embed="rId2"/>
          <a:stretch>
            <a:fillRect/>
          </a:stretch>
        </p:blipFill>
        <p:spPr>
          <a:xfrm>
            <a:off x="5297763" y="895141"/>
            <a:ext cx="6250769" cy="4906851"/>
          </a:xfrm>
          <a:prstGeom prst="rect">
            <a:avLst/>
          </a:prstGeom>
        </p:spPr>
      </p:pic>
      <p:sp>
        <p:nvSpPr>
          <p:cNvPr id="5" name="TextBox 4">
            <a:extLst>
              <a:ext uri="{FF2B5EF4-FFF2-40B4-BE49-F238E27FC236}">
                <a16:creationId xmlns:a16="http://schemas.microsoft.com/office/drawing/2014/main" id="{4BD32058-06E1-5D28-A666-DE3509FA6C4A}"/>
              </a:ext>
            </a:extLst>
          </p:cNvPr>
          <p:cNvSpPr txBox="1"/>
          <p:nvPr/>
        </p:nvSpPr>
        <p:spPr>
          <a:xfrm>
            <a:off x="6096000" y="6145330"/>
            <a:ext cx="3309047" cy="369332"/>
          </a:xfrm>
          <a:prstGeom prst="rect">
            <a:avLst/>
          </a:prstGeom>
          <a:noFill/>
          <a:ln>
            <a:solidFill>
              <a:srgbClr val="404040"/>
            </a:solidFill>
          </a:ln>
        </p:spPr>
        <p:txBody>
          <a:bodyPr wrap="none" rtlCol="0">
            <a:spAutoFit/>
          </a:bodyPr>
          <a:lstStyle/>
          <a:p>
            <a:r>
              <a:rPr lang="en-US" dirty="0"/>
              <a:t>They all print every second letter</a:t>
            </a:r>
          </a:p>
        </p:txBody>
      </p:sp>
    </p:spTree>
    <p:extLst>
      <p:ext uri="{BB962C8B-B14F-4D97-AF65-F5344CB8AC3E}">
        <p14:creationId xmlns:p14="http://schemas.microsoft.com/office/powerpoint/2010/main" val="29714964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A41F08B-3562-E518-2A45-DED92CA4FF5B}"/>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US" sz="3000">
                <a:solidFill>
                  <a:srgbClr val="FFFFFF"/>
                </a:solidFill>
              </a:rPr>
              <a:t>Strings are Immutable</a:t>
            </a:r>
          </a:p>
        </p:txBody>
      </p:sp>
      <p:sp>
        <p:nvSpPr>
          <p:cNvPr id="3" name="Content Placeholder 2">
            <a:extLst>
              <a:ext uri="{FF2B5EF4-FFF2-40B4-BE49-F238E27FC236}">
                <a16:creationId xmlns:a16="http://schemas.microsoft.com/office/drawing/2014/main" id="{D5C090AE-5110-96A9-1A42-C5100526855B}"/>
              </a:ext>
            </a:extLst>
          </p:cNvPr>
          <p:cNvSpPr>
            <a:spLocks noGrp="1"/>
          </p:cNvSpPr>
          <p:nvPr>
            <p:ph idx="1"/>
          </p:nvPr>
        </p:nvSpPr>
        <p:spPr>
          <a:xfrm>
            <a:off x="5591695" y="755904"/>
            <a:ext cx="5320696" cy="5864352"/>
          </a:xfrm>
        </p:spPr>
        <p:txBody>
          <a:bodyPr anchor="ctr">
            <a:normAutofit fontScale="92500" lnSpcReduction="20000"/>
          </a:bodyPr>
          <a:lstStyle/>
          <a:p>
            <a:pPr>
              <a:buNone/>
            </a:pPr>
            <a:r>
              <a:rPr lang="en-US" i="1" dirty="0">
                <a:solidFill>
                  <a:srgbClr val="8C8C8C"/>
                </a:solidFill>
                <a:latin typeface="JetBrains Mono"/>
              </a:rPr>
              <a:t>	#String immutability - the [] cannot appear on the left side of an assignment</a:t>
            </a:r>
            <a:br>
              <a:rPr lang="en-US" i="1" dirty="0">
                <a:solidFill>
                  <a:srgbClr val="8C8C8C"/>
                </a:solidFill>
                <a:latin typeface="JetBrains Mono"/>
              </a:rPr>
            </a:br>
            <a:r>
              <a:rPr lang="en-US" dirty="0">
                <a:solidFill>
                  <a:srgbClr val="080808"/>
                </a:solidFill>
                <a:latin typeface="JetBrains Mono"/>
              </a:rPr>
              <a:t>greeting = </a:t>
            </a:r>
            <a:r>
              <a:rPr lang="en-US" dirty="0">
                <a:solidFill>
                  <a:srgbClr val="067D17"/>
                </a:solidFill>
                <a:latin typeface="JetBrains Mono"/>
              </a:rPr>
              <a:t>"Hello, world!"</a:t>
            </a:r>
            <a:br>
              <a:rPr lang="en-US" dirty="0">
                <a:solidFill>
                  <a:srgbClr val="067D17"/>
                </a:solidFill>
                <a:latin typeface="JetBrains Mono"/>
              </a:rPr>
            </a:br>
            <a:r>
              <a:rPr lang="en-US" i="1" dirty="0">
                <a:solidFill>
                  <a:srgbClr val="8C8C8C"/>
                </a:solidFill>
                <a:latin typeface="JetBrains Mono"/>
              </a:rPr>
              <a:t># Attempt to replace the first character by assigning into an index</a:t>
            </a:r>
            <a:br>
              <a:rPr lang="en-US" i="1" dirty="0">
                <a:solidFill>
                  <a:srgbClr val="8C8C8C"/>
                </a:solidFill>
                <a:latin typeface="JetBrains Mono"/>
              </a:rPr>
            </a:br>
            <a:r>
              <a:rPr lang="en-US" dirty="0">
                <a:solidFill>
                  <a:srgbClr val="080808"/>
                </a:solidFill>
                <a:latin typeface="JetBrains Mono"/>
              </a:rPr>
              <a:t>greeting[</a:t>
            </a:r>
            <a:r>
              <a:rPr lang="en-US" dirty="0">
                <a:solidFill>
                  <a:srgbClr val="1750EB"/>
                </a:solidFill>
                <a:latin typeface="JetBrains Mono"/>
              </a:rPr>
              <a:t>0</a:t>
            </a:r>
            <a:r>
              <a:rPr lang="en-US" dirty="0">
                <a:solidFill>
                  <a:srgbClr val="080808"/>
                </a:solidFill>
                <a:latin typeface="JetBrains Mono"/>
              </a:rPr>
              <a:t>] = </a:t>
            </a:r>
            <a:r>
              <a:rPr lang="en-US" dirty="0">
                <a:solidFill>
                  <a:srgbClr val="067D17"/>
                </a:solidFill>
                <a:latin typeface="JetBrains Mono"/>
              </a:rPr>
              <a:t>"Y“</a:t>
            </a:r>
          </a:p>
          <a:p>
            <a:pPr lvl="1">
              <a:buNone/>
            </a:pPr>
            <a:r>
              <a:rPr lang="en-US" dirty="0">
                <a:solidFill>
                  <a:srgbClr val="067D17"/>
                </a:solidFill>
                <a:latin typeface="JetBrains Mono"/>
              </a:rPr>
              <a:t> 	</a:t>
            </a:r>
            <a:r>
              <a:rPr lang="en-US" dirty="0" err="1">
                <a:solidFill>
                  <a:srgbClr val="C00000"/>
                </a:solidFill>
                <a:latin typeface="JetBrains Mono"/>
              </a:rPr>
              <a:t>TypeError</a:t>
            </a:r>
            <a:r>
              <a:rPr lang="en-US" dirty="0">
                <a:solidFill>
                  <a:srgbClr val="C00000"/>
                </a:solidFill>
                <a:latin typeface="JetBrains Mono"/>
              </a:rPr>
              <a:t>     Traceback (most recent call last)</a:t>
            </a:r>
          </a:p>
          <a:p>
            <a:pPr lvl="1">
              <a:buNone/>
            </a:pPr>
            <a:r>
              <a:rPr lang="en-US" dirty="0">
                <a:solidFill>
                  <a:srgbClr val="C00000"/>
                </a:solidFill>
                <a:latin typeface="JetBrains Mono"/>
              </a:rPr>
              <a:t>Cell In[1], line 4</a:t>
            </a:r>
          </a:p>
          <a:p>
            <a:pPr lvl="1">
              <a:buNone/>
            </a:pPr>
            <a:r>
              <a:rPr lang="en-US" dirty="0">
                <a:solidFill>
                  <a:srgbClr val="C00000"/>
                </a:solidFill>
                <a:latin typeface="JetBrains Mono"/>
              </a:rPr>
              <a:t>      2 greeting = "Hello, world!"</a:t>
            </a:r>
          </a:p>
          <a:p>
            <a:pPr lvl="1">
              <a:buNone/>
            </a:pPr>
            <a:r>
              <a:rPr lang="en-US" dirty="0">
                <a:solidFill>
                  <a:srgbClr val="C00000"/>
                </a:solidFill>
                <a:latin typeface="JetBrains Mono"/>
              </a:rPr>
              <a:t>      3 # Attempt to replace the first character by assigning into an index</a:t>
            </a:r>
          </a:p>
          <a:p>
            <a:pPr lvl="1">
              <a:buNone/>
            </a:pPr>
            <a:r>
              <a:rPr lang="en-US" dirty="0">
                <a:solidFill>
                  <a:srgbClr val="C00000"/>
                </a:solidFill>
                <a:latin typeface="JetBrains Mono"/>
              </a:rPr>
              <a:t>----&gt; 4 greeting[0] = "Y"</a:t>
            </a:r>
          </a:p>
          <a:p>
            <a:pPr lvl="1">
              <a:buNone/>
            </a:pPr>
            <a:r>
              <a:rPr lang="en-US" dirty="0" err="1">
                <a:solidFill>
                  <a:srgbClr val="C00000"/>
                </a:solidFill>
                <a:latin typeface="JetBrains Mono"/>
              </a:rPr>
              <a:t>TypeError</a:t>
            </a:r>
            <a:r>
              <a:rPr lang="en-US" dirty="0">
                <a:solidFill>
                  <a:srgbClr val="C00000"/>
                </a:solidFill>
                <a:latin typeface="JetBrains Mono"/>
              </a:rPr>
              <a:t>: 'str' object does not support item assignment</a:t>
            </a:r>
            <a:endParaRPr lang="en-US" dirty="0">
              <a:solidFill>
                <a:srgbClr val="C00000"/>
              </a:solidFill>
            </a:endParaRPr>
          </a:p>
          <a:p>
            <a:r>
              <a:rPr lang="en-US" dirty="0"/>
              <a:t>You can create a new string with new contents but you cannot change the letters inside an existing string</a:t>
            </a:r>
          </a:p>
          <a:p>
            <a:pPr marL="228600" lvl="1" indent="0">
              <a:buNone/>
            </a:pPr>
            <a:r>
              <a:rPr lang="en-US" i="1" dirty="0">
                <a:solidFill>
                  <a:srgbClr val="8C8C8C"/>
                </a:solidFill>
                <a:latin typeface="JetBrains Mono"/>
              </a:rPr>
              <a:t>#String immutability - the [] cannot appear on the left side of an assignment</a:t>
            </a:r>
            <a:br>
              <a:rPr lang="en-US" i="1" dirty="0">
                <a:solidFill>
                  <a:srgbClr val="8C8C8C"/>
                </a:solidFill>
                <a:latin typeface="JetBrains Mono"/>
              </a:rPr>
            </a:br>
            <a:r>
              <a:rPr lang="en-US" dirty="0">
                <a:solidFill>
                  <a:srgbClr val="080808"/>
                </a:solidFill>
                <a:latin typeface="JetBrains Mono"/>
              </a:rPr>
              <a:t>greeting = </a:t>
            </a:r>
            <a:r>
              <a:rPr lang="en-US" dirty="0">
                <a:solidFill>
                  <a:srgbClr val="067D17"/>
                </a:solidFill>
                <a:latin typeface="JetBrains Mono"/>
              </a:rPr>
              <a:t>"Hello, world!"</a:t>
            </a:r>
            <a:br>
              <a:rPr lang="en-US" dirty="0">
                <a:solidFill>
                  <a:srgbClr val="067D17"/>
                </a:solidFill>
                <a:latin typeface="JetBrains Mono"/>
              </a:rPr>
            </a:br>
            <a:r>
              <a:rPr lang="en-US" i="1" dirty="0">
                <a:solidFill>
                  <a:srgbClr val="8C8C8C"/>
                </a:solidFill>
                <a:latin typeface="JetBrains Mono"/>
              </a:rPr>
              <a:t># Attempt to replace the first character by assigning into an index</a:t>
            </a:r>
            <a:br>
              <a:rPr lang="en-US" i="1" dirty="0">
                <a:solidFill>
                  <a:srgbClr val="8C8C8C"/>
                </a:solidFill>
                <a:latin typeface="JetBrains Mono"/>
              </a:rPr>
            </a:br>
            <a:r>
              <a:rPr lang="en-US" dirty="0">
                <a:solidFill>
                  <a:srgbClr val="080808"/>
                </a:solidFill>
                <a:latin typeface="JetBrains Mono"/>
              </a:rPr>
              <a:t>greeting = </a:t>
            </a:r>
            <a:r>
              <a:rPr lang="en-US" dirty="0">
                <a:solidFill>
                  <a:srgbClr val="067D17"/>
                </a:solidFill>
                <a:latin typeface="JetBrains Mono"/>
              </a:rPr>
              <a:t>“Jello world“</a:t>
            </a:r>
          </a:p>
          <a:p>
            <a:r>
              <a:rPr lang="en-US" dirty="0"/>
              <a:t>Printing greeting[0] would now print a ‘J’ as opposed to an ‘H’</a:t>
            </a:r>
          </a:p>
          <a:p>
            <a:pPr marL="228600" lvl="1" indent="0">
              <a:buNone/>
            </a:pPr>
            <a:endParaRPr lang="en-US" dirty="0">
              <a:solidFill>
                <a:srgbClr val="067D17"/>
              </a:solidFill>
              <a:latin typeface="JetBrains Mono"/>
            </a:endParaRPr>
          </a:p>
          <a:p>
            <a:endParaRPr lang="en-US" dirty="0"/>
          </a:p>
        </p:txBody>
      </p:sp>
    </p:spTree>
    <p:extLst>
      <p:ext uri="{BB962C8B-B14F-4D97-AF65-F5344CB8AC3E}">
        <p14:creationId xmlns:p14="http://schemas.microsoft.com/office/powerpoint/2010/main" val="9360440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CBC15-558F-E445-4FFF-5B5596212F95}"/>
              </a:ext>
            </a:extLst>
          </p:cNvPr>
          <p:cNvSpPr>
            <a:spLocks noGrp="1"/>
          </p:cNvSpPr>
          <p:nvPr>
            <p:ph type="title"/>
          </p:nvPr>
        </p:nvSpPr>
        <p:spPr/>
        <p:txBody>
          <a:bodyPr/>
          <a:lstStyle/>
          <a:p>
            <a:r>
              <a:rPr lang="en-US" dirty="0"/>
              <a:t>String Methods</a:t>
            </a:r>
          </a:p>
        </p:txBody>
      </p:sp>
      <p:sp>
        <p:nvSpPr>
          <p:cNvPr id="3" name="Content Placeholder 2">
            <a:extLst>
              <a:ext uri="{FF2B5EF4-FFF2-40B4-BE49-F238E27FC236}">
                <a16:creationId xmlns:a16="http://schemas.microsoft.com/office/drawing/2014/main" id="{A79078E8-DBFA-FE12-53DB-A8B02C322FE4}"/>
              </a:ext>
            </a:extLst>
          </p:cNvPr>
          <p:cNvSpPr>
            <a:spLocks noGrp="1"/>
          </p:cNvSpPr>
          <p:nvPr>
            <p:ph idx="1"/>
          </p:nvPr>
        </p:nvSpPr>
        <p:spPr>
          <a:xfrm>
            <a:off x="1426463" y="2656705"/>
            <a:ext cx="9434369" cy="3101983"/>
          </a:xfrm>
        </p:spPr>
        <p:txBody>
          <a:bodyPr/>
          <a:lstStyle/>
          <a:p>
            <a:r>
              <a:rPr lang="en-US" dirty="0"/>
              <a:t>See code examples</a:t>
            </a:r>
          </a:p>
          <a:p>
            <a:pPr lvl="1"/>
            <a:r>
              <a:rPr lang="en-US" dirty="0">
                <a:latin typeface="Courier New" panose="02070309020205020404" pitchFamily="49" charset="0"/>
                <a:cs typeface="Courier New" panose="02070309020205020404" pitchFamily="49" charset="0"/>
              </a:rPr>
              <a:t>upper() return a copy of the string that is converted to UPPER CASE</a:t>
            </a:r>
          </a:p>
          <a:p>
            <a:pPr lvl="1"/>
            <a:r>
              <a:rPr lang="en-US" dirty="0">
                <a:latin typeface="Courier New" panose="02070309020205020404" pitchFamily="49" charset="0"/>
                <a:cs typeface="Courier New" panose="02070309020205020404" pitchFamily="49" charset="0"/>
              </a:rPr>
              <a:t>find(other) return the first index position of a given other string </a:t>
            </a:r>
          </a:p>
          <a:p>
            <a:pPr lvl="1"/>
            <a:r>
              <a:rPr lang="en-US" dirty="0">
                <a:latin typeface="Courier New" panose="02070309020205020404" pitchFamily="49" charset="0"/>
                <a:cs typeface="Courier New" panose="02070309020205020404" pitchFamily="49" charset="0"/>
              </a:rPr>
              <a:t>in</a:t>
            </a:r>
            <a:r>
              <a:rPr lang="en-US" dirty="0"/>
              <a:t> operator returns </a:t>
            </a:r>
            <a:r>
              <a:rPr lang="en-US" b="1" dirty="0"/>
              <a:t>True </a:t>
            </a:r>
            <a:r>
              <a:rPr lang="en-US" dirty="0"/>
              <a:t>if a given string is found and </a:t>
            </a:r>
            <a:r>
              <a:rPr lang="en-US" b="1" dirty="0"/>
              <a:t>False </a:t>
            </a:r>
            <a:r>
              <a:rPr lang="en-US" dirty="0"/>
              <a:t>otherwise</a:t>
            </a:r>
          </a:p>
          <a:p>
            <a:pPr lvl="1"/>
            <a:r>
              <a:rPr lang="en-US" dirty="0">
                <a:latin typeface="Courier New" panose="02070309020205020404" pitchFamily="49" charset="0"/>
                <a:cs typeface="Courier New" panose="02070309020205020404" pitchFamily="49" charset="0"/>
              </a:rPr>
              <a:t>strip() </a:t>
            </a:r>
            <a:r>
              <a:rPr lang="en-US" dirty="0"/>
              <a:t>returns a string with white space removed from start and end</a:t>
            </a:r>
          </a:p>
          <a:p>
            <a:pPr lvl="1"/>
            <a:r>
              <a:rPr lang="en-US" dirty="0">
                <a:latin typeface="Courier New" panose="02070309020205020404" pitchFamily="49" charset="0"/>
                <a:cs typeface="Courier New" panose="02070309020205020404" pitchFamily="49" charset="0"/>
              </a:rPr>
              <a:t>replace(old, new) </a:t>
            </a:r>
            <a:r>
              <a:rPr lang="en-US" dirty="0"/>
              <a:t>returns a new string with all occurrences of old replaced by new</a:t>
            </a:r>
          </a:p>
          <a:p>
            <a:endParaRPr lang="en-US" dirty="0"/>
          </a:p>
        </p:txBody>
      </p:sp>
      <p:sp>
        <p:nvSpPr>
          <p:cNvPr id="4" name="TextBox 3">
            <a:extLst>
              <a:ext uri="{FF2B5EF4-FFF2-40B4-BE49-F238E27FC236}">
                <a16:creationId xmlns:a16="http://schemas.microsoft.com/office/drawing/2014/main" id="{FF5FDEB3-60E5-9293-41D5-2D2757F71362}"/>
              </a:ext>
            </a:extLst>
          </p:cNvPr>
          <p:cNvSpPr txBox="1"/>
          <p:nvPr/>
        </p:nvSpPr>
        <p:spPr>
          <a:xfrm>
            <a:off x="8378890" y="279918"/>
            <a:ext cx="3357009" cy="369332"/>
          </a:xfrm>
          <a:prstGeom prst="rect">
            <a:avLst/>
          </a:prstGeom>
          <a:noFill/>
          <a:ln>
            <a:solidFill>
              <a:srgbClr val="404040"/>
            </a:solidFill>
          </a:ln>
        </p:spPr>
        <p:txBody>
          <a:bodyPr wrap="none" rtlCol="0">
            <a:spAutoFit/>
          </a:bodyPr>
          <a:lstStyle/>
          <a:p>
            <a:r>
              <a:rPr lang="en-US" dirty="0"/>
              <a:t>A sample of useful string methods</a:t>
            </a:r>
          </a:p>
        </p:txBody>
      </p:sp>
    </p:spTree>
    <p:extLst>
      <p:ext uri="{BB962C8B-B14F-4D97-AF65-F5344CB8AC3E}">
        <p14:creationId xmlns:p14="http://schemas.microsoft.com/office/powerpoint/2010/main" val="32761696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C114C-52D0-87D6-5BDE-8DD150755126}"/>
              </a:ext>
            </a:extLst>
          </p:cNvPr>
          <p:cNvSpPr>
            <a:spLocks noGrp="1"/>
          </p:cNvSpPr>
          <p:nvPr>
            <p:ph type="title"/>
          </p:nvPr>
        </p:nvSpPr>
        <p:spPr/>
        <p:txBody>
          <a:bodyPr/>
          <a:lstStyle/>
          <a:p>
            <a:r>
              <a:rPr lang="en-US" dirty="0"/>
              <a:t>String Comparison</a:t>
            </a:r>
          </a:p>
        </p:txBody>
      </p:sp>
      <p:sp>
        <p:nvSpPr>
          <p:cNvPr id="3" name="Content Placeholder 2">
            <a:extLst>
              <a:ext uri="{FF2B5EF4-FFF2-40B4-BE49-F238E27FC236}">
                <a16:creationId xmlns:a16="http://schemas.microsoft.com/office/drawing/2014/main" id="{D09F0807-9D20-8071-992C-89A5A8F3A68F}"/>
              </a:ext>
            </a:extLst>
          </p:cNvPr>
          <p:cNvSpPr>
            <a:spLocks noGrp="1"/>
          </p:cNvSpPr>
          <p:nvPr>
            <p:ph idx="1"/>
          </p:nvPr>
        </p:nvSpPr>
        <p:spPr/>
        <p:txBody>
          <a:bodyPr>
            <a:normAutofit lnSpcReduction="10000"/>
          </a:bodyPr>
          <a:lstStyle/>
          <a:p>
            <a:r>
              <a:rPr lang="en-US" dirty="0"/>
              <a:t>Recall from previous classes that comparison of strings is based on the ordinal value associated with the characters.  Capital letters come before lower case.</a:t>
            </a:r>
          </a:p>
          <a:p>
            <a:pPr>
              <a:buNone/>
            </a:pPr>
            <a:r>
              <a:rPr lang="en-US" sz="1800" dirty="0">
                <a:solidFill>
                  <a:srgbClr val="080808"/>
                </a:solidFill>
                <a:effectLst/>
                <a:latin typeface="JetBrains Mono"/>
              </a:rPr>
              <a:t>	word = </a:t>
            </a:r>
            <a:r>
              <a:rPr lang="en-US" sz="1800" dirty="0">
                <a:solidFill>
                  <a:srgbClr val="000080"/>
                </a:solidFill>
                <a:effectLst/>
                <a:latin typeface="JetBrains Mono"/>
              </a:rPr>
              <a:t>input</a:t>
            </a:r>
            <a:r>
              <a:rPr lang="en-US" sz="1800" dirty="0">
                <a:solidFill>
                  <a:srgbClr val="080808"/>
                </a:solidFill>
                <a:effectLst/>
                <a:latin typeface="JetBrains Mono"/>
              </a:rPr>
              <a:t>(</a:t>
            </a:r>
            <a:r>
              <a:rPr lang="en-US" sz="1800" dirty="0">
                <a:solidFill>
                  <a:srgbClr val="067D17"/>
                </a:solidFill>
                <a:effectLst/>
                <a:latin typeface="JetBrains Mono"/>
              </a:rPr>
              <a:t>"Enter a word related to PEI: "</a:t>
            </a:r>
            <a:r>
              <a:rPr lang="en-US" sz="1800" dirty="0">
                <a:solidFill>
                  <a:srgbClr val="080808"/>
                </a:solidFill>
                <a:effectLst/>
                <a:latin typeface="JetBrains Mono"/>
              </a:rPr>
              <a:t>)</a:t>
            </a:r>
            <a:br>
              <a:rPr lang="en-US" sz="1800" dirty="0">
                <a:solidFill>
                  <a:srgbClr val="080808"/>
                </a:solidFill>
                <a:effectLst/>
                <a:latin typeface="JetBrains Mono"/>
              </a:rPr>
            </a:br>
            <a:br>
              <a:rPr lang="en-US" sz="1800" dirty="0">
                <a:solidFill>
                  <a:srgbClr val="080808"/>
                </a:solidFill>
                <a:effectLst/>
                <a:latin typeface="JetBrains Mono"/>
              </a:rPr>
            </a:br>
            <a:r>
              <a:rPr lang="en-US" sz="1800" dirty="0">
                <a:solidFill>
                  <a:srgbClr val="0033B3"/>
                </a:solidFill>
                <a:effectLst/>
                <a:latin typeface="JetBrains Mono"/>
              </a:rPr>
              <a:t>if </a:t>
            </a:r>
            <a:r>
              <a:rPr lang="en-US" sz="1800" dirty="0">
                <a:solidFill>
                  <a:srgbClr val="080808"/>
                </a:solidFill>
                <a:effectLst/>
                <a:latin typeface="JetBrains Mono"/>
              </a:rPr>
              <a:t>word &lt; </a:t>
            </a:r>
            <a:r>
              <a:rPr lang="en-US" sz="1800" dirty="0">
                <a:solidFill>
                  <a:srgbClr val="067D17"/>
                </a:solidFill>
                <a:effectLst/>
                <a:latin typeface="JetBrains Mono"/>
              </a:rPr>
              <a:t>"Charlottetown"</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a:solidFill>
                  <a:srgbClr val="067D17"/>
                </a:solidFill>
                <a:effectLst/>
                <a:latin typeface="JetBrains Mono"/>
              </a:rPr>
              <a:t>"Your word, " </a:t>
            </a:r>
            <a:r>
              <a:rPr lang="en-US" sz="1800" dirty="0">
                <a:solidFill>
                  <a:srgbClr val="080808"/>
                </a:solidFill>
                <a:effectLst/>
                <a:latin typeface="JetBrains Mono"/>
              </a:rPr>
              <a:t>+ word + </a:t>
            </a:r>
            <a:r>
              <a:rPr lang="en-US" sz="1800" dirty="0">
                <a:solidFill>
                  <a:srgbClr val="067D17"/>
                </a:solidFill>
                <a:effectLst/>
                <a:latin typeface="JetBrains Mono"/>
              </a:rPr>
              <a:t>", comes before Charlottetown."</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err="1">
                <a:solidFill>
                  <a:srgbClr val="0033B3"/>
                </a:solidFill>
                <a:effectLst/>
                <a:latin typeface="JetBrains Mono"/>
              </a:rPr>
              <a:t>elif</a:t>
            </a:r>
            <a:r>
              <a:rPr lang="en-US" sz="1800" dirty="0">
                <a:solidFill>
                  <a:srgbClr val="0033B3"/>
                </a:solidFill>
                <a:effectLst/>
                <a:latin typeface="JetBrains Mono"/>
              </a:rPr>
              <a:t> </a:t>
            </a:r>
            <a:r>
              <a:rPr lang="en-US" sz="1800" dirty="0">
                <a:solidFill>
                  <a:srgbClr val="080808"/>
                </a:solidFill>
                <a:effectLst/>
                <a:latin typeface="JetBrains Mono"/>
              </a:rPr>
              <a:t>word &gt; </a:t>
            </a:r>
            <a:r>
              <a:rPr lang="en-US" sz="1800" dirty="0">
                <a:solidFill>
                  <a:srgbClr val="067D17"/>
                </a:solidFill>
                <a:effectLst/>
                <a:latin typeface="JetBrains Mono"/>
              </a:rPr>
              <a:t>"Charlottetown"</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a:solidFill>
                  <a:srgbClr val="067D17"/>
                </a:solidFill>
                <a:effectLst/>
                <a:latin typeface="JetBrains Mono"/>
              </a:rPr>
              <a:t>"Your word, " </a:t>
            </a:r>
            <a:r>
              <a:rPr lang="en-US" sz="1800" dirty="0">
                <a:solidFill>
                  <a:srgbClr val="080808"/>
                </a:solidFill>
                <a:effectLst/>
                <a:latin typeface="JetBrains Mono"/>
              </a:rPr>
              <a:t>+ word + </a:t>
            </a:r>
            <a:r>
              <a:rPr lang="en-US" sz="1800" dirty="0">
                <a:solidFill>
                  <a:srgbClr val="067D17"/>
                </a:solidFill>
                <a:effectLst/>
                <a:latin typeface="JetBrains Mono"/>
              </a:rPr>
              <a:t>", comes after Charlottetown."</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033B3"/>
                </a:solidFill>
                <a:effectLst/>
                <a:latin typeface="JetBrains Mono"/>
              </a:rPr>
              <a:t>else</a:t>
            </a:r>
            <a:r>
              <a:rPr lang="en-US" sz="1800" dirty="0">
                <a:solidFill>
                  <a:srgbClr val="080808"/>
                </a:solidFill>
                <a:effectLst/>
                <a:latin typeface="JetBrains Mono"/>
              </a:rPr>
              <a:t>:</a:t>
            </a:r>
            <a:br>
              <a:rPr lang="en-US" sz="1800" dirty="0">
                <a:solidFill>
                  <a:srgbClr val="080808"/>
                </a:solidFill>
                <a:effectLst/>
                <a:latin typeface="JetBrains Mono"/>
              </a:rPr>
            </a:br>
            <a:r>
              <a:rPr lang="en-US" sz="1800" dirty="0">
                <a:solidFill>
                  <a:srgbClr val="080808"/>
                </a:solidFill>
                <a:effectLst/>
                <a:latin typeface="JetBrains Mono"/>
              </a:rPr>
              <a:t>    </a:t>
            </a:r>
            <a:r>
              <a:rPr lang="en-US" sz="1800" dirty="0">
                <a:solidFill>
                  <a:srgbClr val="000080"/>
                </a:solidFill>
                <a:effectLst/>
                <a:latin typeface="JetBrains Mono"/>
              </a:rPr>
              <a:t>print</a:t>
            </a:r>
            <a:r>
              <a:rPr lang="en-US" sz="1800" dirty="0">
                <a:solidFill>
                  <a:srgbClr val="080808"/>
                </a:solidFill>
                <a:effectLst/>
                <a:latin typeface="JetBrains Mono"/>
              </a:rPr>
              <a:t>(</a:t>
            </a:r>
            <a:r>
              <a:rPr lang="en-US" sz="1800" dirty="0">
                <a:solidFill>
                  <a:srgbClr val="067D17"/>
                </a:solidFill>
                <a:effectLst/>
                <a:latin typeface="JetBrains Mono"/>
              </a:rPr>
              <a:t>"A perfect match—Charlottetown!"</a:t>
            </a:r>
            <a:r>
              <a:rPr lang="en-US" sz="1800" dirty="0">
                <a:solidFill>
                  <a:srgbClr val="080808"/>
                </a:solidFill>
                <a:effectLst/>
                <a:latin typeface="JetBrains Mono"/>
              </a:rPr>
              <a:t>)</a:t>
            </a:r>
            <a:br>
              <a:rPr lang="en-US" sz="1800" dirty="0">
                <a:solidFill>
                  <a:srgbClr val="080808"/>
                </a:solidFill>
                <a:effectLst/>
                <a:latin typeface="JetBrains Mono"/>
              </a:rPr>
            </a:br>
            <a:endParaRPr lang="en-US" sz="1800" dirty="0">
              <a:solidFill>
                <a:srgbClr val="080808"/>
              </a:solidFill>
              <a:effectLst/>
              <a:latin typeface="JetBrains Mono"/>
            </a:endParaRPr>
          </a:p>
          <a:p>
            <a:endParaRPr lang="en-US" dirty="0"/>
          </a:p>
          <a:p>
            <a:endParaRPr lang="en-US" dirty="0"/>
          </a:p>
        </p:txBody>
      </p:sp>
    </p:spTree>
    <p:extLst>
      <p:ext uri="{BB962C8B-B14F-4D97-AF65-F5344CB8AC3E}">
        <p14:creationId xmlns:p14="http://schemas.microsoft.com/office/powerpoint/2010/main" val="2835661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08055-1B5A-5A8E-9B2A-01A015BC6C32}"/>
              </a:ext>
            </a:extLst>
          </p:cNvPr>
          <p:cNvSpPr>
            <a:spLocks noGrp="1"/>
          </p:cNvSpPr>
          <p:nvPr>
            <p:ph type="title"/>
          </p:nvPr>
        </p:nvSpPr>
        <p:spPr/>
        <p:txBody>
          <a:bodyPr/>
          <a:lstStyle/>
          <a:p>
            <a:r>
              <a:rPr lang="en-US" dirty="0"/>
              <a:t>Self-check</a:t>
            </a:r>
          </a:p>
        </p:txBody>
      </p:sp>
      <p:pic>
        <p:nvPicPr>
          <p:cNvPr id="6" name="Picture 5">
            <a:extLst>
              <a:ext uri="{FF2B5EF4-FFF2-40B4-BE49-F238E27FC236}">
                <a16:creationId xmlns:a16="http://schemas.microsoft.com/office/drawing/2014/main" id="{EB8396F5-C5F0-0C9D-4659-60CFDA3770E6}"/>
              </a:ext>
            </a:extLst>
          </p:cNvPr>
          <p:cNvPicPr>
            <a:picLocks noChangeAspect="1"/>
          </p:cNvPicPr>
          <p:nvPr/>
        </p:nvPicPr>
        <p:blipFill>
          <a:blip r:embed="rId2"/>
          <a:stretch>
            <a:fillRect/>
          </a:stretch>
        </p:blipFill>
        <p:spPr>
          <a:xfrm>
            <a:off x="2231137" y="2558765"/>
            <a:ext cx="7729728" cy="2437837"/>
          </a:xfrm>
          <a:prstGeom prst="rect">
            <a:avLst/>
          </a:prstGeom>
        </p:spPr>
      </p:pic>
      <p:cxnSp>
        <p:nvCxnSpPr>
          <p:cNvPr id="10" name="Straight Arrow Connector 9">
            <a:extLst>
              <a:ext uri="{FF2B5EF4-FFF2-40B4-BE49-F238E27FC236}">
                <a16:creationId xmlns:a16="http://schemas.microsoft.com/office/drawing/2014/main" id="{52743762-5837-3C80-B816-3791179EF675}"/>
              </a:ext>
            </a:extLst>
          </p:cNvPr>
          <p:cNvCxnSpPr>
            <a:cxnSpLocks/>
          </p:cNvCxnSpPr>
          <p:nvPr/>
        </p:nvCxnSpPr>
        <p:spPr>
          <a:xfrm flipH="1" flipV="1">
            <a:off x="2560320" y="4194048"/>
            <a:ext cx="365760" cy="14249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4C8BB4EA-A6F7-0F40-4D83-ED8E0B724ED6}"/>
              </a:ext>
            </a:extLst>
          </p:cNvPr>
          <p:cNvSpPr txBox="1"/>
          <p:nvPr/>
        </p:nvSpPr>
        <p:spPr>
          <a:xfrm>
            <a:off x="2231136" y="5618975"/>
            <a:ext cx="3287631" cy="369332"/>
          </a:xfrm>
          <a:prstGeom prst="rect">
            <a:avLst/>
          </a:prstGeom>
          <a:noFill/>
          <a:ln>
            <a:solidFill>
              <a:schemeClr val="accent1"/>
            </a:solidFill>
          </a:ln>
        </p:spPr>
        <p:txBody>
          <a:bodyPr wrap="none" rtlCol="0">
            <a:spAutoFit/>
          </a:bodyPr>
          <a:lstStyle/>
          <a:p>
            <a:r>
              <a:rPr lang="en-US" dirty="0"/>
              <a:t>Remember strings are immutable</a:t>
            </a:r>
          </a:p>
        </p:txBody>
      </p:sp>
    </p:spTree>
    <p:extLst>
      <p:ext uri="{BB962C8B-B14F-4D97-AF65-F5344CB8AC3E}">
        <p14:creationId xmlns:p14="http://schemas.microsoft.com/office/powerpoint/2010/main" val="36432413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4C9C1-E4E2-521E-993E-CEF680116A84}"/>
              </a:ext>
            </a:extLst>
          </p:cNvPr>
          <p:cNvSpPr>
            <a:spLocks noGrp="1"/>
          </p:cNvSpPr>
          <p:nvPr>
            <p:ph type="title"/>
          </p:nvPr>
        </p:nvSpPr>
        <p:spPr/>
        <p:txBody>
          <a:bodyPr/>
          <a:lstStyle/>
          <a:p>
            <a:r>
              <a:rPr lang="en-US" dirty="0"/>
              <a:t>Try at Home</a:t>
            </a:r>
          </a:p>
        </p:txBody>
      </p:sp>
      <p:sp>
        <p:nvSpPr>
          <p:cNvPr id="3" name="Content Placeholder 2">
            <a:extLst>
              <a:ext uri="{FF2B5EF4-FFF2-40B4-BE49-F238E27FC236}">
                <a16:creationId xmlns:a16="http://schemas.microsoft.com/office/drawing/2014/main" id="{557D87B0-026E-62C4-46FD-7341B206CFB3}"/>
              </a:ext>
            </a:extLst>
          </p:cNvPr>
          <p:cNvSpPr>
            <a:spLocks noGrp="1"/>
          </p:cNvSpPr>
          <p:nvPr>
            <p:ph idx="1"/>
          </p:nvPr>
        </p:nvSpPr>
        <p:spPr/>
        <p:txBody>
          <a:bodyPr/>
          <a:lstStyle/>
          <a:p>
            <a:r>
              <a:rPr lang="en-US" dirty="0"/>
              <a:t>Write a program that prints all of the letters that are in common between two strings</a:t>
            </a:r>
          </a:p>
          <a:p>
            <a:r>
              <a:rPr lang="en-US" dirty="0"/>
              <a:t>Write a program that beats the “Simon says game”</a:t>
            </a:r>
          </a:p>
          <a:p>
            <a:r>
              <a:rPr lang="en-US" dirty="0"/>
              <a:t>Print all of the letters from a string in reverse order – use a while loop – use a for sequence loop</a:t>
            </a:r>
          </a:p>
          <a:p>
            <a:pPr lvl="1"/>
            <a:r>
              <a:rPr lang="en-US" dirty="0"/>
              <a:t>Each letter on their own line</a:t>
            </a:r>
          </a:p>
        </p:txBody>
      </p:sp>
    </p:spTree>
    <p:extLst>
      <p:ext uri="{BB962C8B-B14F-4D97-AF65-F5344CB8AC3E}">
        <p14:creationId xmlns:p14="http://schemas.microsoft.com/office/powerpoint/2010/main" val="424354599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Parcel</Template>
  <TotalTime>29419</TotalTime>
  <Words>1383</Words>
  <Application>Microsoft Macintosh PowerPoint</Application>
  <PresentationFormat>Widescreen</PresentationFormat>
  <Paragraphs>155</Paragraphs>
  <Slides>24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Courier New</vt:lpstr>
      <vt:lpstr>Gill Sans MT</vt:lpstr>
      <vt:lpstr>JetBrains Mono</vt:lpstr>
      <vt:lpstr>Parcel</vt:lpstr>
      <vt:lpstr>SEQUENCES</vt:lpstr>
      <vt:lpstr>Code Examples</vt:lpstr>
      <vt:lpstr>Sequence</vt:lpstr>
      <vt:lpstr>Indexing</vt:lpstr>
      <vt:lpstr>Indexes </vt:lpstr>
      <vt:lpstr>Indexes</vt:lpstr>
      <vt:lpstr>quickHitters</vt:lpstr>
      <vt:lpstr>quickHitters</vt:lpstr>
      <vt:lpstr>Self-Check</vt:lpstr>
      <vt:lpstr>Self-Check</vt:lpstr>
      <vt:lpstr>Slicing</vt:lpstr>
      <vt:lpstr>Slicing Step Size</vt:lpstr>
      <vt:lpstr>Slicing Defaults</vt:lpstr>
      <vt:lpstr>Slicing Examples</vt:lpstr>
      <vt:lpstr>Find A Partner</vt:lpstr>
      <vt:lpstr>Find A Partner</vt:lpstr>
      <vt:lpstr>Traversal</vt:lpstr>
      <vt:lpstr>Self-check</vt:lpstr>
      <vt:lpstr>Self-check</vt:lpstr>
      <vt:lpstr>Strings are Immutable</vt:lpstr>
      <vt:lpstr>String Methods</vt:lpstr>
      <vt:lpstr>String Comparison</vt:lpstr>
      <vt:lpstr>Self-check</vt:lpstr>
      <vt:lpstr>Try at Home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Godbout</dc:creator>
  <cp:lastModifiedBy>Christopher Power</cp:lastModifiedBy>
  <cp:revision>3</cp:revision>
  <dcterms:created xsi:type="dcterms:W3CDTF">2025-06-27T17:31:36Z</dcterms:created>
  <dcterms:modified xsi:type="dcterms:W3CDTF">2026-10-28T22:05:30Z</dcterms:modified>
</cp:coreProperties>
</file>