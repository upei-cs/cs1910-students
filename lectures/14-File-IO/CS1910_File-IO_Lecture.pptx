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313" r:id="rId2"/>
    <p:sldId id="257" r:id="rId3"/>
    <p:sldId id="27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6" r:id="rId22"/>
    <p:sldId id="278" r:id="rId23"/>
    <p:sldId id="281" r:id="rId24"/>
    <p:sldId id="279" r:id="rId25"/>
    <p:sldId id="282" r:id="rId26"/>
    <p:sldId id="283" r:id="rId27"/>
    <p:sldId id="284" r:id="rId28"/>
    <p:sldId id="285" r:id="rId29"/>
    <p:sldId id="286" r:id="rId30"/>
    <p:sldId id="287" r:id="rId31"/>
    <p:sldId id="275" r:id="rId32"/>
    <p:sldId id="280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4AD0EC-6801-44CD-87DB-693FCDC8823F}" v="4" dt="2026-07-23T02:18:31.7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576"/>
    <p:restoredTop sz="94658"/>
  </p:normalViewPr>
  <p:slideViewPr>
    <p:cSldViewPr snapToGrid="0">
      <p:cViewPr varScale="1">
        <p:scale>
          <a:sx n="105" d="100"/>
          <a:sy n="105" d="100"/>
        </p:scale>
        <p:origin x="3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Power" userId="83706efc-52ec-4aad-b93a-e27c6e901a30" providerId="ADAL" clId="{97D26654-64D5-4042-8583-A5886BB6B01E}"/>
    <pc:docChg chg="undo custSel addSld delSld modSld sldOrd">
      <pc:chgData name="Christopher Power" userId="83706efc-52ec-4aad-b93a-e27c6e901a30" providerId="ADAL" clId="{97D26654-64D5-4042-8583-A5886BB6B01E}" dt="2026-07-23T02:18:46.568" v="11" actId="47"/>
      <pc:docMkLst>
        <pc:docMk/>
      </pc:docMkLst>
      <pc:sldChg chg="del">
        <pc:chgData name="Christopher Power" userId="83706efc-52ec-4aad-b93a-e27c6e901a30" providerId="ADAL" clId="{97D26654-64D5-4042-8583-A5886BB6B01E}" dt="2026-07-23T02:18:46.568" v="11" actId="47"/>
        <pc:sldMkLst>
          <pc:docMk/>
          <pc:sldMk cId="393288038" sldId="256"/>
        </pc:sldMkLst>
      </pc:sldChg>
      <pc:sldChg chg="modSp add mod">
        <pc:chgData name="Christopher Power" userId="83706efc-52ec-4aad-b93a-e27c6e901a30" providerId="ADAL" clId="{97D26654-64D5-4042-8583-A5886BB6B01E}" dt="2026-07-23T02:18:43.076" v="10" actId="207"/>
        <pc:sldMkLst>
          <pc:docMk/>
          <pc:sldMk cId="3002068836" sldId="313"/>
        </pc:sldMkLst>
        <pc:spChg chg="mod">
          <ac:chgData name="Christopher Power" userId="83706efc-52ec-4aad-b93a-e27c6e901a30" providerId="ADAL" clId="{97D26654-64D5-4042-8583-A5886BB6B01E}" dt="2026-07-23T02:18:43.076" v="10" actId="207"/>
          <ac:spMkLst>
            <pc:docMk/>
            <pc:sldMk cId="3002068836" sldId="313"/>
            <ac:spMk id="2" creationId="{C93DC5BA-038A-1370-693A-933684213ED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DC5BA-038A-1370-693A-933684213E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198" y="2474895"/>
            <a:ext cx="6212764" cy="1908215"/>
          </a:xfrm>
          <a:noFill/>
          <a:ln>
            <a:solidFill>
              <a:schemeClr val="tx1"/>
            </a:solidFill>
          </a:ln>
        </p:spPr>
        <p:txBody>
          <a:bodyPr wrap="square">
            <a:normAutofit fontScale="90000"/>
          </a:bodyPr>
          <a:lstStyle/>
          <a:p>
            <a:r>
              <a:rPr lang="en-US" sz="4000" dirty="0">
                <a:solidFill>
                  <a:schemeClr val="tx1"/>
                </a:solidFill>
              </a:rPr>
              <a:t>Files and Folders</a:t>
            </a:r>
            <a:br>
              <a:rPr lang="en-US" sz="4000" dirty="0">
                <a:solidFill>
                  <a:schemeClr val="tx1"/>
                </a:solidFill>
              </a:rPr>
            </a:br>
            <a:r>
              <a:rPr lang="en-US" sz="4000" dirty="0">
                <a:solidFill>
                  <a:schemeClr val="tx1"/>
                </a:solidFill>
              </a:rPr>
              <a:t>Reading from Files</a:t>
            </a:r>
            <a:br>
              <a:rPr lang="en-US" sz="4000" dirty="0">
                <a:solidFill>
                  <a:schemeClr val="tx1"/>
                </a:solidFill>
              </a:rPr>
            </a:br>
            <a:r>
              <a:rPr lang="en-US" sz="4000" dirty="0">
                <a:solidFill>
                  <a:schemeClr val="tx1"/>
                </a:solidFill>
              </a:rPr>
              <a:t>Writing to Files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7A82F3-F6C4-4325-8C9C-7DF1AD06B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9872" y="0"/>
            <a:ext cx="4062128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AB9C7C-BEF1-C07A-6A77-DBDD71480A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3732" y="2173266"/>
            <a:ext cx="3254408" cy="2511468"/>
          </a:xfrm>
        </p:spPr>
        <p:txBody>
          <a:bodyPr anchor="ctr">
            <a:normAutofit/>
          </a:bodyPr>
          <a:lstStyle/>
          <a:p>
            <a:r>
              <a:rPr lang="en-US" sz="2400" dirty="0">
                <a:solidFill>
                  <a:schemeClr val="tx2">
                    <a:lumMod val="90000"/>
                  </a:schemeClr>
                </a:solidFill>
              </a:rPr>
              <a:t>CS1910</a:t>
            </a:r>
          </a:p>
          <a:p>
            <a:r>
              <a:rPr lang="en-US" sz="2400" dirty="0">
                <a:solidFill>
                  <a:schemeClr val="tx2">
                    <a:lumMod val="90000"/>
                  </a:schemeClr>
                </a:solidFill>
              </a:rPr>
              <a:t>Computer Science I</a:t>
            </a:r>
          </a:p>
        </p:txBody>
      </p:sp>
    </p:spTree>
    <p:extLst>
      <p:ext uri="{BB962C8B-B14F-4D97-AF65-F5344CB8AC3E}">
        <p14:creationId xmlns:p14="http://schemas.microsoft.com/office/powerpoint/2010/main" val="3002068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475EB-10CD-1200-C7AA-4919BF803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5894832" cy="1188720"/>
          </a:xfrm>
        </p:spPr>
        <p:txBody>
          <a:bodyPr>
            <a:normAutofit/>
          </a:bodyPr>
          <a:lstStyle/>
          <a:p>
            <a:r>
              <a:rPr lang="en-US" dirty="0"/>
              <a:t>Types of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0EEB5-2888-2E05-707B-B7DB8B34D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243" y="2638044"/>
            <a:ext cx="5963317" cy="326320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Program data when running is in memory only when power is running</a:t>
            </a:r>
          </a:p>
          <a:p>
            <a:r>
              <a:rPr lang="en-US" dirty="0"/>
              <a:t>Programs themselves need to be stored for long term use even when power is turned off</a:t>
            </a:r>
          </a:p>
          <a:p>
            <a:r>
              <a:rPr lang="en-US" dirty="0"/>
              <a:t>Internal Storage Devices:</a:t>
            </a:r>
          </a:p>
          <a:p>
            <a:pPr lvl="1"/>
            <a:r>
              <a:rPr lang="en-US" dirty="0"/>
              <a:t>Hard drive </a:t>
            </a:r>
          </a:p>
          <a:p>
            <a:pPr lvl="2"/>
            <a:r>
              <a:rPr lang="en-US" dirty="0"/>
              <a:t>Originally tape, then spinning platters of discs, increasingly are solid state drives (SSD)</a:t>
            </a:r>
          </a:p>
          <a:p>
            <a:r>
              <a:rPr lang="en-US" dirty="0"/>
              <a:t>External Storage Devices</a:t>
            </a:r>
          </a:p>
          <a:p>
            <a:pPr lvl="2"/>
            <a:r>
              <a:rPr lang="en-US" dirty="0"/>
              <a:t>External drives that are connected via USB or other connector</a:t>
            </a:r>
          </a:p>
          <a:p>
            <a:pPr lvl="2"/>
            <a:r>
              <a:rPr lang="en-US" dirty="0"/>
              <a:t>USB sticks – smaller versions of SSD that can be removed</a:t>
            </a:r>
          </a:p>
          <a:p>
            <a:pPr lvl="2"/>
            <a:r>
              <a:rPr lang="en-US" dirty="0"/>
              <a:t>Increasingly – cloud services</a:t>
            </a:r>
          </a:p>
          <a:p>
            <a:r>
              <a:rPr lang="en-US" dirty="0"/>
              <a:t>Can hold: text, images, videos, programs, binary information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9398A9-0D0D-4901-BDDF-B3D93CECA7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6706" y="964692"/>
            <a:ext cx="3986784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1FEC3B-E514-4E21-B2CB-7903A73569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1298" y="1128683"/>
            <a:ext cx="3657600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Disk">
            <a:extLst>
              <a:ext uri="{FF2B5EF4-FFF2-40B4-BE49-F238E27FC236}">
                <a16:creationId xmlns:a16="http://schemas.microsoft.com/office/drawing/2014/main" id="{5A92486D-95F0-E6E4-69D5-7201B23CC4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5890" y="1768763"/>
            <a:ext cx="3328416" cy="3328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322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39F2F-A09B-9D42-A6EE-FFFB36B70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5894832" cy="1188720"/>
          </a:xfrm>
        </p:spPr>
        <p:txBody>
          <a:bodyPr>
            <a:normAutofit/>
          </a:bodyPr>
          <a:lstStyle/>
          <a:p>
            <a:r>
              <a:rPr lang="en-US" dirty="0"/>
              <a:t>File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21BAA-DBE6-6922-B0B2-01B93E13E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243" y="2638044"/>
            <a:ext cx="5963317" cy="3263206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File – a structured collection of data that is grouped under an abstraction of a name with an “extension” that tells you the type of data that is stored within</a:t>
            </a:r>
          </a:p>
          <a:p>
            <a:r>
              <a:rPr lang="en-US" dirty="0"/>
              <a:t>Folder – an abstraction that gives a name that collects files together that are related to one another (previously called “directory”)</a:t>
            </a:r>
          </a:p>
          <a:p>
            <a:r>
              <a:rPr lang="en-US" dirty="0"/>
              <a:t>The metaphor is that of folders in an office drawer that hold files of paper – like a case file in a lawyer’s office</a:t>
            </a:r>
          </a:p>
          <a:p>
            <a:r>
              <a:rPr lang="en-US" dirty="0"/>
              <a:t>Where it breaks down as a metaphor is:</a:t>
            </a:r>
          </a:p>
          <a:p>
            <a:pPr lvl="1"/>
            <a:r>
              <a:rPr lang="en-US" dirty="0"/>
              <a:t>Files can be put in folders</a:t>
            </a:r>
          </a:p>
          <a:p>
            <a:pPr lvl="1"/>
            <a:r>
              <a:rPr lang="en-US" dirty="0"/>
              <a:t>Folders can be put in other folders creating hierarchies</a:t>
            </a:r>
          </a:p>
          <a:p>
            <a:r>
              <a:rPr lang="en-US" dirty="0"/>
              <a:t>A unique location of a file is defined by it’s path:</a:t>
            </a:r>
          </a:p>
          <a:p>
            <a:pPr lvl="1"/>
            <a:r>
              <a:rPr lang="en-US" dirty="0"/>
              <a:t>\Teaching\2026W\2026W-CS1910-Full\Lectures\wk12\Lecture-FileIO.pptx (Windows)</a:t>
            </a:r>
          </a:p>
          <a:p>
            <a:pPr lvl="1"/>
            <a:r>
              <a:rPr lang="en-US" dirty="0"/>
              <a:t>\Teaching\2026W\2026W-CS1910-Student\Lectures\wk12\Lecture-FileIO.pptx (Windows)</a:t>
            </a:r>
          </a:p>
          <a:p>
            <a:pPr lvl="1"/>
            <a:r>
              <a:rPr lang="en-US" dirty="0"/>
              <a:t>/Teaching/2026W/2026W-CS1910-Student/Lectures/wk12/Lecture-FileIO.pptx (Mac, Linux)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D2A192-834F-6007-7347-D2B1FD179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696825"/>
            <a:ext cx="5277847" cy="441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48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45E6B-039A-53DD-CBA3-86D931B62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</a:t>
            </a:r>
            <a:r>
              <a:rPr lang="en-US" dirty="0"/>
              <a:t> File Formats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4AF38-5CAA-87D4-EEDC-B3ED81FD9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63516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Two main file formats:</a:t>
            </a:r>
          </a:p>
          <a:p>
            <a:pPr lvl="1"/>
            <a:r>
              <a:rPr lang="en-US" dirty="0"/>
              <a:t>Text</a:t>
            </a:r>
          </a:p>
          <a:p>
            <a:pPr lvl="2"/>
            <a:r>
              <a:rPr lang="en-US" dirty="0"/>
              <a:t>Readable by humans</a:t>
            </a:r>
          </a:p>
          <a:p>
            <a:pPr lvl="2"/>
            <a:r>
              <a:rPr lang="en-US" dirty="0"/>
              <a:t>Everything is a string (even numbers)</a:t>
            </a:r>
          </a:p>
          <a:p>
            <a:pPr lvl="1"/>
            <a:r>
              <a:rPr lang="en-US" dirty="0"/>
              <a:t>Binary</a:t>
            </a:r>
          </a:p>
          <a:p>
            <a:pPr lvl="2"/>
            <a:r>
              <a:rPr lang="en-US" dirty="0"/>
              <a:t>Generally not readable by humans</a:t>
            </a:r>
          </a:p>
          <a:p>
            <a:pPr lvl="2"/>
            <a:r>
              <a:rPr lang="en-US" dirty="0"/>
              <a:t>The data is binary encoded stored in groups of bytes (8 bits)</a:t>
            </a:r>
          </a:p>
          <a:p>
            <a:pPr lvl="3"/>
            <a:r>
              <a:rPr lang="en-US" dirty="0"/>
              <a:t>Binary is 0-1 encoding where each 0 or 1 is called a bit</a:t>
            </a:r>
          </a:p>
          <a:p>
            <a:pPr lvl="3"/>
            <a:r>
              <a:rPr lang="en-US" dirty="0"/>
              <a:t>Offer some efficiencies in storage </a:t>
            </a:r>
          </a:p>
          <a:p>
            <a:pPr lvl="3"/>
            <a:r>
              <a:rPr lang="en-US" dirty="0"/>
              <a:t>Not the focus in this course (aside from understanding they exist)</a:t>
            </a:r>
          </a:p>
          <a:p>
            <a:pPr lvl="3"/>
            <a:r>
              <a:rPr lang="en-US" dirty="0"/>
              <a:t>Examples: images, songs, programs</a:t>
            </a:r>
          </a:p>
        </p:txBody>
      </p:sp>
    </p:spTree>
    <p:extLst>
      <p:ext uri="{BB962C8B-B14F-4D97-AF65-F5344CB8AC3E}">
        <p14:creationId xmlns:p14="http://schemas.microsoft.com/office/powerpoint/2010/main" val="3954020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4B2C3-6C42-1F30-A0F3-E5FF39DB3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5496" y="978776"/>
            <a:ext cx="5925310" cy="1174991"/>
          </a:xfrm>
        </p:spPr>
        <p:txBody>
          <a:bodyPr>
            <a:normAutofit/>
          </a:bodyPr>
          <a:lstStyle/>
          <a:p>
            <a:r>
              <a:rPr lang="en-US" sz="2400"/>
              <a:t>Text Files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CAA1AEEA-C890-481C-4132-60D83FC9BC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48" r="47221" b="-1"/>
          <a:stretch>
            <a:fillRect/>
          </a:stretch>
        </p:blipFill>
        <p:spPr>
          <a:xfrm>
            <a:off x="20" y="10"/>
            <a:ext cx="4657325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AC9DD-E3F3-1CE5-3E76-1E9AFAEF9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5496" y="2640692"/>
            <a:ext cx="5925310" cy="3255252"/>
          </a:xfrm>
        </p:spPr>
        <p:txBody>
          <a:bodyPr>
            <a:normAutofit/>
          </a:bodyPr>
          <a:lstStyle/>
          <a:p>
            <a:r>
              <a:rPr lang="en-US" sz="2800" dirty="0"/>
              <a:t>Some common Text files:</a:t>
            </a:r>
          </a:p>
          <a:p>
            <a:pPr lvl="1"/>
            <a:r>
              <a:rPr lang="en-US" sz="2400" dirty="0"/>
              <a:t>Plain text: .txt, .md</a:t>
            </a:r>
          </a:p>
          <a:p>
            <a:pPr lvl="1"/>
            <a:r>
              <a:rPr lang="en-US" sz="2400" dirty="0"/>
              <a:t>Source code: .</a:t>
            </a:r>
            <a:r>
              <a:rPr lang="en-US" sz="2400" dirty="0" err="1"/>
              <a:t>py</a:t>
            </a:r>
            <a:r>
              <a:rPr lang="en-US" sz="2400" dirty="0"/>
              <a:t>, </a:t>
            </a:r>
          </a:p>
          <a:p>
            <a:pPr lvl="1"/>
            <a:r>
              <a:rPr lang="en-US" sz="2400" dirty="0"/>
              <a:t>Structured Data: .csv, .</a:t>
            </a:r>
            <a:r>
              <a:rPr lang="en-US" sz="2400" dirty="0" err="1"/>
              <a:t>ipynb</a:t>
            </a:r>
            <a:endParaRPr lang="en-US" sz="2400" dirty="0"/>
          </a:p>
          <a:p>
            <a:pPr lvl="1"/>
            <a:r>
              <a:rPr lang="en-US" sz="2400" dirty="0"/>
              <a:t>hypertext: .html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238AAD-FDE4-9383-3080-D72A44543ACF}"/>
              </a:ext>
            </a:extLst>
          </p:cNvPr>
          <p:cNvSpPr txBox="1"/>
          <p:nvPr/>
        </p:nvSpPr>
        <p:spPr>
          <a:xfrm>
            <a:off x="4965405" y="5433238"/>
            <a:ext cx="6741042" cy="646331"/>
          </a:xfrm>
          <a:prstGeom prst="rect">
            <a:avLst/>
          </a:prstGeom>
          <a:noFill/>
          <a:ln>
            <a:solidFill>
              <a:srgbClr val="40404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You can open any of these files with a “text editing” program and read the contents</a:t>
            </a:r>
          </a:p>
        </p:txBody>
      </p:sp>
    </p:spTree>
    <p:extLst>
      <p:ext uri="{BB962C8B-B14F-4D97-AF65-F5344CB8AC3E}">
        <p14:creationId xmlns:p14="http://schemas.microsoft.com/office/powerpoint/2010/main" val="1049247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F47E20B-1205-4238-A82B-90EF577F32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3567AC-EB9A-47A9-B6EC-B5BDB73B1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979F88-9FC3-893D-10F4-7CF3C0B4B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820010"/>
            <a:ext cx="3415288" cy="3212654"/>
          </a:xfrm>
          <a:noFill/>
          <a:ln>
            <a:solidFill>
              <a:schemeClr val="bg1"/>
            </a:solidFill>
          </a:ln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800">
                <a:solidFill>
                  <a:schemeClr val="bg1"/>
                </a:solidFill>
              </a:rPr>
              <a:t>.ipynb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93299-0147-5A12-78D1-A05B4BAAD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777" y="4352544"/>
            <a:ext cx="3415288" cy="227685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Even our Notebook files are plain text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That is JSON (the syntax is similar to a python dictionary)</a:t>
            </a:r>
            <a:endParaRPr lang="en-US" sz="20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119C91-7DEE-7AC8-A4AA-3516B9559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0789" y="643467"/>
            <a:ext cx="5864716" cy="54101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5C6227B-09B2-9444-0523-4EE39AC4BF99}"/>
              </a:ext>
            </a:extLst>
          </p:cNvPr>
          <p:cNvSpPr txBox="1"/>
          <p:nvPr/>
        </p:nvSpPr>
        <p:spPr>
          <a:xfrm>
            <a:off x="5056094" y="121023"/>
            <a:ext cx="4583306" cy="369332"/>
          </a:xfrm>
          <a:prstGeom prst="rect">
            <a:avLst/>
          </a:prstGeom>
          <a:noFill/>
          <a:ln>
            <a:solidFill>
              <a:srgbClr val="40404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Opening HW7.ipynb with a text editor reveals:</a:t>
            </a:r>
          </a:p>
        </p:txBody>
      </p:sp>
    </p:spTree>
    <p:extLst>
      <p:ext uri="{BB962C8B-B14F-4D97-AF65-F5344CB8AC3E}">
        <p14:creationId xmlns:p14="http://schemas.microsoft.com/office/powerpoint/2010/main" val="1923189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BA3C0-2DDF-CD0C-9645-DB458AF9B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Opening and closing a File in Python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964DCDC-1CE8-F250-61BE-0974182A75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1512" y="3905530"/>
            <a:ext cx="5054600" cy="406400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5EF0AD9B-B5A3-E966-D290-C27EB74F7F2E}"/>
              </a:ext>
            </a:extLst>
          </p:cNvPr>
          <p:cNvGrpSpPr/>
          <p:nvPr/>
        </p:nvGrpSpPr>
        <p:grpSpPr>
          <a:xfrm>
            <a:off x="8525436" y="2950022"/>
            <a:ext cx="1785052" cy="2498076"/>
            <a:chOff x="8484557" y="3059668"/>
            <a:chExt cx="1785052" cy="249807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EB1E302-515D-6091-13AA-E56C0E7FA1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977033" y="3640044"/>
              <a:ext cx="800100" cy="19177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E5D89D9-31DA-E35A-7790-AB8E90C87A15}"/>
                </a:ext>
              </a:extLst>
            </p:cNvPr>
            <p:cNvSpPr txBox="1"/>
            <p:nvPr/>
          </p:nvSpPr>
          <p:spPr>
            <a:xfrm>
              <a:off x="8484557" y="3059668"/>
              <a:ext cx="1785052" cy="369332"/>
            </a:xfrm>
            <a:prstGeom prst="rect">
              <a:avLst/>
            </a:prstGeom>
            <a:noFill/>
            <a:ln>
              <a:solidFill>
                <a:srgbClr val="40404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temperatures.txt</a:t>
              </a:r>
              <a:endParaRPr lang="en-US"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6EFE11C-584A-983C-9267-2F905EF259C1}"/>
              </a:ext>
            </a:extLst>
          </p:cNvPr>
          <p:cNvSpPr txBox="1"/>
          <p:nvPr/>
        </p:nvSpPr>
        <p:spPr>
          <a:xfrm>
            <a:off x="7965469" y="5754808"/>
            <a:ext cx="2934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contains one temperature listed on each line of the file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3910374-352D-C957-F2E6-9379AEE23001}"/>
              </a:ext>
            </a:extLst>
          </p:cNvPr>
          <p:cNvCxnSpPr/>
          <p:nvPr/>
        </p:nvCxnSpPr>
        <p:spPr>
          <a:xfrm>
            <a:off x="4007224" y="3429000"/>
            <a:ext cx="0" cy="476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EBAB5B5-FA48-7596-FDD4-0B3AF4D9FD6A}"/>
              </a:ext>
            </a:extLst>
          </p:cNvPr>
          <p:cNvSpPr txBox="1"/>
          <p:nvPr/>
        </p:nvSpPr>
        <p:spPr>
          <a:xfrm>
            <a:off x="3219369" y="2945510"/>
            <a:ext cx="180850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Filename to open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E3CB7E-0934-5087-1C70-BCC10AD2B198}"/>
              </a:ext>
            </a:extLst>
          </p:cNvPr>
          <p:cNvSpPr txBox="1"/>
          <p:nvPr/>
        </p:nvSpPr>
        <p:spPr>
          <a:xfrm>
            <a:off x="5561211" y="2844805"/>
            <a:ext cx="206999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Flag to indicate read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4DE0286-7D1A-7746-E971-DC0C8D048D2C}"/>
              </a:ext>
            </a:extLst>
          </p:cNvPr>
          <p:cNvCxnSpPr/>
          <p:nvPr/>
        </p:nvCxnSpPr>
        <p:spPr>
          <a:xfrm>
            <a:off x="6596206" y="3214137"/>
            <a:ext cx="0" cy="7930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C92BD21A-214F-AF0F-023C-DF67658FB0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1512" y="5238548"/>
            <a:ext cx="1536700" cy="419100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5D969B5-D9A1-2C88-D697-6B213A55E763}"/>
              </a:ext>
            </a:extLst>
          </p:cNvPr>
          <p:cNvCxnSpPr/>
          <p:nvPr/>
        </p:nvCxnSpPr>
        <p:spPr>
          <a:xfrm flipH="1" flipV="1">
            <a:off x="3092824" y="5754808"/>
            <a:ext cx="672352" cy="323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87237FE-E010-093B-D59D-A1321CB948C2}"/>
              </a:ext>
            </a:extLst>
          </p:cNvPr>
          <p:cNvSpPr txBox="1"/>
          <p:nvPr/>
        </p:nvSpPr>
        <p:spPr>
          <a:xfrm>
            <a:off x="3219369" y="5902845"/>
            <a:ext cx="3815660" cy="923330"/>
          </a:xfrm>
          <a:prstGeom prst="rect">
            <a:avLst/>
          </a:prstGeom>
          <a:noFill/>
          <a:ln>
            <a:solidFill>
              <a:srgbClr val="40404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Always close a file when you are done</a:t>
            </a:r>
          </a:p>
          <a:p>
            <a:r>
              <a:rPr lang="en-US" dirty="0"/>
              <a:t>(releases the resource)</a:t>
            </a:r>
          </a:p>
          <a:p>
            <a:r>
              <a:rPr lang="en-US" dirty="0"/>
              <a:t>f can no longer be used to read the file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0BB4E53-EB94-5E1E-0A3F-A9C72C899B69}"/>
              </a:ext>
            </a:extLst>
          </p:cNvPr>
          <p:cNvCxnSpPr/>
          <p:nvPr/>
        </p:nvCxnSpPr>
        <p:spPr>
          <a:xfrm>
            <a:off x="1452282" y="3244334"/>
            <a:ext cx="537883" cy="6611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4B97402-ACD6-9A53-1993-AF8D4A505FC8}"/>
              </a:ext>
            </a:extLst>
          </p:cNvPr>
          <p:cNvSpPr txBox="1"/>
          <p:nvPr/>
        </p:nvSpPr>
        <p:spPr>
          <a:xfrm>
            <a:off x="510988" y="2850776"/>
            <a:ext cx="185502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 can be used to read the file</a:t>
            </a:r>
          </a:p>
        </p:txBody>
      </p:sp>
    </p:spTree>
    <p:extLst>
      <p:ext uri="{BB962C8B-B14F-4D97-AF65-F5344CB8AC3E}">
        <p14:creationId xmlns:p14="http://schemas.microsoft.com/office/powerpoint/2010/main" val="1955011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50309-7F58-0640-295F-5547BCCE6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B921D-C356-3873-C732-99F214554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 a file line by line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5F76D0C-CBE9-C8A0-CE46-BF13214C7D21}"/>
              </a:ext>
            </a:extLst>
          </p:cNvPr>
          <p:cNvGrpSpPr/>
          <p:nvPr/>
        </p:nvGrpSpPr>
        <p:grpSpPr>
          <a:xfrm>
            <a:off x="9278472" y="2939997"/>
            <a:ext cx="1785052" cy="2498076"/>
            <a:chOff x="8484557" y="3059668"/>
            <a:chExt cx="1785052" cy="249807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B33B09D-8556-2032-E273-2F0B79DCA0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77033" y="3640044"/>
              <a:ext cx="800100" cy="191770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1BFF50B-894D-D0BD-D977-0D0598DA784C}"/>
                </a:ext>
              </a:extLst>
            </p:cNvPr>
            <p:cNvSpPr txBox="1"/>
            <p:nvPr/>
          </p:nvSpPr>
          <p:spPr>
            <a:xfrm>
              <a:off x="8484557" y="3059668"/>
              <a:ext cx="1785052" cy="369332"/>
            </a:xfrm>
            <a:prstGeom prst="rect">
              <a:avLst/>
            </a:prstGeom>
            <a:noFill/>
            <a:ln>
              <a:solidFill>
                <a:srgbClr val="40404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temperatures.txt</a:t>
              </a:r>
              <a:endParaRPr lang="en-US" dirty="0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1A8F41FC-2836-0504-86F7-970A53D15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47" y="3520373"/>
            <a:ext cx="4089400" cy="2082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48FA03-C355-6BD0-7A84-37C2D38E45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124663"/>
            <a:ext cx="723900" cy="321310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6B31B29-8CBC-6307-6597-3C8F0677CC5F}"/>
              </a:ext>
            </a:extLst>
          </p:cNvPr>
          <p:cNvCxnSpPr/>
          <p:nvPr/>
        </p:nvCxnSpPr>
        <p:spPr>
          <a:xfrm flipV="1">
            <a:off x="2464547" y="3845859"/>
            <a:ext cx="3631453" cy="10085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D4D8161-EC97-C042-F843-04D6B6F81BE3}"/>
              </a:ext>
            </a:extLst>
          </p:cNvPr>
          <p:cNvSpPr txBox="1"/>
          <p:nvPr/>
        </p:nvSpPr>
        <p:spPr>
          <a:xfrm>
            <a:off x="4654856" y="4189035"/>
            <a:ext cx="811441" cy="369332"/>
          </a:xfrm>
          <a:prstGeom prst="rect">
            <a:avLst/>
          </a:prstGeom>
          <a:noFill/>
          <a:ln>
            <a:solidFill>
              <a:srgbClr val="40404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741973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8E93F-4F0D-D55D-A926-4BF573066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DF28A-F0BE-002F-13B9-7E16211B5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3FD41-10DA-4A7E-F1AD-DB638763F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 a file line by line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B9643A8-6FD2-D221-4D59-B8FEB96E3810}"/>
              </a:ext>
            </a:extLst>
          </p:cNvPr>
          <p:cNvGrpSpPr/>
          <p:nvPr/>
        </p:nvGrpSpPr>
        <p:grpSpPr>
          <a:xfrm>
            <a:off x="10106473" y="3101085"/>
            <a:ext cx="1785052" cy="2498076"/>
            <a:chOff x="8484557" y="3059668"/>
            <a:chExt cx="1785052" cy="249807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EE4FA2A-7658-6637-B205-C46A7A6146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77033" y="3640044"/>
              <a:ext cx="800100" cy="191770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06F95E6-F357-AF7B-C2AA-CDE7DA78A72A}"/>
                </a:ext>
              </a:extLst>
            </p:cNvPr>
            <p:cNvSpPr txBox="1"/>
            <p:nvPr/>
          </p:nvSpPr>
          <p:spPr>
            <a:xfrm>
              <a:off x="8484557" y="3059668"/>
              <a:ext cx="1785052" cy="369332"/>
            </a:xfrm>
            <a:prstGeom prst="rect">
              <a:avLst/>
            </a:prstGeom>
            <a:noFill/>
            <a:ln>
              <a:solidFill>
                <a:srgbClr val="40404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temperatures.txt</a:t>
              </a:r>
              <a:endParaRPr lang="en-US" dirty="0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F0AE2A74-6B82-B5D7-A051-E4BE63991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47" y="3520373"/>
            <a:ext cx="4089400" cy="2082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BED4FA-57CA-24BB-AF38-62BF13BF8C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124663"/>
            <a:ext cx="723900" cy="321310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BBC370F-A0B3-532D-52F6-DC2B23849D6B}"/>
              </a:ext>
            </a:extLst>
          </p:cNvPr>
          <p:cNvCxnSpPr/>
          <p:nvPr/>
        </p:nvCxnSpPr>
        <p:spPr>
          <a:xfrm flipV="1">
            <a:off x="2464547" y="3845859"/>
            <a:ext cx="3631453" cy="10085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A51DAC2-A925-4D43-CD5C-2DEB688E3508}"/>
              </a:ext>
            </a:extLst>
          </p:cNvPr>
          <p:cNvSpPr txBox="1"/>
          <p:nvPr/>
        </p:nvSpPr>
        <p:spPr>
          <a:xfrm>
            <a:off x="4654856" y="4189035"/>
            <a:ext cx="811441" cy="369332"/>
          </a:xfrm>
          <a:prstGeom prst="rect">
            <a:avLst/>
          </a:prstGeom>
          <a:noFill/>
          <a:ln>
            <a:solidFill>
              <a:srgbClr val="40404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FBB1B2C9-0759-2B88-80AB-2D84F677B523}"/>
              </a:ext>
            </a:extLst>
          </p:cNvPr>
          <p:cNvSpPr/>
          <p:nvPr/>
        </p:nvSpPr>
        <p:spPr>
          <a:xfrm>
            <a:off x="6965576" y="3124663"/>
            <a:ext cx="282389" cy="32131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5F39FD-C096-6F73-D7C3-6F7F6360E347}"/>
              </a:ext>
            </a:extLst>
          </p:cNvPr>
          <p:cNvSpPr txBox="1"/>
          <p:nvPr/>
        </p:nvSpPr>
        <p:spPr>
          <a:xfrm>
            <a:off x="7277586" y="4479223"/>
            <a:ext cx="217569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Why the extra space</a:t>
            </a:r>
          </a:p>
          <a:p>
            <a:r>
              <a:rPr lang="en-US" dirty="0"/>
              <a:t>after each line?</a:t>
            </a:r>
          </a:p>
        </p:txBody>
      </p:sp>
    </p:spTree>
    <p:extLst>
      <p:ext uri="{BB962C8B-B14F-4D97-AF65-F5344CB8AC3E}">
        <p14:creationId xmlns:p14="http://schemas.microsoft.com/office/powerpoint/2010/main" val="2199389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49299-E794-3D81-5DBB-D63ED8E65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Files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E73D94D-4E46-EC0F-21F5-04E53E47DD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1136" y="2342590"/>
            <a:ext cx="7309664" cy="3661588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480BB43-9919-018B-076C-B99385EEA3C6}"/>
              </a:ext>
            </a:extLst>
          </p:cNvPr>
          <p:cNvCxnSpPr/>
          <p:nvPr/>
        </p:nvCxnSpPr>
        <p:spPr>
          <a:xfrm flipV="1">
            <a:off x="3321424" y="5970494"/>
            <a:ext cx="0" cy="3765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080A345-0611-5AED-855E-30380D250ED3}"/>
              </a:ext>
            </a:extLst>
          </p:cNvPr>
          <p:cNvSpPr txBox="1"/>
          <p:nvPr/>
        </p:nvSpPr>
        <p:spPr>
          <a:xfrm>
            <a:off x="2097741" y="6347012"/>
            <a:ext cx="5005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newline character is read with each line as well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439C946-935C-9071-9D51-50DA8DD830C6}"/>
              </a:ext>
            </a:extLst>
          </p:cNvPr>
          <p:cNvCxnSpPr>
            <a:cxnSpLocks/>
          </p:cNvCxnSpPr>
          <p:nvPr/>
        </p:nvCxnSpPr>
        <p:spPr>
          <a:xfrm flipH="1">
            <a:off x="9238129" y="5755341"/>
            <a:ext cx="9547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4E6DEF0-B0C8-A37B-0BB1-08CAF6A27B3D}"/>
              </a:ext>
            </a:extLst>
          </p:cNvPr>
          <p:cNvSpPr txBox="1"/>
          <p:nvPr/>
        </p:nvSpPr>
        <p:spPr>
          <a:xfrm>
            <a:off x="9762565" y="5325762"/>
            <a:ext cx="220701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The file ends abruptly</a:t>
            </a:r>
          </a:p>
        </p:txBody>
      </p:sp>
    </p:spTree>
    <p:extLst>
      <p:ext uri="{BB962C8B-B14F-4D97-AF65-F5344CB8AC3E}">
        <p14:creationId xmlns:p14="http://schemas.microsoft.com/office/powerpoint/2010/main" val="1806978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B0DB-EAE6-32D9-5718-4778E2B1D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Files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C76B3BE-1A87-7A27-8148-A4D4FB12C2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3877" y="2530849"/>
            <a:ext cx="7706987" cy="378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4995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D9B6CF-87DD-47C7-B38D-7C5353D4D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EE6827-A1B5-28FF-EB08-8A2EDDF9E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3" y="2133600"/>
            <a:ext cx="3044952" cy="1898904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dirty="0"/>
              <a:t>Self-Check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E2328B-DA12-4B90-BD82-3CCF13AF6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640080"/>
            <a:ext cx="6897625" cy="5263134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7FF0B6-332F-4842-A5F8-EA360BD5F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0412" y="802767"/>
            <a:ext cx="6565392" cy="4937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DEF7CDF-7369-D1BA-AA25-D020A01A6B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35239" y="1122807"/>
            <a:ext cx="4735737" cy="429768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ABC3C3EF-ABF0-63C1-CA39-E1334F73E6C8}"/>
              </a:ext>
            </a:extLst>
          </p:cNvPr>
          <p:cNvGrpSpPr/>
          <p:nvPr/>
        </p:nvGrpSpPr>
        <p:grpSpPr>
          <a:xfrm>
            <a:off x="1434623" y="4171449"/>
            <a:ext cx="1785052" cy="2498076"/>
            <a:chOff x="8484557" y="3059668"/>
            <a:chExt cx="1785052" cy="249807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A124638-41EC-458A-7FE2-0369B9F308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977033" y="3640044"/>
              <a:ext cx="800100" cy="191770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B7948E6-D87A-2082-3ECC-52FA9E1573C7}"/>
                </a:ext>
              </a:extLst>
            </p:cNvPr>
            <p:cNvSpPr txBox="1"/>
            <p:nvPr/>
          </p:nvSpPr>
          <p:spPr>
            <a:xfrm>
              <a:off x="8484557" y="3059668"/>
              <a:ext cx="1785052" cy="369332"/>
            </a:xfrm>
            <a:prstGeom prst="rect">
              <a:avLst/>
            </a:prstGeom>
            <a:noFill/>
            <a:ln>
              <a:solidFill>
                <a:srgbClr val="40404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chemeClr val="bg1"/>
                  </a:solidFill>
                </a:rPr>
                <a:t>temperatures.txt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7686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6C01C4-9746-A404-DEF9-8BA5953C3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46C6EB-23EB-759B-2054-BCAA3D553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dirty="0"/>
              <a:t>Self-Check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F14DB7D-79D8-0105-0508-2138A59E87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23349" y="640080"/>
            <a:ext cx="5799598" cy="526313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D8A281A-0027-8559-DABB-42D69D257BD8}"/>
              </a:ext>
            </a:extLst>
          </p:cNvPr>
          <p:cNvSpPr txBox="1"/>
          <p:nvPr/>
        </p:nvSpPr>
        <p:spPr>
          <a:xfrm>
            <a:off x="869053" y="4491317"/>
            <a:ext cx="31466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The lexicographically ordered smallest line of text from the file </a:t>
            </a:r>
          </a:p>
          <a:p>
            <a:r>
              <a:rPr lang="en-US" sz="2400" dirty="0">
                <a:solidFill>
                  <a:schemeClr val="bg1"/>
                </a:solidFill>
              </a:rPr>
              <a:t>i.e.,: “-1.8”</a:t>
            </a:r>
          </a:p>
        </p:txBody>
      </p:sp>
    </p:spTree>
    <p:extLst>
      <p:ext uri="{BB962C8B-B14F-4D97-AF65-F5344CB8AC3E}">
        <p14:creationId xmlns:p14="http://schemas.microsoft.com/office/powerpoint/2010/main" val="3984448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D9B6CF-87DD-47C7-B38D-7C5353D4D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C4EB74-8FBD-E75F-CEAA-986B8A6CB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3" y="2133600"/>
            <a:ext cx="3044952" cy="1898904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dirty="0"/>
              <a:t>Converting Text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E2328B-DA12-4B90-BD82-3CCF13AF6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640080"/>
            <a:ext cx="6897625" cy="5263134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7FF0B6-332F-4842-A5F8-EA360BD5F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0412" y="802767"/>
            <a:ext cx="6565392" cy="4937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95BE6BB-9767-B303-02DA-41FE886134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35239" y="1122807"/>
            <a:ext cx="4735737" cy="429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854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99BBC-B312-6F0F-F109-1609187B2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</a:t>
            </a:r>
            <a:r>
              <a:rPr lang="en-US" dirty="0" err="1"/>
              <a:t>FiLES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8B33E-1E71-A823-DE5A-58E33C0E3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alternative to the repetition-based line reading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6040D0-D25B-4A3F-32AC-2BF011E9F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853" y="3180976"/>
            <a:ext cx="5765800" cy="345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6389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AD7C5BE-418C-4A44-91BF-28E411F75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120" y="1559052"/>
            <a:ext cx="10271760" cy="4347972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B8DDA9-4569-E11F-3163-7FA05657F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ln>
            <a:solidFill>
              <a:srgbClr val="404040"/>
            </a:solidFill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Consider a Tabular File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4CB80E9-EACA-3A0D-19F4-CA4D8BEA2B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8915" y="3283224"/>
            <a:ext cx="9314170" cy="23513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AAD792-A715-1614-6392-B49163A9E3D0}"/>
              </a:ext>
            </a:extLst>
          </p:cNvPr>
          <p:cNvSpPr txBox="1"/>
          <p:nvPr/>
        </p:nvSpPr>
        <p:spPr>
          <a:xfrm>
            <a:off x="1438915" y="2747772"/>
            <a:ext cx="1442831" cy="369332"/>
          </a:xfrm>
          <a:prstGeom prst="rect">
            <a:avLst/>
          </a:prstGeom>
          <a:noFill/>
          <a:ln>
            <a:solidFill>
              <a:srgbClr val="40404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temptable.txt</a:t>
            </a: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57EB741-9E40-DE61-2F62-0799F7067494}"/>
              </a:ext>
            </a:extLst>
          </p:cNvPr>
          <p:cNvCxnSpPr/>
          <p:nvPr/>
        </p:nvCxnSpPr>
        <p:spPr>
          <a:xfrm flipV="1">
            <a:off x="1976718" y="5634595"/>
            <a:ext cx="0" cy="5779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5EC7613-5EF4-4F3B-12A1-086A81719A67}"/>
              </a:ext>
            </a:extLst>
          </p:cNvPr>
          <p:cNvSpPr txBox="1"/>
          <p:nvPr/>
        </p:nvSpPr>
        <p:spPr>
          <a:xfrm>
            <a:off x="1263499" y="6212541"/>
            <a:ext cx="193527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Weatherstation</a:t>
            </a:r>
            <a:r>
              <a:rPr lang="en-US" dirty="0"/>
              <a:t> ID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61E48C8-D964-8F16-6F5A-1C96534BEDCE}"/>
              </a:ext>
            </a:extLst>
          </p:cNvPr>
          <p:cNvCxnSpPr/>
          <p:nvPr/>
        </p:nvCxnSpPr>
        <p:spPr>
          <a:xfrm flipH="1" flipV="1">
            <a:off x="3402106" y="5513294"/>
            <a:ext cx="847165" cy="6992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C4E84E0-A63E-9D01-E17B-5E1B5D97A145}"/>
              </a:ext>
            </a:extLst>
          </p:cNvPr>
          <p:cNvSpPr txBox="1"/>
          <p:nvPr/>
        </p:nvSpPr>
        <p:spPr>
          <a:xfrm>
            <a:off x="4215370" y="6212541"/>
            <a:ext cx="387644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Temperatures from that </a:t>
            </a:r>
            <a:r>
              <a:rPr lang="en-US" dirty="0" err="1"/>
              <a:t>weatherstation</a:t>
            </a:r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27AD380-F0BB-B845-C411-964E6DC1EFF6}"/>
              </a:ext>
            </a:extLst>
          </p:cNvPr>
          <p:cNvCxnSpPr/>
          <p:nvPr/>
        </p:nvCxnSpPr>
        <p:spPr>
          <a:xfrm flipH="1" flipV="1">
            <a:off x="4639235" y="5513294"/>
            <a:ext cx="376518" cy="6992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3E0F363-E207-6BED-6C17-F2778E18BDCD}"/>
              </a:ext>
            </a:extLst>
          </p:cNvPr>
          <p:cNvCxnSpPr>
            <a:cxnSpLocks/>
          </p:cNvCxnSpPr>
          <p:nvPr/>
        </p:nvCxnSpPr>
        <p:spPr>
          <a:xfrm flipV="1">
            <a:off x="5599043" y="5506709"/>
            <a:ext cx="366291" cy="705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AA15424-466F-2127-DA3D-7ADBBD93F7E6}"/>
              </a:ext>
            </a:extLst>
          </p:cNvPr>
          <p:cNvCxnSpPr>
            <a:cxnSpLocks/>
          </p:cNvCxnSpPr>
          <p:nvPr/>
        </p:nvCxnSpPr>
        <p:spPr>
          <a:xfrm flipV="1">
            <a:off x="6881926" y="5513294"/>
            <a:ext cx="366291" cy="705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356833F-F0BF-A765-5F21-F947BE26535C}"/>
              </a:ext>
            </a:extLst>
          </p:cNvPr>
          <p:cNvCxnSpPr>
            <a:cxnSpLocks/>
          </p:cNvCxnSpPr>
          <p:nvPr/>
        </p:nvCxnSpPr>
        <p:spPr>
          <a:xfrm flipV="1">
            <a:off x="8051395" y="5513294"/>
            <a:ext cx="366291" cy="705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CC9B442-227C-7133-2893-DB10088CCEC9}"/>
              </a:ext>
            </a:extLst>
          </p:cNvPr>
          <p:cNvCxnSpPr>
            <a:cxnSpLocks/>
          </p:cNvCxnSpPr>
          <p:nvPr/>
        </p:nvCxnSpPr>
        <p:spPr>
          <a:xfrm flipV="1">
            <a:off x="8091816" y="5463053"/>
            <a:ext cx="1789056" cy="958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50188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BFAAB-0A5A-D77C-514D-0A3CBD572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Tabular File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70B204F-698C-325F-9FAC-1F9A55F22E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1136" y="2858008"/>
            <a:ext cx="3975100" cy="303530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9063D62-D3B3-8ED0-1EA8-C6FD711A80A6}"/>
              </a:ext>
            </a:extLst>
          </p:cNvPr>
          <p:cNvCxnSpPr/>
          <p:nvPr/>
        </p:nvCxnSpPr>
        <p:spPr>
          <a:xfrm flipH="1">
            <a:off x="5284694" y="5271247"/>
            <a:ext cx="15195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D28829B-AB84-BB0F-8BD9-7ADA857FEBD9}"/>
              </a:ext>
            </a:extLst>
          </p:cNvPr>
          <p:cNvSpPr txBox="1"/>
          <p:nvPr/>
        </p:nvSpPr>
        <p:spPr>
          <a:xfrm>
            <a:off x="7073153" y="5069541"/>
            <a:ext cx="2215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to access this 6?</a:t>
            </a:r>
          </a:p>
        </p:txBody>
      </p:sp>
    </p:spTree>
    <p:extLst>
      <p:ext uri="{BB962C8B-B14F-4D97-AF65-F5344CB8AC3E}">
        <p14:creationId xmlns:p14="http://schemas.microsoft.com/office/powerpoint/2010/main" val="14986002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084BB-01D7-85BB-3FED-04CDA561A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Split Strings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CB112F0-E2D1-2D26-906F-DDC71A380F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2377" y="2436719"/>
            <a:ext cx="6454269" cy="3802716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BA73E2A-119F-8C98-0BDB-8CF594712901}"/>
              </a:ext>
            </a:extLst>
          </p:cNvPr>
          <p:cNvCxnSpPr/>
          <p:nvPr/>
        </p:nvCxnSpPr>
        <p:spPr>
          <a:xfrm flipH="1" flipV="1">
            <a:off x="7221071" y="3926541"/>
            <a:ext cx="2739793" cy="2420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137F462-2ED3-8F65-28E6-B42CE2278766}"/>
              </a:ext>
            </a:extLst>
          </p:cNvPr>
          <p:cNvSpPr txBox="1"/>
          <p:nvPr/>
        </p:nvSpPr>
        <p:spPr>
          <a:xfrm>
            <a:off x="10071847" y="3926541"/>
            <a:ext cx="1936377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split() accepts a delimiter (whitespace by default)</a:t>
            </a:r>
          </a:p>
        </p:txBody>
      </p:sp>
    </p:spTree>
    <p:extLst>
      <p:ext uri="{BB962C8B-B14F-4D97-AF65-F5344CB8AC3E}">
        <p14:creationId xmlns:p14="http://schemas.microsoft.com/office/powerpoint/2010/main" val="23336540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4AFC1-DC10-5E8C-6622-2B1CFF68A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Self-check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65E3F44-7ECA-FA6D-B9F1-EC8414EE06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24997" y="2953776"/>
            <a:ext cx="4711700" cy="23368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A391845-F849-FA8C-3C0F-1E9FD043338D}"/>
              </a:ext>
            </a:extLst>
          </p:cNvPr>
          <p:cNvSpPr/>
          <p:nvPr/>
        </p:nvSpPr>
        <p:spPr>
          <a:xfrm>
            <a:off x="3524997" y="4814048"/>
            <a:ext cx="4711700" cy="4765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B3C298-FA3A-E353-0464-044686029E9D}"/>
              </a:ext>
            </a:extLst>
          </p:cNvPr>
          <p:cNvSpPr txBox="1"/>
          <p:nvPr/>
        </p:nvSpPr>
        <p:spPr>
          <a:xfrm>
            <a:off x="2507452" y="2368928"/>
            <a:ext cx="2053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is the output?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1EAFCEA-478C-76C1-E0F5-2F5D2B62E269}"/>
              </a:ext>
            </a:extLst>
          </p:cNvPr>
          <p:cNvCxnSpPr/>
          <p:nvPr/>
        </p:nvCxnSpPr>
        <p:spPr>
          <a:xfrm flipH="1" flipV="1">
            <a:off x="6239435" y="4155141"/>
            <a:ext cx="2514600" cy="779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51DCFB9-F12D-6CC9-887D-D47D6850A344}"/>
              </a:ext>
            </a:extLst>
          </p:cNvPr>
          <p:cNvSpPr txBox="1"/>
          <p:nvPr/>
        </p:nvSpPr>
        <p:spPr>
          <a:xfrm>
            <a:off x="9063318" y="4840941"/>
            <a:ext cx="2138082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Delimiter to determine split points</a:t>
            </a:r>
          </a:p>
        </p:txBody>
      </p:sp>
    </p:spTree>
    <p:extLst>
      <p:ext uri="{BB962C8B-B14F-4D97-AF65-F5344CB8AC3E}">
        <p14:creationId xmlns:p14="http://schemas.microsoft.com/office/powerpoint/2010/main" val="22002156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94B16-F7D4-6DB6-6A0F-502872651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1B154-170C-847D-0070-351D29DE7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Self-check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0C1BD08-A78E-940E-9B4A-4999C916B4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24997" y="2953776"/>
            <a:ext cx="4711700" cy="23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8784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57B65-AC0E-8F68-A5D4-0D4630C03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Text Files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0B0C528-1C23-C012-274D-33ECE5E129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7091" y="3261565"/>
            <a:ext cx="5321300" cy="482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824D-8D7C-0C8F-5142-4F5726C5D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7091" y="4369718"/>
            <a:ext cx="5321300" cy="48260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5262534-5CB5-C384-20D6-D3249E0F378C}"/>
              </a:ext>
            </a:extLst>
          </p:cNvPr>
          <p:cNvCxnSpPr/>
          <p:nvPr/>
        </p:nvCxnSpPr>
        <p:spPr>
          <a:xfrm flipH="1" flipV="1">
            <a:off x="8304028" y="3625702"/>
            <a:ext cx="893135" cy="382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29CDC5A-65C1-CF02-DEB2-F267B4261A5B}"/>
              </a:ext>
            </a:extLst>
          </p:cNvPr>
          <p:cNvSpPr txBox="1"/>
          <p:nvPr/>
        </p:nvSpPr>
        <p:spPr>
          <a:xfrm>
            <a:off x="9197163" y="3625702"/>
            <a:ext cx="2803451" cy="923330"/>
          </a:xfrm>
          <a:prstGeom prst="rect">
            <a:avLst/>
          </a:prstGeom>
          <a:noFill/>
          <a:ln>
            <a:solidFill>
              <a:srgbClr val="40404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Write: creates or overwrites the contents of a file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4E332FE-6B81-4529-8814-46F3F66B08E6}"/>
              </a:ext>
            </a:extLst>
          </p:cNvPr>
          <p:cNvCxnSpPr/>
          <p:nvPr/>
        </p:nvCxnSpPr>
        <p:spPr>
          <a:xfrm flipH="1" flipV="1">
            <a:off x="8304028" y="4752109"/>
            <a:ext cx="632154" cy="5818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1DCBF09-28DE-18E1-A865-DFF595692848}"/>
              </a:ext>
            </a:extLst>
          </p:cNvPr>
          <p:cNvSpPr txBox="1"/>
          <p:nvPr/>
        </p:nvSpPr>
        <p:spPr>
          <a:xfrm>
            <a:off x="8750595" y="5292667"/>
            <a:ext cx="29787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Append: creates or appends to the contents of an existing file</a:t>
            </a:r>
          </a:p>
        </p:txBody>
      </p:sp>
    </p:spTree>
    <p:extLst>
      <p:ext uri="{BB962C8B-B14F-4D97-AF65-F5344CB8AC3E}">
        <p14:creationId xmlns:p14="http://schemas.microsoft.com/office/powerpoint/2010/main" val="40193288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D9B6CF-87DD-47C7-B38D-7C5353D4D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8587E1-8E5C-E4A5-67E8-6FB3ACC35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3" y="2133600"/>
            <a:ext cx="3044952" cy="1898904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dirty="0"/>
              <a:t>Write examples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E2328B-DA12-4B90-BD82-3CCF13AF6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640080"/>
            <a:ext cx="6897625" cy="5263134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7FF0B6-332F-4842-A5F8-EA360BD5F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0412" y="802767"/>
            <a:ext cx="6565392" cy="4937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computer code with text&#10;&#10;AI-generated content may be incorrect.">
            <a:extLst>
              <a:ext uri="{FF2B5EF4-FFF2-40B4-BE49-F238E27FC236}">
                <a16:creationId xmlns:a16="http://schemas.microsoft.com/office/drawing/2014/main" id="{B74843C5-03D6-F116-7FA6-210F8AE419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40452" y="1694032"/>
            <a:ext cx="5925312" cy="3155229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3CAF270-3C79-A322-8E1C-3C5CE2833843}"/>
              </a:ext>
            </a:extLst>
          </p:cNvPr>
          <p:cNvCxnSpPr/>
          <p:nvPr/>
        </p:nvCxnSpPr>
        <p:spPr>
          <a:xfrm flipH="1" flipV="1">
            <a:off x="7744691" y="3768436"/>
            <a:ext cx="1233054" cy="969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C769394-EDAC-EF32-CD51-DB34E005F1FE}"/>
              </a:ext>
            </a:extLst>
          </p:cNvPr>
          <p:cNvSpPr txBox="1"/>
          <p:nvPr/>
        </p:nvSpPr>
        <p:spPr>
          <a:xfrm>
            <a:off x="8480201" y="4745939"/>
            <a:ext cx="2585564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Does not automatically add a ‘\n’</a:t>
            </a:r>
          </a:p>
        </p:txBody>
      </p:sp>
    </p:spTree>
    <p:extLst>
      <p:ext uri="{BB962C8B-B14F-4D97-AF65-F5344CB8AC3E}">
        <p14:creationId xmlns:p14="http://schemas.microsoft.com/office/powerpoint/2010/main" val="25914583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D9B6CF-87DD-47C7-B38D-7C5353D4D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628F57-4C7E-F618-48EB-022F29B90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3" y="2133600"/>
            <a:ext cx="3044952" cy="1898904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dirty="0"/>
              <a:t>Write examples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E2328B-DA12-4B90-BD82-3CCF13AF6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640080"/>
            <a:ext cx="6897625" cy="5263134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7FF0B6-332F-4842-A5F8-EA360BD5F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0412" y="802767"/>
            <a:ext cx="6565392" cy="4937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8D09C27-925E-4651-182F-FA82EEBCC9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40452" y="2434697"/>
            <a:ext cx="5925312" cy="1673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60026B2-8A7D-B6B7-BC3A-6301EF804028}"/>
              </a:ext>
            </a:extLst>
          </p:cNvPr>
          <p:cNvSpPr txBox="1"/>
          <p:nvPr/>
        </p:nvSpPr>
        <p:spPr>
          <a:xfrm>
            <a:off x="640079" y="4227114"/>
            <a:ext cx="276897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If you ran this code over and over it would append ”test” to the file over and over</a:t>
            </a:r>
          </a:p>
        </p:txBody>
      </p:sp>
    </p:spTree>
    <p:extLst>
      <p:ext uri="{BB962C8B-B14F-4D97-AF65-F5344CB8AC3E}">
        <p14:creationId xmlns:p14="http://schemas.microsoft.com/office/powerpoint/2010/main" val="11196676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13494-3DCE-5213-FD31-8C607320C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9C25F1B-19A3-5B83-612F-F6A92D4926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29561" y="2789476"/>
            <a:ext cx="4237204" cy="37106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BA44914-ED66-669A-182D-17FE46DD6740}"/>
              </a:ext>
            </a:extLst>
          </p:cNvPr>
          <p:cNvSpPr txBox="1"/>
          <p:nvPr/>
        </p:nvSpPr>
        <p:spPr>
          <a:xfrm>
            <a:off x="1025236" y="3059668"/>
            <a:ext cx="5339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Consider we want to write a list of numbers out to file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AAE680-60D7-372D-3003-618D7CC5E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4141" y="3655291"/>
            <a:ext cx="2908300" cy="2844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EB4126-2DDF-365B-F5AD-CB0B312B5687}"/>
              </a:ext>
            </a:extLst>
          </p:cNvPr>
          <p:cNvSpPr txBox="1"/>
          <p:nvPr/>
        </p:nvSpPr>
        <p:spPr>
          <a:xfrm>
            <a:off x="2784764" y="3655291"/>
            <a:ext cx="1317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numbers.txt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7837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2021F-6BE6-3214-8F20-87EF46489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.join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77E6A-E92E-7928-0828-5D1C5B95E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1973" y="3012117"/>
            <a:ext cx="7729728" cy="1449047"/>
          </a:xfrm>
        </p:spPr>
        <p:txBody>
          <a:bodyPr/>
          <a:lstStyle/>
          <a:p>
            <a:r>
              <a:rPr lang="en-US" dirty="0"/>
              <a:t>.join concatenates a sequence of strings together with a specified separator</a:t>
            </a:r>
          </a:p>
          <a:p>
            <a:r>
              <a:rPr lang="en-US" dirty="0"/>
              <a:t>the separator is the string on which .join is called</a:t>
            </a:r>
          </a:p>
          <a:p>
            <a:r>
              <a:rPr lang="en-US" dirty="0"/>
              <a:t>Example: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37A726-FFAD-1687-6E8F-169B2B4E1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973" y="4890654"/>
            <a:ext cx="7516088" cy="1717963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EFA66F5-56AC-92D0-4C36-890B7652A976}"/>
              </a:ext>
            </a:extLst>
          </p:cNvPr>
          <p:cNvCxnSpPr/>
          <p:nvPr/>
        </p:nvCxnSpPr>
        <p:spPr>
          <a:xfrm flipH="1">
            <a:off x="4281055" y="4461164"/>
            <a:ext cx="193963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FFF775E-5C8C-E485-8266-EDA7304DC348}"/>
              </a:ext>
            </a:extLst>
          </p:cNvPr>
          <p:cNvSpPr txBox="1"/>
          <p:nvPr/>
        </p:nvSpPr>
        <p:spPr>
          <a:xfrm>
            <a:off x="3934645" y="4091832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separator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98D0430-E21D-A941-19AC-B582B41E02BC}"/>
              </a:ext>
            </a:extLst>
          </p:cNvPr>
          <p:cNvCxnSpPr/>
          <p:nvPr/>
        </p:nvCxnSpPr>
        <p:spPr>
          <a:xfrm flipH="1">
            <a:off x="7550727" y="4276498"/>
            <a:ext cx="290946" cy="4894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017AE6C-F798-84F3-1E76-3C7911C0F463}"/>
              </a:ext>
            </a:extLst>
          </p:cNvPr>
          <p:cNvSpPr txBox="1"/>
          <p:nvPr/>
        </p:nvSpPr>
        <p:spPr>
          <a:xfrm>
            <a:off x="7398327" y="3967142"/>
            <a:ext cx="1991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Sequence of strings</a:t>
            </a:r>
          </a:p>
        </p:txBody>
      </p:sp>
    </p:spTree>
    <p:extLst>
      <p:ext uri="{BB962C8B-B14F-4D97-AF65-F5344CB8AC3E}">
        <p14:creationId xmlns:p14="http://schemas.microsoft.com/office/powerpoint/2010/main" val="33999834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45F04-132F-400A-1952-068FF6689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to file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0036EDE-05CC-F9EF-3E46-79809EAFB9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15127" y="2598809"/>
            <a:ext cx="7882260" cy="22034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8DD1AC2-FAC6-703C-8FAD-8F97CA260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613" y="3379859"/>
            <a:ext cx="2908300" cy="2844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7BF435D-8424-1CD3-A8AD-AFB3F1C691AB}"/>
              </a:ext>
            </a:extLst>
          </p:cNvPr>
          <p:cNvSpPr txBox="1"/>
          <p:nvPr/>
        </p:nvSpPr>
        <p:spPr>
          <a:xfrm>
            <a:off x="1177636" y="3429000"/>
            <a:ext cx="1317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numbers.txt</a:t>
            </a: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0496326-9316-925B-BE47-32D61E9C9062}"/>
              </a:ext>
            </a:extLst>
          </p:cNvPr>
          <p:cNvCxnSpPr/>
          <p:nvPr/>
        </p:nvCxnSpPr>
        <p:spPr>
          <a:xfrm flipV="1">
            <a:off x="6816436" y="4378036"/>
            <a:ext cx="0" cy="15794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F125BD6-FE3F-0814-462C-102FCE19D230}"/>
              </a:ext>
            </a:extLst>
          </p:cNvPr>
          <p:cNvSpPr txBox="1"/>
          <p:nvPr/>
        </p:nvSpPr>
        <p:spPr>
          <a:xfrm>
            <a:off x="5865271" y="5902037"/>
            <a:ext cx="5647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.join with list comprehension to convert the </a:t>
            </a:r>
            <a:r>
              <a:rPr lang="en-US" dirty="0" err="1"/>
              <a:t>ints</a:t>
            </a:r>
            <a:r>
              <a:rPr lang="en-US" dirty="0"/>
              <a:t> to strings</a:t>
            </a:r>
          </a:p>
        </p:txBody>
      </p:sp>
    </p:spTree>
    <p:extLst>
      <p:ext uri="{BB962C8B-B14F-4D97-AF65-F5344CB8AC3E}">
        <p14:creationId xmlns:p14="http://schemas.microsoft.com/office/powerpoint/2010/main" val="20943533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018584-A93D-F10C-3494-BA74693DE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US" sz="3000">
                <a:solidFill>
                  <a:srgbClr val="FFFFFF"/>
                </a:solidFill>
              </a:rPr>
              <a:t>Paths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E0DF6-BC4E-394D-E1EE-4A387F2D1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1273" y="277091"/>
            <a:ext cx="6290254" cy="1870363"/>
          </a:xfrm>
        </p:spPr>
        <p:txBody>
          <a:bodyPr anchor="ctr">
            <a:normAutofit/>
          </a:bodyPr>
          <a:lstStyle/>
          <a:p>
            <a:r>
              <a:rPr lang="en-US" b="1" dirty="0"/>
              <a:t>Absolute paths</a:t>
            </a:r>
            <a:r>
              <a:rPr lang="en-US" dirty="0"/>
              <a:t>: specify the entire path from the beginning of the file system to a particular file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CE8653-5F45-E455-DA24-7A32F7CEB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9103" y="1887104"/>
            <a:ext cx="5803900" cy="520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EE91D8-6CF9-0B2A-EC41-607186F38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529" y="2621279"/>
            <a:ext cx="5067300" cy="5207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A8242C-8ADC-A248-C062-9B185EF5A35B}"/>
              </a:ext>
            </a:extLst>
          </p:cNvPr>
          <p:cNvSpPr txBox="1"/>
          <p:nvPr/>
        </p:nvSpPr>
        <p:spPr>
          <a:xfrm>
            <a:off x="5232805" y="1595701"/>
            <a:ext cx="1982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Windows example: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ED4AB7-2128-C5C3-68F5-A98302ECE1A4}"/>
              </a:ext>
            </a:extLst>
          </p:cNvPr>
          <p:cNvSpPr txBox="1"/>
          <p:nvPr/>
        </p:nvSpPr>
        <p:spPr>
          <a:xfrm>
            <a:off x="5232805" y="2357585"/>
            <a:ext cx="1752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macOS example: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1493337-FBEB-F87F-8AC4-1A4C31F4BB46}"/>
              </a:ext>
            </a:extLst>
          </p:cNvPr>
          <p:cNvCxnSpPr>
            <a:cxnSpLocks/>
          </p:cNvCxnSpPr>
          <p:nvPr/>
        </p:nvCxnSpPr>
        <p:spPr>
          <a:xfrm flipH="1" flipV="1">
            <a:off x="6224102" y="3141979"/>
            <a:ext cx="318654" cy="431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F3ACB40-46A5-5550-9D98-2AA607592011}"/>
              </a:ext>
            </a:extLst>
          </p:cNvPr>
          <p:cNvCxnSpPr>
            <a:cxnSpLocks/>
          </p:cNvCxnSpPr>
          <p:nvPr/>
        </p:nvCxnSpPr>
        <p:spPr>
          <a:xfrm flipV="1">
            <a:off x="6872277" y="3141979"/>
            <a:ext cx="112931" cy="418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D99F40E-29AC-42B5-C0D1-F556C1F7CDE5}"/>
              </a:ext>
            </a:extLst>
          </p:cNvPr>
          <p:cNvCxnSpPr>
            <a:cxnSpLocks/>
          </p:cNvCxnSpPr>
          <p:nvPr/>
        </p:nvCxnSpPr>
        <p:spPr>
          <a:xfrm flipV="1">
            <a:off x="7047480" y="3065779"/>
            <a:ext cx="583606" cy="507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D1FE0D4-4060-E708-8565-668E8E4CBCEB}"/>
              </a:ext>
            </a:extLst>
          </p:cNvPr>
          <p:cNvSpPr txBox="1"/>
          <p:nvPr/>
        </p:nvSpPr>
        <p:spPr>
          <a:xfrm>
            <a:off x="5232805" y="3615431"/>
            <a:ext cx="72832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At the start of the file system in the folder home then </a:t>
            </a:r>
            <a:r>
              <a:rPr lang="en-US" dirty="0" err="1"/>
              <a:t>chris</a:t>
            </a:r>
            <a:r>
              <a:rPr lang="en-US" dirty="0"/>
              <a:t> then Documents there is a file </a:t>
            </a:r>
            <a:r>
              <a:rPr lang="en-US" dirty="0" err="1"/>
              <a:t>awesomedata.csv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6194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9F41D-353A-5545-991D-42ECFB47B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A948E-505C-CE4A-172A-E463A5172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US" sz="3000">
                <a:solidFill>
                  <a:srgbClr val="FFFFFF"/>
                </a:solidFill>
              </a:rPr>
              <a:t>Paths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D5EDA-70BE-507A-1FE1-91989F8D7B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805" y="399287"/>
            <a:ext cx="6290254" cy="1870363"/>
          </a:xfrm>
        </p:spPr>
        <p:txBody>
          <a:bodyPr anchor="ctr">
            <a:normAutofit fontScale="70000" lnSpcReduction="20000"/>
          </a:bodyPr>
          <a:lstStyle/>
          <a:p>
            <a:r>
              <a:rPr lang="en-US" sz="2800" b="1" dirty="0"/>
              <a:t>Relative paths</a:t>
            </a:r>
            <a:r>
              <a:rPr lang="en-US" sz="2800" dirty="0"/>
              <a:t>: specify the path from a current working directory (example where your program is running</a:t>
            </a:r>
          </a:p>
          <a:p>
            <a:r>
              <a:rPr lang="en-US" sz="4800" dirty="0"/>
              <a:t>..</a:t>
            </a:r>
            <a:r>
              <a:rPr lang="en-US" dirty="0"/>
              <a:t> </a:t>
            </a:r>
            <a:r>
              <a:rPr lang="en-US" sz="2900" dirty="0"/>
              <a:t>Is a special name that refers to the parent directory</a:t>
            </a:r>
          </a:p>
          <a:p>
            <a:r>
              <a:rPr lang="en-US" sz="5200" dirty="0"/>
              <a:t>. </a:t>
            </a:r>
            <a:r>
              <a:rPr lang="en-US" sz="2900" dirty="0"/>
              <a:t>Is a special name that refers to the current directory</a:t>
            </a:r>
          </a:p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76192B-1FAC-6583-B3E1-11DFDE5436BB}"/>
              </a:ext>
            </a:extLst>
          </p:cNvPr>
          <p:cNvSpPr txBox="1"/>
          <p:nvPr/>
        </p:nvSpPr>
        <p:spPr>
          <a:xfrm>
            <a:off x="5542698" y="4609796"/>
            <a:ext cx="538842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From our current directory go up to the parent, go up to the parent again, then enter a directory called experiment then data and find a file </a:t>
            </a:r>
            <a:r>
              <a:rPr lang="en-US" sz="2000" dirty="0" err="1"/>
              <a:t>specialdata.txt</a:t>
            </a:r>
            <a:endParaRPr lang="en-US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02ABBB-4571-57B1-EF0F-C81142751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9168" y="2714076"/>
            <a:ext cx="5067300" cy="520700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6DBE6FF-9096-2B7D-7FB9-7EA261D81535}"/>
              </a:ext>
            </a:extLst>
          </p:cNvPr>
          <p:cNvCxnSpPr/>
          <p:nvPr/>
        </p:nvCxnSpPr>
        <p:spPr>
          <a:xfrm flipV="1">
            <a:off x="5844209" y="3234776"/>
            <a:ext cx="0" cy="7541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6E6FDCD-A401-CE9B-E9EB-F39555E83E49}"/>
              </a:ext>
            </a:extLst>
          </p:cNvPr>
          <p:cNvSpPr txBox="1"/>
          <p:nvPr/>
        </p:nvSpPr>
        <p:spPr>
          <a:xfrm>
            <a:off x="5246057" y="3988904"/>
            <a:ext cx="1722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Parent directory</a:t>
            </a:r>
          </a:p>
        </p:txBody>
      </p:sp>
    </p:spTree>
    <p:extLst>
      <p:ext uri="{BB962C8B-B14F-4D97-AF65-F5344CB8AC3E}">
        <p14:creationId xmlns:p14="http://schemas.microsoft.com/office/powerpoint/2010/main" val="8649967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79CE2-9713-F255-3AA9-B7F9F80E6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 Differences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22700-69EE-B58A-CC7F-EC64ECB6E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windows paths are separated using a backward slash “\” </a:t>
            </a:r>
          </a:p>
          <a:p>
            <a:r>
              <a:rPr lang="en-US" dirty="0"/>
              <a:t>On macOS and Linux paths are separated by a forward slash</a:t>
            </a:r>
          </a:p>
          <a:p>
            <a:r>
              <a:rPr lang="en-US" dirty="0"/>
              <a:t>To avoid writing code that only works on windows or </a:t>
            </a:r>
            <a:r>
              <a:rPr lang="en-US" dirty="0" err="1"/>
              <a:t>linux</a:t>
            </a:r>
            <a:r>
              <a:rPr lang="en-US" dirty="0"/>
              <a:t> for example </a:t>
            </a:r>
          </a:p>
          <a:p>
            <a:pPr lvl="1"/>
            <a:r>
              <a:rPr lang="en-US" dirty="0"/>
              <a:t>Use the </a:t>
            </a:r>
            <a:r>
              <a:rPr lang="en-US" dirty="0" err="1"/>
              <a:t>os</a:t>
            </a:r>
            <a:r>
              <a:rPr lang="en-US" dirty="0"/>
              <a:t> module and </a:t>
            </a:r>
            <a:r>
              <a:rPr lang="en-US" dirty="0" err="1"/>
              <a:t>path.join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5495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C7FF834-B204-4967-8D47-8BB36EAF0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80A22D-61EA-43E3-BD94-3E39CF902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18509"/>
            <a:ext cx="12192000" cy="19394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317F31-E5B5-63B0-4850-CD4F3936B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269282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/>
              <a:t>Path .join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0FF0A39-F568-7283-7014-CF874EEE68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50395" y="264040"/>
            <a:ext cx="8045592" cy="3741201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EC0B0E1-D042-6FC4-2C83-141111857AB7}"/>
              </a:ext>
            </a:extLst>
          </p:cNvPr>
          <p:cNvCxnSpPr/>
          <p:nvPr/>
        </p:nvCxnSpPr>
        <p:spPr>
          <a:xfrm>
            <a:off x="2182849" y="1953491"/>
            <a:ext cx="9975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BBC8BED-7AB9-BA1A-A307-DDDE0C12C51A}"/>
              </a:ext>
            </a:extLst>
          </p:cNvPr>
          <p:cNvSpPr txBox="1"/>
          <p:nvPr/>
        </p:nvSpPr>
        <p:spPr>
          <a:xfrm>
            <a:off x="277849" y="1534476"/>
            <a:ext cx="2154382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Do not need to worry if it is “data/</a:t>
            </a:r>
            <a:r>
              <a:rPr lang="en-US" dirty="0" err="1"/>
              <a:t>data.txt</a:t>
            </a:r>
            <a:r>
              <a:rPr lang="en-US" dirty="0"/>
              <a:t>” or “data\</a:t>
            </a:r>
            <a:r>
              <a:rPr lang="en-US" dirty="0" err="1"/>
              <a:t>data.txt</a:t>
            </a:r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172700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6B817-B362-E48C-5BFA-6F2988501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a Partner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DF06E-B740-F7D1-F5D7-825DBB4EF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 each line of the instructions into a tuple containing the command and the integer value e.g.: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5B2897-E771-5D46-64C4-A723106FB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8932" y="3020635"/>
            <a:ext cx="1536700" cy="2336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71F4FA-72DE-E8D8-520E-9D6156CA396F}"/>
              </a:ext>
            </a:extLst>
          </p:cNvPr>
          <p:cNvSpPr txBox="1"/>
          <p:nvPr/>
        </p:nvSpPr>
        <p:spPr>
          <a:xfrm>
            <a:off x="10273553" y="2528047"/>
            <a:ext cx="1609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instructions.txt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5087A8-3ED1-1757-979F-A0F12A9F5BF8}"/>
              </a:ext>
            </a:extLst>
          </p:cNvPr>
          <p:cNvSpPr txBox="1"/>
          <p:nvPr/>
        </p:nvSpPr>
        <p:spPr>
          <a:xfrm>
            <a:off x="2231136" y="3429000"/>
            <a:ext cx="72244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CA" b="0" i="0" dirty="0">
                <a:effectLst/>
                <a:latin typeface="Menlo" panose="020B0609030804020204" pitchFamily="49" charset="0"/>
              </a:rPr>
              <a:t>[('FORWARD', 100), ('RIGHT', 90), ('FORWARD', 100), ('RIGHT', 90), ('FORWARD', 100), ('RIGHT', 90), ('FORWARD', 100), ('RIGHT', 90)]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7908F6B-46DB-01C9-FA61-20E8196D7781}"/>
              </a:ext>
            </a:extLst>
          </p:cNvPr>
          <p:cNvCxnSpPr/>
          <p:nvPr/>
        </p:nvCxnSpPr>
        <p:spPr>
          <a:xfrm flipV="1">
            <a:off x="2864224" y="4352330"/>
            <a:ext cx="0" cy="7844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7311E61-20E8-C953-1B15-4EF3B1CAC6BA}"/>
              </a:ext>
            </a:extLst>
          </p:cNvPr>
          <p:cNvSpPr txBox="1"/>
          <p:nvPr/>
        </p:nvSpPr>
        <p:spPr>
          <a:xfrm>
            <a:off x="1983068" y="5252076"/>
            <a:ext cx="1098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command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8AF671-0DEC-77F1-F86E-8B6A22EADC2A}"/>
              </a:ext>
            </a:extLst>
          </p:cNvPr>
          <p:cNvSpPr txBox="1"/>
          <p:nvPr/>
        </p:nvSpPr>
        <p:spPr>
          <a:xfrm>
            <a:off x="3507068" y="5252076"/>
            <a:ext cx="1385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Integer value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CA1B43B-97B5-EF87-AFE7-4CE7E747A961}"/>
              </a:ext>
            </a:extLst>
          </p:cNvPr>
          <p:cNvCxnSpPr/>
          <p:nvPr/>
        </p:nvCxnSpPr>
        <p:spPr>
          <a:xfrm flipV="1">
            <a:off x="4074459" y="4352330"/>
            <a:ext cx="0" cy="899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11922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A32E1-DC50-D78C-B2F1-49D125A53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At Home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FFE4D-5F55-CA97-5495-3F0CA55C6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Count the words in the file </a:t>
            </a:r>
            <a:r>
              <a:rPr lang="en-US" dirty="0" err="1"/>
              <a:t>gentle.txt</a:t>
            </a:r>
            <a:r>
              <a:rPr lang="en-US" dirty="0"/>
              <a:t> found in the directory poem </a:t>
            </a:r>
          </a:p>
          <a:p>
            <a:pPr lvl="1"/>
            <a:r>
              <a:rPr lang="en-US" dirty="0"/>
              <a:t>Print out the number of words in the file</a:t>
            </a:r>
          </a:p>
          <a:p>
            <a:r>
              <a:rPr lang="en-US" dirty="0"/>
              <a:t>Read the text file </a:t>
            </a:r>
            <a:r>
              <a:rPr lang="en-US" dirty="0" err="1"/>
              <a:t>game_board.txt</a:t>
            </a:r>
            <a:r>
              <a:rPr lang="en-US" dirty="0"/>
              <a:t> into a 2D list where each position in the 2D list is a single character</a:t>
            </a:r>
          </a:p>
          <a:p>
            <a:pPr lvl="1"/>
            <a:r>
              <a:rPr lang="en-US" dirty="0"/>
              <a:t>print out the location of the “P” (index position in the 2D list)</a:t>
            </a:r>
          </a:p>
          <a:p>
            <a:r>
              <a:rPr lang="en-US" dirty="0"/>
              <a:t>Ask the user to enter their first name and then create a file called their name and the extension .txt</a:t>
            </a:r>
          </a:p>
          <a:p>
            <a:pPr lvl="1"/>
            <a:r>
              <a:rPr lang="en-US" dirty="0"/>
              <a:t>Add the length of their name to the file</a:t>
            </a:r>
          </a:p>
        </p:txBody>
      </p:sp>
    </p:spTree>
    <p:extLst>
      <p:ext uri="{BB962C8B-B14F-4D97-AF65-F5344CB8AC3E}">
        <p14:creationId xmlns:p14="http://schemas.microsoft.com/office/powerpoint/2010/main" val="320710704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1715</TotalTime>
  <Words>1108</Words>
  <Application>Microsoft Office PowerPoint</Application>
  <PresentationFormat>Widescreen</PresentationFormat>
  <Paragraphs>141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Gill Sans MT</vt:lpstr>
      <vt:lpstr>Menlo</vt:lpstr>
      <vt:lpstr>Parcel</vt:lpstr>
      <vt:lpstr>Files and Folders Reading from Files Writing to Files</vt:lpstr>
      <vt:lpstr>Types of Storage</vt:lpstr>
      <vt:lpstr>File Systems</vt:lpstr>
      <vt:lpstr>DatA File Formats</vt:lpstr>
      <vt:lpstr>Text Files</vt:lpstr>
      <vt:lpstr>.ipynb</vt:lpstr>
      <vt:lpstr>Opening and closing a File in Python</vt:lpstr>
      <vt:lpstr>Reading Files</vt:lpstr>
      <vt:lpstr>Reading Files</vt:lpstr>
      <vt:lpstr>Reading Files</vt:lpstr>
      <vt:lpstr>Reading Files</vt:lpstr>
      <vt:lpstr>Self-Check</vt:lpstr>
      <vt:lpstr>Self-Check</vt:lpstr>
      <vt:lpstr>Converting Text</vt:lpstr>
      <vt:lpstr>READING FiLES</vt:lpstr>
      <vt:lpstr>Consider a Tabular File</vt:lpstr>
      <vt:lpstr>Tabular File</vt:lpstr>
      <vt:lpstr>Split Strings</vt:lpstr>
      <vt:lpstr>Self-check</vt:lpstr>
      <vt:lpstr>Self-check</vt:lpstr>
      <vt:lpstr>Writing Text Files</vt:lpstr>
      <vt:lpstr>Write examples</vt:lpstr>
      <vt:lpstr>Write examples</vt:lpstr>
      <vt:lpstr>writing</vt:lpstr>
      <vt:lpstr>String .join</vt:lpstr>
      <vt:lpstr>Writing to file</vt:lpstr>
      <vt:lpstr>Paths</vt:lpstr>
      <vt:lpstr>Paths</vt:lpstr>
      <vt:lpstr>OS Differences</vt:lpstr>
      <vt:lpstr>Path .join</vt:lpstr>
      <vt:lpstr>Find a Partner</vt:lpstr>
      <vt:lpstr>Try At Home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Godbout</dc:creator>
  <cp:lastModifiedBy>Christopher Power</cp:lastModifiedBy>
  <cp:revision>3</cp:revision>
  <dcterms:created xsi:type="dcterms:W3CDTF">2025-11-25T15:37:27Z</dcterms:created>
  <dcterms:modified xsi:type="dcterms:W3CDTF">2026-07-23T02:18:49Z</dcterms:modified>
</cp:coreProperties>
</file>