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38"/>
  </p:notesMasterIdLst>
  <p:sldIdLst>
    <p:sldId id="346" r:id="rId2"/>
    <p:sldId id="256" r:id="rId3"/>
    <p:sldId id="257" r:id="rId4"/>
    <p:sldId id="344" r:id="rId5"/>
    <p:sldId id="345" r:id="rId6"/>
    <p:sldId id="318" r:id="rId7"/>
    <p:sldId id="319" r:id="rId8"/>
    <p:sldId id="320" r:id="rId9"/>
    <p:sldId id="321" r:id="rId10"/>
    <p:sldId id="322" r:id="rId11"/>
    <p:sldId id="337" r:id="rId12"/>
    <p:sldId id="338" r:id="rId13"/>
    <p:sldId id="323" r:id="rId14"/>
    <p:sldId id="324" r:id="rId15"/>
    <p:sldId id="325" r:id="rId16"/>
    <p:sldId id="326" r:id="rId17"/>
    <p:sldId id="327" r:id="rId18"/>
    <p:sldId id="311" r:id="rId19"/>
    <p:sldId id="312" r:id="rId20"/>
    <p:sldId id="313" r:id="rId21"/>
    <p:sldId id="314" r:id="rId22"/>
    <p:sldId id="315" r:id="rId23"/>
    <p:sldId id="330" r:id="rId24"/>
    <p:sldId id="328" r:id="rId25"/>
    <p:sldId id="329" r:id="rId26"/>
    <p:sldId id="342" r:id="rId27"/>
    <p:sldId id="308" r:id="rId28"/>
    <p:sldId id="331" r:id="rId29"/>
    <p:sldId id="332" r:id="rId30"/>
    <p:sldId id="334" r:id="rId31"/>
    <p:sldId id="335" r:id="rId32"/>
    <p:sldId id="288" r:id="rId33"/>
    <p:sldId id="296" r:id="rId34"/>
    <p:sldId id="339" r:id="rId35"/>
    <p:sldId id="299" r:id="rId36"/>
    <p:sldId id="34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38"/>
    <p:restoredTop sz="77119" autoAdjust="0"/>
  </p:normalViewPr>
  <p:slideViewPr>
    <p:cSldViewPr snapToGrid="0">
      <p:cViewPr varScale="1">
        <p:scale>
          <a:sx n="85" d="100"/>
          <a:sy n="85" d="100"/>
        </p:scale>
        <p:origin x="9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wer" userId="83706efc-52ec-4aad-b93a-e27c6e901a30" providerId="ADAL" clId="{020B0DAE-24A7-40F8-9A5C-565589CDAAC4}"/>
    <pc:docChg chg="custSel addSld delSld modSld">
      <pc:chgData name="Christopher Power" userId="83706efc-52ec-4aad-b93a-e27c6e901a30" providerId="ADAL" clId="{020B0DAE-24A7-40F8-9A5C-565589CDAAC4}" dt="2026-09-03T19:35:24.537" v="19" actId="700"/>
      <pc:docMkLst>
        <pc:docMk/>
      </pc:docMkLst>
      <pc:sldChg chg="del">
        <pc:chgData name="Christopher Power" userId="83706efc-52ec-4aad-b93a-e27c6e901a30" providerId="ADAL" clId="{020B0DAE-24A7-40F8-9A5C-565589CDAAC4}" dt="2026-09-03T19:35:11.671" v="17" actId="47"/>
        <pc:sldMkLst>
          <pc:docMk/>
          <pc:sldMk cId="2938145428" sldId="340"/>
        </pc:sldMkLst>
      </pc:sldChg>
      <pc:sldChg chg="modSp mod">
        <pc:chgData name="Christopher Power" userId="83706efc-52ec-4aad-b93a-e27c6e901a30" providerId="ADAL" clId="{020B0DAE-24A7-40F8-9A5C-565589CDAAC4}" dt="2026-09-03T19:34:07.854" v="16" actId="27636"/>
        <pc:sldMkLst>
          <pc:docMk/>
          <pc:sldMk cId="1670994567" sldId="344"/>
        </pc:sldMkLst>
        <pc:spChg chg="mod">
          <ac:chgData name="Christopher Power" userId="83706efc-52ec-4aad-b93a-e27c6e901a30" providerId="ADAL" clId="{020B0DAE-24A7-40F8-9A5C-565589CDAAC4}" dt="2026-09-03T19:34:07.854" v="16" actId="27636"/>
          <ac:spMkLst>
            <pc:docMk/>
            <pc:sldMk cId="1670994567" sldId="344"/>
            <ac:spMk id="4" creationId="{2AAC0547-68BD-8F6C-9B5C-89D882DB3754}"/>
          </ac:spMkLst>
        </pc:spChg>
      </pc:sldChg>
      <pc:sldChg chg="modSp mod">
        <pc:chgData name="Christopher Power" userId="83706efc-52ec-4aad-b93a-e27c6e901a30" providerId="ADAL" clId="{020B0DAE-24A7-40F8-9A5C-565589CDAAC4}" dt="2026-09-03T19:34:02.085" v="14" actId="27636"/>
        <pc:sldMkLst>
          <pc:docMk/>
          <pc:sldMk cId="211227348" sldId="345"/>
        </pc:sldMkLst>
        <pc:spChg chg="mod">
          <ac:chgData name="Christopher Power" userId="83706efc-52ec-4aad-b93a-e27c6e901a30" providerId="ADAL" clId="{020B0DAE-24A7-40F8-9A5C-565589CDAAC4}" dt="2026-09-03T19:34:02.085" v="14" actId="27636"/>
          <ac:spMkLst>
            <pc:docMk/>
            <pc:sldMk cId="211227348" sldId="345"/>
            <ac:spMk id="4" creationId="{FD203C1E-997C-E23D-9AB2-D4FAB570F42B}"/>
          </ac:spMkLst>
        </pc:spChg>
        <pc:spChg chg="mod">
          <ac:chgData name="Christopher Power" userId="83706efc-52ec-4aad-b93a-e27c6e901a30" providerId="ADAL" clId="{020B0DAE-24A7-40F8-9A5C-565589CDAAC4}" dt="2026-09-03T19:34:02.085" v="13" actId="27636"/>
          <ac:spMkLst>
            <pc:docMk/>
            <pc:sldMk cId="211227348" sldId="345"/>
            <ac:spMk id="5" creationId="{9EFF568E-1DA6-057D-DB39-9673069A4DCC}"/>
          </ac:spMkLst>
        </pc:spChg>
      </pc:sldChg>
      <pc:sldChg chg="addSp delSp modSp new mod chgLayout">
        <pc:chgData name="Christopher Power" userId="83706efc-52ec-4aad-b93a-e27c6e901a30" providerId="ADAL" clId="{020B0DAE-24A7-40F8-9A5C-565589CDAAC4}" dt="2026-09-03T19:35:24.537" v="19" actId="700"/>
        <pc:sldMkLst>
          <pc:docMk/>
          <pc:sldMk cId="1441734341" sldId="346"/>
        </pc:sldMkLst>
        <pc:spChg chg="del mod ord">
          <ac:chgData name="Christopher Power" userId="83706efc-52ec-4aad-b93a-e27c6e901a30" providerId="ADAL" clId="{020B0DAE-24A7-40F8-9A5C-565589CDAAC4}" dt="2026-09-03T19:35:24.537" v="19" actId="700"/>
          <ac:spMkLst>
            <pc:docMk/>
            <pc:sldMk cId="1441734341" sldId="346"/>
            <ac:spMk id="2" creationId="{84FE4F11-01F6-1AE2-D19B-F3A6B0DCDE28}"/>
          </ac:spMkLst>
        </pc:spChg>
        <pc:spChg chg="del mod ord">
          <ac:chgData name="Christopher Power" userId="83706efc-52ec-4aad-b93a-e27c6e901a30" providerId="ADAL" clId="{020B0DAE-24A7-40F8-9A5C-565589CDAAC4}" dt="2026-09-03T19:35:24.537" v="19" actId="700"/>
          <ac:spMkLst>
            <pc:docMk/>
            <pc:sldMk cId="1441734341" sldId="346"/>
            <ac:spMk id="3" creationId="{08572B9A-2E18-0F61-02C8-A2B3C27A99C4}"/>
          </ac:spMkLst>
        </pc:spChg>
        <pc:spChg chg="add mod ord">
          <ac:chgData name="Christopher Power" userId="83706efc-52ec-4aad-b93a-e27c6e901a30" providerId="ADAL" clId="{020B0DAE-24A7-40F8-9A5C-565589CDAAC4}" dt="2026-09-03T19:35:24.537" v="19" actId="700"/>
          <ac:spMkLst>
            <pc:docMk/>
            <pc:sldMk cId="1441734341" sldId="346"/>
            <ac:spMk id="4" creationId="{09B2CEB9-7CDB-6527-0097-91E4182AA377}"/>
          </ac:spMkLst>
        </pc:spChg>
        <pc:spChg chg="add mod ord">
          <ac:chgData name="Christopher Power" userId="83706efc-52ec-4aad-b93a-e27c6e901a30" providerId="ADAL" clId="{020B0DAE-24A7-40F8-9A5C-565589CDAAC4}" dt="2026-09-03T19:35:24.537" v="19" actId="700"/>
          <ac:spMkLst>
            <pc:docMk/>
            <pc:sldMk cId="1441734341" sldId="346"/>
            <ac:spMk id="5" creationId="{7EAEFB34-A5B5-F874-5D40-3B13BCF10E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A4B8C-BF6B-4440-8121-9D39C04872C3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DFD1E-BA06-C243-A555-A00423D4F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84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Remember to emphasize that the colours indicate different scope – the decision point when it is true has us enter a new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DDFD1E-BA06-C243-A555-A00423D4FC5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51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forms.office.com/r/VwJu6vaKhf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cdspower-upei/2026W-CS1910-Students/blob/main/Lectures/L03/L03-Examples.ipynb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cdspower-upei/2026W-CS1910-Students/blob/main/Homework/HW02/HW-02.ipyn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B2CEB9-7CDB-6527-0097-91E4182A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AEFB34-A5B5-F874-5D40-3B13BCF10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1734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C5BA-038A-1370-693A-933684213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198" y="2474895"/>
            <a:ext cx="6212764" cy="1908215"/>
          </a:xfrm>
          <a:noFill/>
          <a:ln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US" sz="4000">
                <a:solidFill>
                  <a:schemeClr val="tx1"/>
                </a:solidFill>
              </a:rPr>
              <a:t>CS 1910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7A82F3-F6C4-4325-8C9C-7DF1AD06B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2" y="0"/>
            <a:ext cx="406212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B9C7C-BEF1-C07A-6A77-DBDD7148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3732" y="2173266"/>
            <a:ext cx="3254408" cy="2511468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Computer </a:t>
            </a:r>
            <a:r>
              <a:rPr lang="en-US" sz="2400">
                <a:solidFill>
                  <a:schemeClr val="tx2">
                    <a:lumMod val="90000"/>
                  </a:schemeClr>
                </a:solidFill>
              </a:rPr>
              <a:t>Science I </a:t>
            </a:r>
            <a:endParaRPr lang="en-US" sz="2400" dirty="0">
              <a:solidFill>
                <a:schemeClr val="tx2">
                  <a:lumMod val="90000"/>
                </a:schemeClr>
              </a:solidFill>
            </a:endParaRPr>
          </a:p>
          <a:p>
            <a:r>
              <a:rPr lang="en-US" sz="2400" dirty="0">
                <a:solidFill>
                  <a:schemeClr val="tx2">
                    <a:lumMod val="90000"/>
                  </a:schemeClr>
                </a:solidFill>
              </a:rPr>
              <a:t>Variables, Literals and Types</a:t>
            </a:r>
          </a:p>
        </p:txBody>
      </p:sp>
    </p:spTree>
    <p:extLst>
      <p:ext uri="{BB962C8B-B14F-4D97-AF65-F5344CB8AC3E}">
        <p14:creationId xmlns:p14="http://schemas.microsoft.com/office/powerpoint/2010/main" val="3002068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C4E3-91E1-D318-C9FD-C51C7FA7F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617" y="413885"/>
            <a:ext cx="7729728" cy="1188720"/>
          </a:xfrm>
        </p:spPr>
        <p:txBody>
          <a:bodyPr/>
          <a:lstStyle/>
          <a:p>
            <a:r>
              <a:rPr lang="en-US" dirty="0"/>
              <a:t>Try at Home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AAE5B-1BEF-5BC6-978A-C5FB4386E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514" y="2046514"/>
            <a:ext cx="7729728" cy="2745743"/>
          </a:xfrm>
        </p:spPr>
        <p:txBody>
          <a:bodyPr/>
          <a:lstStyle/>
          <a:p>
            <a:r>
              <a:rPr lang="en-US" dirty="0"/>
              <a:t>Turtle Draw – initial in name</a:t>
            </a:r>
          </a:p>
          <a:p>
            <a:r>
              <a:rPr lang="en-US" dirty="0"/>
              <a:t>Tinkering with the prior code – any interesting outcomes?</a:t>
            </a:r>
          </a:p>
          <a:p>
            <a:r>
              <a:rPr lang="en-US" dirty="0"/>
              <a:t>GenAI for the wavey illusion</a:t>
            </a:r>
          </a:p>
          <a:p>
            <a:pPr lvl="1"/>
            <a:r>
              <a:rPr lang="en-US" dirty="0"/>
              <a:t>Success or fail? </a:t>
            </a:r>
          </a:p>
          <a:p>
            <a:pPr lvl="1"/>
            <a:r>
              <a:rPr lang="en-US" dirty="0"/>
              <a:t>What was your strategy?</a:t>
            </a:r>
          </a:p>
          <a:p>
            <a:pPr lvl="1"/>
            <a:r>
              <a:rPr lang="en-US" dirty="0"/>
              <a:t>How many iterations? </a:t>
            </a:r>
          </a:p>
          <a:p>
            <a:pPr lvl="1"/>
            <a:r>
              <a:rPr lang="en-US" dirty="0"/>
              <a:t>How did you debug?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837BB8-A837-8EEF-024A-DFD986CDA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023" y="1934233"/>
            <a:ext cx="4179864" cy="416064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6A5758-299D-67A8-6C25-447D48F67590}"/>
              </a:ext>
            </a:extLst>
          </p:cNvPr>
          <p:cNvCxnSpPr>
            <a:cxnSpLocks/>
          </p:cNvCxnSpPr>
          <p:nvPr/>
        </p:nvCxnSpPr>
        <p:spPr>
          <a:xfrm flipH="1" flipV="1">
            <a:off x="2225617" y="4699591"/>
            <a:ext cx="910988" cy="712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74BE5D6-E6C6-251D-892D-B3C9F2DD620E}"/>
              </a:ext>
            </a:extLst>
          </p:cNvPr>
          <p:cNvSpPr txBox="1"/>
          <p:nvPr/>
        </p:nvSpPr>
        <p:spPr>
          <a:xfrm>
            <a:off x="2317898" y="5411972"/>
            <a:ext cx="3863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errors/shortcomings and fix them?</a:t>
            </a:r>
          </a:p>
        </p:txBody>
      </p:sp>
    </p:spTree>
    <p:extLst>
      <p:ext uri="{BB962C8B-B14F-4D97-AF65-F5344CB8AC3E}">
        <p14:creationId xmlns:p14="http://schemas.microsoft.com/office/powerpoint/2010/main" val="3627727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F3C1-2C2F-77D9-EF95-2A1FC3FF0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My 1</a:t>
            </a:r>
            <a:r>
              <a:rPr lang="en-CA" baseline="30000" dirty="0"/>
              <a:t>st</a:t>
            </a:r>
            <a:r>
              <a:rPr lang="en-CA" dirty="0"/>
              <a:t> </a:t>
            </a:r>
            <a:r>
              <a:rPr lang="en-CA" dirty="0" err="1"/>
              <a:t>ATTEMPt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C0547-68BD-8F6C-9B5C-89D882DB37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0267" y="2487167"/>
            <a:ext cx="5433513" cy="39700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Prompt: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 want you to generate the code for an optical illusion. The illusion is a wavy grid of boxes alternating with a light green and a dark green. There are 17 small squares along both sides of the square grid. At each intersection between the squares is a small cross along the gridlines with the cross extending about 1/6th across the line into the square. The crosses are either pink or white. the first intersection of grid lines has a white cross. Then there is two pink crosses. Then a single white cross. then a single pink cross. Then there are two white crosses. then a pink cross. then a white cross. Then two pink crosses. and then that pattern repeats until you are at the end of the intersection points with a pink cross. On the second line there is a Pink, white, 2 pink, white, pink, two white and so on. This pattern then repeats.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Please generate the picture for me, and then python code to generate it.</a:t>
            </a:r>
          </a:p>
          <a:p>
            <a:r>
              <a:rPr lang="en-CA" dirty="0">
                <a:solidFill>
                  <a:schemeClr val="tx1"/>
                </a:solidFill>
              </a:rPr>
              <a:t>Blue is the </a:t>
            </a:r>
            <a:r>
              <a:rPr lang="en-CA" i="1" dirty="0">
                <a:solidFill>
                  <a:schemeClr val="tx1"/>
                </a:solidFill>
              </a:rPr>
              <a:t>context</a:t>
            </a:r>
            <a:r>
              <a:rPr lang="en-CA" dirty="0">
                <a:solidFill>
                  <a:schemeClr val="tx1"/>
                </a:solidFill>
              </a:rPr>
              <a:t> provided to the AI, while the red is the task I am giving it to do.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25E9BD-6D44-1756-87B4-1DB24A5289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2336292"/>
            <a:ext cx="4271771" cy="427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94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63997-A7C8-0C95-B81F-DE1245BA4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E647-B638-8122-7809-F108859D6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My 2</a:t>
            </a:r>
            <a:r>
              <a:rPr lang="en-CA" baseline="30000" dirty="0"/>
              <a:t>nd</a:t>
            </a:r>
            <a:r>
              <a:rPr lang="en-CA" dirty="0"/>
              <a:t> </a:t>
            </a:r>
            <a:r>
              <a:rPr lang="en-CA" dirty="0" err="1"/>
              <a:t>ATTEMPt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03C1E-997C-E23D-9AB2-D4FAB570F4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2444" y="2638043"/>
            <a:ext cx="5265870" cy="3874005"/>
          </a:xfrm>
        </p:spPr>
        <p:txBody>
          <a:bodyPr>
            <a:normAutofit/>
          </a:bodyPr>
          <a:lstStyle/>
          <a:p>
            <a:r>
              <a:rPr lang="en-US" sz="1200" dirty="0"/>
              <a:t>Prompt: </a:t>
            </a:r>
          </a:p>
          <a:p>
            <a:pPr marL="228600" lvl="1" indent="0">
              <a:buNone/>
            </a:pPr>
            <a:r>
              <a:rPr lang="en-US" sz="1100" dirty="0">
                <a:solidFill>
                  <a:srgbClr val="7030A0"/>
                </a:solidFill>
              </a:rPr>
              <a:t>Some of your crosses are not at the intersections of the gridlines, but are instead in the middle of the lines. Make sure that the </a:t>
            </a:r>
            <a:r>
              <a:rPr lang="en-US" sz="1100" dirty="0" err="1">
                <a:solidFill>
                  <a:srgbClr val="7030A0"/>
                </a:solidFill>
              </a:rPr>
              <a:t>centre</a:t>
            </a:r>
            <a:r>
              <a:rPr lang="en-US" sz="1100" dirty="0">
                <a:solidFill>
                  <a:srgbClr val="7030A0"/>
                </a:solidFill>
              </a:rPr>
              <a:t> of the cross is at the intersection, with the perpendicular pieces of the cross going exactly along the gridlines.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0070C0"/>
                </a:solidFill>
              </a:rPr>
              <a:t>I want you to generate the code for an optical illusion. The illusion is a wavy grid of boxes alternating with a light green and a dark green. There are 17 small squares along both sides of the square grid. At each intersection between the squares is a small cross along the gridlines with the cross extending about 1/6th across the line into the square. The crosses are either pink or white. the first intersection of grid lines has a white cross. Then there is two pink crosses. Then a single white cross. then a single pink cross. Then there are two white crosses. then a pink cross. then a white cross. Then two pink crosses. and then that pattern repeats until you are at the end of the intersection points with a pink cross. On the second line there is a Pink, white, 2 pink, white, pink, two white and so on. This pattern then repeats. </a:t>
            </a:r>
            <a:r>
              <a:rPr lang="en-US" sz="1100" dirty="0">
                <a:solidFill>
                  <a:srgbClr val="FF0000"/>
                </a:solidFill>
              </a:rPr>
              <a:t>Please generate the picture for me, and then python code to generate it.</a:t>
            </a:r>
            <a:r>
              <a:rPr lang="en-US" sz="1100" dirty="0"/>
              <a:t> </a:t>
            </a:r>
            <a:r>
              <a:rPr lang="en-US" sz="1100" b="1" dirty="0"/>
              <a:t>Check to make sure that all of the crosses are actually on the intersections of the gridlines. </a:t>
            </a:r>
            <a:r>
              <a:rPr lang="en-CA" sz="1100" b="1" dirty="0">
                <a:solidFill>
                  <a:schemeClr val="tx1"/>
                </a:solidFill>
              </a:rPr>
              <a:t>Blue is the </a:t>
            </a:r>
            <a:r>
              <a:rPr lang="en-CA" sz="1100" b="1" i="1" dirty="0">
                <a:solidFill>
                  <a:schemeClr val="tx1"/>
                </a:solidFill>
              </a:rPr>
              <a:t>context</a:t>
            </a:r>
            <a:r>
              <a:rPr lang="en-CA" sz="1100" b="1" dirty="0">
                <a:solidFill>
                  <a:schemeClr val="tx1"/>
                </a:solidFill>
              </a:rPr>
              <a:t> provided to the AI, while the red is the task I am giving it to do.</a:t>
            </a:r>
          </a:p>
          <a:p>
            <a:r>
              <a:rPr lang="en-CA" sz="1200" dirty="0">
                <a:solidFill>
                  <a:schemeClr val="tx1"/>
                </a:solidFill>
              </a:rPr>
              <a:t>Purple is feedback based on the first attempt.  That will add it to the </a:t>
            </a:r>
            <a:r>
              <a:rPr lang="en-CA" sz="1200" i="1" dirty="0">
                <a:solidFill>
                  <a:schemeClr val="tx1"/>
                </a:solidFill>
              </a:rPr>
              <a:t>context</a:t>
            </a:r>
            <a:r>
              <a:rPr lang="en-CA" sz="1200" dirty="0">
                <a:solidFill>
                  <a:schemeClr val="tx1"/>
                </a:solidFill>
              </a:rPr>
              <a:t> that the AI will refer to.  Then the instructions again, then the task, and then a set of validation instructions to have it check its work.  It gets a lot closer!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FF568E-1DA6-057D-DB39-9673069A4D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CA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198D428-FEC2-B657-EE45-03F354B3B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435" y="2348486"/>
            <a:ext cx="3874006" cy="3874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27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5402-5DBE-575E-3FA0-522ADBE72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23613"/>
            <a:ext cx="7729728" cy="1188720"/>
          </a:xfrm>
        </p:spPr>
        <p:txBody>
          <a:bodyPr/>
          <a:lstStyle/>
          <a:p>
            <a:r>
              <a:rPr lang="en-US" dirty="0"/>
              <a:t>Pseudo code</a:t>
            </a:r>
            <a:br>
              <a:rPr lang="en-US" dirty="0"/>
            </a:br>
            <a:r>
              <a:rPr lang="en-US" dirty="0"/>
              <a:t>(revisited)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B1905-85E0-57C4-364B-F80CB8259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20803"/>
            <a:ext cx="5258235" cy="4013584"/>
          </a:xfrm>
        </p:spPr>
        <p:txBody>
          <a:bodyPr/>
          <a:lstStyle/>
          <a:p>
            <a:r>
              <a:rPr lang="en-US" dirty="0"/>
              <a:t>Outline the logic and structure using plain language (with some structure)</a:t>
            </a:r>
          </a:p>
          <a:p>
            <a:endParaRPr lang="en-US" dirty="0"/>
          </a:p>
          <a:p>
            <a:r>
              <a:rPr lang="en-US" dirty="0"/>
              <a:t>Supports programming constructs</a:t>
            </a:r>
          </a:p>
          <a:p>
            <a:pPr lvl="1"/>
            <a:r>
              <a:rPr lang="en-US" dirty="0"/>
              <a:t>Blocks </a:t>
            </a:r>
          </a:p>
          <a:p>
            <a:pPr lvl="1"/>
            <a:r>
              <a:rPr lang="en-US" dirty="0"/>
              <a:t>Repetition</a:t>
            </a:r>
          </a:p>
          <a:p>
            <a:pPr lvl="1"/>
            <a:r>
              <a:rPr lang="en-US" dirty="0"/>
              <a:t>Decisions</a:t>
            </a:r>
          </a:p>
          <a:p>
            <a:pPr lvl="1"/>
            <a:r>
              <a:rPr lang="en-US" dirty="0"/>
              <a:t>Variables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9F9C64-63A6-0498-DC54-56D0BE5F49EF}"/>
              </a:ext>
            </a:extLst>
          </p:cNvPr>
          <p:cNvCxnSpPr>
            <a:cxnSpLocks/>
          </p:cNvCxnSpPr>
          <p:nvPr/>
        </p:nvCxnSpPr>
        <p:spPr>
          <a:xfrm flipH="1">
            <a:off x="3512457" y="3128220"/>
            <a:ext cx="4153793" cy="830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593CD5C-530C-5485-69E0-195160AC67E0}"/>
              </a:ext>
            </a:extLst>
          </p:cNvPr>
          <p:cNvSpPr txBox="1"/>
          <p:nvPr/>
        </p:nvSpPr>
        <p:spPr>
          <a:xfrm>
            <a:off x="7666250" y="2943554"/>
            <a:ext cx="3679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that belongs to a specific scope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C0DC0D-9072-233B-C7DD-2F0B6E0E541B}"/>
              </a:ext>
            </a:extLst>
          </p:cNvPr>
          <p:cNvCxnSpPr>
            <a:cxnSpLocks/>
          </p:cNvCxnSpPr>
          <p:nvPr/>
        </p:nvCxnSpPr>
        <p:spPr>
          <a:xfrm flipH="1">
            <a:off x="3940629" y="4142929"/>
            <a:ext cx="3725621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B72FD12-FE37-ADD3-FB45-D4304BF2723D}"/>
              </a:ext>
            </a:extLst>
          </p:cNvPr>
          <p:cNvSpPr txBox="1"/>
          <p:nvPr/>
        </p:nvSpPr>
        <p:spPr>
          <a:xfrm>
            <a:off x="7899019" y="3958263"/>
            <a:ext cx="3446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Ability to repeat certain instructions for a specified duration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B5E7C9-13E3-0558-735E-343389AC51F3}"/>
              </a:ext>
            </a:extLst>
          </p:cNvPr>
          <p:cNvCxnSpPr>
            <a:cxnSpLocks/>
          </p:cNvCxnSpPr>
          <p:nvPr/>
        </p:nvCxnSpPr>
        <p:spPr>
          <a:xfrm flipH="1" flipV="1">
            <a:off x="3657600" y="4794508"/>
            <a:ext cx="2699657" cy="561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EEC3978-779A-F9A1-C3B7-33F8B47D5F36}"/>
              </a:ext>
            </a:extLst>
          </p:cNvPr>
          <p:cNvSpPr txBox="1"/>
          <p:nvPr/>
        </p:nvSpPr>
        <p:spPr>
          <a:xfrm>
            <a:off x="6357257" y="5186235"/>
            <a:ext cx="4805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that is executed only when criteria are met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84C948-AE27-7D2E-EE78-6EB6DBE0C978}"/>
              </a:ext>
            </a:extLst>
          </p:cNvPr>
          <p:cNvCxnSpPr/>
          <p:nvPr/>
        </p:nvCxnSpPr>
        <p:spPr>
          <a:xfrm flipH="1" flipV="1">
            <a:off x="3657600" y="5186235"/>
            <a:ext cx="1451429" cy="851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E727419-BFD2-1E45-AFD9-A7BDCAA3D4EB}"/>
              </a:ext>
            </a:extLst>
          </p:cNvPr>
          <p:cNvSpPr txBox="1"/>
          <p:nvPr/>
        </p:nvSpPr>
        <p:spPr>
          <a:xfrm>
            <a:off x="5109029" y="5965372"/>
            <a:ext cx="5351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Save data to memory,  abstract programs for readability</a:t>
            </a:r>
          </a:p>
        </p:txBody>
      </p:sp>
    </p:spTree>
    <p:extLst>
      <p:ext uri="{BB962C8B-B14F-4D97-AF65-F5344CB8AC3E}">
        <p14:creationId xmlns:p14="http://schemas.microsoft.com/office/powerpoint/2010/main" val="4188963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E7597-4FB8-DCD9-06BB-5142196D1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62259"/>
            <a:ext cx="7729728" cy="1188720"/>
          </a:xfrm>
        </p:spPr>
        <p:txBody>
          <a:bodyPr/>
          <a:lstStyle/>
          <a:p>
            <a:r>
              <a:rPr lang="en-US" dirty="0"/>
              <a:t>Square Code</a:t>
            </a: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F0CE35D-2818-D22F-BB26-97F2BC58B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71" y="2667762"/>
            <a:ext cx="2358876" cy="3264882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pic>
        <p:nvPicPr>
          <p:cNvPr id="5" name="Picture 4" descr="A white turtle with a square in the middle&#10;&#10;AI-generated content may be incorrect.">
            <a:extLst>
              <a:ext uri="{FF2B5EF4-FFF2-40B4-BE49-F238E27FC236}">
                <a16:creationId xmlns:a16="http://schemas.microsoft.com/office/drawing/2014/main" id="{FE66B56E-3B15-9F29-F3C8-58ED5406E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054" y="2667762"/>
            <a:ext cx="2833983" cy="3264882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03BB9A-5B5A-F5CC-879A-9395D0ABA68E}"/>
              </a:ext>
            </a:extLst>
          </p:cNvPr>
          <p:cNvSpPr txBox="1"/>
          <p:nvPr/>
        </p:nvSpPr>
        <p:spPr>
          <a:xfrm>
            <a:off x="247282" y="1807044"/>
            <a:ext cx="5239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Consider we want to apply computational thinking to </a:t>
            </a:r>
          </a:p>
          <a:p>
            <a:r>
              <a:rPr lang="en-US" dirty="0"/>
              <a:t>the draw a square task from last class.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18C2D-4FFA-697E-63AA-A54F6C9A8814}"/>
              </a:ext>
            </a:extLst>
          </p:cNvPr>
          <p:cNvSpPr txBox="1"/>
          <p:nvPr/>
        </p:nvSpPr>
        <p:spPr>
          <a:xfrm>
            <a:off x="6585465" y="1807044"/>
            <a:ext cx="525826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Decomposition: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draw straight lines with specific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rotate</a:t>
            </a:r>
            <a:endParaRPr lang="en-US" b="1" dirty="0"/>
          </a:p>
          <a:p>
            <a:r>
              <a:rPr lang="en-US" b="1" dirty="0"/>
              <a:t>Patterns: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 sides with exact same characteristics</a:t>
            </a:r>
          </a:p>
          <a:p>
            <a:r>
              <a:rPr lang="en-US" b="1" dirty="0"/>
              <a:t>Abstraction: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Right now we have very specific values for how far to draw and turn.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we have to change those values, we have to change them in many places.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</a:t>
            </a:r>
            <a:r>
              <a:rPr lang="en-US" b="1" dirty="0"/>
              <a:t>abstract </a:t>
            </a:r>
            <a:r>
              <a:rPr lang="en-US" dirty="0"/>
              <a:t> those values: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Draw – it goes a </a:t>
            </a:r>
            <a:r>
              <a:rPr lang="en-US" b="1" dirty="0"/>
              <a:t>length</a:t>
            </a:r>
            <a:r>
              <a:rPr lang="en-US" dirty="0"/>
              <a:t> of a line (50)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Turn – it rotates a particular </a:t>
            </a:r>
            <a:r>
              <a:rPr lang="en-US" b="1" dirty="0"/>
              <a:t>angle</a:t>
            </a:r>
            <a:r>
              <a:rPr lang="en-US" dirty="0"/>
              <a:t> (90)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Because it is always that we need a number that we reuse, with a name, we can create a </a:t>
            </a:r>
            <a:r>
              <a:rPr lang="en-US" i="1" dirty="0"/>
              <a:t>variable</a:t>
            </a:r>
            <a:r>
              <a:rPr lang="en-US" dirty="0"/>
              <a:t> to store the value and reuse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there anything else we might do this with?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64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2226AFE-DC73-6AFE-C54B-19C1C195C1A1}"/>
              </a:ext>
            </a:extLst>
          </p:cNvPr>
          <p:cNvSpPr txBox="1"/>
          <p:nvPr/>
        </p:nvSpPr>
        <p:spPr>
          <a:xfrm>
            <a:off x="580594" y="5016145"/>
            <a:ext cx="34834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Block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indentation to denote they belong together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things belong together in a block we say they have the same </a:t>
            </a:r>
            <a:r>
              <a:rPr lang="en-US" i="1" dirty="0"/>
              <a:t>scope </a:t>
            </a:r>
            <a:r>
              <a:rPr lang="en-US" i="1" dirty="0" err="1"/>
              <a:t>scope</a:t>
            </a:r>
            <a:endParaRPr lang="en-US" i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187BD7-8AF8-8BF8-16FB-4142702A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REFINING Pseudocode</a:t>
            </a:r>
            <a:br>
              <a:rPr lang="en-US" dirty="0"/>
            </a:br>
            <a:r>
              <a:rPr lang="en-US" dirty="0"/>
              <a:t>(draw a square)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ADBF8-86F4-82C1-8712-A4B356636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8223504" cy="155658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Even though we have some python code to draw a square – we can go back to pseudocode and </a:t>
            </a:r>
            <a:r>
              <a:rPr lang="en-US" i="1" dirty="0"/>
              <a:t>iterate </a:t>
            </a:r>
          </a:p>
          <a:p>
            <a:pPr lvl="1"/>
            <a:r>
              <a:rPr lang="en-US" dirty="0"/>
              <a:t>Iteration – repeating problem solving to improve some quality of our solution</a:t>
            </a:r>
          </a:p>
          <a:p>
            <a:r>
              <a:rPr lang="en-US" dirty="0"/>
              <a:t>Start with draw a line and rotate (that’s a basic decomposed aspect of drawing a square)</a:t>
            </a:r>
          </a:p>
          <a:p>
            <a:r>
              <a:rPr lang="en-US" dirty="0"/>
              <a:t>Use variables to represent specific values (a basic abstraction of the shape – side length and rotation angle)</a:t>
            </a:r>
          </a:p>
          <a:p>
            <a:r>
              <a:rPr lang="en-US" dirty="0"/>
              <a:t>Program to draw a line with specific length and rotate a specific angle: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1E900A-3DD0-0629-4997-AC9962ADCC76}"/>
              </a:ext>
            </a:extLst>
          </p:cNvPr>
          <p:cNvSpPr txBox="1"/>
          <p:nvPr/>
        </p:nvSpPr>
        <p:spPr>
          <a:xfrm>
            <a:off x="4114800" y="4194629"/>
            <a:ext cx="298992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angle = 90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length = 50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Initialize Turtle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forward(length)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rotate (angle)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7A5594-1083-B925-CE3D-548F94C9A5A4}"/>
              </a:ext>
            </a:extLst>
          </p:cNvPr>
          <p:cNvCxnSpPr>
            <a:cxnSpLocks/>
          </p:cNvCxnSpPr>
          <p:nvPr/>
        </p:nvCxnSpPr>
        <p:spPr>
          <a:xfrm>
            <a:off x="1289304" y="5210291"/>
            <a:ext cx="25061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eft Brace 9">
            <a:extLst>
              <a:ext uri="{FF2B5EF4-FFF2-40B4-BE49-F238E27FC236}">
                <a16:creationId xmlns:a16="http://schemas.microsoft.com/office/drawing/2014/main" id="{81AB9376-3CAE-78E0-A211-DEE661C945B7}"/>
              </a:ext>
            </a:extLst>
          </p:cNvPr>
          <p:cNvSpPr/>
          <p:nvPr/>
        </p:nvSpPr>
        <p:spPr>
          <a:xfrm>
            <a:off x="4013200" y="4615543"/>
            <a:ext cx="101600" cy="12192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7D60021A-7851-10D1-FE48-5B7D53FDACF3}"/>
              </a:ext>
            </a:extLst>
          </p:cNvPr>
          <p:cNvSpPr/>
          <p:nvPr/>
        </p:nvSpPr>
        <p:spPr>
          <a:xfrm>
            <a:off x="6930571" y="4441372"/>
            <a:ext cx="174150" cy="619480"/>
          </a:xfrm>
          <a:prstGeom prst="righ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CC2393-732C-BA92-BBDB-BFA1AA1B0166}"/>
              </a:ext>
            </a:extLst>
          </p:cNvPr>
          <p:cNvCxnSpPr/>
          <p:nvPr/>
        </p:nvCxnSpPr>
        <p:spPr>
          <a:xfrm flipH="1">
            <a:off x="7235371" y="4751112"/>
            <a:ext cx="1483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A3D6EEE-C4A6-815A-9DC6-E5FF81829334}"/>
              </a:ext>
            </a:extLst>
          </p:cNvPr>
          <p:cNvSpPr txBox="1"/>
          <p:nvPr/>
        </p:nvSpPr>
        <p:spPr>
          <a:xfrm>
            <a:off x="8719361" y="4566446"/>
            <a:ext cx="24416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Variables, SET them first</a:t>
            </a:r>
          </a:p>
          <a:p>
            <a:endParaRPr lang="en-US" dirty="0"/>
          </a:p>
          <a:p>
            <a:r>
              <a:rPr lang="en-US" dirty="0"/>
              <a:t>USE them later</a:t>
            </a:r>
          </a:p>
          <a:p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236FCC-6A78-7E03-49D1-E66DEFD6DD31}"/>
              </a:ext>
            </a:extLst>
          </p:cNvPr>
          <p:cNvCxnSpPr/>
          <p:nvPr/>
        </p:nvCxnSpPr>
        <p:spPr>
          <a:xfrm flipH="1">
            <a:off x="6553200" y="5384017"/>
            <a:ext cx="2166161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067D35-9C15-9146-EE71-1011D4E5FD07}"/>
              </a:ext>
            </a:extLst>
          </p:cNvPr>
          <p:cNvCxnSpPr>
            <a:cxnSpLocks/>
          </p:cNvCxnSpPr>
          <p:nvPr/>
        </p:nvCxnSpPr>
        <p:spPr>
          <a:xfrm flipH="1">
            <a:off x="6680298" y="5324425"/>
            <a:ext cx="2039063" cy="134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475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B3035-3266-A375-8A55-41FA16BC1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PSEUDOCode</a:t>
            </a:r>
            <a:br>
              <a:rPr lang="en-US" dirty="0"/>
            </a:br>
            <a:r>
              <a:rPr lang="en-US" dirty="0"/>
              <a:t>(Draw a Square)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CA1F1D-6418-9E5E-D63E-895BF4EB3B82}"/>
              </a:ext>
            </a:extLst>
          </p:cNvPr>
          <p:cNvSpPr txBox="1"/>
          <p:nvPr/>
        </p:nvSpPr>
        <p:spPr>
          <a:xfrm>
            <a:off x="4368800" y="3149600"/>
            <a:ext cx="298992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Draw a Square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 this 4 times …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angle = 90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length = 50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Initialize Turtle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forward(length)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rotate (angle)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0DB7D1-3CAC-30D3-C2B8-B7F4C8BF8D32}"/>
              </a:ext>
            </a:extLst>
          </p:cNvPr>
          <p:cNvCxnSpPr>
            <a:cxnSpLocks/>
          </p:cNvCxnSpPr>
          <p:nvPr/>
        </p:nvCxnSpPr>
        <p:spPr>
          <a:xfrm flipH="1">
            <a:off x="7070103" y="4542971"/>
            <a:ext cx="1357460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6AE8C11-57DE-0480-9344-6015C5FBEDCD}"/>
              </a:ext>
            </a:extLst>
          </p:cNvPr>
          <p:cNvSpPr txBox="1"/>
          <p:nvPr/>
        </p:nvSpPr>
        <p:spPr>
          <a:xfrm>
            <a:off x="8589174" y="4081306"/>
            <a:ext cx="274338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Draw a line and rotate</a:t>
            </a:r>
          </a:p>
          <a:p>
            <a:r>
              <a:rPr lang="en-US" dirty="0"/>
              <a:t>For a square we repeat this</a:t>
            </a:r>
          </a:p>
          <a:p>
            <a:r>
              <a:rPr lang="en-US" dirty="0"/>
              <a:t>4 times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84AEDA-AA6B-5A53-9539-3EDFBE14BB74}"/>
              </a:ext>
            </a:extLst>
          </p:cNvPr>
          <p:cNvSpPr txBox="1"/>
          <p:nvPr/>
        </p:nvSpPr>
        <p:spPr>
          <a:xfrm>
            <a:off x="438621" y="3429000"/>
            <a:ext cx="3585029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DO NOT need to repeat setting up the variables 4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line and rotate uses the same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really only need to initialize Turtle once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Doing these again and again is </a:t>
            </a:r>
            <a:r>
              <a:rPr lang="en-US" i="1" dirty="0"/>
              <a:t>inefficient</a:t>
            </a:r>
            <a:r>
              <a:rPr lang="en-US" dirty="0"/>
              <a:t> – if we can save steps that is important in computing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DC1CB9-E66F-1F46-2582-ED07D5663AF0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023650" y="4444663"/>
            <a:ext cx="840581" cy="415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070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84109-1FB8-F915-178F-B7575732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CEE6-23DB-7FE0-48DC-C49AD6A0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PSEUDOCode</a:t>
            </a:r>
            <a:br>
              <a:rPr lang="en-US" dirty="0"/>
            </a:br>
            <a:r>
              <a:rPr lang="en-US" dirty="0"/>
              <a:t>(Draw a Square)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C27B6-DC79-770B-298C-64C197C4B7D4}"/>
              </a:ext>
            </a:extLst>
          </p:cNvPr>
          <p:cNvSpPr txBox="1"/>
          <p:nvPr/>
        </p:nvSpPr>
        <p:spPr>
          <a:xfrm>
            <a:off x="4368800" y="3149600"/>
            <a:ext cx="317586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angle = 90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length = 50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Initialize Turtle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 to 4: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forward(length)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rotate (angle)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3DD3F2F-B6A9-8985-059B-5190F777990D}"/>
              </a:ext>
            </a:extLst>
          </p:cNvPr>
          <p:cNvCxnSpPr/>
          <p:nvPr/>
        </p:nvCxnSpPr>
        <p:spPr>
          <a:xfrm>
            <a:off x="2481943" y="5210629"/>
            <a:ext cx="28157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FBF3A7-E8B9-8B71-C573-144C3E050C44}"/>
              </a:ext>
            </a:extLst>
          </p:cNvPr>
          <p:cNvSpPr txBox="1"/>
          <p:nvPr/>
        </p:nvSpPr>
        <p:spPr>
          <a:xfrm>
            <a:off x="464457" y="4442261"/>
            <a:ext cx="338426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New Block (indentation)</a:t>
            </a:r>
          </a:p>
          <a:p>
            <a:r>
              <a:rPr lang="en-US" dirty="0"/>
              <a:t>Indicates this code belongs to the </a:t>
            </a:r>
          </a:p>
          <a:p>
            <a:r>
              <a:rPr lang="en-US" dirty="0"/>
              <a:t>Repetition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00053A-BE83-A1EF-56E6-EB8DCC086EC2}"/>
              </a:ext>
            </a:extLst>
          </p:cNvPr>
          <p:cNvCxnSpPr/>
          <p:nvPr/>
        </p:nvCxnSpPr>
        <p:spPr>
          <a:xfrm flipH="1">
            <a:off x="7097486" y="4615543"/>
            <a:ext cx="1828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6B1CFD-AE41-A845-0370-9732EE67DF18}"/>
              </a:ext>
            </a:extLst>
          </p:cNvPr>
          <p:cNvSpPr txBox="1"/>
          <p:nvPr/>
        </p:nvSpPr>
        <p:spPr>
          <a:xfrm>
            <a:off x="9158514" y="4354286"/>
            <a:ext cx="264399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Repetition </a:t>
            </a:r>
          </a:p>
          <a:p>
            <a:r>
              <a:rPr lang="en-US" dirty="0"/>
              <a:t>Do the block that follows 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=1,2,3,4</a:t>
            </a:r>
          </a:p>
        </p:txBody>
      </p:sp>
    </p:spTree>
    <p:extLst>
      <p:ext uri="{BB962C8B-B14F-4D97-AF65-F5344CB8AC3E}">
        <p14:creationId xmlns:p14="http://schemas.microsoft.com/office/powerpoint/2010/main" val="1175223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1FDD-B3DD-9962-4398-A5893FF1B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09" y="79176"/>
            <a:ext cx="7729728" cy="1188720"/>
          </a:xfrm>
        </p:spPr>
        <p:txBody>
          <a:bodyPr/>
          <a:lstStyle/>
          <a:p>
            <a:r>
              <a:rPr lang="en-US" dirty="0"/>
              <a:t>Loop Unroll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56343-2E42-4D74-B479-3C32B1313D59}"/>
              </a:ext>
            </a:extLst>
          </p:cNvPr>
          <p:cNvSpPr txBox="1"/>
          <p:nvPr/>
        </p:nvSpPr>
        <p:spPr>
          <a:xfrm>
            <a:off x="643201" y="2733964"/>
            <a:ext cx="317586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angle = 90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length = 50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Initialize Turtle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 to 4: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forward(length)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rotate (angle)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DA6652A2-CAC8-36FD-F531-27B0F478830D}"/>
              </a:ext>
            </a:extLst>
          </p:cNvPr>
          <p:cNvSpPr/>
          <p:nvPr/>
        </p:nvSpPr>
        <p:spPr>
          <a:xfrm>
            <a:off x="3819070" y="4168239"/>
            <a:ext cx="396670" cy="950026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C6CC50-6E86-577F-0B71-01BFC4224CF7}"/>
              </a:ext>
            </a:extLst>
          </p:cNvPr>
          <p:cNvSpPr txBox="1"/>
          <p:nvPr/>
        </p:nvSpPr>
        <p:spPr>
          <a:xfrm>
            <a:off x="7295416" y="1629082"/>
            <a:ext cx="2989921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angle = 90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length = 50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Initialize Turtle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forward(length)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rotate (angle)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=2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forward(length)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rotate (angle)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3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forward(length)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rotate (angle)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4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forward(length)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rotate (angle)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sp>
        <p:nvSpPr>
          <p:cNvPr id="7" name="Left-Right Arrow 6">
            <a:extLst>
              <a:ext uri="{FF2B5EF4-FFF2-40B4-BE49-F238E27FC236}">
                <a16:creationId xmlns:a16="http://schemas.microsoft.com/office/drawing/2014/main" id="{66F26809-13C2-2B7D-951C-0D81E2B80C70}"/>
              </a:ext>
            </a:extLst>
          </p:cNvPr>
          <p:cNvSpPr/>
          <p:nvPr/>
        </p:nvSpPr>
        <p:spPr>
          <a:xfrm>
            <a:off x="4326340" y="3234519"/>
            <a:ext cx="2210938" cy="19448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C88E14-4F68-E3E4-D4FE-CCB9F71F407F}"/>
              </a:ext>
            </a:extLst>
          </p:cNvPr>
          <p:cNvSpPr txBox="1"/>
          <p:nvPr/>
        </p:nvSpPr>
        <p:spPr>
          <a:xfrm>
            <a:off x="4391780" y="2865187"/>
            <a:ext cx="2080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Equivalent programs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D76955-A1CC-1695-136C-5E985EB2F385}"/>
              </a:ext>
            </a:extLst>
          </p:cNvPr>
          <p:cNvCxnSpPr/>
          <p:nvPr/>
        </p:nvCxnSpPr>
        <p:spPr>
          <a:xfrm flipV="1">
            <a:off x="4326340" y="3049853"/>
            <a:ext cx="3384645" cy="159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DBF0919-18FF-36E3-F068-18FBD9F42A20}"/>
              </a:ext>
            </a:extLst>
          </p:cNvPr>
          <p:cNvCxnSpPr/>
          <p:nvPr/>
        </p:nvCxnSpPr>
        <p:spPr>
          <a:xfrm>
            <a:off x="4326340" y="4643252"/>
            <a:ext cx="3548418" cy="1702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644E4D4-14D7-4631-9C30-29E21B1D4C94}"/>
              </a:ext>
            </a:extLst>
          </p:cNvPr>
          <p:cNvSpPr txBox="1"/>
          <p:nvPr/>
        </p:nvSpPr>
        <p:spPr>
          <a:xfrm>
            <a:off x="599083" y="1716893"/>
            <a:ext cx="3616657" cy="646331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Programs that use repetition can be “unrolled” into sequential form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E78A5ED-A178-2F3C-04DE-5E0F67704389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691640" y="4965192"/>
            <a:ext cx="2336678" cy="1142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8BFAF84-AF27-06E5-5A42-2CB84838EAC2}"/>
              </a:ext>
            </a:extLst>
          </p:cNvPr>
          <p:cNvSpPr txBox="1"/>
          <p:nvPr/>
        </p:nvSpPr>
        <p:spPr>
          <a:xfrm>
            <a:off x="4028318" y="5507066"/>
            <a:ext cx="1990344" cy="1200329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Note the indent – only stuff under FOR is in </a:t>
            </a:r>
            <a:r>
              <a:rPr lang="en-US" i="1" dirty="0"/>
              <a:t>scope for the repetition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072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68774-2C5A-6D52-5F08-CAA289D7B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54104"/>
            <a:ext cx="7729728" cy="1188720"/>
          </a:xfrm>
        </p:spPr>
        <p:txBody>
          <a:bodyPr/>
          <a:lstStyle/>
          <a:p>
            <a:r>
              <a:rPr lang="en-US" dirty="0"/>
              <a:t>Program Flow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CF6CD3-E942-9E1F-47CC-A9BA7C748C9D}"/>
              </a:ext>
            </a:extLst>
          </p:cNvPr>
          <p:cNvGrpSpPr/>
          <p:nvPr/>
        </p:nvGrpSpPr>
        <p:grpSpPr>
          <a:xfrm>
            <a:off x="1774209" y="3429000"/>
            <a:ext cx="2074460" cy="2842546"/>
            <a:chOff x="682388" y="2992272"/>
            <a:chExt cx="2074460" cy="284254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197EC6D-15FD-5031-96AA-B28E708A3D54}"/>
                </a:ext>
              </a:extLst>
            </p:cNvPr>
            <p:cNvSpPr/>
            <p:nvPr/>
          </p:nvSpPr>
          <p:spPr>
            <a:xfrm>
              <a:off x="682388" y="2992272"/>
              <a:ext cx="2074460" cy="6107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Down Arrow 4">
              <a:extLst>
                <a:ext uri="{FF2B5EF4-FFF2-40B4-BE49-F238E27FC236}">
                  <a16:creationId xmlns:a16="http://schemas.microsoft.com/office/drawing/2014/main" id="{99FBB152-20FD-3EBD-AA14-3F0266F64E03}"/>
                </a:ext>
              </a:extLst>
            </p:cNvPr>
            <p:cNvSpPr/>
            <p:nvPr/>
          </p:nvSpPr>
          <p:spPr>
            <a:xfrm>
              <a:off x="1542197" y="3698543"/>
              <a:ext cx="191069" cy="38131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E9A1BCE-96AC-020D-2890-FC4CADF4EABB}"/>
                </a:ext>
              </a:extLst>
            </p:cNvPr>
            <p:cNvSpPr/>
            <p:nvPr/>
          </p:nvSpPr>
          <p:spPr>
            <a:xfrm>
              <a:off x="682388" y="4136500"/>
              <a:ext cx="2074460" cy="6107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Down Arrow 6">
              <a:extLst>
                <a:ext uri="{FF2B5EF4-FFF2-40B4-BE49-F238E27FC236}">
                  <a16:creationId xmlns:a16="http://schemas.microsoft.com/office/drawing/2014/main" id="{F7DF27A0-53CE-8328-DE6F-D0518FE7F464}"/>
                </a:ext>
              </a:extLst>
            </p:cNvPr>
            <p:cNvSpPr/>
            <p:nvPr/>
          </p:nvSpPr>
          <p:spPr>
            <a:xfrm>
              <a:off x="1542197" y="4842771"/>
              <a:ext cx="191069" cy="38131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9EEE53-A775-9EDB-D8A9-DB67681B390C}"/>
                </a:ext>
              </a:extLst>
            </p:cNvPr>
            <p:cNvSpPr/>
            <p:nvPr/>
          </p:nvSpPr>
          <p:spPr>
            <a:xfrm>
              <a:off x="682388" y="5224081"/>
              <a:ext cx="2074460" cy="61073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1956B04-7335-20BB-D0CB-6EAE937383AE}"/>
              </a:ext>
            </a:extLst>
          </p:cNvPr>
          <p:cNvSpPr txBox="1"/>
          <p:nvPr/>
        </p:nvSpPr>
        <p:spPr>
          <a:xfrm>
            <a:off x="1570577" y="2846679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Sequential Program Flow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FC95EB-68D9-31C5-B9A3-262932D7864E}"/>
              </a:ext>
            </a:extLst>
          </p:cNvPr>
          <p:cNvSpPr/>
          <p:nvPr/>
        </p:nvSpPr>
        <p:spPr>
          <a:xfrm>
            <a:off x="6934254" y="3283316"/>
            <a:ext cx="2074460" cy="610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FAC71186-672D-CB4D-B7D1-391DA7E89873}"/>
              </a:ext>
            </a:extLst>
          </p:cNvPr>
          <p:cNvSpPr/>
          <p:nvPr/>
        </p:nvSpPr>
        <p:spPr>
          <a:xfrm>
            <a:off x="7794063" y="3989587"/>
            <a:ext cx="191069" cy="3813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3C2186-245A-48BD-B3C8-12B6B031F869}"/>
              </a:ext>
            </a:extLst>
          </p:cNvPr>
          <p:cNvSpPr/>
          <p:nvPr/>
        </p:nvSpPr>
        <p:spPr>
          <a:xfrm>
            <a:off x="6070491" y="6042930"/>
            <a:ext cx="1698063" cy="610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FAB151-A541-3FA2-A997-8D71B4EB2EE0}"/>
              </a:ext>
            </a:extLst>
          </p:cNvPr>
          <p:cNvSpPr txBox="1"/>
          <p:nvPr/>
        </p:nvSpPr>
        <p:spPr>
          <a:xfrm>
            <a:off x="6919523" y="2434883"/>
            <a:ext cx="1940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Looping Structure 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11C495E4-F5AE-496B-A0C8-0550A377F392}"/>
              </a:ext>
            </a:extLst>
          </p:cNvPr>
          <p:cNvSpPr/>
          <p:nvPr/>
        </p:nvSpPr>
        <p:spPr>
          <a:xfrm>
            <a:off x="7486988" y="4373154"/>
            <a:ext cx="805218" cy="665127"/>
          </a:xfrm>
          <a:prstGeom prst="diamond">
            <a:avLst/>
          </a:prstGeom>
          <a:solidFill>
            <a:schemeClr val="accent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Bent-Up Arrow 19">
            <a:extLst>
              <a:ext uri="{FF2B5EF4-FFF2-40B4-BE49-F238E27FC236}">
                <a16:creationId xmlns:a16="http://schemas.microsoft.com/office/drawing/2014/main" id="{A5905AC9-D3D8-F91A-265D-3995023C1072}"/>
              </a:ext>
            </a:extLst>
          </p:cNvPr>
          <p:cNvSpPr/>
          <p:nvPr/>
        </p:nvSpPr>
        <p:spPr>
          <a:xfrm rot="10800000">
            <a:off x="6677762" y="4607658"/>
            <a:ext cx="817782" cy="128565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Bent-Up Arrow 20">
            <a:extLst>
              <a:ext uri="{FF2B5EF4-FFF2-40B4-BE49-F238E27FC236}">
                <a16:creationId xmlns:a16="http://schemas.microsoft.com/office/drawing/2014/main" id="{5483E5EF-47E5-0B79-1F6C-0CBC9CEB4BC1}"/>
              </a:ext>
            </a:extLst>
          </p:cNvPr>
          <p:cNvSpPr/>
          <p:nvPr/>
        </p:nvSpPr>
        <p:spPr>
          <a:xfrm flipV="1">
            <a:off x="8305963" y="4613519"/>
            <a:ext cx="1452296" cy="570446"/>
          </a:xfrm>
          <a:prstGeom prst="bentUp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89EBD4-A38A-F75A-0103-A478686A0045}"/>
              </a:ext>
            </a:extLst>
          </p:cNvPr>
          <p:cNvSpPr/>
          <p:nvPr/>
        </p:nvSpPr>
        <p:spPr>
          <a:xfrm>
            <a:off x="8656255" y="5276681"/>
            <a:ext cx="1971343" cy="57576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23" name="Bent-Up Arrow 22">
            <a:extLst>
              <a:ext uri="{FF2B5EF4-FFF2-40B4-BE49-F238E27FC236}">
                <a16:creationId xmlns:a16="http://schemas.microsoft.com/office/drawing/2014/main" id="{7314CE92-D782-10D2-3BAA-3332E30B4104}"/>
              </a:ext>
            </a:extLst>
          </p:cNvPr>
          <p:cNvSpPr/>
          <p:nvPr/>
        </p:nvSpPr>
        <p:spPr>
          <a:xfrm flipH="1">
            <a:off x="7750954" y="5040538"/>
            <a:ext cx="817782" cy="563405"/>
          </a:xfrm>
          <a:prstGeom prst="bentUp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419B000-4FE5-62F8-E1D5-5DB902AEC7E4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10358651" y="3819133"/>
            <a:ext cx="268947" cy="1219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1F1F5B6-E578-D20E-058D-C98F2BA57932}"/>
              </a:ext>
            </a:extLst>
          </p:cNvPr>
          <p:cNvSpPr txBox="1"/>
          <p:nvPr/>
        </p:nvSpPr>
        <p:spPr>
          <a:xfrm>
            <a:off x="9665431" y="3172802"/>
            <a:ext cx="192433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Code executed inside the loop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1FE4FD3-6AD8-ACEC-9CC1-0AB49B2C8186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5452402" y="3247075"/>
            <a:ext cx="2298552" cy="1269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98D4285-CD85-2B6B-EF14-156C9EFF8C8C}"/>
              </a:ext>
            </a:extLst>
          </p:cNvPr>
          <p:cNvSpPr txBox="1"/>
          <p:nvPr/>
        </p:nvSpPr>
        <p:spPr>
          <a:xfrm>
            <a:off x="4599537" y="2323745"/>
            <a:ext cx="17057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Decision to continue loop or stop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30E6A5-D03D-B500-F956-12247E736667}"/>
              </a:ext>
            </a:extLst>
          </p:cNvPr>
          <p:cNvSpPr txBox="1"/>
          <p:nvPr/>
        </p:nvSpPr>
        <p:spPr>
          <a:xfrm>
            <a:off x="7245634" y="4743760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FD7987-C2B9-DF57-2A5C-8AB5B9E759C7}"/>
              </a:ext>
            </a:extLst>
          </p:cNvPr>
          <p:cNvSpPr txBox="1"/>
          <p:nvPr/>
        </p:nvSpPr>
        <p:spPr>
          <a:xfrm>
            <a:off x="8189131" y="472511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F06AD09-A204-6950-4637-65C23B1DEBDA}"/>
              </a:ext>
            </a:extLst>
          </p:cNvPr>
          <p:cNvCxnSpPr>
            <a:cxnSpLocks/>
            <a:stCxn id="34" idx="2"/>
            <a:endCxn id="17" idx="0"/>
          </p:cNvCxnSpPr>
          <p:nvPr/>
        </p:nvCxnSpPr>
        <p:spPr>
          <a:xfrm>
            <a:off x="5615810" y="5118245"/>
            <a:ext cx="1303713" cy="924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5D08DCA-38CB-3FEF-4BB4-D2F2F70735AB}"/>
              </a:ext>
            </a:extLst>
          </p:cNvPr>
          <p:cNvSpPr txBox="1"/>
          <p:nvPr/>
        </p:nvSpPr>
        <p:spPr>
          <a:xfrm>
            <a:off x="4641377" y="4471914"/>
            <a:ext cx="194886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Code executed after exiting loop</a:t>
            </a:r>
          </a:p>
        </p:txBody>
      </p:sp>
    </p:spTree>
    <p:extLst>
      <p:ext uri="{BB962C8B-B14F-4D97-AF65-F5344CB8AC3E}">
        <p14:creationId xmlns:p14="http://schemas.microsoft.com/office/powerpoint/2010/main" val="19290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90270-A792-B0A8-5CB1-0F7C6C81A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PSEUDOCode</a:t>
            </a:r>
            <a:r>
              <a:rPr lang="en-US" dirty="0"/>
              <a:t> to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13D50-BFFB-DA58-BD15-36C3616D0F63}"/>
              </a:ext>
            </a:extLst>
          </p:cNvPr>
          <p:cNvSpPr txBox="1"/>
          <p:nvPr/>
        </p:nvSpPr>
        <p:spPr>
          <a:xfrm>
            <a:off x="643201" y="2896373"/>
            <a:ext cx="317586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angle = 90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length = 50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Initialize Turtle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 to 4: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forward(length)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rotate (angle)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6E4E85-D773-F670-CACF-8B8BF6E71FDC}"/>
              </a:ext>
            </a:extLst>
          </p:cNvPr>
          <p:cNvSpPr txBox="1"/>
          <p:nvPr/>
        </p:nvSpPr>
        <p:spPr>
          <a:xfrm>
            <a:off x="5828124" y="2855781"/>
            <a:ext cx="459613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ColabTurtle.Turtle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import *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angle = 90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length = 50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initializeTurtle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i in range(4):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forward(length)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right(angle)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402DA2-73EB-8882-9776-C0A0F954B7CD}"/>
              </a:ext>
            </a:extLst>
          </p:cNvPr>
          <p:cNvSpPr txBox="1"/>
          <p:nvPr/>
        </p:nvSpPr>
        <p:spPr>
          <a:xfrm>
            <a:off x="916351" y="2340226"/>
            <a:ext cx="1314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Pseudocode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4A727-8603-B375-09DA-327E2EA4E191}"/>
              </a:ext>
            </a:extLst>
          </p:cNvPr>
          <p:cNvSpPr txBox="1"/>
          <p:nvPr/>
        </p:nvSpPr>
        <p:spPr>
          <a:xfrm>
            <a:off x="5828124" y="2340226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Python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ABA14A-93FA-96BE-01C0-A4DD68086068}"/>
              </a:ext>
            </a:extLst>
          </p:cNvPr>
          <p:cNvCxnSpPr/>
          <p:nvPr/>
        </p:nvCxnSpPr>
        <p:spPr>
          <a:xfrm flipV="1">
            <a:off x="4963886" y="4746171"/>
            <a:ext cx="864238" cy="1059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8872A2E-E4F6-D950-F61A-D7726FF5FD8C}"/>
              </a:ext>
            </a:extLst>
          </p:cNvPr>
          <p:cNvSpPr txBox="1"/>
          <p:nvPr/>
        </p:nvSpPr>
        <p:spPr>
          <a:xfrm>
            <a:off x="3744686" y="5805714"/>
            <a:ext cx="1658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Python for loop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015F4A-52E3-1219-AAD9-13CE43E8C1EF}"/>
              </a:ext>
            </a:extLst>
          </p:cNvPr>
          <p:cNvCxnSpPr>
            <a:cxnSpLocks/>
          </p:cNvCxnSpPr>
          <p:nvPr/>
        </p:nvCxnSpPr>
        <p:spPr>
          <a:xfrm flipH="1">
            <a:off x="8229600" y="4746171"/>
            <a:ext cx="1625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F63BB96-9F00-46B7-0309-1D60A3C0466E}"/>
              </a:ext>
            </a:extLst>
          </p:cNvPr>
          <p:cNvSpPr txBox="1"/>
          <p:nvPr/>
        </p:nvSpPr>
        <p:spPr>
          <a:xfrm>
            <a:off x="9459115" y="4295208"/>
            <a:ext cx="27975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Actually goes from </a:t>
            </a:r>
          </a:p>
          <a:p>
            <a:r>
              <a:rPr lang="en-US" dirty="0" err="1"/>
              <a:t>i</a:t>
            </a:r>
            <a:r>
              <a:rPr lang="en-US" dirty="0"/>
              <a:t> = 0, 1, 2, 3 </a:t>
            </a:r>
          </a:p>
          <a:p>
            <a:r>
              <a:rPr lang="en-US" dirty="0"/>
              <a:t>Up to but not including the </a:t>
            </a:r>
          </a:p>
          <a:p>
            <a:r>
              <a:rPr lang="en-US" dirty="0"/>
              <a:t>number specified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A15ABE-F49B-9D45-F3E7-695759A03BFE}"/>
              </a:ext>
            </a:extLst>
          </p:cNvPr>
          <p:cNvSpPr txBox="1"/>
          <p:nvPr/>
        </p:nvSpPr>
        <p:spPr>
          <a:xfrm>
            <a:off x="9960864" y="3429000"/>
            <a:ext cx="1705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Python variables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E370EA-EA77-3B31-CBCE-5AFC57EAEA71}"/>
              </a:ext>
            </a:extLst>
          </p:cNvPr>
          <p:cNvCxnSpPr/>
          <p:nvPr/>
        </p:nvCxnSpPr>
        <p:spPr>
          <a:xfrm flipH="1">
            <a:off x="7561943" y="3613666"/>
            <a:ext cx="22932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05779B3-B219-B9B6-9B83-0958912EE580}"/>
              </a:ext>
            </a:extLst>
          </p:cNvPr>
          <p:cNvSpPr txBox="1"/>
          <p:nvPr/>
        </p:nvSpPr>
        <p:spPr>
          <a:xfrm>
            <a:off x="1573743" y="6356573"/>
            <a:ext cx="973426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Programming nuance</a:t>
            </a:r>
            <a:r>
              <a:rPr lang="en-US" dirty="0"/>
              <a:t>:  counting often starts at zero and often goes up to but not including the end</a:t>
            </a:r>
          </a:p>
        </p:txBody>
      </p:sp>
    </p:spTree>
    <p:extLst>
      <p:ext uri="{BB962C8B-B14F-4D97-AF65-F5344CB8AC3E}">
        <p14:creationId xmlns:p14="http://schemas.microsoft.com/office/powerpoint/2010/main" val="512457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FED35-D43E-4C6E-584A-C41EE234B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5DE1B74-24BE-1088-5514-44109100F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21" y="2628426"/>
            <a:ext cx="2358876" cy="3264882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3188C8-18F3-EC52-B3EA-D224C2DA0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257" y="2628426"/>
            <a:ext cx="2870200" cy="259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9932F0-B478-531A-64CB-3292FA502E89}"/>
              </a:ext>
            </a:extLst>
          </p:cNvPr>
          <p:cNvSpPr txBox="1"/>
          <p:nvPr/>
        </p:nvSpPr>
        <p:spPr>
          <a:xfrm>
            <a:off x="7040711" y="2633903"/>
            <a:ext cx="3956279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Consider</a:t>
            </a:r>
            <a:r>
              <a:rPr lang="en-US" dirty="0"/>
              <a:t> we want to adjust the size of the square. In our second program we only update 1 variable as opposed to 4 different lines of code</a:t>
            </a:r>
          </a:p>
          <a:p>
            <a:endParaRPr lang="en-US" dirty="0"/>
          </a:p>
          <a:p>
            <a:r>
              <a:rPr lang="en-US" dirty="0"/>
              <a:t>↑ readability</a:t>
            </a:r>
          </a:p>
          <a:p>
            <a:r>
              <a:rPr lang="en-US" dirty="0"/>
              <a:t>↑ maintenance</a:t>
            </a:r>
          </a:p>
          <a:p>
            <a:r>
              <a:rPr lang="en-US" dirty="0"/>
              <a:t>↑ conciseness</a:t>
            </a:r>
          </a:p>
          <a:p>
            <a:r>
              <a:rPr lang="en-US" dirty="0"/>
              <a:t>↑ generalization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AD667A-119A-99B7-5F35-AF0578B1BAD1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2017486" y="4876800"/>
            <a:ext cx="2119085" cy="1163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93C270F-D25F-86E5-1DA6-A8FD3FDE4339}"/>
              </a:ext>
            </a:extLst>
          </p:cNvPr>
          <p:cNvSpPr txBox="1"/>
          <p:nvPr/>
        </p:nvSpPr>
        <p:spPr>
          <a:xfrm>
            <a:off x="4136571" y="5439900"/>
            <a:ext cx="6508851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Values typed directly into a program (</a:t>
            </a:r>
            <a:r>
              <a:rPr lang="en-US" dirty="0" err="1"/>
              <a:t>eg.</a:t>
            </a:r>
            <a:r>
              <a:rPr lang="en-US" dirty="0"/>
              <a:t>, the number 50) are called  </a:t>
            </a:r>
            <a:r>
              <a:rPr lang="en-US" b="1" i="1" dirty="0"/>
              <a:t>literals</a:t>
            </a:r>
            <a:r>
              <a:rPr lang="en-US" dirty="0"/>
              <a:t>, we also say they are </a:t>
            </a:r>
            <a:r>
              <a:rPr lang="en-US" b="1" i="1" dirty="0"/>
              <a:t>hardcoded </a:t>
            </a:r>
            <a:r>
              <a:rPr lang="en-US" dirty="0"/>
              <a:t>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general, we do not want hardcoded values because it is hard to maintain.</a:t>
            </a:r>
          </a:p>
        </p:txBody>
      </p:sp>
    </p:spTree>
    <p:extLst>
      <p:ext uri="{BB962C8B-B14F-4D97-AF65-F5344CB8AC3E}">
        <p14:creationId xmlns:p14="http://schemas.microsoft.com/office/powerpoint/2010/main" val="2560042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3520-6499-6D6D-0776-D625C8CC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26064"/>
            <a:ext cx="7729728" cy="1188720"/>
          </a:xfrm>
        </p:spPr>
        <p:txBody>
          <a:bodyPr/>
          <a:lstStyle/>
          <a:p>
            <a:r>
              <a:rPr lang="en-US" dirty="0"/>
              <a:t>Find a Partner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1766A-07F8-852C-DA57-41ABE2FEB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694" y="1862149"/>
            <a:ext cx="7729728" cy="3101983"/>
          </a:xfrm>
        </p:spPr>
        <p:txBody>
          <a:bodyPr>
            <a:normAutofit/>
          </a:bodyPr>
          <a:lstStyle/>
          <a:p>
            <a:r>
              <a:rPr lang="en-US" sz="2400" dirty="0"/>
              <a:t>What if we wanted to draw a triangle?</a:t>
            </a:r>
          </a:p>
          <a:p>
            <a:r>
              <a:rPr lang="en-US" sz="2400" dirty="0"/>
              <a:t>What if we wanted to draw a different regular polygon?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E6EBEE1-4300-A015-0A2A-3C7EFC569DEF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8432800" y="2358845"/>
            <a:ext cx="1006197" cy="258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7E0D199-31F8-FC18-7D3F-302DEB1ACE03}"/>
              </a:ext>
            </a:extLst>
          </p:cNvPr>
          <p:cNvSpPr txBox="1"/>
          <p:nvPr/>
        </p:nvSpPr>
        <p:spPr>
          <a:xfrm>
            <a:off x="6950893" y="1712514"/>
            <a:ext cx="497620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Closed shape with all angles and side lengths equal</a:t>
            </a:r>
          </a:p>
          <a:p>
            <a:r>
              <a:rPr lang="en-US" dirty="0" err="1"/>
              <a:t>eg.</a:t>
            </a:r>
            <a:r>
              <a:rPr lang="en-US" dirty="0"/>
              <a:t>, pentagon, hexagon, dodecagon, square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E9BC4-7C9C-6241-E3BC-5435E4A9F0CA}"/>
              </a:ext>
            </a:extLst>
          </p:cNvPr>
          <p:cNvSpPr txBox="1"/>
          <p:nvPr/>
        </p:nvSpPr>
        <p:spPr>
          <a:xfrm>
            <a:off x="2231136" y="2892908"/>
            <a:ext cx="7729728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Task 1: </a:t>
            </a:r>
            <a:r>
              <a:rPr lang="en-US" dirty="0"/>
              <a:t>Give pseudocode to draw a triangle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First question – what do you have that you can reuse?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Second question – what do you need to solve the problem?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How many sides are in a triangle?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What is the interior angle for an equilateral triangle?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B049C-92D1-D12A-F982-AAF244676A97}"/>
              </a:ext>
            </a:extLst>
          </p:cNvPr>
          <p:cNvSpPr txBox="1"/>
          <p:nvPr/>
        </p:nvSpPr>
        <p:spPr>
          <a:xfrm>
            <a:off x="2231136" y="4499155"/>
            <a:ext cx="7729728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Task 2: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Give pseudocode to draw any regular polygon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u="sng" dirty="0"/>
              <a:t>Hint</a:t>
            </a:r>
            <a:r>
              <a:rPr lang="en-US" dirty="0"/>
              <a:t>: Revisit the idea of abstracting the 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Introduce a new variable called sides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sides is 6 your code should draw a hexagon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finish early, reuse the code in previous slides to try to convert your pseudocode to python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91407F-F422-6757-0A6A-CF8E01D2BD62}"/>
              </a:ext>
            </a:extLst>
          </p:cNvPr>
          <p:cNvSpPr txBox="1"/>
          <p:nvPr/>
        </p:nvSpPr>
        <p:spPr>
          <a:xfrm>
            <a:off x="10377714" y="145143"/>
            <a:ext cx="109773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7 minutes</a:t>
            </a:r>
          </a:p>
        </p:txBody>
      </p:sp>
    </p:spTree>
    <p:extLst>
      <p:ext uri="{BB962C8B-B14F-4D97-AF65-F5344CB8AC3E}">
        <p14:creationId xmlns:p14="http://schemas.microsoft.com/office/powerpoint/2010/main" val="40657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A2C8-875F-1166-D4C9-61364A058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Shapes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BF794-0902-8128-35A1-74F66DC41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372" y="2456337"/>
            <a:ext cx="2270105" cy="395442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Triangle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F1345-E357-3B1C-B3EE-8B7061ACE081}"/>
              </a:ext>
            </a:extLst>
          </p:cNvPr>
          <p:cNvSpPr txBox="1"/>
          <p:nvPr/>
        </p:nvSpPr>
        <p:spPr>
          <a:xfrm>
            <a:off x="6376344" y="2939935"/>
            <a:ext cx="381707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sides = 5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angle = 360 / sides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length = 50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Initialize Turtle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 to sides: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forward(length)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rotate (angle)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F8E6A-CE07-534F-59CA-B4971B695FA3}"/>
              </a:ext>
            </a:extLst>
          </p:cNvPr>
          <p:cNvSpPr txBox="1"/>
          <p:nvPr/>
        </p:nvSpPr>
        <p:spPr>
          <a:xfrm>
            <a:off x="1289339" y="2939935"/>
            <a:ext cx="317586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angle = 120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length = 50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Initialize Turtle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 to 3: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forward(length)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rotate (angle)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FA3A-E214-9702-3AF9-FD8258EE041C}"/>
              </a:ext>
            </a:extLst>
          </p:cNvPr>
          <p:cNvSpPr txBox="1"/>
          <p:nvPr/>
        </p:nvSpPr>
        <p:spPr>
          <a:xfrm>
            <a:off x="6286255" y="2469392"/>
            <a:ext cx="1678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Regular Polygon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81B1DD-774E-DEFB-E321-217F4147794D}"/>
              </a:ext>
            </a:extLst>
          </p:cNvPr>
          <p:cNvCxnSpPr/>
          <p:nvPr/>
        </p:nvCxnSpPr>
        <p:spPr>
          <a:xfrm flipH="1">
            <a:off x="9173029" y="4064000"/>
            <a:ext cx="1494971" cy="522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74FB039-E7D8-845B-B5FE-045B972F95CE}"/>
              </a:ext>
            </a:extLst>
          </p:cNvPr>
          <p:cNvSpPr txBox="1"/>
          <p:nvPr/>
        </p:nvSpPr>
        <p:spPr>
          <a:xfrm>
            <a:off x="10697029" y="3788229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sides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FF3BA80-BD22-863D-7028-064F34DF5574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10072914" y="3788229"/>
            <a:ext cx="624115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478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130AC-E737-47A2-C61C-6670DBB77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POlygon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3F55E-4C73-4466-8324-1F648C14978C}"/>
              </a:ext>
            </a:extLst>
          </p:cNvPr>
          <p:cNvSpPr txBox="1"/>
          <p:nvPr/>
        </p:nvSpPr>
        <p:spPr>
          <a:xfrm>
            <a:off x="6444343" y="2510971"/>
            <a:ext cx="459613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ColabTurtle.Turtle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import *</a:t>
            </a:r>
          </a:p>
          <a:p>
            <a:b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#draw a regular polygon</a:t>
            </a:r>
          </a:p>
          <a:p>
            <a:b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sides = 5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angle = 360 / sides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length = 40</a:t>
            </a:r>
          </a:p>
          <a:p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initializeTurtle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b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range(sides):</a:t>
            </a:r>
          </a:p>
          <a:p>
            <a:pPr lvl="1"/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#draw a line and rotate</a:t>
            </a:r>
          </a:p>
          <a:p>
            <a:pPr lvl="1"/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forward(length)</a:t>
            </a:r>
          </a:p>
          <a:p>
            <a:pPr lvl="1"/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right(angle)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071C7-6E8B-A396-4DD7-57A822FAC84A}"/>
              </a:ext>
            </a:extLst>
          </p:cNvPr>
          <p:cNvSpPr txBox="1"/>
          <p:nvPr/>
        </p:nvSpPr>
        <p:spPr>
          <a:xfrm>
            <a:off x="1151527" y="2786742"/>
            <a:ext cx="381707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sides = 5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angle = 360 / sides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SET length = 40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Initialize Turtle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 to sides: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forward(length)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rotate (angle)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281966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DDF11-FBB8-69E0-AC01-0967C0B35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23613"/>
            <a:ext cx="7729728" cy="1188720"/>
          </a:xfrm>
        </p:spPr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9682F-8BA5-68A7-0AC0-1EF31D7C0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712334"/>
            <a:ext cx="7729728" cy="4622054"/>
          </a:xfrm>
        </p:spPr>
        <p:txBody>
          <a:bodyPr>
            <a:normAutofit/>
          </a:bodyPr>
          <a:lstStyle/>
          <a:p>
            <a:r>
              <a:rPr lang="en-US" sz="2400" dirty="0"/>
              <a:t>Variable: Symbolic names that refer to objects or values stored in memory of a computer</a:t>
            </a:r>
          </a:p>
          <a:p>
            <a:r>
              <a:rPr lang="en-US" sz="2400" dirty="0"/>
              <a:t>Example: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length = 50</a:t>
            </a: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Good Programmer Habit:</a:t>
            </a:r>
          </a:p>
          <a:p>
            <a:r>
              <a:rPr lang="en-US" dirty="0"/>
              <a:t>Read the assignment operator as “GETS”</a:t>
            </a:r>
          </a:p>
          <a:p>
            <a:r>
              <a:rPr lang="en-US" dirty="0"/>
              <a:t>The above python line reads as: length “gets” 50 </a:t>
            </a:r>
          </a:p>
          <a:p>
            <a:pPr lvl="1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29F0B71-E964-308E-705F-1FACDC1C5704}"/>
              </a:ext>
            </a:extLst>
          </p:cNvPr>
          <p:cNvCxnSpPr>
            <a:cxnSpLocks/>
          </p:cNvCxnSpPr>
          <p:nvPr/>
        </p:nvCxnSpPr>
        <p:spPr>
          <a:xfrm flipH="1">
            <a:off x="3565003" y="2953085"/>
            <a:ext cx="3116468" cy="148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B095DC-631F-3B27-CF19-67A63CC0A378}"/>
              </a:ext>
            </a:extLst>
          </p:cNvPr>
          <p:cNvSpPr txBox="1"/>
          <p:nvPr/>
        </p:nvSpPr>
        <p:spPr>
          <a:xfrm>
            <a:off x="6681471" y="2437696"/>
            <a:ext cx="5213645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length </a:t>
            </a:r>
            <a:r>
              <a:rPr lang="en-US" dirty="0"/>
              <a:t>is the name of a variable referencing a place in computer memory where a programmer can find a value (hiding detail of the memory - abstraction)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BB956C-352B-6EF3-CFEC-311576745CC7}"/>
              </a:ext>
            </a:extLst>
          </p:cNvPr>
          <p:cNvCxnSpPr>
            <a:cxnSpLocks/>
          </p:cNvCxnSpPr>
          <p:nvPr/>
        </p:nvCxnSpPr>
        <p:spPr>
          <a:xfrm flipV="1">
            <a:off x="3287210" y="3429000"/>
            <a:ext cx="613458" cy="727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CCA822-DCAE-EEBA-8AE3-E90D8261A523}"/>
              </a:ext>
            </a:extLst>
          </p:cNvPr>
          <p:cNvSpPr txBox="1"/>
          <p:nvPr/>
        </p:nvSpPr>
        <p:spPr>
          <a:xfrm>
            <a:off x="1451234" y="4156149"/>
            <a:ext cx="385768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Assignment </a:t>
            </a:r>
            <a:r>
              <a:rPr lang="en-US" i="1" dirty="0"/>
              <a:t>operator – </a:t>
            </a:r>
            <a:r>
              <a:rPr lang="en-US" dirty="0"/>
              <a:t>means “assign length value 50” not equals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D6E5F0-7BD3-5F8E-74DF-79901977496F}"/>
              </a:ext>
            </a:extLst>
          </p:cNvPr>
          <p:cNvSpPr txBox="1"/>
          <p:nvPr/>
        </p:nvSpPr>
        <p:spPr>
          <a:xfrm>
            <a:off x="298398" y="5296047"/>
            <a:ext cx="18473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EA7047-6012-76A3-7A3F-53A2FEC991DF}"/>
              </a:ext>
            </a:extLst>
          </p:cNvPr>
          <p:cNvSpPr txBox="1"/>
          <p:nvPr/>
        </p:nvSpPr>
        <p:spPr>
          <a:xfrm>
            <a:off x="6681470" y="3794871"/>
            <a:ext cx="5213645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 that length ‘gets’ as its value to store. Now whenever a programmer types the variable length it will return 50 from memory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50 is a </a:t>
            </a:r>
            <a:r>
              <a:rPr lang="en-US" i="1" dirty="0"/>
              <a:t>literal</a:t>
            </a:r>
            <a:r>
              <a:rPr lang="en-US" dirty="0"/>
              <a:t> that is assigned to the </a:t>
            </a:r>
            <a:r>
              <a:rPr lang="en-US" i="1" dirty="0"/>
              <a:t>variable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DB9D17B-E2FC-C39B-C752-A083B22A89EB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4330861" y="3429000"/>
            <a:ext cx="2350609" cy="966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007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39024-2CF4-5FEE-A9F1-1A6B90F4D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838CC-CD47-8E5E-38D4-14F116E6D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445515"/>
          </a:xfrm>
        </p:spPr>
        <p:txBody>
          <a:bodyPr>
            <a:normAutofit fontScale="77500" lnSpcReduction="20000"/>
          </a:bodyPr>
          <a:lstStyle/>
          <a:p>
            <a:r>
              <a:rPr lang="en-US" sz="2400" dirty="0"/>
              <a:t>Must be assigned (appear on the left side of the assignment operator (=) </a:t>
            </a:r>
            <a:r>
              <a:rPr lang="en-US" sz="2400" b="1" dirty="0"/>
              <a:t>before</a:t>
            </a:r>
            <a:r>
              <a:rPr lang="en-US" sz="2400" dirty="0"/>
              <a:t> they are used </a:t>
            </a:r>
          </a:p>
          <a:p>
            <a:r>
              <a:rPr lang="en-US" sz="2400" dirty="0"/>
              <a:t>Can be reassigned new values </a:t>
            </a:r>
          </a:p>
          <a:p>
            <a:r>
              <a:rPr lang="en-US" sz="2400" dirty="0"/>
              <a:t>Must follow specific naming conventions</a:t>
            </a:r>
          </a:p>
          <a:p>
            <a:r>
              <a:rPr lang="en-US" sz="2400" dirty="0"/>
              <a:t>Have a defined </a:t>
            </a:r>
            <a:r>
              <a:rPr lang="en-US" sz="2400" b="1" i="1" dirty="0"/>
              <a:t>scope</a:t>
            </a:r>
            <a:r>
              <a:rPr lang="en-US" sz="2400" dirty="0"/>
              <a:t> </a:t>
            </a:r>
          </a:p>
          <a:p>
            <a:pPr lvl="1"/>
            <a:r>
              <a:rPr lang="en-US" sz="2200" dirty="0"/>
              <a:t>Remember our indentation – it works in Python too</a:t>
            </a:r>
          </a:p>
          <a:p>
            <a:pPr lvl="1"/>
            <a:r>
              <a:rPr lang="en-US" sz="2200" dirty="0"/>
              <a:t>A variable is defined in the block (indented region of code) and are only accessible from there</a:t>
            </a:r>
          </a:p>
          <a:p>
            <a:pPr lvl="1"/>
            <a:r>
              <a:rPr lang="en-US" sz="2200" b="1" dirty="0"/>
              <a:t>Advanced concept:</a:t>
            </a:r>
            <a:r>
              <a:rPr lang="en-US" sz="2200" dirty="0"/>
              <a:t> Scopes can be </a:t>
            </a:r>
            <a:r>
              <a:rPr lang="en-US" sz="2200" b="1" i="1" dirty="0"/>
              <a:t>nested</a:t>
            </a:r>
            <a:r>
              <a:rPr lang="en-US" sz="2200" dirty="0"/>
              <a:t>.  Assume Block A defines a variable length, and a Block B nested under it. Block B can also see that variable.  But after B ends we lose all of its variables that it defines. (More on this later)</a:t>
            </a:r>
          </a:p>
        </p:txBody>
      </p:sp>
    </p:spTree>
    <p:extLst>
      <p:ext uri="{BB962C8B-B14F-4D97-AF65-F5344CB8AC3E}">
        <p14:creationId xmlns:p14="http://schemas.microsoft.com/office/powerpoint/2010/main" val="2428344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C4D3-AA41-D069-2D47-EE46901F1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A871E-DBCB-48DA-7072-48C34CB31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Must start with a </a:t>
            </a:r>
            <a:r>
              <a:rPr lang="en-US" sz="2400" i="1" dirty="0"/>
              <a:t>letter </a:t>
            </a:r>
            <a:r>
              <a:rPr lang="en-US" sz="2400" dirty="0"/>
              <a:t>or an </a:t>
            </a:r>
            <a:r>
              <a:rPr lang="en-US" sz="2400" i="1" dirty="0"/>
              <a:t>underscore </a:t>
            </a:r>
            <a:r>
              <a:rPr lang="en-US" sz="2400" dirty="0"/>
              <a:t>( _ - usually available by holding shift + minus key)</a:t>
            </a:r>
          </a:p>
          <a:p>
            <a:pPr lvl="1"/>
            <a:r>
              <a:rPr lang="en-US" sz="2000" dirty="0"/>
              <a:t>Cannot start with a number or any other symbol </a:t>
            </a:r>
          </a:p>
          <a:p>
            <a:pPr lvl="1"/>
            <a:r>
              <a:rPr lang="en-US" sz="2400" dirty="0"/>
              <a:t>Can only contain alphanumeric characters (A-z, 0-9) and underscores</a:t>
            </a:r>
          </a:p>
          <a:p>
            <a:r>
              <a:rPr lang="en-US" sz="2400" dirty="0"/>
              <a:t>Are case sensitive (length is different from Length or LENGTH)</a:t>
            </a:r>
          </a:p>
          <a:p>
            <a:r>
              <a:rPr lang="en-US" sz="2400" dirty="0"/>
              <a:t>Cannot be a reserved keyword – what’s that?</a:t>
            </a:r>
          </a:p>
          <a:p>
            <a:pPr lvl="1"/>
            <a:r>
              <a:rPr lang="en-US" sz="2200" dirty="0"/>
              <a:t>A keyword that is already used by Python in its definition</a:t>
            </a:r>
          </a:p>
        </p:txBody>
      </p:sp>
    </p:spTree>
    <p:extLst>
      <p:ext uri="{BB962C8B-B14F-4D97-AF65-F5344CB8AC3E}">
        <p14:creationId xmlns:p14="http://schemas.microsoft.com/office/powerpoint/2010/main" val="989561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733BD-81E9-7C1E-C87C-957C451C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dirty="0"/>
              <a:t>Python Keywords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DB996E-7695-585C-8F24-D06924DA00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0905" y="988966"/>
            <a:ext cx="6897627" cy="488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584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E1A0-0B85-CD37-263F-E061AB8C9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3976" y="274227"/>
            <a:ext cx="9637403" cy="1188720"/>
          </a:xfrm>
        </p:spPr>
        <p:txBody>
          <a:bodyPr/>
          <a:lstStyle/>
          <a:p>
            <a:r>
              <a:rPr lang="en-US" dirty="0"/>
              <a:t>Python Variable Name</a:t>
            </a:r>
            <a:br>
              <a:rPr lang="en-US" dirty="0"/>
            </a:br>
            <a:r>
              <a:rPr lang="en-US" dirty="0"/>
              <a:t>Conventions and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3979C-1D82-B102-B06C-4BB5F3470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032000"/>
            <a:ext cx="9040244" cy="4412343"/>
          </a:xfrm>
        </p:spPr>
        <p:txBody>
          <a:bodyPr>
            <a:normAutofit fontScale="92500"/>
          </a:bodyPr>
          <a:lstStyle/>
          <a:p>
            <a:r>
              <a:rPr lang="en-CA" sz="2400" b="1" dirty="0"/>
              <a:t>Readability:</a:t>
            </a:r>
            <a:r>
              <a:rPr lang="en-CA" sz="2400" dirty="0"/>
              <a:t> Names should be clear, descriptive, and easy to understand.</a:t>
            </a:r>
          </a:p>
          <a:p>
            <a:pPr lvl="1"/>
            <a:r>
              <a:rPr lang="en-CA" sz="2000" dirty="0"/>
              <a:t>Example: </a:t>
            </a:r>
            <a:r>
              <a:rPr lang="en-CA" sz="2000" b="1" dirty="0"/>
              <a:t>salary </a:t>
            </a:r>
            <a:r>
              <a:rPr lang="en-CA" sz="2000" dirty="0"/>
              <a:t>instead of </a:t>
            </a:r>
            <a:r>
              <a:rPr lang="en-CA" sz="2000" b="1" dirty="0"/>
              <a:t>x</a:t>
            </a:r>
          </a:p>
          <a:p>
            <a:pPr lvl="1"/>
            <a:r>
              <a:rPr lang="en-CA" sz="2000" dirty="0"/>
              <a:t>One exception – programmers will often use single letter variables for counting things in repetitions (remember our FOR – it used the letter </a:t>
            </a:r>
            <a:r>
              <a:rPr lang="en-CA" sz="2000" b="1" dirty="0" err="1"/>
              <a:t>i</a:t>
            </a:r>
            <a:r>
              <a:rPr lang="en-CA" sz="2000" dirty="0"/>
              <a:t>)</a:t>
            </a:r>
          </a:p>
          <a:p>
            <a:r>
              <a:rPr lang="en-CA" sz="2400" b="1" dirty="0"/>
              <a:t>Consistency:</a:t>
            </a:r>
            <a:r>
              <a:rPr lang="en-CA" sz="2400" dirty="0"/>
              <a:t> Maintain a consistent naming style throughout your codebase.</a:t>
            </a:r>
          </a:p>
          <a:p>
            <a:pPr lvl="1"/>
            <a:r>
              <a:rPr lang="en-CA" sz="2000" dirty="0"/>
              <a:t>Typically lowercase with words separated by underscores</a:t>
            </a:r>
          </a:p>
          <a:p>
            <a:pPr lvl="1"/>
            <a:r>
              <a:rPr lang="en-CA" sz="2000" dirty="0"/>
              <a:t>Example: </a:t>
            </a:r>
            <a:r>
              <a:rPr lang="en-CA" sz="2000" b="1" dirty="0" err="1"/>
              <a:t>first_name</a:t>
            </a:r>
            <a:endParaRPr lang="en-CA" sz="2000" b="1" dirty="0"/>
          </a:p>
          <a:p>
            <a:r>
              <a:rPr lang="en-CA" sz="2400" b="1" dirty="0"/>
              <a:t>Avoid ambiguity:</a:t>
            </a:r>
            <a:r>
              <a:rPr lang="en-CA" sz="2400" dirty="0"/>
              <a:t> Do not use names that could be easily confused with other variables, functions, or keywords, and may cause errors.</a:t>
            </a:r>
          </a:p>
          <a:p>
            <a:pPr lvl="1"/>
            <a:r>
              <a:rPr lang="en-CA" sz="2000" dirty="0"/>
              <a:t>Try to avoid things like: int, max, abs (all built in function names)</a:t>
            </a:r>
          </a:p>
          <a:p>
            <a:pPr marL="0" indent="0">
              <a:buNone/>
            </a:pPr>
            <a:endParaRPr lang="en-CA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3449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14E57-9AA1-5508-68A5-48E9FF5B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naming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14055-ADDB-798C-2403-3D5FD8345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2849" y="2507415"/>
            <a:ext cx="10062465" cy="3849842"/>
          </a:xfrm>
        </p:spPr>
        <p:txBody>
          <a:bodyPr>
            <a:normAutofit/>
          </a:bodyPr>
          <a:lstStyle/>
          <a:p>
            <a:r>
              <a:rPr lang="en-US" sz="2400" dirty="0"/>
              <a:t>Use a trailing underscore to avoid collisions with keywords or </a:t>
            </a:r>
            <a:r>
              <a:rPr lang="en-US" sz="2400" dirty="0" err="1"/>
              <a:t>builtins</a:t>
            </a:r>
            <a:endParaRPr lang="en-US" sz="2400" dirty="0"/>
          </a:p>
          <a:p>
            <a:pPr lvl="1"/>
            <a:r>
              <a:rPr lang="en-US" sz="2000" dirty="0" err="1"/>
              <a:t>eg.</a:t>
            </a:r>
            <a:r>
              <a:rPr lang="en-US" sz="2000" dirty="0"/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max_</a:t>
            </a:r>
          </a:p>
          <a:p>
            <a:r>
              <a:rPr lang="en-US" sz="2400" dirty="0">
                <a:cs typeface="Courier New" panose="02070309020205020404" pitchFamily="49" charset="0"/>
              </a:rPr>
              <a:t>Single underscore (by itself) can be used to signify a throw-away variable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E.g., for _ in range(4): #no plans to use _ in the loop </a:t>
            </a:r>
          </a:p>
          <a:p>
            <a:r>
              <a:rPr lang="en-US" sz="2400" dirty="0">
                <a:cs typeface="Courier New" panose="02070309020205020404" pitchFamily="49" charset="0"/>
              </a:rPr>
              <a:t>ALL_CAPS with underscores denotes CONSTANTS (variables that are stored in memory but shouldn’t be modified by programmers)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E.g., KGS_TO_LBS = 2.20462</a:t>
            </a:r>
          </a:p>
          <a:p>
            <a:r>
              <a:rPr lang="en-US" sz="2200" dirty="0">
                <a:cs typeface="Courier New" panose="02070309020205020404" pitchFamily="49" charset="0"/>
              </a:rPr>
              <a:t>Single leading underscore indicates a private variable (covered in CS 1920)</a:t>
            </a:r>
          </a:p>
          <a:p>
            <a:pPr lvl="1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0B56052-6B6D-220C-9C43-8367F6710ED3}"/>
              </a:ext>
            </a:extLst>
          </p:cNvPr>
          <p:cNvCxnSpPr>
            <a:cxnSpLocks/>
          </p:cNvCxnSpPr>
          <p:nvPr/>
        </p:nvCxnSpPr>
        <p:spPr>
          <a:xfrm flipH="1">
            <a:off x="10197235" y="974567"/>
            <a:ext cx="1123832" cy="2898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322C92E-DB18-6FC6-4DD1-C5718FF62F0F}"/>
              </a:ext>
            </a:extLst>
          </p:cNvPr>
          <p:cNvSpPr txBox="1"/>
          <p:nvPr/>
        </p:nvSpPr>
        <p:spPr>
          <a:xfrm>
            <a:off x="9635319" y="41362"/>
            <a:ext cx="2502703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Our python code to draw a square could use this</a:t>
            </a:r>
          </a:p>
        </p:txBody>
      </p:sp>
    </p:spTree>
    <p:extLst>
      <p:ext uri="{BB962C8B-B14F-4D97-AF65-F5344CB8AC3E}">
        <p14:creationId xmlns:p14="http://schemas.microsoft.com/office/powerpoint/2010/main" val="73893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516C5-BEC2-7AB1-BCE8-399A9457E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FB2E9-0E94-7C7A-1AEA-1726B8ED6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62273"/>
            <a:ext cx="7729728" cy="3758060"/>
          </a:xfrm>
        </p:spPr>
        <p:txBody>
          <a:bodyPr>
            <a:normAutofit/>
          </a:bodyPr>
          <a:lstStyle/>
          <a:p>
            <a:r>
              <a:rPr lang="en-US" sz="2400" dirty="0"/>
              <a:t>Which of the following are valid python variable names?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Which of them are poor choices and why?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96AC22-A05A-CD37-AE0A-A589D36E5354}"/>
              </a:ext>
            </a:extLst>
          </p:cNvPr>
          <p:cNvSpPr txBox="1"/>
          <p:nvPr/>
        </p:nvSpPr>
        <p:spPr>
          <a:xfrm>
            <a:off x="1794157" y="3540298"/>
            <a:ext cx="184731" cy="16709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DF2216-1FC2-ECA4-30FD-C6F5C27ED73A}"/>
              </a:ext>
            </a:extLst>
          </p:cNvPr>
          <p:cNvSpPr txBox="1"/>
          <p:nvPr/>
        </p:nvSpPr>
        <p:spPr>
          <a:xfrm>
            <a:off x="4064000" y="3360057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D769DF-98A6-47A9-48D8-79CB59470BBE}"/>
              </a:ext>
            </a:extLst>
          </p:cNvPr>
          <p:cNvSpPr txBox="1"/>
          <p:nvPr/>
        </p:nvSpPr>
        <p:spPr>
          <a:xfrm>
            <a:off x="8799723" y="3360057"/>
            <a:ext cx="1847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BA5C3A0-8CE2-5FAC-F6F6-468C099E2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900215"/>
              </p:ext>
            </p:extLst>
          </p:nvPr>
        </p:nvGraphicFramePr>
        <p:xfrm>
          <a:off x="1636889" y="2998702"/>
          <a:ext cx="9104489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6422">
                  <a:extLst>
                    <a:ext uri="{9D8B030D-6E8A-4147-A177-3AD203B41FA5}">
                      <a16:colId xmlns:a16="http://schemas.microsoft.com/office/drawing/2014/main" val="2576485787"/>
                    </a:ext>
                  </a:extLst>
                </a:gridCol>
                <a:gridCol w="2322689">
                  <a:extLst>
                    <a:ext uri="{9D8B030D-6E8A-4147-A177-3AD203B41FA5}">
                      <a16:colId xmlns:a16="http://schemas.microsoft.com/office/drawing/2014/main" val="2682591395"/>
                    </a:ext>
                  </a:extLst>
                </a:gridCol>
                <a:gridCol w="2322689">
                  <a:extLst>
                    <a:ext uri="{9D8B030D-6E8A-4147-A177-3AD203B41FA5}">
                      <a16:colId xmlns:a16="http://schemas.microsoft.com/office/drawing/2014/main" val="4138989719"/>
                    </a:ext>
                  </a:extLst>
                </a:gridCol>
                <a:gridCol w="2322689">
                  <a:extLst>
                    <a:ext uri="{9D8B030D-6E8A-4147-A177-3AD203B41FA5}">
                      <a16:colId xmlns:a16="http://schemas.microsoft.com/office/drawing/2014/main" val="1586733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my-name</a:t>
                      </a:r>
                      <a:endParaRPr lang="en-CA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local</a:t>
                      </a:r>
                      <a:endParaRPr lang="en-CA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Try</a:t>
                      </a:r>
                      <a:endParaRPr lang="en-CA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466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NAME</a:t>
                      </a:r>
                      <a:endParaRPr lang="en-CA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/>
                        <a:t>Long^Game</a:t>
                      </a:r>
                      <a:endParaRPr lang="en-US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Global</a:t>
                      </a:r>
                      <a:endParaRPr lang="en-CA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False</a:t>
                      </a:r>
                      <a:endParaRPr lang="en-CA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782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3xtra</a:t>
                      </a:r>
                      <a:endParaRPr lang="en-CA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_view</a:t>
                      </a:r>
                      <a:endParaRPr lang="en-US" b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err="1"/>
                        <a:t>LongGame</a:t>
                      </a:r>
                      <a:endParaRPr lang="en-CA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/>
                        <a:t>num_of_visitors</a:t>
                      </a:r>
                      <a:endParaRPr lang="en-US" b="0" dirty="0"/>
                    </a:p>
                    <a:p>
                      <a:endParaRPr lang="en-CA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271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P0t4t0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4ever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err="1"/>
                        <a:t>try_again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032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3397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4748-E905-EA5A-4FF2-DB41DCAF9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8FE63-B617-F504-151D-FC28B37D5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What is a variable in python?</a:t>
            </a:r>
            <a:endParaRPr lang="en-US" dirty="0"/>
          </a:p>
          <a:p>
            <a:pPr marL="342900" indent="-342900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a reserved word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a data type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a location in memory to store data</a:t>
            </a:r>
          </a:p>
          <a:p>
            <a:pPr marL="342900" indent="-342900">
              <a:buFont typeface="+mj-lt"/>
              <a:buAutoNum type="alphaUcPeriod"/>
            </a:pPr>
            <a:r>
              <a:rPr lang="en-US" dirty="0">
                <a:solidFill>
                  <a:schemeClr val="tx1"/>
                </a:solidFill>
              </a:rPr>
              <a:t>a function</a:t>
            </a:r>
          </a:p>
        </p:txBody>
      </p:sp>
    </p:spTree>
    <p:extLst>
      <p:ext uri="{BB962C8B-B14F-4D97-AF65-F5344CB8AC3E}">
        <p14:creationId xmlns:p14="http://schemas.microsoft.com/office/powerpoint/2010/main" val="3522007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C1EFB-0BDA-A5BF-2520-96EA476AA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Participation Pause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B7BC1C2-4DF7-53F7-814C-B6F01E765F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59034" y="2525524"/>
            <a:ext cx="86739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2026W CS1910 03 In-Class Participation Computational Thinking – Fill out form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3" name="Picture 5" descr="QR code">
            <a:extLst>
              <a:ext uri="{FF2B5EF4-FFF2-40B4-BE49-F238E27FC236}">
                <a16:creationId xmlns:a16="http://schemas.microsoft.com/office/drawing/2014/main" id="{D52CEEFB-86B0-4E44-EBEF-9B4E14C96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660" y="3081868"/>
            <a:ext cx="2988678" cy="2988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0065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B703-C6AF-E1A2-FBAC-F66E2090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C0639-F658-2A1C-3F79-F69F2B14F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47759"/>
            <a:ext cx="7729728" cy="4165929"/>
          </a:xfrm>
        </p:spPr>
        <p:txBody>
          <a:bodyPr>
            <a:normAutofit fontScale="77500" lnSpcReduction="20000"/>
          </a:bodyPr>
          <a:lstStyle/>
          <a:p>
            <a:r>
              <a:rPr lang="en-US" sz="2400" dirty="0"/>
              <a:t>Allow you to represent different types of data</a:t>
            </a:r>
          </a:p>
          <a:p>
            <a:r>
              <a:rPr lang="en-US" sz="2400" dirty="0"/>
              <a:t>Basic data types: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= integer numbers (e.g., 10)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float = floating point numbers (e.g., 3.14)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 = character </a:t>
            </a:r>
            <a:r>
              <a:rPr 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strings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(e.g., “Hello”)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bool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values (e.g., True / False)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None = a special type that represents the absence of a value (more on this later)</a:t>
            </a:r>
          </a:p>
          <a:p>
            <a:r>
              <a:rPr lang="en-US" sz="2400" dirty="0"/>
              <a:t>Variables have an underlying type – you can find out what type a variable is by using the following: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type(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name_of_variable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sz="2200" dirty="0">
                <a:cs typeface="Courier New" panose="02070309020205020404" pitchFamily="49" charset="0"/>
                <a:sym typeface="Wingdings" pitchFamily="2" charset="2"/>
              </a:rPr>
              <a:t>Advanced Concept: type(…) is a built-in function in Python</a:t>
            </a:r>
          </a:p>
          <a:p>
            <a:r>
              <a:rPr lang="en-US" sz="2600" dirty="0">
                <a:sym typeface="Wingdings" pitchFamily="2" charset="2"/>
              </a:rPr>
              <a:t>There are less common types (</a:t>
            </a:r>
            <a:r>
              <a:rPr lang="en-US" sz="2600" dirty="0" err="1">
                <a:cs typeface="Courier New" panose="02070309020205020404" pitchFamily="49" charset="0"/>
                <a:sym typeface="Wingdings" pitchFamily="2" charset="2"/>
              </a:rPr>
              <a:t>e.g</a:t>
            </a:r>
            <a:r>
              <a:rPr lang="en-US" sz="2600" dirty="0">
                <a:cs typeface="Courier New" panose="02070309020205020404" pitchFamily="49" charset="0"/>
                <a:sym typeface="Wingdings" pitchFamily="2" charset="2"/>
              </a:rPr>
              <a:t>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complex, bytes,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bytearray</a:t>
            </a:r>
            <a:r>
              <a:rPr lang="en-US" sz="2600" dirty="0">
                <a:cs typeface="Courier New" panose="02070309020205020404" pitchFamily="49" charset="0"/>
              </a:rPr>
              <a:t>)</a:t>
            </a:r>
            <a:endParaRPr lang="en-US" sz="2600" dirty="0"/>
          </a:p>
          <a:p>
            <a:endParaRPr lang="en-US" sz="2400" dirty="0"/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00ABA9-BF7B-DA9F-9803-F369F71E8F7D}"/>
              </a:ext>
            </a:extLst>
          </p:cNvPr>
          <p:cNvCxnSpPr>
            <a:cxnSpLocks/>
          </p:cNvCxnSpPr>
          <p:nvPr/>
        </p:nvCxnSpPr>
        <p:spPr>
          <a:xfrm flipH="1">
            <a:off x="6818489" y="3000609"/>
            <a:ext cx="2935111" cy="194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A0A54B-1433-7E50-9077-2DA3FC769A60}"/>
              </a:ext>
            </a:extLst>
          </p:cNvPr>
          <p:cNvCxnSpPr>
            <a:cxnSpLocks/>
          </p:cNvCxnSpPr>
          <p:nvPr/>
        </p:nvCxnSpPr>
        <p:spPr>
          <a:xfrm flipH="1">
            <a:off x="8071556" y="3194957"/>
            <a:ext cx="1682044" cy="327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C5EE3E-C0D8-C610-2C99-B2975C10481A}"/>
              </a:ext>
            </a:extLst>
          </p:cNvPr>
          <p:cNvCxnSpPr>
            <a:cxnSpLocks/>
          </p:cNvCxnSpPr>
          <p:nvPr/>
        </p:nvCxnSpPr>
        <p:spPr>
          <a:xfrm flipH="1">
            <a:off x="7653867" y="3311979"/>
            <a:ext cx="2099733" cy="526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122ED8-31F0-CDCD-226B-B8D9F063A8D6}"/>
              </a:ext>
            </a:extLst>
          </p:cNvPr>
          <p:cNvCxnSpPr>
            <a:cxnSpLocks/>
          </p:cNvCxnSpPr>
          <p:nvPr/>
        </p:nvCxnSpPr>
        <p:spPr>
          <a:xfrm flipH="1">
            <a:off x="7924800" y="3311979"/>
            <a:ext cx="1988457" cy="819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4ED8B3D-3749-FE7E-4F05-51C577DC40B1}"/>
              </a:ext>
            </a:extLst>
          </p:cNvPr>
          <p:cNvSpPr txBox="1"/>
          <p:nvPr/>
        </p:nvSpPr>
        <p:spPr>
          <a:xfrm>
            <a:off x="9579428" y="2718769"/>
            <a:ext cx="1988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Examples of literals</a:t>
            </a:r>
          </a:p>
        </p:txBody>
      </p:sp>
    </p:spTree>
    <p:extLst>
      <p:ext uri="{BB962C8B-B14F-4D97-AF65-F5344CB8AC3E}">
        <p14:creationId xmlns:p14="http://schemas.microsoft.com/office/powerpoint/2010/main" val="2353081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BC4C9-1505-3812-8046-DCCE10DB3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31246-9602-6912-8783-F66152EFA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Integers are whole numbers </a:t>
            </a:r>
          </a:p>
          <a:p>
            <a:pPr lvl="1"/>
            <a:r>
              <a:rPr lang="en-US" sz="2000" dirty="0"/>
              <a:t>Includes positive and negative numbers</a:t>
            </a:r>
          </a:p>
          <a:p>
            <a:pPr lvl="1"/>
            <a:r>
              <a:rPr lang="en-US" sz="2000" dirty="0"/>
              <a:t>Python has no maximum or minimum integer</a:t>
            </a:r>
          </a:p>
          <a:p>
            <a:pPr lvl="1"/>
            <a:r>
              <a:rPr lang="en-US" sz="2000" dirty="0"/>
              <a:t>Built-in function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int() </a:t>
            </a:r>
            <a:r>
              <a:rPr lang="en-US" sz="2000" dirty="0"/>
              <a:t>tries to convert other types to int values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int(“1”), int(1.75), int(True), int(False)</a:t>
            </a:r>
          </a:p>
          <a:p>
            <a:pPr marL="228600" lvl="1" indent="0">
              <a:buNone/>
            </a:pPr>
            <a:endParaRPr lang="en-US" sz="2000" dirty="0"/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3AFFCA-3D92-23ED-47BF-3BA44DF38F07}"/>
              </a:ext>
            </a:extLst>
          </p:cNvPr>
          <p:cNvSpPr txBox="1"/>
          <p:nvPr/>
        </p:nvSpPr>
        <p:spPr>
          <a:xfrm>
            <a:off x="1640114" y="4978400"/>
            <a:ext cx="1976823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42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F3BB0A-BEFC-5978-CB8B-7EAF1BBB1183}"/>
              </a:ext>
            </a:extLst>
          </p:cNvPr>
          <p:cNvCxnSpPr/>
          <p:nvPr/>
        </p:nvCxnSpPr>
        <p:spPr>
          <a:xfrm flipH="1">
            <a:off x="3468914" y="5196114"/>
            <a:ext cx="1190172" cy="261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A8CD48F-DCC4-B140-97D9-8F18E487919D}"/>
              </a:ext>
            </a:extLst>
          </p:cNvPr>
          <p:cNvSpPr txBox="1"/>
          <p:nvPr/>
        </p:nvSpPr>
        <p:spPr>
          <a:xfrm>
            <a:off x="4622219" y="4826782"/>
            <a:ext cx="1791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Returns class ‘int’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5417F-FBB3-1939-4DED-A2A3D5EB5211}"/>
              </a:ext>
            </a:extLst>
          </p:cNvPr>
          <p:cNvSpPr txBox="1"/>
          <p:nvPr/>
        </p:nvSpPr>
        <p:spPr>
          <a:xfrm>
            <a:off x="4659086" y="5826703"/>
            <a:ext cx="6557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be used in Expressions: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other_int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10 + 2</a:t>
            </a:r>
          </a:p>
        </p:txBody>
      </p:sp>
    </p:spTree>
    <p:extLst>
      <p:ext uri="{BB962C8B-B14F-4D97-AF65-F5344CB8AC3E}">
        <p14:creationId xmlns:p14="http://schemas.microsoft.com/office/powerpoint/2010/main" val="27160437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92052-F19C-73F7-F862-020251987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AD2C1-766A-68D4-2128-61B9AFF17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Float represent floating point numbers</a:t>
            </a:r>
          </a:p>
          <a:p>
            <a:pPr lvl="1"/>
            <a:r>
              <a:rPr lang="en-US" sz="2000" dirty="0"/>
              <a:t>Includes positive and negative numbers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float(‘inf’) </a:t>
            </a:r>
            <a:r>
              <a:rPr lang="en-US" sz="2000" dirty="0"/>
              <a:t>represents positive infinity</a:t>
            </a:r>
          </a:p>
          <a:p>
            <a:pPr lvl="1"/>
            <a:r>
              <a:rPr lang="en-US" sz="2000" dirty="0"/>
              <a:t>Built-in function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float() </a:t>
            </a:r>
            <a:r>
              <a:rPr lang="en-US" sz="2000" dirty="0"/>
              <a:t>tries to convert other types to float values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float(“1”), float(1), float(“1.75”), float(True), float(False)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DFACC2-80DA-C1BB-2EC8-F1F09335549F}"/>
              </a:ext>
            </a:extLst>
          </p:cNvPr>
          <p:cNvSpPr txBox="1"/>
          <p:nvPr/>
        </p:nvSpPr>
        <p:spPr>
          <a:xfrm>
            <a:off x="725714" y="5740027"/>
            <a:ext cx="225254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my_float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42.0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my_float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1563D54-F13D-FBBC-281C-4A041992D0A2}"/>
              </a:ext>
            </a:extLst>
          </p:cNvPr>
          <p:cNvCxnSpPr/>
          <p:nvPr/>
        </p:nvCxnSpPr>
        <p:spPr>
          <a:xfrm flipH="1">
            <a:off x="2830286" y="6201692"/>
            <a:ext cx="1001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FA77B9C-8CDA-A01B-EA4D-8E617866CAB1}"/>
              </a:ext>
            </a:extLst>
          </p:cNvPr>
          <p:cNvSpPr txBox="1"/>
          <p:nvPr/>
        </p:nvSpPr>
        <p:spPr>
          <a:xfrm>
            <a:off x="3831771" y="6201692"/>
            <a:ext cx="116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 ‘float’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14464-304D-CE91-BFF9-1BB612E69350}"/>
              </a:ext>
            </a:extLst>
          </p:cNvPr>
          <p:cNvSpPr txBox="1"/>
          <p:nvPr/>
        </p:nvSpPr>
        <p:spPr>
          <a:xfrm>
            <a:off x="5272606" y="5688854"/>
            <a:ext cx="6685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be used in expressions: e.g.,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my_float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my_float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2.7</a:t>
            </a:r>
          </a:p>
        </p:txBody>
      </p:sp>
    </p:spTree>
    <p:extLst>
      <p:ext uri="{BB962C8B-B14F-4D97-AF65-F5344CB8AC3E}">
        <p14:creationId xmlns:p14="http://schemas.microsoft.com/office/powerpoint/2010/main" val="2475945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B36D-84B5-2E59-76A9-FCCC4F3C0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27630"/>
            <a:ext cx="7729728" cy="1188720"/>
          </a:xfrm>
        </p:spPr>
        <p:txBody>
          <a:bodyPr/>
          <a:lstStyle/>
          <a:p>
            <a:r>
              <a:rPr lang="en-US" dirty="0"/>
              <a:t>Strings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09535E-72A0-C4BA-F63E-6A5CF7B0E3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6014980"/>
              </p:ext>
            </p:extLst>
          </p:nvPr>
        </p:nvGraphicFramePr>
        <p:xfrm>
          <a:off x="2231136" y="2082919"/>
          <a:ext cx="773112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225">
                  <a:extLst>
                    <a:ext uri="{9D8B030D-6E8A-4147-A177-3AD203B41FA5}">
                      <a16:colId xmlns:a16="http://schemas.microsoft.com/office/drawing/2014/main" val="657872191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1418214526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1031694031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445783171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3903259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18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338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D370F4-9E0E-0F1D-233D-7ADC33D14778}"/>
              </a:ext>
            </a:extLst>
          </p:cNvPr>
          <p:cNvSpPr txBox="1"/>
          <p:nvPr/>
        </p:nvSpPr>
        <p:spPr>
          <a:xfrm>
            <a:off x="885371" y="2082919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Character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42655-CBAA-D45D-1F5B-DD28494BECBF}"/>
              </a:ext>
            </a:extLst>
          </p:cNvPr>
          <p:cNvSpPr txBox="1"/>
          <p:nvPr/>
        </p:nvSpPr>
        <p:spPr>
          <a:xfrm>
            <a:off x="717145" y="2452251"/>
            <a:ext cx="1512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Index Position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CC4C60D-A956-125D-3981-91976B83DB4D}"/>
              </a:ext>
            </a:extLst>
          </p:cNvPr>
          <p:cNvSpPr txBox="1">
            <a:spLocks/>
          </p:cNvSpPr>
          <p:nvPr/>
        </p:nvSpPr>
        <p:spPr>
          <a:xfrm>
            <a:off x="2231136" y="3070217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Represents character strings </a:t>
            </a:r>
          </a:p>
          <a:p>
            <a:r>
              <a:rPr lang="en-US" dirty="0"/>
              <a:t>String literals are enclosed in double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 ”</a:t>
            </a:r>
            <a:r>
              <a:rPr lang="en-US" dirty="0"/>
              <a:t> or single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‘ ’</a:t>
            </a:r>
            <a:r>
              <a:rPr lang="en-US" dirty="0"/>
              <a:t> quotes</a:t>
            </a:r>
          </a:p>
          <a:p>
            <a:r>
              <a:rPr lang="en-US" dirty="0"/>
              <a:t>Individual characters in a string can be referenced using square brackets [ ]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“Hello”[2] 		“L” </a:t>
            </a:r>
          </a:p>
          <a:p>
            <a:r>
              <a:rPr lang="en-US" dirty="0"/>
              <a:t>Built-in function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)</a:t>
            </a:r>
            <a:r>
              <a:rPr lang="en-US" dirty="0"/>
              <a:t>can be used to determine the length of a string </a:t>
            </a:r>
          </a:p>
          <a:p>
            <a:pPr lvl="1"/>
            <a:r>
              <a:rPr lang="en-US" dirty="0"/>
              <a:t>Example: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(“hello”)</a:t>
            </a:r>
            <a:r>
              <a:rPr lang="en-US" dirty="0"/>
              <a:t>gives 5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“”</a:t>
            </a:r>
            <a:r>
              <a:rPr lang="en-US" dirty="0"/>
              <a:t> represents the empty string, it has length 0</a:t>
            </a:r>
          </a:p>
          <a:p>
            <a:r>
              <a:rPr lang="en-US" dirty="0"/>
              <a:t>Strings have type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/>
              <a:t>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str()</a:t>
            </a:r>
            <a:r>
              <a:rPr lang="en-US" dirty="0"/>
              <a:t> can be used to convert other types into strings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F917E7-2CEE-4D4C-BEAC-5FBC01CE66C0}"/>
              </a:ext>
            </a:extLst>
          </p:cNvPr>
          <p:cNvCxnSpPr>
            <a:cxnSpLocks/>
          </p:cNvCxnSpPr>
          <p:nvPr/>
        </p:nvCxnSpPr>
        <p:spPr>
          <a:xfrm flipH="1">
            <a:off x="3891095" y="4191327"/>
            <a:ext cx="11211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A583999-D1C0-06A3-33E6-336548CE1943}"/>
              </a:ext>
            </a:extLst>
          </p:cNvPr>
          <p:cNvSpPr txBox="1"/>
          <p:nvPr/>
        </p:nvSpPr>
        <p:spPr>
          <a:xfrm>
            <a:off x="804900" y="1607596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“HELLO”</a:t>
            </a:r>
          </a:p>
        </p:txBody>
      </p:sp>
    </p:spTree>
    <p:extLst>
      <p:ext uri="{BB962C8B-B14F-4D97-AF65-F5344CB8AC3E}">
        <p14:creationId xmlns:p14="http://schemas.microsoft.com/office/powerpoint/2010/main" val="33980636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5956-CC2E-A785-8777-3B39194D0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D8245-52BE-8FD7-93DD-6AA1F0301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5" y="2638044"/>
            <a:ext cx="9369461" cy="3255264"/>
          </a:xfrm>
        </p:spPr>
        <p:txBody>
          <a:bodyPr>
            <a:normAutofit/>
          </a:bodyPr>
          <a:lstStyle/>
          <a:p>
            <a:r>
              <a:rPr lang="en-US" dirty="0"/>
              <a:t>Short for </a:t>
            </a:r>
            <a:r>
              <a:rPr lang="en-US" dirty="0" err="1"/>
              <a:t>boolean</a:t>
            </a:r>
            <a:r>
              <a:rPr lang="en-US" dirty="0"/>
              <a:t> (named after English Mathematician George Boole)</a:t>
            </a:r>
          </a:p>
          <a:p>
            <a:r>
              <a:rPr lang="en-US" dirty="0"/>
              <a:t>Represent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 values </a:t>
            </a:r>
          </a:p>
          <a:p>
            <a:pPr lvl="1"/>
            <a:r>
              <a:rPr lang="en-US" dirty="0"/>
              <a:t>False is typically represented in memory by 0,</a:t>
            </a:r>
          </a:p>
          <a:p>
            <a:pPr lvl="1"/>
            <a:r>
              <a:rPr lang="en-US" dirty="0"/>
              <a:t>True typically represented in memory 1</a:t>
            </a:r>
          </a:p>
          <a:p>
            <a:r>
              <a:rPr lang="en-US" dirty="0"/>
              <a:t>Control program flow </a:t>
            </a:r>
          </a:p>
          <a:p>
            <a:pPr lvl="1"/>
            <a:r>
              <a:rPr lang="en-US" dirty="0"/>
              <a:t>Allows for computers to make decisions </a:t>
            </a:r>
          </a:p>
          <a:p>
            <a:pPr lvl="2"/>
            <a:r>
              <a:rPr lang="en-US" dirty="0"/>
              <a:t>If true, then do something, </a:t>
            </a:r>
          </a:p>
          <a:p>
            <a:pPr lvl="2"/>
            <a:r>
              <a:rPr lang="en-US" dirty="0"/>
              <a:t>Else, then it is false, so do something else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83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F6B3-03F6-AE6E-63D2-71ABC2475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52926"/>
            <a:ext cx="7729728" cy="1188720"/>
          </a:xfrm>
        </p:spPr>
        <p:txBody>
          <a:bodyPr/>
          <a:lstStyle/>
          <a:p>
            <a:r>
              <a:rPr lang="en-US" dirty="0"/>
              <a:t>Literals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AAB6D-5313-0034-87AA-07EDEBDDD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7" y="1946451"/>
            <a:ext cx="7729728" cy="4219956"/>
          </a:xfrm>
        </p:spPr>
        <p:txBody>
          <a:bodyPr>
            <a:normAutofit/>
          </a:bodyPr>
          <a:lstStyle/>
          <a:p>
            <a:r>
              <a:rPr lang="en-US" sz="2400" dirty="0"/>
              <a:t>In programming literals are values that are directly represented within the source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r>
              <a:rPr lang="en-US" sz="2000" dirty="0"/>
              <a:t> means the number (integer) 50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“Hello” </a:t>
            </a:r>
            <a:r>
              <a:rPr lang="en-US" sz="2000" dirty="0"/>
              <a:t>is a string literal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4.2</a:t>
            </a:r>
            <a:r>
              <a:rPr lang="en-US" sz="2000" dirty="0"/>
              <a:t> is a floating point literal because it has a decimal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True False </a:t>
            </a:r>
            <a:r>
              <a:rPr lang="en-US" sz="2000" dirty="0"/>
              <a:t>are both Boolean literals and reserved keywords </a:t>
            </a:r>
          </a:p>
          <a:p>
            <a:pPr lvl="1"/>
            <a:r>
              <a:rPr lang="en-US" sz="2000" dirty="0"/>
              <a:t>Hello (without the quotes) is not a literal, the python interpreter will see this as a variable name</a:t>
            </a:r>
          </a:p>
        </p:txBody>
      </p:sp>
    </p:spTree>
    <p:extLst>
      <p:ext uri="{BB962C8B-B14F-4D97-AF65-F5344CB8AC3E}">
        <p14:creationId xmlns:p14="http://schemas.microsoft.com/office/powerpoint/2010/main" val="33726722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60B98-BCB9-EC08-D591-039174885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Value Errors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A8D725E-601E-497E-EAA8-DDC2D6A6F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You can convert between types using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int()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float()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bool()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str()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If you pass a value to those functions that cannot be converted, then it will create a Value Error 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Don’t panic – you just need to workout what type of value you need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CC8CC5-17A4-0C0D-019B-67BBC4331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763" y="2395324"/>
            <a:ext cx="6250769" cy="190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8245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0ADA5-EF7B-8435-ACF0-FD951C5C8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62736-1AA5-C630-D2A2-67E113519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accompanying code examples try the type conversion test</a:t>
            </a:r>
          </a:p>
          <a:p>
            <a:pPr lvl="1"/>
            <a:r>
              <a:rPr lang="en-US" dirty="0">
                <a:hlinkClick r:id="rId2"/>
              </a:rPr>
              <a:t>https://colab.research.google.com/github/cdspower-upei/2026W-CS1910-Students/blob/main/Lectures/L03/L03-Examples.ipynb</a:t>
            </a:r>
            <a:endParaRPr lang="en-US" dirty="0"/>
          </a:p>
          <a:p>
            <a:r>
              <a:rPr lang="en-US" dirty="0"/>
              <a:t>Guess the result and the uncomment and run each line individually (and then re-comment). See how many your get correct.</a:t>
            </a:r>
          </a:p>
        </p:txBody>
      </p:sp>
    </p:spTree>
    <p:extLst>
      <p:ext uri="{BB962C8B-B14F-4D97-AF65-F5344CB8AC3E}">
        <p14:creationId xmlns:p14="http://schemas.microsoft.com/office/powerpoint/2010/main" val="3920957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DCAFE-3E39-B735-6986-E0A7A85B5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at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F4DAC-2AFA-22C2-A998-EE71CF336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the turtle program from last day to draw the Hering illusion </a:t>
            </a:r>
          </a:p>
          <a:p>
            <a:pPr lvl="1"/>
            <a:r>
              <a:rPr lang="en-US" dirty="0"/>
              <a:t>Increase the number of spokes from 4 to some number such that the illusion becomes visible</a:t>
            </a:r>
          </a:p>
          <a:p>
            <a:pPr lvl="1"/>
            <a:r>
              <a:rPr lang="en-US"/>
              <a:t>Use variables </a:t>
            </a:r>
            <a:r>
              <a:rPr lang="en-US" dirty="0"/>
              <a:t>and loops using models from this slide deck</a:t>
            </a:r>
          </a:p>
          <a:p>
            <a:r>
              <a:rPr lang="en-US" dirty="0"/>
              <a:t>Alter the turtle program that draws a polygon to use a variable named _ in the for loop instead of </a:t>
            </a:r>
            <a:r>
              <a:rPr lang="en-US" dirty="0" err="1"/>
              <a:t>i</a:t>
            </a:r>
            <a:r>
              <a:rPr lang="en-US" dirty="0"/>
              <a:t> </a:t>
            </a:r>
          </a:p>
          <a:p>
            <a:r>
              <a:rPr lang="en-US" dirty="0"/>
              <a:t>Given code to draw a letter E, alter the code to use variables to make it more readable (see </a:t>
            </a:r>
            <a:r>
              <a:rPr lang="en-US" dirty="0" err="1"/>
              <a:t>Colab</a:t>
            </a:r>
            <a:r>
              <a:rPr lang="en-US" dirty="0"/>
              <a:t> examples)</a:t>
            </a:r>
          </a:p>
        </p:txBody>
      </p:sp>
    </p:spTree>
    <p:extLst>
      <p:ext uri="{BB962C8B-B14F-4D97-AF65-F5344CB8AC3E}">
        <p14:creationId xmlns:p14="http://schemas.microsoft.com/office/powerpoint/2010/main" val="13223475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2ADF-2A07-6801-0BD9-AAF4DDE2A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HomeWork</a:t>
            </a:r>
            <a:r>
              <a:rPr lang="en-US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D9E32-8675-AF19-4C5E-F5C749E2B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https://colab.research.google.com/github/cdspower-upei/2026W-CS1910-Students/blob/main/Homework/HW02/HW-02.ipynb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71295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45900</TotalTime>
  <Words>3208</Words>
  <Application>Microsoft Office PowerPoint</Application>
  <PresentationFormat>Widescreen</PresentationFormat>
  <Paragraphs>416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Arial</vt:lpstr>
      <vt:lpstr>Courier New</vt:lpstr>
      <vt:lpstr>Gill Sans MT</vt:lpstr>
      <vt:lpstr>Wingdings</vt:lpstr>
      <vt:lpstr>Parcel</vt:lpstr>
      <vt:lpstr>PowerPoint Presentation</vt:lpstr>
      <vt:lpstr>CS 1910</vt:lpstr>
      <vt:lpstr>Try at Home Recap</vt:lpstr>
      <vt:lpstr>My 1st ATTEMPt</vt:lpstr>
      <vt:lpstr>My 2nd ATTEMPt</vt:lpstr>
      <vt:lpstr>Pseudo code (revisited)</vt:lpstr>
      <vt:lpstr>Square Code</vt:lpstr>
      <vt:lpstr>REFINING Pseudocode (draw a square)</vt:lpstr>
      <vt:lpstr>PSEUDOCode (Draw a Square)</vt:lpstr>
      <vt:lpstr>PSEUDOCode (Draw a Square)</vt:lpstr>
      <vt:lpstr>Loop Unroll</vt:lpstr>
      <vt:lpstr>Program Flow</vt:lpstr>
      <vt:lpstr>PSEUDOCode to Python</vt:lpstr>
      <vt:lpstr>Comparison</vt:lpstr>
      <vt:lpstr>Find a Partner</vt:lpstr>
      <vt:lpstr>Drawing Shapes</vt:lpstr>
      <vt:lpstr>Python POlygon</vt:lpstr>
      <vt:lpstr>Variables</vt:lpstr>
      <vt:lpstr>Variables</vt:lpstr>
      <vt:lpstr>Naming Conventions</vt:lpstr>
      <vt:lpstr>Python Keywords</vt:lpstr>
      <vt:lpstr>Python Variable Name Conventions and Best Practices</vt:lpstr>
      <vt:lpstr>More naming Conventions</vt:lpstr>
      <vt:lpstr>Self-Check</vt:lpstr>
      <vt:lpstr>Self Check</vt:lpstr>
      <vt:lpstr>Class Participation Pause</vt:lpstr>
      <vt:lpstr>Python Data Types</vt:lpstr>
      <vt:lpstr>Int</vt:lpstr>
      <vt:lpstr>float</vt:lpstr>
      <vt:lpstr>Strings</vt:lpstr>
      <vt:lpstr>BooL</vt:lpstr>
      <vt:lpstr>Literals</vt:lpstr>
      <vt:lpstr>Value Errors</vt:lpstr>
      <vt:lpstr>Type Test</vt:lpstr>
      <vt:lpstr>Try at Home</vt:lpstr>
      <vt:lpstr>HomeWork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Godbout</dc:creator>
  <cp:lastModifiedBy>Christopher Power</cp:lastModifiedBy>
  <cp:revision>2</cp:revision>
  <cp:lastPrinted>2025-09-09T16:06:29Z</cp:lastPrinted>
  <dcterms:created xsi:type="dcterms:W3CDTF">2025-05-21T13:02:24Z</dcterms:created>
  <dcterms:modified xsi:type="dcterms:W3CDTF">2026-09-03T19:35:29Z</dcterms:modified>
</cp:coreProperties>
</file>