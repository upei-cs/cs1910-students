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96" r:id="rId1"/>
  </p:sldMasterIdLst>
  <p:notesMasterIdLst>
    <p:notesMasterId r:id="rId37"/>
  </p:notesMasterIdLst>
  <p:sldIdLst>
    <p:sldId id="313" r:id="rId2"/>
    <p:sldId id="257" r:id="rId3"/>
    <p:sldId id="260" r:id="rId4"/>
    <p:sldId id="275" r:id="rId5"/>
    <p:sldId id="314" r:id="rId6"/>
    <p:sldId id="320" r:id="rId7"/>
    <p:sldId id="321" r:id="rId8"/>
    <p:sldId id="319" r:id="rId9"/>
    <p:sldId id="317" r:id="rId10"/>
    <p:sldId id="316" r:id="rId11"/>
    <p:sldId id="326" r:id="rId12"/>
    <p:sldId id="323" r:id="rId13"/>
    <p:sldId id="324" r:id="rId14"/>
    <p:sldId id="327" r:id="rId15"/>
    <p:sldId id="328" r:id="rId16"/>
    <p:sldId id="329" r:id="rId17"/>
    <p:sldId id="349" r:id="rId18"/>
    <p:sldId id="322" r:id="rId19"/>
    <p:sldId id="330" r:id="rId20"/>
    <p:sldId id="334" r:id="rId21"/>
    <p:sldId id="331" r:id="rId22"/>
    <p:sldId id="333" r:id="rId23"/>
    <p:sldId id="332" r:id="rId24"/>
    <p:sldId id="338" r:id="rId25"/>
    <p:sldId id="352" r:id="rId26"/>
    <p:sldId id="339" r:id="rId27"/>
    <p:sldId id="341" r:id="rId28"/>
    <p:sldId id="342" r:id="rId29"/>
    <p:sldId id="343" r:id="rId30"/>
    <p:sldId id="344" r:id="rId31"/>
    <p:sldId id="335" r:id="rId32"/>
    <p:sldId id="346" r:id="rId33"/>
    <p:sldId id="345" r:id="rId34"/>
    <p:sldId id="347" r:id="rId35"/>
    <p:sldId id="348"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E33B9A5-2511-42AE-8559-92B3C964CAA0}" v="3" dt="2026-07-23T02:13:30.6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3557"/>
    <p:restoredTop sz="94723"/>
  </p:normalViewPr>
  <p:slideViewPr>
    <p:cSldViewPr snapToGrid="0">
      <p:cViewPr varScale="1">
        <p:scale>
          <a:sx n="103" d="100"/>
          <a:sy n="103" d="100"/>
        </p:scale>
        <p:origin x="114"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Power" userId="83706efc-52ec-4aad-b93a-e27c6e901a30" providerId="ADAL" clId="{97D26654-64D5-4042-8583-A5886BB6B01E}"/>
    <pc:docChg chg="undo redo custSel addSld delSld modSld sldOrd">
      <pc:chgData name="Christopher Power" userId="83706efc-52ec-4aad-b93a-e27c6e901a30" providerId="ADAL" clId="{97D26654-64D5-4042-8583-A5886BB6B01E}" dt="2026-07-23T02:13:52.948" v="345" actId="47"/>
      <pc:docMkLst>
        <pc:docMk/>
      </pc:docMkLst>
      <pc:sldChg chg="del">
        <pc:chgData name="Christopher Power" userId="83706efc-52ec-4aad-b93a-e27c6e901a30" providerId="ADAL" clId="{97D26654-64D5-4042-8583-A5886BB6B01E}" dt="2026-07-23T02:13:52.948" v="345" actId="47"/>
        <pc:sldMkLst>
          <pc:docMk/>
          <pc:sldMk cId="540613930" sldId="256"/>
        </pc:sldMkLst>
      </pc:sldChg>
      <pc:sldChg chg="addSp delSp modSp add del mod setBg delDesignElem">
        <pc:chgData name="Christopher Power" userId="83706efc-52ec-4aad-b93a-e27c6e901a30" providerId="ADAL" clId="{97D26654-64D5-4042-8583-A5886BB6B01E}" dt="2026-07-23T02:13:46.774" v="344" actId="20577"/>
        <pc:sldMkLst>
          <pc:docMk/>
          <pc:sldMk cId="3002068836" sldId="313"/>
        </pc:sldMkLst>
        <pc:spChg chg="mod">
          <ac:chgData name="Christopher Power" userId="83706efc-52ec-4aad-b93a-e27c6e901a30" providerId="ADAL" clId="{97D26654-64D5-4042-8583-A5886BB6B01E}" dt="2026-07-23T02:13:46.774" v="344" actId="20577"/>
          <ac:spMkLst>
            <pc:docMk/>
            <pc:sldMk cId="3002068836" sldId="313"/>
            <ac:spMk id="2" creationId="{C93DC5BA-038A-1370-693A-933684213ED6}"/>
          </ac:spMkLst>
        </pc:spChg>
        <pc:spChg chg="add del">
          <ac:chgData name="Christopher Power" userId="83706efc-52ec-4aad-b93a-e27c6e901a30" providerId="ADAL" clId="{97D26654-64D5-4042-8583-A5886BB6B01E}" dt="2026-07-23T02:13:17.195" v="315"/>
          <ac:spMkLst>
            <pc:docMk/>
            <pc:sldMk cId="3002068836" sldId="313"/>
            <ac:spMk id="8" creationId="{157A82F3-F6C4-4325-8C9C-7DF1AD06B2B5}"/>
          </ac:spMkLst>
        </pc:spChg>
      </pc:sldChg>
      <pc:sldChg chg="addSp delSp modSp new del mod ord modClrScheme modShow chgLayout">
        <pc:chgData name="Christopher Power" userId="83706efc-52ec-4aad-b93a-e27c6e901a30" providerId="ADAL" clId="{97D26654-64D5-4042-8583-A5886BB6B01E}" dt="2026-07-23T02:13:13.157" v="311" actId="47"/>
        <pc:sldMkLst>
          <pc:docMk/>
          <pc:sldMk cId="1349319173" sldId="350"/>
        </pc:sldMkLst>
      </pc:sldChg>
      <pc:sldChg chg="addSp delSp modSp add del mod modShow">
        <pc:chgData name="Christopher Power" userId="83706efc-52ec-4aad-b93a-e27c6e901a30" providerId="ADAL" clId="{97D26654-64D5-4042-8583-A5886BB6B01E}" dt="2026-07-23T02:13:13.832" v="312" actId="47"/>
        <pc:sldMkLst>
          <pc:docMk/>
          <pc:sldMk cId="2839163288" sldId="35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85323A-822E-E84A-9FEB-A103DD03B04F}"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4F92D9-E9D5-EA45-93E3-E28E893B5AE2}" type="slidenum">
              <a:rPr lang="en-US" smtClean="0"/>
              <a:t>‹#›</a:t>
            </a:fld>
            <a:endParaRPr lang="en-US"/>
          </a:p>
        </p:txBody>
      </p:sp>
    </p:spTree>
    <p:extLst>
      <p:ext uri="{BB962C8B-B14F-4D97-AF65-F5344CB8AC3E}">
        <p14:creationId xmlns:p14="http://schemas.microsoft.com/office/powerpoint/2010/main" val="1505437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7/22/2026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7/22/2026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7/22/2026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7/22/2026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7/22/2026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7/22/2026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7/22/2026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1160EA64-D806-43AC-9DF2-F8C432F32B4C}" type="datetimeFigureOut">
              <a:rPr lang="en-US" dirty="0"/>
              <a:t>7/22/2026</a:t>
            </a:fld>
            <a:endParaRPr lang="en-US" dirty="0"/>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dirty="0"/>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8A7A6979-0714-4377-B894-6BE4C2D6E202}"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ftr="0" dt="0"/>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colab.research.google.com/github/cdspower-upei/2026W-CS1910-Students/blob/main/Lectures/L06/L06-Examples.ipynb"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forms.office.com/r/bYUzCSipg7" TargetMode="Externa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3DC5BA-038A-1370-693A-933684213ED6}"/>
              </a:ext>
            </a:extLst>
          </p:cNvPr>
          <p:cNvSpPr>
            <a:spLocks noGrp="1"/>
          </p:cNvSpPr>
          <p:nvPr>
            <p:ph type="ctrTitle"/>
          </p:nvPr>
        </p:nvSpPr>
        <p:spPr>
          <a:xfrm>
            <a:off x="965198" y="2474895"/>
            <a:ext cx="6212764" cy="1908215"/>
          </a:xfrm>
          <a:noFill/>
          <a:ln>
            <a:solidFill>
              <a:schemeClr val="tx1"/>
            </a:solidFill>
          </a:ln>
        </p:spPr>
        <p:txBody>
          <a:bodyPr wrap="square">
            <a:normAutofit/>
          </a:bodyPr>
          <a:lstStyle/>
          <a:p>
            <a:r>
              <a:rPr lang="en-US" sz="4000" dirty="0">
                <a:solidFill>
                  <a:schemeClr val="tx1"/>
                </a:solidFill>
              </a:rPr>
              <a:t>DECISIONS</a:t>
            </a:r>
            <a:br>
              <a:rPr lang="en-US" sz="4000" dirty="0">
                <a:solidFill>
                  <a:schemeClr val="tx1"/>
                </a:solidFill>
              </a:rPr>
            </a:br>
            <a:r>
              <a:rPr lang="en-US" sz="4000" dirty="0">
                <a:solidFill>
                  <a:schemeClr val="tx1"/>
                </a:solidFill>
              </a:rPr>
              <a:t>(If/Then/Else)</a:t>
            </a:r>
          </a:p>
        </p:txBody>
      </p:sp>
      <p:sp>
        <p:nvSpPr>
          <p:cNvPr id="8" name="Rectangle 7">
            <a:extLst>
              <a:ext uri="{FF2B5EF4-FFF2-40B4-BE49-F238E27FC236}">
                <a16:creationId xmlns:a16="http://schemas.microsoft.com/office/drawing/2014/main" id="{157A82F3-F6C4-4325-8C9C-7DF1AD06B2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29872" y="0"/>
            <a:ext cx="4062128" cy="6858000"/>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ill Sans MT" panose="020B0502020104020203"/>
              <a:ea typeface="+mn-ea"/>
              <a:cs typeface="+mn-cs"/>
            </a:endParaRPr>
          </a:p>
        </p:txBody>
      </p:sp>
      <p:sp>
        <p:nvSpPr>
          <p:cNvPr id="3" name="Subtitle 2">
            <a:extLst>
              <a:ext uri="{FF2B5EF4-FFF2-40B4-BE49-F238E27FC236}">
                <a16:creationId xmlns:a16="http://schemas.microsoft.com/office/drawing/2014/main" id="{C5AB9C7C-BEF1-C07A-6A77-DBDD71480AAD}"/>
              </a:ext>
            </a:extLst>
          </p:cNvPr>
          <p:cNvSpPr>
            <a:spLocks noGrp="1"/>
          </p:cNvSpPr>
          <p:nvPr>
            <p:ph type="subTitle" idx="1"/>
          </p:nvPr>
        </p:nvSpPr>
        <p:spPr>
          <a:xfrm>
            <a:off x="8533732" y="2173266"/>
            <a:ext cx="3254408" cy="2511468"/>
          </a:xfrm>
        </p:spPr>
        <p:txBody>
          <a:bodyPr anchor="ctr">
            <a:normAutofit/>
          </a:bodyPr>
          <a:lstStyle/>
          <a:p>
            <a:r>
              <a:rPr lang="en-US" sz="2400" dirty="0">
                <a:solidFill>
                  <a:schemeClr val="tx2">
                    <a:lumMod val="90000"/>
                  </a:schemeClr>
                </a:solidFill>
              </a:rPr>
              <a:t>CS1910</a:t>
            </a:r>
          </a:p>
          <a:p>
            <a:r>
              <a:rPr lang="en-US" sz="2400" dirty="0">
                <a:solidFill>
                  <a:schemeClr val="tx2">
                    <a:lumMod val="90000"/>
                  </a:schemeClr>
                </a:solidFill>
              </a:rPr>
              <a:t>Computer Science I</a:t>
            </a:r>
          </a:p>
        </p:txBody>
      </p:sp>
    </p:spTree>
    <p:extLst>
      <p:ext uri="{BB962C8B-B14F-4D97-AF65-F5344CB8AC3E}">
        <p14:creationId xmlns:p14="http://schemas.microsoft.com/office/powerpoint/2010/main" val="30020688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323FE-1B2F-42B0-7A63-98AC39B579FF}"/>
              </a:ext>
            </a:extLst>
          </p:cNvPr>
          <p:cNvSpPr>
            <a:spLocks noGrp="1"/>
          </p:cNvSpPr>
          <p:nvPr>
            <p:ph type="title"/>
          </p:nvPr>
        </p:nvSpPr>
        <p:spPr/>
        <p:txBody>
          <a:bodyPr/>
          <a:lstStyle/>
          <a:p>
            <a:r>
              <a:rPr lang="en-US" dirty="0"/>
              <a:t>Questions</a:t>
            </a:r>
          </a:p>
        </p:txBody>
      </p:sp>
      <p:sp>
        <p:nvSpPr>
          <p:cNvPr id="3" name="Content Placeholder 2">
            <a:extLst>
              <a:ext uri="{FF2B5EF4-FFF2-40B4-BE49-F238E27FC236}">
                <a16:creationId xmlns:a16="http://schemas.microsoft.com/office/drawing/2014/main" id="{F742DA9C-4B2E-C653-5B4F-943E3D96985E}"/>
              </a:ext>
            </a:extLst>
          </p:cNvPr>
          <p:cNvSpPr>
            <a:spLocks noGrp="1"/>
          </p:cNvSpPr>
          <p:nvPr>
            <p:ph idx="1"/>
          </p:nvPr>
        </p:nvSpPr>
        <p:spPr/>
        <p:txBody>
          <a:bodyPr/>
          <a:lstStyle/>
          <a:p>
            <a:r>
              <a:rPr lang="en-US" dirty="0"/>
              <a:t>Questions from last day?</a:t>
            </a:r>
          </a:p>
          <a:p>
            <a:endParaRPr lang="en-US" dirty="0"/>
          </a:p>
        </p:txBody>
      </p:sp>
    </p:spTree>
    <p:extLst>
      <p:ext uri="{BB962C8B-B14F-4D97-AF65-F5344CB8AC3E}">
        <p14:creationId xmlns:p14="http://schemas.microsoft.com/office/powerpoint/2010/main" val="20785306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E338C0-66AB-148B-AEB1-DE7475C03329}"/>
              </a:ext>
            </a:extLst>
          </p:cNvPr>
          <p:cNvSpPr>
            <a:spLocks noGrp="1"/>
          </p:cNvSpPr>
          <p:nvPr>
            <p:ph type="title"/>
          </p:nvPr>
        </p:nvSpPr>
        <p:spPr/>
        <p:txBody>
          <a:bodyPr/>
          <a:lstStyle/>
          <a:p>
            <a:r>
              <a:rPr lang="en-US" dirty="0"/>
              <a:t>Code Examples</a:t>
            </a:r>
          </a:p>
        </p:txBody>
      </p:sp>
      <p:sp>
        <p:nvSpPr>
          <p:cNvPr id="3" name="Content Placeholder 2">
            <a:extLst>
              <a:ext uri="{FF2B5EF4-FFF2-40B4-BE49-F238E27FC236}">
                <a16:creationId xmlns:a16="http://schemas.microsoft.com/office/drawing/2014/main" id="{52BF1C45-1BC6-1344-58B8-103FD029F2E3}"/>
              </a:ext>
            </a:extLst>
          </p:cNvPr>
          <p:cNvSpPr>
            <a:spLocks noGrp="1"/>
          </p:cNvSpPr>
          <p:nvPr>
            <p:ph idx="1"/>
          </p:nvPr>
        </p:nvSpPr>
        <p:spPr/>
        <p:txBody>
          <a:bodyPr/>
          <a:lstStyle/>
          <a:p>
            <a:r>
              <a:rPr lang="en-US" dirty="0">
                <a:hlinkClick r:id="rId2"/>
              </a:rPr>
              <a:t>https://colab.research.google.com/github/cdspower-upei/2026W-CS1910-Students/blob/main/Lectures/L06/L06-Examples.ipynb</a:t>
            </a:r>
            <a:endParaRPr lang="en-US" dirty="0"/>
          </a:p>
          <a:p>
            <a:endParaRPr lang="en-US" dirty="0"/>
          </a:p>
        </p:txBody>
      </p:sp>
    </p:spTree>
    <p:extLst>
      <p:ext uri="{BB962C8B-B14F-4D97-AF65-F5344CB8AC3E}">
        <p14:creationId xmlns:p14="http://schemas.microsoft.com/office/powerpoint/2010/main" val="6451515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428E99-D03E-B2D7-7AE3-F9AA098DC4D6}"/>
              </a:ext>
            </a:extLst>
          </p:cNvPr>
          <p:cNvSpPr>
            <a:spLocks noGrp="1"/>
          </p:cNvSpPr>
          <p:nvPr>
            <p:ph type="title"/>
          </p:nvPr>
        </p:nvSpPr>
        <p:spPr/>
        <p:txBody>
          <a:bodyPr/>
          <a:lstStyle/>
          <a:p>
            <a:r>
              <a:rPr lang="en-US" dirty="0"/>
              <a:t>Boolean</a:t>
            </a:r>
          </a:p>
        </p:txBody>
      </p:sp>
      <p:sp>
        <p:nvSpPr>
          <p:cNvPr id="3" name="Content Placeholder 2">
            <a:extLst>
              <a:ext uri="{FF2B5EF4-FFF2-40B4-BE49-F238E27FC236}">
                <a16:creationId xmlns:a16="http://schemas.microsoft.com/office/drawing/2014/main" id="{61181D14-9B5C-A053-7CF1-DC60C8083B85}"/>
              </a:ext>
            </a:extLst>
          </p:cNvPr>
          <p:cNvSpPr>
            <a:spLocks noGrp="1"/>
          </p:cNvSpPr>
          <p:nvPr>
            <p:ph idx="1"/>
          </p:nvPr>
        </p:nvSpPr>
        <p:spPr>
          <a:xfrm>
            <a:off x="2231136" y="2638045"/>
            <a:ext cx="7729728" cy="830108"/>
          </a:xfrm>
        </p:spPr>
        <p:txBody>
          <a:bodyPr/>
          <a:lstStyle/>
          <a:p>
            <a:r>
              <a:rPr lang="en-US" dirty="0"/>
              <a:t>Recall that Boolean values are either True or False</a:t>
            </a:r>
          </a:p>
          <a:p>
            <a:r>
              <a:rPr lang="en-US" dirty="0"/>
              <a:t>Boolean expressions evaluate to a Boolean value</a:t>
            </a:r>
          </a:p>
        </p:txBody>
      </p:sp>
      <p:sp>
        <p:nvSpPr>
          <p:cNvPr id="8" name="TextBox 7">
            <a:extLst>
              <a:ext uri="{FF2B5EF4-FFF2-40B4-BE49-F238E27FC236}">
                <a16:creationId xmlns:a16="http://schemas.microsoft.com/office/drawing/2014/main" id="{4EE55032-9E92-B623-0256-13439EC7BE5D}"/>
              </a:ext>
            </a:extLst>
          </p:cNvPr>
          <p:cNvSpPr txBox="1"/>
          <p:nvPr/>
        </p:nvSpPr>
        <p:spPr>
          <a:xfrm>
            <a:off x="2385126" y="3534980"/>
            <a:ext cx="1877437" cy="1477328"/>
          </a:xfrm>
          <a:prstGeom prst="rect">
            <a:avLst/>
          </a:prstGeom>
          <a:noFill/>
        </p:spPr>
        <p:txBody>
          <a:bodyPr wrap="none" rtlCol="0">
            <a:spAutoFit/>
          </a:bodyPr>
          <a:lstStyle/>
          <a:p>
            <a:r>
              <a:rPr lang="en-US" dirty="0"/>
              <a:t>Logical Operators</a:t>
            </a:r>
          </a:p>
          <a:p>
            <a:endParaRPr lang="en-US" dirty="0"/>
          </a:p>
          <a:p>
            <a:r>
              <a:rPr lang="en-US" dirty="0">
                <a:latin typeface="Courier New" panose="02070309020205020404" pitchFamily="49" charset="0"/>
                <a:cs typeface="Courier New" panose="02070309020205020404" pitchFamily="49" charset="0"/>
              </a:rPr>
              <a:t>and</a:t>
            </a:r>
          </a:p>
          <a:p>
            <a:r>
              <a:rPr lang="en-US" dirty="0">
                <a:latin typeface="Courier New" panose="02070309020205020404" pitchFamily="49" charset="0"/>
                <a:cs typeface="Courier New" panose="02070309020205020404" pitchFamily="49" charset="0"/>
              </a:rPr>
              <a:t>or</a:t>
            </a:r>
          </a:p>
          <a:p>
            <a:r>
              <a:rPr lang="en-US" dirty="0">
                <a:latin typeface="Courier New" panose="02070309020205020404" pitchFamily="49" charset="0"/>
                <a:cs typeface="Courier New" panose="02070309020205020404" pitchFamily="49" charset="0"/>
              </a:rPr>
              <a:t>not</a:t>
            </a:r>
          </a:p>
        </p:txBody>
      </p:sp>
      <p:sp>
        <p:nvSpPr>
          <p:cNvPr id="12" name="TextBox 11">
            <a:extLst>
              <a:ext uri="{FF2B5EF4-FFF2-40B4-BE49-F238E27FC236}">
                <a16:creationId xmlns:a16="http://schemas.microsoft.com/office/drawing/2014/main" id="{62B3C884-CF86-78B3-8655-166F931D4D3A}"/>
              </a:ext>
            </a:extLst>
          </p:cNvPr>
          <p:cNvSpPr txBox="1"/>
          <p:nvPr/>
        </p:nvSpPr>
        <p:spPr>
          <a:xfrm>
            <a:off x="5797967" y="3534980"/>
            <a:ext cx="3462807" cy="2031325"/>
          </a:xfrm>
          <a:prstGeom prst="rect">
            <a:avLst/>
          </a:prstGeom>
          <a:noFill/>
        </p:spPr>
        <p:txBody>
          <a:bodyPr wrap="none" rtlCol="0">
            <a:spAutoFit/>
          </a:bodyPr>
          <a:lstStyle/>
          <a:p>
            <a:r>
              <a:rPr lang="en-US" dirty="0"/>
              <a:t>Relational (comparison) Operators</a:t>
            </a:r>
          </a:p>
          <a:p>
            <a:r>
              <a:rPr lang="en-US"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sym typeface="Wingdings" pitchFamily="2" charset="2"/>
              </a:rPr>
              <a:t>&gt;=</a:t>
            </a:r>
          </a:p>
          <a:p>
            <a:r>
              <a:rPr lang="en-US" dirty="0">
                <a:latin typeface="Courier New" panose="02070309020205020404" pitchFamily="49" charset="0"/>
                <a:cs typeface="Courier New" panose="02070309020205020404" pitchFamily="49" charset="0"/>
                <a:sym typeface="Wingdings" pitchFamily="2" charset="2"/>
              </a:rPr>
              <a:t>&lt;=</a:t>
            </a:r>
          </a:p>
          <a:p>
            <a:r>
              <a:rPr lang="en-US" dirty="0">
                <a:latin typeface="Courier New" panose="02070309020205020404" pitchFamily="49" charset="0"/>
                <a:cs typeface="Courier New" panose="02070309020205020404" pitchFamily="49" charset="0"/>
                <a:sym typeface="Wingdings" pitchFamily="2" charset="2"/>
              </a:rPr>
              <a:t>!=</a:t>
            </a:r>
          </a:p>
          <a:p>
            <a:r>
              <a:rPr lang="en-US" dirty="0">
                <a:latin typeface="Courier New" panose="02070309020205020404" pitchFamily="49" charset="0"/>
                <a:cs typeface="Courier New" panose="02070309020205020404" pitchFamily="49" charset="0"/>
                <a:sym typeface="Wingdings" pitchFamily="2" charset="2"/>
              </a:rPr>
              <a:t>&gt;</a:t>
            </a:r>
          </a:p>
          <a:p>
            <a:r>
              <a:rPr lang="en-US" dirty="0">
                <a:latin typeface="Courier New" panose="02070309020205020404" pitchFamily="49" charset="0"/>
                <a:cs typeface="Courier New" panose="02070309020205020404" pitchFamily="49" charset="0"/>
                <a:sym typeface="Wingdings" pitchFamily="2" charset="2"/>
              </a:rPr>
              <a:t>&lt;</a:t>
            </a:r>
          </a:p>
        </p:txBody>
      </p:sp>
    </p:spTree>
    <p:extLst>
      <p:ext uri="{BB962C8B-B14F-4D97-AF65-F5344CB8AC3E}">
        <p14:creationId xmlns:p14="http://schemas.microsoft.com/office/powerpoint/2010/main" val="24038987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B9C1D-4D78-64DC-91F5-64BE86DB3210}"/>
              </a:ext>
            </a:extLst>
          </p:cNvPr>
          <p:cNvSpPr>
            <a:spLocks noGrp="1"/>
          </p:cNvSpPr>
          <p:nvPr>
            <p:ph type="title"/>
          </p:nvPr>
        </p:nvSpPr>
        <p:spPr/>
        <p:txBody>
          <a:bodyPr/>
          <a:lstStyle/>
          <a:p>
            <a:r>
              <a:rPr lang="en-US" dirty="0"/>
              <a:t>Quick Hitters</a:t>
            </a:r>
          </a:p>
        </p:txBody>
      </p:sp>
      <p:sp>
        <p:nvSpPr>
          <p:cNvPr id="3" name="Content Placeholder 2">
            <a:extLst>
              <a:ext uri="{FF2B5EF4-FFF2-40B4-BE49-F238E27FC236}">
                <a16:creationId xmlns:a16="http://schemas.microsoft.com/office/drawing/2014/main" id="{6CE38026-67C0-3152-BFAF-A93FD8654DCB}"/>
              </a:ext>
            </a:extLst>
          </p:cNvPr>
          <p:cNvSpPr>
            <a:spLocks noGrp="1"/>
          </p:cNvSpPr>
          <p:nvPr>
            <p:ph idx="1"/>
          </p:nvPr>
        </p:nvSpPr>
        <p:spPr/>
        <p:txBody>
          <a:bodyPr/>
          <a:lstStyle/>
          <a:p>
            <a:r>
              <a:rPr lang="en-US" dirty="0"/>
              <a:t>What is the result of the expression</a:t>
            </a:r>
          </a:p>
          <a:p>
            <a:endParaRPr lang="en-US" dirty="0"/>
          </a:p>
        </p:txBody>
      </p:sp>
      <p:sp>
        <p:nvSpPr>
          <p:cNvPr id="4" name="TextBox 3">
            <a:extLst>
              <a:ext uri="{FF2B5EF4-FFF2-40B4-BE49-F238E27FC236}">
                <a16:creationId xmlns:a16="http://schemas.microsoft.com/office/drawing/2014/main" id="{EB9307D8-E94F-804E-1E7E-803F428E7BF5}"/>
              </a:ext>
            </a:extLst>
          </p:cNvPr>
          <p:cNvSpPr txBox="1"/>
          <p:nvPr/>
        </p:nvSpPr>
        <p:spPr>
          <a:xfrm>
            <a:off x="3360717" y="3241964"/>
            <a:ext cx="5285421" cy="1477328"/>
          </a:xfrm>
          <a:prstGeom prst="rect">
            <a:avLst/>
          </a:prstGeom>
          <a:noFill/>
        </p:spPr>
        <p:txBody>
          <a:bodyPr wrap="none" rtlCol="0">
            <a:spAutoFit/>
          </a:bodyPr>
          <a:lstStyle/>
          <a:p>
            <a:r>
              <a:rPr lang="en-CA" dirty="0">
                <a:latin typeface="Courier New" panose="02070309020205020404" pitchFamily="49" charset="0"/>
                <a:cs typeface="Courier New" panose="02070309020205020404" pitchFamily="49" charset="0"/>
              </a:rPr>
              <a:t>42 != 42</a:t>
            </a:r>
          </a:p>
          <a:p>
            <a:r>
              <a:rPr lang="en-CA" dirty="0">
                <a:latin typeface="Courier New" panose="02070309020205020404" pitchFamily="49" charset="0"/>
                <a:cs typeface="Courier New" panose="02070309020205020404" pitchFamily="49" charset="0"/>
              </a:rPr>
              <a:t>42 &lt;= 42</a:t>
            </a:r>
          </a:p>
          <a:p>
            <a:r>
              <a:rPr lang="en-CA" dirty="0">
                <a:latin typeface="Courier New" panose="02070309020205020404" pitchFamily="49" charset="0"/>
                <a:cs typeface="Courier New" panose="02070309020205020404" pitchFamily="49" charset="0"/>
              </a:rPr>
              <a:t>“A” &lt; “A” or “BB” &lt; “BBB” </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1 – 1 &gt; 0 and -2 &gt; 0</a:t>
            </a:r>
            <a:endParaRPr lang="en-CA" dirty="0">
              <a:latin typeface="Courier New" panose="02070309020205020404" pitchFamily="49" charset="0"/>
              <a:cs typeface="Courier New" panose="02070309020205020404" pitchFamily="49" charset="0"/>
            </a:endParaRPr>
          </a:p>
          <a:p>
            <a:r>
              <a:rPr lang="en-CA" dirty="0" err="1">
                <a:latin typeface="Courier New" panose="02070309020205020404" pitchFamily="49" charset="0"/>
                <a:cs typeface="Courier New" panose="02070309020205020404" pitchFamily="49" charset="0"/>
              </a:rPr>
              <a:t>len</a:t>
            </a:r>
            <a:r>
              <a:rPr lang="en-CA" dirty="0">
                <a:latin typeface="Courier New" panose="02070309020205020404" pitchFamily="49" charset="0"/>
                <a:cs typeface="Courier New" panose="02070309020205020404" pitchFamily="49" charset="0"/>
              </a:rPr>
              <a:t>(“ABC”) &gt; 0 and not </a:t>
            </a:r>
            <a:r>
              <a:rPr lang="en-CA" dirty="0" err="1">
                <a:latin typeface="Courier New" panose="02070309020205020404" pitchFamily="49" charset="0"/>
                <a:cs typeface="Courier New" panose="02070309020205020404" pitchFamily="49" charset="0"/>
              </a:rPr>
              <a:t>len</a:t>
            </a:r>
            <a:r>
              <a:rPr lang="en-CA" dirty="0">
                <a:latin typeface="Courier New" panose="02070309020205020404" pitchFamily="49" charset="0"/>
                <a:cs typeface="Courier New" panose="02070309020205020404" pitchFamily="49" charset="0"/>
              </a:rPr>
              <a:t>(“ABC”) &lt; 2</a:t>
            </a:r>
            <a:endParaRPr lang="en-US"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8E91F33D-DB99-E1CA-89BE-EAA8B764AAEC}"/>
              </a:ext>
            </a:extLst>
          </p:cNvPr>
          <p:cNvSpPr txBox="1"/>
          <p:nvPr/>
        </p:nvSpPr>
        <p:spPr>
          <a:xfrm>
            <a:off x="1846071" y="5855327"/>
            <a:ext cx="6800067" cy="369332"/>
          </a:xfrm>
          <a:prstGeom prst="rect">
            <a:avLst/>
          </a:prstGeom>
          <a:noFill/>
        </p:spPr>
        <p:txBody>
          <a:bodyPr wrap="none" rtlCol="0">
            <a:spAutoFit/>
          </a:bodyPr>
          <a:lstStyle/>
          <a:p>
            <a:r>
              <a:rPr lang="en-US" dirty="0"/>
              <a:t>*Logical operators have a lower precedence than Relational operators </a:t>
            </a:r>
          </a:p>
        </p:txBody>
      </p:sp>
    </p:spTree>
    <p:extLst>
      <p:ext uri="{BB962C8B-B14F-4D97-AF65-F5344CB8AC3E}">
        <p14:creationId xmlns:p14="http://schemas.microsoft.com/office/powerpoint/2010/main" val="42241068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37D40-4798-1737-FFB0-E1D884432931}"/>
              </a:ext>
            </a:extLst>
          </p:cNvPr>
          <p:cNvSpPr>
            <a:spLocks noGrp="1"/>
          </p:cNvSpPr>
          <p:nvPr>
            <p:ph type="title"/>
          </p:nvPr>
        </p:nvSpPr>
        <p:spPr/>
        <p:txBody>
          <a:bodyPr/>
          <a:lstStyle/>
          <a:p>
            <a:r>
              <a:rPr lang="en-US" dirty="0"/>
              <a:t>Flow of Control</a:t>
            </a:r>
          </a:p>
        </p:txBody>
      </p:sp>
      <p:sp>
        <p:nvSpPr>
          <p:cNvPr id="3" name="Content Placeholder 2">
            <a:extLst>
              <a:ext uri="{FF2B5EF4-FFF2-40B4-BE49-F238E27FC236}">
                <a16:creationId xmlns:a16="http://schemas.microsoft.com/office/drawing/2014/main" id="{DF0965DA-C2C5-552F-A12E-6EACC068BA53}"/>
              </a:ext>
            </a:extLst>
          </p:cNvPr>
          <p:cNvSpPr>
            <a:spLocks noGrp="1"/>
          </p:cNvSpPr>
          <p:nvPr>
            <p:ph idx="1"/>
          </p:nvPr>
        </p:nvSpPr>
        <p:spPr/>
        <p:txBody>
          <a:bodyPr>
            <a:normAutofit/>
          </a:bodyPr>
          <a:lstStyle/>
          <a:p>
            <a:r>
              <a:rPr lang="en-US" sz="2400" dirty="0"/>
              <a:t>Typically the flow of our programs has been a sequence of statements executed in order</a:t>
            </a:r>
          </a:p>
          <a:p>
            <a:r>
              <a:rPr lang="en-US" sz="2400" dirty="0"/>
              <a:t>There are statements that alter this order:</a:t>
            </a:r>
          </a:p>
          <a:p>
            <a:endParaRPr lang="en-US" sz="2400" dirty="0"/>
          </a:p>
        </p:txBody>
      </p:sp>
      <p:pic>
        <p:nvPicPr>
          <p:cNvPr id="4" name="Content Placeholder 3">
            <a:extLst>
              <a:ext uri="{FF2B5EF4-FFF2-40B4-BE49-F238E27FC236}">
                <a16:creationId xmlns:a16="http://schemas.microsoft.com/office/drawing/2014/main" id="{81F91014-7F2F-9F26-32D9-F04C173BC51E}"/>
              </a:ext>
            </a:extLst>
          </p:cNvPr>
          <p:cNvPicPr>
            <a:picLocks noChangeAspect="1"/>
          </p:cNvPicPr>
          <p:nvPr/>
        </p:nvPicPr>
        <p:blipFill>
          <a:blip r:embed="rId2"/>
          <a:stretch>
            <a:fillRect/>
          </a:stretch>
        </p:blipFill>
        <p:spPr>
          <a:xfrm>
            <a:off x="9960864" y="2501668"/>
            <a:ext cx="1583351" cy="2311019"/>
          </a:xfrm>
          <a:prstGeom prst="rect">
            <a:avLst/>
          </a:prstGeom>
        </p:spPr>
      </p:pic>
      <p:sp>
        <p:nvSpPr>
          <p:cNvPr id="5" name="TextBox 4">
            <a:extLst>
              <a:ext uri="{FF2B5EF4-FFF2-40B4-BE49-F238E27FC236}">
                <a16:creationId xmlns:a16="http://schemas.microsoft.com/office/drawing/2014/main" id="{C26000B7-D5BC-938C-2581-E48CB10BD312}"/>
              </a:ext>
            </a:extLst>
          </p:cNvPr>
          <p:cNvSpPr txBox="1"/>
          <p:nvPr/>
        </p:nvSpPr>
        <p:spPr>
          <a:xfrm>
            <a:off x="1930400" y="4704589"/>
            <a:ext cx="3113353" cy="461665"/>
          </a:xfrm>
          <a:prstGeom prst="rect">
            <a:avLst/>
          </a:prstGeom>
          <a:noFill/>
          <a:ln>
            <a:solidFill>
              <a:srgbClr val="404040"/>
            </a:solidFill>
          </a:ln>
        </p:spPr>
        <p:txBody>
          <a:bodyPr wrap="none" rtlCol="0">
            <a:spAutoFit/>
          </a:bodyPr>
          <a:lstStyle/>
          <a:p>
            <a:r>
              <a:rPr lang="en-US" sz="2400" dirty="0"/>
              <a:t>Conditional Statements</a:t>
            </a:r>
          </a:p>
        </p:txBody>
      </p:sp>
      <p:sp>
        <p:nvSpPr>
          <p:cNvPr id="6" name="TextBox 5">
            <a:extLst>
              <a:ext uri="{FF2B5EF4-FFF2-40B4-BE49-F238E27FC236}">
                <a16:creationId xmlns:a16="http://schemas.microsoft.com/office/drawing/2014/main" id="{9D91971B-E475-07A7-BF7C-219E8A828148}"/>
              </a:ext>
            </a:extLst>
          </p:cNvPr>
          <p:cNvSpPr txBox="1"/>
          <p:nvPr/>
        </p:nvSpPr>
        <p:spPr>
          <a:xfrm>
            <a:off x="6025782" y="4701542"/>
            <a:ext cx="2953053" cy="461665"/>
          </a:xfrm>
          <a:prstGeom prst="rect">
            <a:avLst/>
          </a:prstGeom>
          <a:noFill/>
          <a:ln>
            <a:solidFill>
              <a:srgbClr val="404040"/>
            </a:solidFill>
          </a:ln>
        </p:spPr>
        <p:txBody>
          <a:bodyPr wrap="none" rtlCol="0">
            <a:spAutoFit/>
          </a:bodyPr>
          <a:lstStyle/>
          <a:p>
            <a:r>
              <a:rPr lang="en-US" sz="2400" dirty="0"/>
              <a:t>Repetition Statements</a:t>
            </a:r>
          </a:p>
        </p:txBody>
      </p:sp>
    </p:spTree>
    <p:extLst>
      <p:ext uri="{BB962C8B-B14F-4D97-AF65-F5344CB8AC3E}">
        <p14:creationId xmlns:p14="http://schemas.microsoft.com/office/powerpoint/2010/main" val="34612402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64C55-4B64-48EE-F266-6943325E0176}"/>
              </a:ext>
            </a:extLst>
          </p:cNvPr>
          <p:cNvSpPr>
            <a:spLocks noGrp="1"/>
          </p:cNvSpPr>
          <p:nvPr>
            <p:ph type="title"/>
          </p:nvPr>
        </p:nvSpPr>
        <p:spPr/>
        <p:txBody>
          <a:bodyPr/>
          <a:lstStyle/>
          <a:p>
            <a:r>
              <a:rPr lang="en-US" dirty="0"/>
              <a:t>Conditional Statements</a:t>
            </a:r>
          </a:p>
        </p:txBody>
      </p:sp>
      <p:sp>
        <p:nvSpPr>
          <p:cNvPr id="3" name="Content Placeholder 2">
            <a:extLst>
              <a:ext uri="{FF2B5EF4-FFF2-40B4-BE49-F238E27FC236}">
                <a16:creationId xmlns:a16="http://schemas.microsoft.com/office/drawing/2014/main" id="{9D020179-0F5C-204D-D6D2-DABAE2ED2B53}"/>
              </a:ext>
            </a:extLst>
          </p:cNvPr>
          <p:cNvSpPr>
            <a:spLocks noGrp="1"/>
          </p:cNvSpPr>
          <p:nvPr>
            <p:ph idx="1"/>
          </p:nvPr>
        </p:nvSpPr>
        <p:spPr>
          <a:xfrm>
            <a:off x="2231135" y="2638044"/>
            <a:ext cx="8656997" cy="1663023"/>
          </a:xfrm>
        </p:spPr>
        <p:txBody>
          <a:bodyPr>
            <a:normAutofit lnSpcReduction="10000"/>
          </a:bodyPr>
          <a:lstStyle/>
          <a:p>
            <a:r>
              <a:rPr lang="en-US" sz="2400" dirty="0"/>
              <a:t>Uses a Boolean expression to determine which statements are executed next (or not executed at all)</a:t>
            </a:r>
          </a:p>
          <a:p>
            <a:r>
              <a:rPr lang="en-US" sz="2400" dirty="0"/>
              <a:t>Programmers use these to program decision logic</a:t>
            </a:r>
          </a:p>
          <a:p>
            <a:r>
              <a:rPr lang="en-US" sz="2400" dirty="0"/>
              <a:t>Main types of Conditional Statements:</a:t>
            </a:r>
          </a:p>
        </p:txBody>
      </p:sp>
      <p:sp>
        <p:nvSpPr>
          <p:cNvPr id="4" name="TextBox 3">
            <a:extLst>
              <a:ext uri="{FF2B5EF4-FFF2-40B4-BE49-F238E27FC236}">
                <a16:creationId xmlns:a16="http://schemas.microsoft.com/office/drawing/2014/main" id="{67768C13-D044-FF4F-BE84-A92B55C65F03}"/>
              </a:ext>
            </a:extLst>
          </p:cNvPr>
          <p:cNvSpPr txBox="1"/>
          <p:nvPr/>
        </p:nvSpPr>
        <p:spPr>
          <a:xfrm>
            <a:off x="1995768" y="4927599"/>
            <a:ext cx="1680268" cy="461665"/>
          </a:xfrm>
          <a:prstGeom prst="rect">
            <a:avLst/>
          </a:prstGeom>
          <a:noFill/>
          <a:ln>
            <a:solidFill>
              <a:srgbClr val="404040"/>
            </a:solidFill>
          </a:ln>
        </p:spPr>
        <p:txBody>
          <a:bodyPr wrap="none" rtlCol="0">
            <a:spAutoFit/>
          </a:bodyPr>
          <a:lstStyle/>
          <a:p>
            <a:r>
              <a:rPr lang="en-US" sz="2400" dirty="0"/>
              <a:t>if Statement</a:t>
            </a:r>
          </a:p>
        </p:txBody>
      </p:sp>
      <p:sp>
        <p:nvSpPr>
          <p:cNvPr id="5" name="TextBox 4">
            <a:extLst>
              <a:ext uri="{FF2B5EF4-FFF2-40B4-BE49-F238E27FC236}">
                <a16:creationId xmlns:a16="http://schemas.microsoft.com/office/drawing/2014/main" id="{B18E94BA-A175-978D-A28B-0B4C27730327}"/>
              </a:ext>
            </a:extLst>
          </p:cNvPr>
          <p:cNvSpPr txBox="1"/>
          <p:nvPr/>
        </p:nvSpPr>
        <p:spPr>
          <a:xfrm>
            <a:off x="4605868" y="4932063"/>
            <a:ext cx="2260555" cy="461665"/>
          </a:xfrm>
          <a:prstGeom prst="rect">
            <a:avLst/>
          </a:prstGeom>
          <a:noFill/>
          <a:ln>
            <a:solidFill>
              <a:srgbClr val="404040"/>
            </a:solidFill>
          </a:ln>
        </p:spPr>
        <p:txBody>
          <a:bodyPr wrap="none" rtlCol="0">
            <a:spAutoFit/>
          </a:bodyPr>
          <a:lstStyle/>
          <a:p>
            <a:r>
              <a:rPr lang="en-US" sz="2400" dirty="0"/>
              <a:t>if-else Statement</a:t>
            </a:r>
          </a:p>
        </p:txBody>
      </p:sp>
      <p:sp>
        <p:nvSpPr>
          <p:cNvPr id="6" name="TextBox 5">
            <a:extLst>
              <a:ext uri="{FF2B5EF4-FFF2-40B4-BE49-F238E27FC236}">
                <a16:creationId xmlns:a16="http://schemas.microsoft.com/office/drawing/2014/main" id="{0B0BCBD3-7203-F9DA-E85D-C5E0B89B32E4}"/>
              </a:ext>
            </a:extLst>
          </p:cNvPr>
          <p:cNvSpPr txBox="1"/>
          <p:nvPr/>
        </p:nvSpPr>
        <p:spPr>
          <a:xfrm>
            <a:off x="7467600" y="4927599"/>
            <a:ext cx="2728632" cy="461665"/>
          </a:xfrm>
          <a:prstGeom prst="rect">
            <a:avLst/>
          </a:prstGeom>
          <a:noFill/>
          <a:ln>
            <a:solidFill>
              <a:srgbClr val="404040"/>
            </a:solidFill>
          </a:ln>
        </p:spPr>
        <p:txBody>
          <a:bodyPr wrap="none" rtlCol="0">
            <a:spAutoFit/>
          </a:bodyPr>
          <a:lstStyle/>
          <a:p>
            <a:r>
              <a:rPr lang="en-US" sz="2400" dirty="0"/>
              <a:t>If-</a:t>
            </a:r>
            <a:r>
              <a:rPr lang="en-US" sz="2400" dirty="0" err="1"/>
              <a:t>elif</a:t>
            </a:r>
            <a:r>
              <a:rPr lang="en-US" sz="2400" dirty="0"/>
              <a:t>-else Statement</a:t>
            </a:r>
          </a:p>
        </p:txBody>
      </p:sp>
    </p:spTree>
    <p:extLst>
      <p:ext uri="{BB962C8B-B14F-4D97-AF65-F5344CB8AC3E}">
        <p14:creationId xmlns:p14="http://schemas.microsoft.com/office/powerpoint/2010/main" val="2794325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88FF53-E8FC-3B2E-389E-0A7F0CBC66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1592B7-F47A-B246-C70E-E8B72E54AB38}"/>
              </a:ext>
            </a:extLst>
          </p:cNvPr>
          <p:cNvSpPr>
            <a:spLocks noGrp="1"/>
          </p:cNvSpPr>
          <p:nvPr>
            <p:ph type="title"/>
          </p:nvPr>
        </p:nvSpPr>
        <p:spPr>
          <a:xfrm>
            <a:off x="2231136" y="964692"/>
            <a:ext cx="7729728" cy="1188720"/>
          </a:xfrm>
          <a:ln>
            <a:solidFill>
              <a:srgbClr val="404040"/>
            </a:solidFill>
          </a:ln>
        </p:spPr>
        <p:txBody>
          <a:bodyPr vert="horz" lIns="182880" tIns="182880" rIns="182880" bIns="182880" rtlCol="0" anchor="ctr">
            <a:normAutofit/>
          </a:bodyPr>
          <a:lstStyle/>
          <a:p>
            <a:r>
              <a:rPr lang="en-US" dirty="0"/>
              <a:t>If statement</a:t>
            </a:r>
          </a:p>
        </p:txBody>
      </p:sp>
      <p:sp>
        <p:nvSpPr>
          <p:cNvPr id="7" name="TextBox 6">
            <a:extLst>
              <a:ext uri="{FF2B5EF4-FFF2-40B4-BE49-F238E27FC236}">
                <a16:creationId xmlns:a16="http://schemas.microsoft.com/office/drawing/2014/main" id="{47927EBA-117C-A156-2272-7B5F73892C04}"/>
              </a:ext>
            </a:extLst>
          </p:cNvPr>
          <p:cNvSpPr txBox="1"/>
          <p:nvPr/>
        </p:nvSpPr>
        <p:spPr>
          <a:xfrm>
            <a:off x="68444" y="2285474"/>
            <a:ext cx="1591293" cy="3785652"/>
          </a:xfrm>
          <a:prstGeom prst="rect">
            <a:avLst/>
          </a:prstGeom>
          <a:noFill/>
          <a:ln>
            <a:solidFill>
              <a:schemeClr val="accent1"/>
            </a:solidFill>
          </a:ln>
        </p:spPr>
        <p:txBody>
          <a:bodyPr wrap="square" rtlCol="0">
            <a:spAutoFit/>
          </a:bodyPr>
          <a:lstStyle/>
          <a:p>
            <a:r>
              <a:rPr lang="en-US" sz="2400" dirty="0"/>
              <a:t>Code that runs when the condition is True</a:t>
            </a:r>
          </a:p>
          <a:p>
            <a:endParaRPr lang="en-US" sz="2400" dirty="0"/>
          </a:p>
          <a:p>
            <a:r>
              <a:rPr lang="en-US" sz="2400" dirty="0"/>
              <a:t>Must be indented in a code block</a:t>
            </a:r>
          </a:p>
        </p:txBody>
      </p:sp>
      <p:sp>
        <p:nvSpPr>
          <p:cNvPr id="12" name="TextBox 11">
            <a:extLst>
              <a:ext uri="{FF2B5EF4-FFF2-40B4-BE49-F238E27FC236}">
                <a16:creationId xmlns:a16="http://schemas.microsoft.com/office/drawing/2014/main" id="{2C79D86B-91B4-F48F-CA4A-6BDABD1238C6}"/>
              </a:ext>
            </a:extLst>
          </p:cNvPr>
          <p:cNvSpPr txBox="1"/>
          <p:nvPr/>
        </p:nvSpPr>
        <p:spPr>
          <a:xfrm>
            <a:off x="4013083" y="2331367"/>
            <a:ext cx="3725956" cy="461665"/>
          </a:xfrm>
          <a:prstGeom prst="rect">
            <a:avLst/>
          </a:prstGeom>
          <a:noFill/>
          <a:ln>
            <a:solidFill>
              <a:schemeClr val="accent1"/>
            </a:solidFill>
          </a:ln>
        </p:spPr>
        <p:txBody>
          <a:bodyPr wrap="none" rtlCol="0">
            <a:spAutoFit/>
          </a:bodyPr>
          <a:lstStyle/>
          <a:p>
            <a:r>
              <a:rPr lang="en-US" sz="2400" dirty="0"/>
              <a:t>Boolean expression or value</a:t>
            </a:r>
          </a:p>
        </p:txBody>
      </p:sp>
      <p:grpSp>
        <p:nvGrpSpPr>
          <p:cNvPr id="22" name="Group 21">
            <a:extLst>
              <a:ext uri="{FF2B5EF4-FFF2-40B4-BE49-F238E27FC236}">
                <a16:creationId xmlns:a16="http://schemas.microsoft.com/office/drawing/2014/main" id="{9A2AA146-1ACD-E9F5-C1E5-A7955A94F2E6}"/>
              </a:ext>
            </a:extLst>
          </p:cNvPr>
          <p:cNvGrpSpPr/>
          <p:nvPr/>
        </p:nvGrpSpPr>
        <p:grpSpPr>
          <a:xfrm>
            <a:off x="2475488" y="3054350"/>
            <a:ext cx="4521200" cy="1498600"/>
            <a:chOff x="3835400" y="3054350"/>
            <a:chExt cx="4521200" cy="1498600"/>
          </a:xfrm>
        </p:grpSpPr>
        <p:pic>
          <p:nvPicPr>
            <p:cNvPr id="3" name="Picture 2">
              <a:extLst>
                <a:ext uri="{FF2B5EF4-FFF2-40B4-BE49-F238E27FC236}">
                  <a16:creationId xmlns:a16="http://schemas.microsoft.com/office/drawing/2014/main" id="{6250B2D5-6C2B-8B17-4ECC-7D5DC11F6F9D}"/>
                </a:ext>
              </a:extLst>
            </p:cNvPr>
            <p:cNvPicPr>
              <a:picLocks noChangeAspect="1"/>
            </p:cNvPicPr>
            <p:nvPr/>
          </p:nvPicPr>
          <p:blipFill>
            <a:blip r:embed="rId2"/>
            <a:stretch>
              <a:fillRect/>
            </a:stretch>
          </p:blipFill>
          <p:spPr>
            <a:xfrm>
              <a:off x="3835400" y="3054350"/>
              <a:ext cx="4521200" cy="749300"/>
            </a:xfrm>
            <a:prstGeom prst="rect">
              <a:avLst/>
            </a:prstGeom>
          </p:spPr>
        </p:pic>
        <p:pic>
          <p:nvPicPr>
            <p:cNvPr id="10" name="Picture 9">
              <a:extLst>
                <a:ext uri="{FF2B5EF4-FFF2-40B4-BE49-F238E27FC236}">
                  <a16:creationId xmlns:a16="http://schemas.microsoft.com/office/drawing/2014/main" id="{92851595-C474-305E-7DD3-CEECBB9B6A2F}"/>
                </a:ext>
              </a:extLst>
            </p:cNvPr>
            <p:cNvPicPr>
              <a:picLocks noChangeAspect="1"/>
            </p:cNvPicPr>
            <p:nvPr/>
          </p:nvPicPr>
          <p:blipFill>
            <a:blip r:embed="rId3"/>
            <a:stretch>
              <a:fillRect/>
            </a:stretch>
          </p:blipFill>
          <p:spPr>
            <a:xfrm>
              <a:off x="3835400" y="3803650"/>
              <a:ext cx="4521200" cy="749300"/>
            </a:xfrm>
            <a:prstGeom prst="rect">
              <a:avLst/>
            </a:prstGeom>
          </p:spPr>
        </p:pic>
      </p:grpSp>
      <p:cxnSp>
        <p:nvCxnSpPr>
          <p:cNvPr id="11" name="Straight Arrow Connector 10">
            <a:extLst>
              <a:ext uri="{FF2B5EF4-FFF2-40B4-BE49-F238E27FC236}">
                <a16:creationId xmlns:a16="http://schemas.microsoft.com/office/drawing/2014/main" id="{A01F8A3C-C661-98FA-A891-8821E85FC86D}"/>
              </a:ext>
            </a:extLst>
          </p:cNvPr>
          <p:cNvCxnSpPr>
            <a:cxnSpLocks/>
          </p:cNvCxnSpPr>
          <p:nvPr/>
        </p:nvCxnSpPr>
        <p:spPr>
          <a:xfrm flipH="1">
            <a:off x="3538951" y="2757190"/>
            <a:ext cx="2025260" cy="3212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F91109F0-4E09-93AB-5EA6-9DA53A32E6D7}"/>
              </a:ext>
            </a:extLst>
          </p:cNvPr>
          <p:cNvCxnSpPr>
            <a:cxnSpLocks/>
          </p:cNvCxnSpPr>
          <p:nvPr/>
        </p:nvCxnSpPr>
        <p:spPr>
          <a:xfrm>
            <a:off x="716444" y="3429000"/>
            <a:ext cx="2523067" cy="1778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0EDB37C-1FEA-5D6E-C761-E85F1F77C2AE}"/>
              </a:ext>
            </a:extLst>
          </p:cNvPr>
          <p:cNvCxnSpPr/>
          <p:nvPr/>
        </p:nvCxnSpPr>
        <p:spPr>
          <a:xfrm flipH="1" flipV="1">
            <a:off x="2743199" y="4552950"/>
            <a:ext cx="711200" cy="12213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E7B598A-0E26-00CC-0619-78ECFE7D5FDA}"/>
              </a:ext>
            </a:extLst>
          </p:cNvPr>
          <p:cNvSpPr txBox="1"/>
          <p:nvPr/>
        </p:nvSpPr>
        <p:spPr>
          <a:xfrm>
            <a:off x="2394146" y="5708642"/>
            <a:ext cx="6075702" cy="461665"/>
          </a:xfrm>
          <a:prstGeom prst="rect">
            <a:avLst/>
          </a:prstGeom>
          <a:noFill/>
          <a:ln>
            <a:solidFill>
              <a:schemeClr val="accent1"/>
            </a:solidFill>
          </a:ln>
        </p:spPr>
        <p:txBody>
          <a:bodyPr wrap="none" rtlCol="0">
            <a:spAutoFit/>
          </a:bodyPr>
          <a:lstStyle/>
          <a:p>
            <a:r>
              <a:rPr lang="en-US" sz="2400" dirty="0"/>
              <a:t>End of indentation indicates end of the if block </a:t>
            </a:r>
          </a:p>
        </p:txBody>
      </p:sp>
      <p:pic>
        <p:nvPicPr>
          <p:cNvPr id="23" name="Picture 22">
            <a:extLst>
              <a:ext uri="{FF2B5EF4-FFF2-40B4-BE49-F238E27FC236}">
                <a16:creationId xmlns:a16="http://schemas.microsoft.com/office/drawing/2014/main" id="{C51F7FF6-DA4B-ADE2-B045-F7B154DDD11C}"/>
              </a:ext>
            </a:extLst>
          </p:cNvPr>
          <p:cNvPicPr>
            <a:picLocks noChangeAspect="1"/>
          </p:cNvPicPr>
          <p:nvPr/>
        </p:nvPicPr>
        <p:blipFill>
          <a:blip r:embed="rId4"/>
          <a:stretch>
            <a:fillRect/>
          </a:stretch>
        </p:blipFill>
        <p:spPr>
          <a:xfrm>
            <a:off x="8253161" y="2731851"/>
            <a:ext cx="3415405" cy="2892898"/>
          </a:xfrm>
          <a:prstGeom prst="rect">
            <a:avLst/>
          </a:prstGeom>
        </p:spPr>
      </p:pic>
    </p:spTree>
    <p:extLst>
      <p:ext uri="{BB962C8B-B14F-4D97-AF65-F5344CB8AC3E}">
        <p14:creationId xmlns:p14="http://schemas.microsoft.com/office/powerpoint/2010/main" val="11073313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19501C6-F015-4273-AF88-E0F6C8538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CA677DB7-5829-45BD-9754-5EC484CC42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654296"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C0CE41-5A20-E9D2-05BA-8A62C049DFFB}"/>
              </a:ext>
            </a:extLst>
          </p:cNvPr>
          <p:cNvSpPr>
            <a:spLocks noGrp="1"/>
          </p:cNvSpPr>
          <p:nvPr>
            <p:ph type="title"/>
          </p:nvPr>
        </p:nvSpPr>
        <p:spPr>
          <a:xfrm>
            <a:off x="804672" y="2404872"/>
            <a:ext cx="3044950" cy="1627792"/>
          </a:xfrm>
        </p:spPr>
        <p:txBody>
          <a:bodyPr vert="horz" lIns="274320" tIns="182880" rIns="274320" bIns="182880" rtlCol="0" anchor="ctr" anchorCtr="1">
            <a:normAutofit/>
          </a:bodyPr>
          <a:lstStyle/>
          <a:p>
            <a:r>
              <a:rPr lang="en-US" dirty="0"/>
              <a:t>Example</a:t>
            </a:r>
          </a:p>
        </p:txBody>
      </p:sp>
      <p:pic>
        <p:nvPicPr>
          <p:cNvPr id="4" name="Content Placeholder 3">
            <a:extLst>
              <a:ext uri="{FF2B5EF4-FFF2-40B4-BE49-F238E27FC236}">
                <a16:creationId xmlns:a16="http://schemas.microsoft.com/office/drawing/2014/main" id="{B25744CB-08A8-B8CA-70AE-A1BD92748DF4}"/>
              </a:ext>
            </a:extLst>
          </p:cNvPr>
          <p:cNvPicPr>
            <a:picLocks noGrp="1" noChangeAspect="1"/>
          </p:cNvPicPr>
          <p:nvPr>
            <p:ph idx="1"/>
          </p:nvPr>
        </p:nvPicPr>
        <p:blipFill>
          <a:blip r:embed="rId2"/>
          <a:stretch>
            <a:fillRect/>
          </a:stretch>
        </p:blipFill>
        <p:spPr>
          <a:xfrm>
            <a:off x="6015752" y="640080"/>
            <a:ext cx="4814792" cy="5263134"/>
          </a:xfrm>
          <a:prstGeom prst="rect">
            <a:avLst/>
          </a:prstGeom>
        </p:spPr>
      </p:pic>
    </p:spTree>
    <p:extLst>
      <p:ext uri="{BB962C8B-B14F-4D97-AF65-F5344CB8AC3E}">
        <p14:creationId xmlns:p14="http://schemas.microsoft.com/office/powerpoint/2010/main" val="35598141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AD7C5BE-418C-4A44-91BF-28E411F75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03409F7-5335-D558-04FB-F90D8FE5D369}"/>
              </a:ext>
            </a:extLst>
          </p:cNvPr>
          <p:cNvSpPr>
            <a:spLocks noGrp="1"/>
          </p:cNvSpPr>
          <p:nvPr>
            <p:ph type="title"/>
          </p:nvPr>
        </p:nvSpPr>
        <p:spPr>
          <a:xfrm>
            <a:off x="1718871" y="169750"/>
            <a:ext cx="7729728" cy="1188720"/>
          </a:xfrm>
          <a:ln>
            <a:solidFill>
              <a:srgbClr val="404040"/>
            </a:solidFill>
          </a:ln>
        </p:spPr>
        <p:txBody>
          <a:bodyPr vert="horz" lIns="182880" tIns="182880" rIns="182880" bIns="182880" rtlCol="0" anchor="ctr">
            <a:normAutofit/>
          </a:bodyPr>
          <a:lstStyle/>
          <a:p>
            <a:r>
              <a:rPr lang="en-US" dirty="0"/>
              <a:t>If-Else statement</a:t>
            </a:r>
          </a:p>
        </p:txBody>
      </p:sp>
      <p:pic>
        <p:nvPicPr>
          <p:cNvPr id="4" name="Content Placeholder 3" descr="A close-up of a sign&#10;&#10;AI-generated content may be incorrect.">
            <a:extLst>
              <a:ext uri="{FF2B5EF4-FFF2-40B4-BE49-F238E27FC236}">
                <a16:creationId xmlns:a16="http://schemas.microsoft.com/office/drawing/2014/main" id="{5FD73F5C-51F8-7041-A9A1-6643214228C4}"/>
              </a:ext>
            </a:extLst>
          </p:cNvPr>
          <p:cNvPicPr>
            <a:picLocks noGrp="1" noChangeAspect="1"/>
          </p:cNvPicPr>
          <p:nvPr>
            <p:ph idx="1"/>
          </p:nvPr>
        </p:nvPicPr>
        <p:blipFill>
          <a:blip r:embed="rId2"/>
          <a:stretch>
            <a:fillRect/>
          </a:stretch>
        </p:blipFill>
        <p:spPr>
          <a:xfrm>
            <a:off x="2950599" y="2482596"/>
            <a:ext cx="6302476" cy="2930652"/>
          </a:xfrm>
          <a:prstGeom prst="rect">
            <a:avLst/>
          </a:prstGeom>
        </p:spPr>
      </p:pic>
      <p:cxnSp>
        <p:nvCxnSpPr>
          <p:cNvPr id="6" name="Straight Arrow Connector 5">
            <a:extLst>
              <a:ext uri="{FF2B5EF4-FFF2-40B4-BE49-F238E27FC236}">
                <a16:creationId xmlns:a16="http://schemas.microsoft.com/office/drawing/2014/main" id="{D9EC7E47-CDEE-AAEF-017B-A13E77B9A6DA}"/>
              </a:ext>
            </a:extLst>
          </p:cNvPr>
          <p:cNvCxnSpPr>
            <a:cxnSpLocks/>
          </p:cNvCxnSpPr>
          <p:nvPr/>
        </p:nvCxnSpPr>
        <p:spPr>
          <a:xfrm flipV="1">
            <a:off x="2032000" y="3325091"/>
            <a:ext cx="2076862" cy="1039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60F94ADC-DB2E-39F7-5B06-0F9CA3820C64}"/>
              </a:ext>
            </a:extLst>
          </p:cNvPr>
          <p:cNvSpPr txBox="1"/>
          <p:nvPr/>
        </p:nvSpPr>
        <p:spPr>
          <a:xfrm>
            <a:off x="1163782" y="3135085"/>
            <a:ext cx="1591293" cy="2308324"/>
          </a:xfrm>
          <a:prstGeom prst="rect">
            <a:avLst/>
          </a:prstGeom>
          <a:noFill/>
        </p:spPr>
        <p:txBody>
          <a:bodyPr wrap="square" rtlCol="0">
            <a:spAutoFit/>
          </a:bodyPr>
          <a:lstStyle/>
          <a:p>
            <a:r>
              <a:rPr lang="en-US" dirty="0"/>
              <a:t>Code that runs when the condition is True</a:t>
            </a:r>
          </a:p>
          <a:p>
            <a:endParaRPr lang="en-US" dirty="0"/>
          </a:p>
          <a:p>
            <a:r>
              <a:rPr lang="en-US" dirty="0"/>
              <a:t>Must be indented in a code block</a:t>
            </a:r>
          </a:p>
        </p:txBody>
      </p:sp>
      <p:cxnSp>
        <p:nvCxnSpPr>
          <p:cNvPr id="11" name="Straight Arrow Connector 10">
            <a:extLst>
              <a:ext uri="{FF2B5EF4-FFF2-40B4-BE49-F238E27FC236}">
                <a16:creationId xmlns:a16="http://schemas.microsoft.com/office/drawing/2014/main" id="{AB553054-1A3C-2F20-1F97-6C04E54D2749}"/>
              </a:ext>
            </a:extLst>
          </p:cNvPr>
          <p:cNvCxnSpPr/>
          <p:nvPr/>
        </p:nvCxnSpPr>
        <p:spPr>
          <a:xfrm flipH="1">
            <a:off x="5177642" y="2291938"/>
            <a:ext cx="2101932" cy="4987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C193611-AD35-3606-8DFF-037FBE23EFDC}"/>
              </a:ext>
            </a:extLst>
          </p:cNvPr>
          <p:cNvSpPr txBox="1"/>
          <p:nvPr/>
        </p:nvSpPr>
        <p:spPr>
          <a:xfrm>
            <a:off x="7279574" y="2125140"/>
            <a:ext cx="2837828" cy="369332"/>
          </a:xfrm>
          <a:prstGeom prst="rect">
            <a:avLst/>
          </a:prstGeom>
          <a:noFill/>
        </p:spPr>
        <p:txBody>
          <a:bodyPr wrap="none" rtlCol="0">
            <a:spAutoFit/>
          </a:bodyPr>
          <a:lstStyle/>
          <a:p>
            <a:r>
              <a:rPr lang="en-US" dirty="0"/>
              <a:t>Boolean expression or value</a:t>
            </a:r>
          </a:p>
        </p:txBody>
      </p:sp>
      <p:cxnSp>
        <p:nvCxnSpPr>
          <p:cNvPr id="14" name="Straight Arrow Connector 13">
            <a:extLst>
              <a:ext uri="{FF2B5EF4-FFF2-40B4-BE49-F238E27FC236}">
                <a16:creationId xmlns:a16="http://schemas.microsoft.com/office/drawing/2014/main" id="{F8E21679-5759-A142-285C-B9AEC5006E87}"/>
              </a:ext>
            </a:extLst>
          </p:cNvPr>
          <p:cNvCxnSpPr>
            <a:cxnSpLocks/>
          </p:cNvCxnSpPr>
          <p:nvPr/>
        </p:nvCxnSpPr>
        <p:spPr>
          <a:xfrm flipH="1">
            <a:off x="4298868" y="3733038"/>
            <a:ext cx="514973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2EACBB4-15D9-11C5-DFB2-958C9B8B4A19}"/>
              </a:ext>
            </a:extLst>
          </p:cNvPr>
          <p:cNvSpPr txBox="1"/>
          <p:nvPr/>
        </p:nvSpPr>
        <p:spPr>
          <a:xfrm>
            <a:off x="9239479" y="3429000"/>
            <a:ext cx="2004075" cy="369332"/>
          </a:xfrm>
          <a:prstGeom prst="rect">
            <a:avLst/>
          </a:prstGeom>
          <a:noFill/>
        </p:spPr>
        <p:txBody>
          <a:bodyPr wrap="none" rtlCol="0">
            <a:spAutoFit/>
          </a:bodyPr>
          <a:lstStyle/>
          <a:p>
            <a:r>
              <a:rPr lang="en-US" dirty="0"/>
              <a:t>The else is optional</a:t>
            </a:r>
          </a:p>
        </p:txBody>
      </p:sp>
      <p:cxnSp>
        <p:nvCxnSpPr>
          <p:cNvPr id="18" name="Straight Arrow Connector 17">
            <a:extLst>
              <a:ext uri="{FF2B5EF4-FFF2-40B4-BE49-F238E27FC236}">
                <a16:creationId xmlns:a16="http://schemas.microsoft.com/office/drawing/2014/main" id="{7E94E5A8-CA8C-0E2A-B324-7979C2ED6D30}"/>
              </a:ext>
            </a:extLst>
          </p:cNvPr>
          <p:cNvCxnSpPr/>
          <p:nvPr/>
        </p:nvCxnSpPr>
        <p:spPr>
          <a:xfrm flipH="1" flipV="1">
            <a:off x="8858992" y="4289247"/>
            <a:ext cx="819398" cy="1758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FE09651A-6042-05A3-0EF2-C6A4E12EDBED}"/>
              </a:ext>
            </a:extLst>
          </p:cNvPr>
          <p:cNvSpPr txBox="1"/>
          <p:nvPr/>
        </p:nvSpPr>
        <p:spPr>
          <a:xfrm>
            <a:off x="9683773" y="4071826"/>
            <a:ext cx="1270660" cy="1754326"/>
          </a:xfrm>
          <a:prstGeom prst="rect">
            <a:avLst/>
          </a:prstGeom>
          <a:noFill/>
        </p:spPr>
        <p:txBody>
          <a:bodyPr wrap="square" rtlCol="0">
            <a:spAutoFit/>
          </a:bodyPr>
          <a:lstStyle/>
          <a:p>
            <a:r>
              <a:rPr lang="en-US" dirty="0"/>
              <a:t>Code block that executes if the condition is False</a:t>
            </a:r>
          </a:p>
        </p:txBody>
      </p:sp>
    </p:spTree>
    <p:extLst>
      <p:ext uri="{BB962C8B-B14F-4D97-AF65-F5344CB8AC3E}">
        <p14:creationId xmlns:p14="http://schemas.microsoft.com/office/powerpoint/2010/main" val="21557252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17E47-5A5A-54E9-10FE-6D06EA89BF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D56930-E7B8-F858-0B14-CA50499DB14D}"/>
              </a:ext>
            </a:extLst>
          </p:cNvPr>
          <p:cNvSpPr>
            <a:spLocks noGrp="1"/>
          </p:cNvSpPr>
          <p:nvPr>
            <p:ph type="title"/>
          </p:nvPr>
        </p:nvSpPr>
        <p:spPr>
          <a:xfrm>
            <a:off x="1718871" y="169750"/>
            <a:ext cx="7729728" cy="1188720"/>
          </a:xfrm>
          <a:ln>
            <a:solidFill>
              <a:srgbClr val="404040"/>
            </a:solidFill>
          </a:ln>
        </p:spPr>
        <p:txBody>
          <a:bodyPr vert="horz" lIns="182880" tIns="182880" rIns="182880" bIns="182880" rtlCol="0" anchor="ctr">
            <a:normAutofit/>
          </a:bodyPr>
          <a:lstStyle/>
          <a:p>
            <a:r>
              <a:rPr lang="en-US" dirty="0"/>
              <a:t>If-Else statement</a:t>
            </a:r>
          </a:p>
        </p:txBody>
      </p:sp>
      <p:pic>
        <p:nvPicPr>
          <p:cNvPr id="4" name="Content Placeholder 3" descr="A close-up of a sign&#10;&#10;AI-generated content may be incorrect.">
            <a:extLst>
              <a:ext uri="{FF2B5EF4-FFF2-40B4-BE49-F238E27FC236}">
                <a16:creationId xmlns:a16="http://schemas.microsoft.com/office/drawing/2014/main" id="{C889629B-731A-85F9-294B-503A41674D52}"/>
              </a:ext>
            </a:extLst>
          </p:cNvPr>
          <p:cNvPicPr>
            <a:picLocks noGrp="1" noChangeAspect="1"/>
          </p:cNvPicPr>
          <p:nvPr>
            <p:ph idx="1"/>
          </p:nvPr>
        </p:nvPicPr>
        <p:blipFill>
          <a:blip r:embed="rId2"/>
          <a:stretch>
            <a:fillRect/>
          </a:stretch>
        </p:blipFill>
        <p:spPr>
          <a:xfrm>
            <a:off x="630733" y="2245529"/>
            <a:ext cx="6302476" cy="2930652"/>
          </a:xfrm>
          <a:prstGeom prst="rect">
            <a:avLst/>
          </a:prstGeom>
        </p:spPr>
      </p:pic>
      <p:pic>
        <p:nvPicPr>
          <p:cNvPr id="3" name="Picture 2">
            <a:extLst>
              <a:ext uri="{FF2B5EF4-FFF2-40B4-BE49-F238E27FC236}">
                <a16:creationId xmlns:a16="http://schemas.microsoft.com/office/drawing/2014/main" id="{3375B1C3-0BEC-5096-AB53-CAE512416DBC}"/>
              </a:ext>
            </a:extLst>
          </p:cNvPr>
          <p:cNvPicPr>
            <a:picLocks noChangeAspect="1"/>
          </p:cNvPicPr>
          <p:nvPr/>
        </p:nvPicPr>
        <p:blipFill>
          <a:blip r:embed="rId3"/>
          <a:stretch>
            <a:fillRect/>
          </a:stretch>
        </p:blipFill>
        <p:spPr>
          <a:xfrm>
            <a:off x="7553224" y="1750778"/>
            <a:ext cx="3790749" cy="3831804"/>
          </a:xfrm>
          <a:prstGeom prst="rect">
            <a:avLst/>
          </a:prstGeom>
        </p:spPr>
      </p:pic>
    </p:spTree>
    <p:extLst>
      <p:ext uri="{BB962C8B-B14F-4D97-AF65-F5344CB8AC3E}">
        <p14:creationId xmlns:p14="http://schemas.microsoft.com/office/powerpoint/2010/main" val="12873826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DC1939-BDF3-95C6-4A7B-9466D8594633}"/>
              </a:ext>
            </a:extLst>
          </p:cNvPr>
          <p:cNvSpPr>
            <a:spLocks noGrp="1"/>
          </p:cNvSpPr>
          <p:nvPr>
            <p:ph type="title"/>
          </p:nvPr>
        </p:nvSpPr>
        <p:spPr/>
        <p:txBody>
          <a:bodyPr/>
          <a:lstStyle/>
          <a:p>
            <a:r>
              <a:rPr lang="en-US" dirty="0"/>
              <a:t>Self-Check</a:t>
            </a:r>
          </a:p>
        </p:txBody>
      </p:sp>
      <p:sp>
        <p:nvSpPr>
          <p:cNvPr id="3" name="Content Placeholder 2">
            <a:extLst>
              <a:ext uri="{FF2B5EF4-FFF2-40B4-BE49-F238E27FC236}">
                <a16:creationId xmlns:a16="http://schemas.microsoft.com/office/drawing/2014/main" id="{6F2D3AD5-75F9-FF40-D48D-30FAB04CF88E}"/>
              </a:ext>
            </a:extLst>
          </p:cNvPr>
          <p:cNvSpPr>
            <a:spLocks noGrp="1"/>
          </p:cNvSpPr>
          <p:nvPr>
            <p:ph idx="1"/>
          </p:nvPr>
        </p:nvSpPr>
        <p:spPr/>
        <p:txBody>
          <a:bodyPr>
            <a:normAutofit/>
          </a:bodyPr>
          <a:lstStyle/>
          <a:p>
            <a:r>
              <a:rPr lang="en-US" sz="2400" dirty="0"/>
              <a:t>We want to detect that someone hasn’t rolled double 6’s:</a:t>
            </a:r>
          </a:p>
        </p:txBody>
      </p:sp>
      <p:pic>
        <p:nvPicPr>
          <p:cNvPr id="4" name="Picture 3">
            <a:extLst>
              <a:ext uri="{FF2B5EF4-FFF2-40B4-BE49-F238E27FC236}">
                <a16:creationId xmlns:a16="http://schemas.microsoft.com/office/drawing/2014/main" id="{0490F0A4-A336-EDC9-6FAF-658310A7E864}"/>
              </a:ext>
            </a:extLst>
          </p:cNvPr>
          <p:cNvPicPr>
            <a:picLocks noChangeAspect="1"/>
          </p:cNvPicPr>
          <p:nvPr/>
        </p:nvPicPr>
        <p:blipFill>
          <a:blip r:embed="rId2"/>
          <a:stretch>
            <a:fillRect/>
          </a:stretch>
        </p:blipFill>
        <p:spPr>
          <a:xfrm>
            <a:off x="9960864" y="3666067"/>
            <a:ext cx="1422400" cy="1422400"/>
          </a:xfrm>
          <a:prstGeom prst="rect">
            <a:avLst/>
          </a:prstGeom>
        </p:spPr>
      </p:pic>
      <p:pic>
        <p:nvPicPr>
          <p:cNvPr id="5" name="Picture 4">
            <a:extLst>
              <a:ext uri="{FF2B5EF4-FFF2-40B4-BE49-F238E27FC236}">
                <a16:creationId xmlns:a16="http://schemas.microsoft.com/office/drawing/2014/main" id="{649A9915-061B-A67B-58C3-A8BB5A5B1296}"/>
              </a:ext>
            </a:extLst>
          </p:cNvPr>
          <p:cNvPicPr>
            <a:picLocks noChangeAspect="1"/>
          </p:cNvPicPr>
          <p:nvPr/>
        </p:nvPicPr>
        <p:blipFill>
          <a:blip r:embed="rId3"/>
          <a:stretch>
            <a:fillRect/>
          </a:stretch>
        </p:blipFill>
        <p:spPr>
          <a:xfrm>
            <a:off x="2493433" y="3145367"/>
            <a:ext cx="5613400" cy="2463800"/>
          </a:xfrm>
          <a:prstGeom prst="rect">
            <a:avLst/>
          </a:prstGeom>
        </p:spPr>
      </p:pic>
      <p:sp>
        <p:nvSpPr>
          <p:cNvPr id="6" name="TextBox 5">
            <a:extLst>
              <a:ext uri="{FF2B5EF4-FFF2-40B4-BE49-F238E27FC236}">
                <a16:creationId xmlns:a16="http://schemas.microsoft.com/office/drawing/2014/main" id="{02FAF74D-41D4-249D-4DA3-96920EDDCAFF}"/>
              </a:ext>
            </a:extLst>
          </p:cNvPr>
          <p:cNvSpPr txBox="1"/>
          <p:nvPr/>
        </p:nvSpPr>
        <p:spPr>
          <a:xfrm>
            <a:off x="2493433" y="6039993"/>
            <a:ext cx="2567754" cy="461665"/>
          </a:xfrm>
          <a:prstGeom prst="rect">
            <a:avLst/>
          </a:prstGeom>
          <a:noFill/>
        </p:spPr>
        <p:txBody>
          <a:bodyPr wrap="none" rtlCol="0">
            <a:spAutoFit/>
          </a:bodyPr>
          <a:lstStyle/>
          <a:p>
            <a:r>
              <a:rPr lang="en-US" sz="2400" dirty="0"/>
              <a:t>What’s the output?</a:t>
            </a:r>
          </a:p>
        </p:txBody>
      </p:sp>
    </p:spTree>
    <p:extLst>
      <p:ext uri="{BB962C8B-B14F-4D97-AF65-F5344CB8AC3E}">
        <p14:creationId xmlns:p14="http://schemas.microsoft.com/office/powerpoint/2010/main" val="41167898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13F63-C8F9-7A24-E735-061C106AB3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98EA20-C8DC-4E39-5AFC-5EA58C7DAF3B}"/>
              </a:ext>
            </a:extLst>
          </p:cNvPr>
          <p:cNvSpPr>
            <a:spLocks noGrp="1"/>
          </p:cNvSpPr>
          <p:nvPr>
            <p:ph type="title"/>
          </p:nvPr>
        </p:nvSpPr>
        <p:spPr/>
        <p:txBody>
          <a:bodyPr/>
          <a:lstStyle/>
          <a:p>
            <a:r>
              <a:rPr lang="en-US" dirty="0"/>
              <a:t>Self-Check</a:t>
            </a:r>
          </a:p>
        </p:txBody>
      </p:sp>
      <p:sp>
        <p:nvSpPr>
          <p:cNvPr id="3" name="Content Placeholder 2">
            <a:extLst>
              <a:ext uri="{FF2B5EF4-FFF2-40B4-BE49-F238E27FC236}">
                <a16:creationId xmlns:a16="http://schemas.microsoft.com/office/drawing/2014/main" id="{64FFDB55-C30A-C1EC-9E45-A2746AC562B0}"/>
              </a:ext>
            </a:extLst>
          </p:cNvPr>
          <p:cNvSpPr>
            <a:spLocks noGrp="1"/>
          </p:cNvSpPr>
          <p:nvPr>
            <p:ph idx="1"/>
          </p:nvPr>
        </p:nvSpPr>
        <p:spPr/>
        <p:txBody>
          <a:bodyPr>
            <a:normAutofit/>
          </a:bodyPr>
          <a:lstStyle/>
          <a:p>
            <a:r>
              <a:rPr lang="en-US" sz="2400" dirty="0"/>
              <a:t>We want to detect that someone hasn’t rolled double 6’s:</a:t>
            </a:r>
          </a:p>
        </p:txBody>
      </p:sp>
      <p:pic>
        <p:nvPicPr>
          <p:cNvPr id="4" name="Picture 3">
            <a:extLst>
              <a:ext uri="{FF2B5EF4-FFF2-40B4-BE49-F238E27FC236}">
                <a16:creationId xmlns:a16="http://schemas.microsoft.com/office/drawing/2014/main" id="{AE894703-2922-E2F9-348D-18A79AD236EF}"/>
              </a:ext>
            </a:extLst>
          </p:cNvPr>
          <p:cNvPicPr>
            <a:picLocks noChangeAspect="1"/>
          </p:cNvPicPr>
          <p:nvPr/>
        </p:nvPicPr>
        <p:blipFill>
          <a:blip r:embed="rId2"/>
          <a:stretch>
            <a:fillRect/>
          </a:stretch>
        </p:blipFill>
        <p:spPr>
          <a:xfrm>
            <a:off x="9960864" y="3666067"/>
            <a:ext cx="1422400" cy="1422400"/>
          </a:xfrm>
          <a:prstGeom prst="rect">
            <a:avLst/>
          </a:prstGeom>
        </p:spPr>
      </p:pic>
      <p:pic>
        <p:nvPicPr>
          <p:cNvPr id="5" name="Picture 4">
            <a:extLst>
              <a:ext uri="{FF2B5EF4-FFF2-40B4-BE49-F238E27FC236}">
                <a16:creationId xmlns:a16="http://schemas.microsoft.com/office/drawing/2014/main" id="{2FB375E3-FB8B-18B7-7C1F-67197C78173F}"/>
              </a:ext>
            </a:extLst>
          </p:cNvPr>
          <p:cNvPicPr>
            <a:picLocks noChangeAspect="1"/>
          </p:cNvPicPr>
          <p:nvPr/>
        </p:nvPicPr>
        <p:blipFill>
          <a:blip r:embed="rId3"/>
          <a:stretch>
            <a:fillRect/>
          </a:stretch>
        </p:blipFill>
        <p:spPr>
          <a:xfrm>
            <a:off x="2493433" y="3145367"/>
            <a:ext cx="5613400" cy="2463800"/>
          </a:xfrm>
          <a:prstGeom prst="rect">
            <a:avLst/>
          </a:prstGeom>
        </p:spPr>
      </p:pic>
      <p:sp>
        <p:nvSpPr>
          <p:cNvPr id="7" name="TextBox 6">
            <a:extLst>
              <a:ext uri="{FF2B5EF4-FFF2-40B4-BE49-F238E27FC236}">
                <a16:creationId xmlns:a16="http://schemas.microsoft.com/office/drawing/2014/main" id="{0713493B-64FF-FE13-AEC2-42348D5C096B}"/>
              </a:ext>
            </a:extLst>
          </p:cNvPr>
          <p:cNvSpPr txBox="1"/>
          <p:nvPr/>
        </p:nvSpPr>
        <p:spPr>
          <a:xfrm>
            <a:off x="2777067" y="6129867"/>
            <a:ext cx="1771639" cy="830997"/>
          </a:xfrm>
          <a:prstGeom prst="rect">
            <a:avLst/>
          </a:prstGeom>
          <a:noFill/>
        </p:spPr>
        <p:txBody>
          <a:bodyPr wrap="none" rtlCol="0">
            <a:spAutoFit/>
          </a:bodyPr>
          <a:lstStyle/>
          <a:p>
            <a:r>
              <a:rPr lang="en-CA" sz="2400" dirty="0"/>
              <a:t>ack double 6</a:t>
            </a:r>
          </a:p>
          <a:p>
            <a:endParaRPr lang="en-US" sz="2400" dirty="0"/>
          </a:p>
        </p:txBody>
      </p:sp>
      <p:cxnSp>
        <p:nvCxnSpPr>
          <p:cNvPr id="9" name="Straight Arrow Connector 8">
            <a:extLst>
              <a:ext uri="{FF2B5EF4-FFF2-40B4-BE49-F238E27FC236}">
                <a16:creationId xmlns:a16="http://schemas.microsoft.com/office/drawing/2014/main" id="{98CA236D-7FAC-40AF-2A20-F6C8DF5601E5}"/>
              </a:ext>
            </a:extLst>
          </p:cNvPr>
          <p:cNvCxnSpPr/>
          <p:nvPr/>
        </p:nvCxnSpPr>
        <p:spPr>
          <a:xfrm flipH="1">
            <a:off x="4758267" y="6400800"/>
            <a:ext cx="21336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D7184BC-44CD-4848-1FB8-C2C2369F469E}"/>
              </a:ext>
            </a:extLst>
          </p:cNvPr>
          <p:cNvSpPr txBox="1"/>
          <p:nvPr/>
        </p:nvSpPr>
        <p:spPr>
          <a:xfrm>
            <a:off x="6932973" y="6214534"/>
            <a:ext cx="710323" cy="369332"/>
          </a:xfrm>
          <a:prstGeom prst="rect">
            <a:avLst/>
          </a:prstGeom>
          <a:noFill/>
        </p:spPr>
        <p:txBody>
          <a:bodyPr wrap="none" rtlCol="0">
            <a:spAutoFit/>
          </a:bodyPr>
          <a:lstStyle/>
          <a:p>
            <a:r>
              <a:rPr lang="en-US" dirty="0"/>
              <a:t>Why?</a:t>
            </a:r>
          </a:p>
        </p:txBody>
      </p:sp>
      <p:sp>
        <p:nvSpPr>
          <p:cNvPr id="11" name="TextBox 10">
            <a:extLst>
              <a:ext uri="{FF2B5EF4-FFF2-40B4-BE49-F238E27FC236}">
                <a16:creationId xmlns:a16="http://schemas.microsoft.com/office/drawing/2014/main" id="{63F0AF8F-996E-EF04-ACAA-85F0126B4346}"/>
              </a:ext>
            </a:extLst>
          </p:cNvPr>
          <p:cNvSpPr txBox="1"/>
          <p:nvPr/>
        </p:nvSpPr>
        <p:spPr>
          <a:xfrm>
            <a:off x="8181828" y="6231790"/>
            <a:ext cx="2188612" cy="369332"/>
          </a:xfrm>
          <a:prstGeom prst="rect">
            <a:avLst/>
          </a:prstGeom>
          <a:noFill/>
        </p:spPr>
        <p:txBody>
          <a:bodyPr wrap="none" rtlCol="0">
            <a:spAutoFit/>
          </a:bodyPr>
          <a:lstStyle/>
          <a:p>
            <a:r>
              <a:rPr lang="en-US" dirty="0"/>
              <a:t>Can you fix the logic?</a:t>
            </a:r>
          </a:p>
        </p:txBody>
      </p:sp>
    </p:spTree>
    <p:extLst>
      <p:ext uri="{BB962C8B-B14F-4D97-AF65-F5344CB8AC3E}">
        <p14:creationId xmlns:p14="http://schemas.microsoft.com/office/powerpoint/2010/main" val="3207259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D56FC036-A458-497E-2C2F-008C7C2473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313ACA-E2E9-84E2-227E-2D51B495DDE7}"/>
              </a:ext>
            </a:extLst>
          </p:cNvPr>
          <p:cNvSpPr>
            <a:spLocks noGrp="1"/>
          </p:cNvSpPr>
          <p:nvPr>
            <p:ph type="title"/>
          </p:nvPr>
        </p:nvSpPr>
        <p:spPr>
          <a:xfrm>
            <a:off x="6736080" y="2865774"/>
            <a:ext cx="4797453" cy="1126462"/>
          </a:xfrm>
        </p:spPr>
        <p:txBody>
          <a:bodyPr vert="horz" wrap="square" lIns="182880" tIns="182880" rIns="182880" bIns="182880" rtlCol="0" anchor="ctr" anchorCtr="1">
            <a:normAutofit/>
          </a:bodyPr>
          <a:lstStyle/>
          <a:p>
            <a:r>
              <a:rPr lang="en-US" dirty="0"/>
              <a:t>Example</a:t>
            </a:r>
          </a:p>
        </p:txBody>
      </p:sp>
      <p:sp>
        <p:nvSpPr>
          <p:cNvPr id="17" name="Rectangle 16">
            <a:extLst>
              <a:ext uri="{FF2B5EF4-FFF2-40B4-BE49-F238E27FC236}">
                <a16:creationId xmlns:a16="http://schemas.microsoft.com/office/drawing/2014/main" id="{0033E82B-6FB2-4161-A161-ED30DBDE9D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9"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42EDF7D8-9280-1A9C-B862-4B064CADE815}"/>
              </a:ext>
            </a:extLst>
          </p:cNvPr>
          <p:cNvPicPr>
            <a:picLocks noChangeAspect="1"/>
          </p:cNvPicPr>
          <p:nvPr/>
        </p:nvPicPr>
        <p:blipFill>
          <a:blip r:embed="rId2"/>
          <a:stretch>
            <a:fillRect/>
          </a:stretch>
        </p:blipFill>
        <p:spPr>
          <a:xfrm>
            <a:off x="279399" y="939800"/>
            <a:ext cx="5537200" cy="4483100"/>
          </a:xfrm>
          <a:prstGeom prst="rect">
            <a:avLst/>
          </a:prstGeom>
        </p:spPr>
      </p:pic>
    </p:spTree>
    <p:extLst>
      <p:ext uri="{BB962C8B-B14F-4D97-AF65-F5344CB8AC3E}">
        <p14:creationId xmlns:p14="http://schemas.microsoft.com/office/powerpoint/2010/main" val="30918683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3B2B5-57BB-C162-F271-74D792D7FE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0ED9C9-3544-CF63-99FF-A3DAE420C8BF}"/>
              </a:ext>
            </a:extLst>
          </p:cNvPr>
          <p:cNvSpPr>
            <a:spLocks noGrp="1"/>
          </p:cNvSpPr>
          <p:nvPr>
            <p:ph type="title"/>
          </p:nvPr>
        </p:nvSpPr>
        <p:spPr>
          <a:xfrm>
            <a:off x="286267" y="186683"/>
            <a:ext cx="4559300" cy="1405050"/>
          </a:xfrm>
          <a:ln>
            <a:solidFill>
              <a:srgbClr val="404040"/>
            </a:solidFill>
          </a:ln>
        </p:spPr>
        <p:txBody>
          <a:bodyPr vert="horz" lIns="182880" tIns="182880" rIns="182880" bIns="182880" rtlCol="0" anchor="ctr">
            <a:normAutofit/>
          </a:bodyPr>
          <a:lstStyle/>
          <a:p>
            <a:r>
              <a:rPr lang="en-US"/>
              <a:t>If-elif-Else </a:t>
            </a:r>
            <a:r>
              <a:rPr lang="en-US" dirty="0"/>
              <a:t>statement</a:t>
            </a:r>
          </a:p>
        </p:txBody>
      </p:sp>
      <p:pic>
        <p:nvPicPr>
          <p:cNvPr id="7" name="Picture 6">
            <a:extLst>
              <a:ext uri="{FF2B5EF4-FFF2-40B4-BE49-F238E27FC236}">
                <a16:creationId xmlns:a16="http://schemas.microsoft.com/office/drawing/2014/main" id="{D9352032-CC42-D105-F178-BBF664A6441F}"/>
              </a:ext>
            </a:extLst>
          </p:cNvPr>
          <p:cNvPicPr>
            <a:picLocks noChangeAspect="1"/>
          </p:cNvPicPr>
          <p:nvPr/>
        </p:nvPicPr>
        <p:blipFill>
          <a:blip r:embed="rId2"/>
          <a:stretch>
            <a:fillRect/>
          </a:stretch>
        </p:blipFill>
        <p:spPr>
          <a:xfrm>
            <a:off x="1562618" y="1867499"/>
            <a:ext cx="5464716" cy="4414395"/>
          </a:xfrm>
          <a:prstGeom prst="rect">
            <a:avLst/>
          </a:prstGeom>
        </p:spPr>
      </p:pic>
      <p:pic>
        <p:nvPicPr>
          <p:cNvPr id="8" name="Picture 7">
            <a:extLst>
              <a:ext uri="{FF2B5EF4-FFF2-40B4-BE49-F238E27FC236}">
                <a16:creationId xmlns:a16="http://schemas.microsoft.com/office/drawing/2014/main" id="{8286A0E6-6D43-8403-C375-0147486F991B}"/>
              </a:ext>
            </a:extLst>
          </p:cNvPr>
          <p:cNvPicPr>
            <a:picLocks noChangeAspect="1"/>
          </p:cNvPicPr>
          <p:nvPr/>
        </p:nvPicPr>
        <p:blipFill>
          <a:blip r:embed="rId3"/>
          <a:stretch>
            <a:fillRect/>
          </a:stretch>
        </p:blipFill>
        <p:spPr>
          <a:xfrm>
            <a:off x="8081951" y="0"/>
            <a:ext cx="3749698" cy="6858000"/>
          </a:xfrm>
          <a:prstGeom prst="rect">
            <a:avLst/>
          </a:prstGeom>
        </p:spPr>
      </p:pic>
      <p:cxnSp>
        <p:nvCxnSpPr>
          <p:cNvPr id="14" name="Straight Arrow Connector 13">
            <a:extLst>
              <a:ext uri="{FF2B5EF4-FFF2-40B4-BE49-F238E27FC236}">
                <a16:creationId xmlns:a16="http://schemas.microsoft.com/office/drawing/2014/main" id="{2380302E-0D03-BDB6-63BE-32190CAD7F7A}"/>
              </a:ext>
            </a:extLst>
          </p:cNvPr>
          <p:cNvCxnSpPr/>
          <p:nvPr/>
        </p:nvCxnSpPr>
        <p:spPr>
          <a:xfrm>
            <a:off x="6908800" y="1168400"/>
            <a:ext cx="3132667" cy="5418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87D7C3E6-1BC4-B5AF-4762-1FB3F894DB13}"/>
              </a:ext>
            </a:extLst>
          </p:cNvPr>
          <p:cNvSpPr txBox="1"/>
          <p:nvPr/>
        </p:nvSpPr>
        <p:spPr>
          <a:xfrm>
            <a:off x="5437977" y="516003"/>
            <a:ext cx="2116666" cy="923330"/>
          </a:xfrm>
          <a:prstGeom prst="rect">
            <a:avLst/>
          </a:prstGeom>
          <a:noFill/>
          <a:ln>
            <a:solidFill>
              <a:schemeClr val="accent1"/>
            </a:solidFill>
          </a:ln>
        </p:spPr>
        <p:txBody>
          <a:bodyPr wrap="square" rtlCol="0">
            <a:spAutoFit/>
          </a:bodyPr>
          <a:lstStyle/>
          <a:p>
            <a:r>
              <a:rPr lang="en-US" dirty="0"/>
              <a:t>Only one of these code blocks is executed</a:t>
            </a:r>
          </a:p>
        </p:txBody>
      </p:sp>
    </p:spTree>
    <p:extLst>
      <p:ext uri="{BB962C8B-B14F-4D97-AF65-F5344CB8AC3E}">
        <p14:creationId xmlns:p14="http://schemas.microsoft.com/office/powerpoint/2010/main" val="17451855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7BB22ED-E315-7457-B4A5-FF4584775C18}"/>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19501C6-F015-4273-AF88-E0F6C8538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A677DB7-5829-45BD-9754-5EC484CC42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654296"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A68E52C-98FD-221D-2EC6-48B48D51440C}"/>
              </a:ext>
            </a:extLst>
          </p:cNvPr>
          <p:cNvSpPr>
            <a:spLocks noGrp="1"/>
          </p:cNvSpPr>
          <p:nvPr>
            <p:ph type="title"/>
          </p:nvPr>
        </p:nvSpPr>
        <p:spPr>
          <a:xfrm>
            <a:off x="804672" y="2404872"/>
            <a:ext cx="3044950" cy="1627792"/>
          </a:xfrm>
        </p:spPr>
        <p:txBody>
          <a:bodyPr vert="horz" lIns="274320" tIns="182880" rIns="274320" bIns="182880" rtlCol="0" anchor="ctr" anchorCtr="1">
            <a:normAutofit/>
          </a:bodyPr>
          <a:lstStyle/>
          <a:p>
            <a:r>
              <a:rPr lang="en-US" dirty="0"/>
              <a:t>Example</a:t>
            </a:r>
          </a:p>
        </p:txBody>
      </p:sp>
      <p:pic>
        <p:nvPicPr>
          <p:cNvPr id="4" name="Picture 3">
            <a:extLst>
              <a:ext uri="{FF2B5EF4-FFF2-40B4-BE49-F238E27FC236}">
                <a16:creationId xmlns:a16="http://schemas.microsoft.com/office/drawing/2014/main" id="{2F637886-1371-56C0-A4C9-A04E934EBF82}"/>
              </a:ext>
            </a:extLst>
          </p:cNvPr>
          <p:cNvPicPr>
            <a:picLocks noChangeAspect="1"/>
          </p:cNvPicPr>
          <p:nvPr/>
        </p:nvPicPr>
        <p:blipFill>
          <a:blip r:embed="rId2"/>
          <a:stretch>
            <a:fillRect/>
          </a:stretch>
        </p:blipFill>
        <p:spPr>
          <a:xfrm>
            <a:off x="5317067" y="332316"/>
            <a:ext cx="6070261" cy="6320733"/>
          </a:xfrm>
          <a:prstGeom prst="rect">
            <a:avLst/>
          </a:prstGeom>
        </p:spPr>
      </p:pic>
    </p:spTree>
    <p:extLst>
      <p:ext uri="{BB962C8B-B14F-4D97-AF65-F5344CB8AC3E}">
        <p14:creationId xmlns:p14="http://schemas.microsoft.com/office/powerpoint/2010/main" val="32376005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4C643-4076-8E29-1956-E5EF48ED97CE}"/>
              </a:ext>
            </a:extLst>
          </p:cNvPr>
          <p:cNvSpPr>
            <a:spLocks noGrp="1"/>
          </p:cNvSpPr>
          <p:nvPr>
            <p:ph type="title"/>
          </p:nvPr>
        </p:nvSpPr>
        <p:spPr/>
        <p:txBody>
          <a:bodyPr vert="horz" lIns="274320" tIns="182880" rIns="274320" bIns="182880" rtlCol="0" anchor="ctr" anchorCtr="1">
            <a:normAutofit fontScale="90000"/>
          </a:bodyPr>
          <a:lstStyle/>
          <a:p>
            <a:r>
              <a:rPr lang="en-US" sz="3200" dirty="0"/>
              <a:t>Class Participation</a:t>
            </a:r>
          </a:p>
        </p:txBody>
      </p:sp>
      <p:sp>
        <p:nvSpPr>
          <p:cNvPr id="5" name="Text Placeholder 4">
            <a:extLst>
              <a:ext uri="{FF2B5EF4-FFF2-40B4-BE49-F238E27FC236}">
                <a16:creationId xmlns:a16="http://schemas.microsoft.com/office/drawing/2014/main" id="{DEBD8E8B-5A80-2C5D-7C53-76CC3B1A2FF0}"/>
              </a:ext>
            </a:extLst>
          </p:cNvPr>
          <p:cNvSpPr>
            <a:spLocks noGrp="1"/>
          </p:cNvSpPr>
          <p:nvPr>
            <p:ph type="body" sz="half" idx="2"/>
          </p:nvPr>
        </p:nvSpPr>
        <p:spPr/>
        <p:txBody>
          <a:bodyPr>
            <a:normAutofit/>
          </a:bodyPr>
          <a:lstStyle/>
          <a:p>
            <a:r>
              <a:rPr lang="en-CA" sz="1800" dirty="0"/>
              <a:t>Check-in about last class on Input/Output and Built-in Functions</a:t>
            </a:r>
          </a:p>
        </p:txBody>
      </p:sp>
      <p:sp>
        <p:nvSpPr>
          <p:cNvPr id="7" name="Rectangle 2">
            <a:extLst>
              <a:ext uri="{FF2B5EF4-FFF2-40B4-BE49-F238E27FC236}">
                <a16:creationId xmlns:a16="http://schemas.microsoft.com/office/drawing/2014/main" id="{66302A66-66DB-B5B2-63E3-1C7895EBDB24}"/>
              </a:ext>
            </a:extLst>
          </p:cNvPr>
          <p:cNvSpPr>
            <a:spLocks noGrp="1" noChangeArrowheads="1"/>
          </p:cNvSpPr>
          <p:nvPr>
            <p:ph idx="1"/>
          </p:nvPr>
        </p:nvSpPr>
        <p:spPr bwMode="auto">
          <a:xfrm>
            <a:off x="6736080" y="1443846"/>
            <a:ext cx="4815840"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hlinkClick r:id="rId2"/>
              </a:rPr>
              <a:t>2026W CS1910 05 In-Class Participation Input/Output and Built-ins – Fill out form</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defTabSz="914400" rtl="0" eaLnBrk="0" fontAlgn="base" latinLnBrk="0" hangingPunct="0">
              <a:lnSpc>
                <a:spcPct val="100000"/>
              </a:lnSpc>
              <a:spcBef>
                <a:spcPct val="0"/>
              </a:spcBef>
              <a:spcAft>
                <a:spcPct val="0"/>
              </a:spcAft>
              <a:buClrTx/>
              <a:buSzTx/>
              <a:buFontTx/>
              <a:buNone/>
              <a:tabLst/>
            </a:pPr>
            <a:endParaRPr lang="en-US" altLang="en-US" sz="1800" dirty="0">
              <a:latin typeface="Arial" panose="020B0604020202020204" pitchFamily="34" charset="0"/>
            </a:endParaRPr>
          </a:p>
          <a:p>
            <a:pPr marL="0" marR="0" lvl="0" indent="0"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defTabSz="914400" rtl="0" eaLnBrk="0" fontAlgn="base" latinLnBrk="0" hangingPunct="0">
              <a:lnSpc>
                <a:spcPct val="100000"/>
              </a:lnSpc>
              <a:spcBef>
                <a:spcPct val="0"/>
              </a:spcBef>
              <a:spcAft>
                <a:spcPct val="0"/>
              </a:spcAft>
              <a:buClrTx/>
              <a:buSzTx/>
              <a:buFontTx/>
              <a:buNone/>
              <a:tabLst/>
            </a:pPr>
            <a:endParaRPr lang="en-US" altLang="en-US" sz="1800" dirty="0">
              <a:latin typeface="Arial" panose="020B0604020202020204" pitchFamily="34" charset="0"/>
            </a:endParaRPr>
          </a:p>
          <a:p>
            <a:pPr marL="0" marR="0" lvl="0" indent="0"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defTabSz="914400" rtl="0" eaLnBrk="0" fontAlgn="base" latinLnBrk="0" hangingPunct="0">
              <a:lnSpc>
                <a:spcPct val="100000"/>
              </a:lnSpc>
              <a:spcBef>
                <a:spcPct val="0"/>
              </a:spcBef>
              <a:spcAft>
                <a:spcPct val="0"/>
              </a:spcAft>
              <a:buClrTx/>
              <a:buSzTx/>
              <a:buFontTx/>
              <a:buNone/>
              <a:tabLst/>
            </a:pPr>
            <a:endParaRPr lang="en-US" altLang="en-US" sz="1800" dirty="0">
              <a:latin typeface="Arial" panose="020B0604020202020204" pitchFamily="34" charset="0"/>
            </a:endParaRPr>
          </a:p>
          <a:p>
            <a:pPr marL="0" marR="0" lvl="0" indent="0"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defTabSz="914400" rtl="0" eaLnBrk="0" fontAlgn="base" latinLnBrk="0" hangingPunct="0">
              <a:lnSpc>
                <a:spcPct val="100000"/>
              </a:lnSpc>
              <a:spcBef>
                <a:spcPct val="0"/>
              </a:spcBef>
              <a:spcAft>
                <a:spcPct val="0"/>
              </a:spcAft>
              <a:buClrTx/>
              <a:buSzTx/>
              <a:buFontTx/>
              <a:buNone/>
              <a:tabLst/>
            </a:pPr>
            <a:endParaRPr lang="en-US" altLang="en-US" sz="1800" dirty="0">
              <a:latin typeface="Arial" panose="020B0604020202020204" pitchFamily="34" charset="0"/>
            </a:endParaRPr>
          </a:p>
          <a:p>
            <a:pPr marL="0" marR="0" lvl="0" indent="0"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defTabSz="914400" rtl="0" eaLnBrk="0" fontAlgn="base" latinLnBrk="0" hangingPunct="0">
              <a:lnSpc>
                <a:spcPct val="100000"/>
              </a:lnSpc>
              <a:spcBef>
                <a:spcPct val="0"/>
              </a:spcBef>
              <a:spcAft>
                <a:spcPct val="0"/>
              </a:spcAft>
              <a:buClrTx/>
              <a:buSzTx/>
              <a:buFontTx/>
              <a:buNone/>
              <a:tabLst/>
            </a:pPr>
            <a:endParaRPr lang="en-US" altLang="en-US" sz="1800" dirty="0">
              <a:latin typeface="Arial" panose="020B0604020202020204" pitchFamily="34" charset="0"/>
            </a:endParaRPr>
          </a:p>
          <a:p>
            <a:pPr marL="0" marR="0" lvl="0" indent="0"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3076" name="Picture 4" descr="QR code">
            <a:extLst>
              <a:ext uri="{FF2B5EF4-FFF2-40B4-BE49-F238E27FC236}">
                <a16:creationId xmlns:a16="http://schemas.microsoft.com/office/drawing/2014/main" id="{6D8D3830-6072-A3CE-ECB5-436AF6DB45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09180" y="2383934"/>
            <a:ext cx="3030220" cy="30302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451017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B1D93-CA9A-C9E7-0B90-441EA653425C}"/>
              </a:ext>
            </a:extLst>
          </p:cNvPr>
          <p:cNvSpPr>
            <a:spLocks noGrp="1"/>
          </p:cNvSpPr>
          <p:nvPr>
            <p:ph type="title"/>
          </p:nvPr>
        </p:nvSpPr>
        <p:spPr/>
        <p:txBody>
          <a:bodyPr/>
          <a:lstStyle/>
          <a:p>
            <a:r>
              <a:rPr lang="en-US" dirty="0"/>
              <a:t>Nested Conditional Statements</a:t>
            </a:r>
          </a:p>
        </p:txBody>
      </p:sp>
      <p:sp>
        <p:nvSpPr>
          <p:cNvPr id="3" name="Content Placeholder 2">
            <a:extLst>
              <a:ext uri="{FF2B5EF4-FFF2-40B4-BE49-F238E27FC236}">
                <a16:creationId xmlns:a16="http://schemas.microsoft.com/office/drawing/2014/main" id="{A2DF977B-0851-51A6-8A0E-6950FECFE17F}"/>
              </a:ext>
            </a:extLst>
          </p:cNvPr>
          <p:cNvSpPr>
            <a:spLocks noGrp="1"/>
          </p:cNvSpPr>
          <p:nvPr>
            <p:ph idx="1"/>
          </p:nvPr>
        </p:nvSpPr>
        <p:spPr/>
        <p:txBody>
          <a:bodyPr/>
          <a:lstStyle/>
          <a:p>
            <a:r>
              <a:rPr lang="en-US" dirty="0"/>
              <a:t>Any of the code blocks associated with if, </a:t>
            </a:r>
            <a:r>
              <a:rPr lang="en-US" dirty="0" err="1"/>
              <a:t>elif</a:t>
            </a:r>
            <a:r>
              <a:rPr lang="en-US" dirty="0"/>
              <a:t> or else can also contain a conditional statement (an if …)</a:t>
            </a:r>
          </a:p>
          <a:p>
            <a:r>
              <a:rPr lang="en-US" dirty="0"/>
              <a:t>We call these nested conditionals or nested if statements</a:t>
            </a:r>
          </a:p>
          <a:p>
            <a:r>
              <a:rPr lang="en-US" dirty="0"/>
              <a:t>The nested if (inside an if code block) gets its own indented code block</a:t>
            </a:r>
          </a:p>
        </p:txBody>
      </p:sp>
      <p:pic>
        <p:nvPicPr>
          <p:cNvPr id="4" name="Picture 3">
            <a:extLst>
              <a:ext uri="{FF2B5EF4-FFF2-40B4-BE49-F238E27FC236}">
                <a16:creationId xmlns:a16="http://schemas.microsoft.com/office/drawing/2014/main" id="{3A15EDCC-F54B-5418-6860-3D27E7C05AD8}"/>
              </a:ext>
            </a:extLst>
          </p:cNvPr>
          <p:cNvPicPr>
            <a:picLocks noChangeAspect="1"/>
          </p:cNvPicPr>
          <p:nvPr/>
        </p:nvPicPr>
        <p:blipFill>
          <a:blip r:embed="rId2"/>
          <a:stretch>
            <a:fillRect/>
          </a:stretch>
        </p:blipFill>
        <p:spPr>
          <a:xfrm>
            <a:off x="1317604" y="4454715"/>
            <a:ext cx="9168193" cy="2205612"/>
          </a:xfrm>
          <a:prstGeom prst="rect">
            <a:avLst/>
          </a:prstGeom>
        </p:spPr>
      </p:pic>
      <p:cxnSp>
        <p:nvCxnSpPr>
          <p:cNvPr id="6" name="Straight Arrow Connector 5">
            <a:extLst>
              <a:ext uri="{FF2B5EF4-FFF2-40B4-BE49-F238E27FC236}">
                <a16:creationId xmlns:a16="http://schemas.microsoft.com/office/drawing/2014/main" id="{083CD95A-EE97-6019-D81E-52F014662175}"/>
              </a:ext>
            </a:extLst>
          </p:cNvPr>
          <p:cNvCxnSpPr>
            <a:cxnSpLocks/>
          </p:cNvCxnSpPr>
          <p:nvPr/>
        </p:nvCxnSpPr>
        <p:spPr>
          <a:xfrm>
            <a:off x="1066800" y="3640667"/>
            <a:ext cx="778933" cy="1608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AC29F57A-4F49-7A5F-D71E-B8798890AD72}"/>
              </a:ext>
            </a:extLst>
          </p:cNvPr>
          <p:cNvSpPr txBox="1"/>
          <p:nvPr/>
        </p:nvSpPr>
        <p:spPr>
          <a:xfrm>
            <a:off x="114905" y="2842399"/>
            <a:ext cx="1866295" cy="923330"/>
          </a:xfrm>
          <a:prstGeom prst="rect">
            <a:avLst/>
          </a:prstGeom>
          <a:noFill/>
          <a:ln>
            <a:solidFill>
              <a:schemeClr val="accent1"/>
            </a:solidFill>
          </a:ln>
        </p:spPr>
        <p:txBody>
          <a:bodyPr wrap="square" rtlCol="0">
            <a:spAutoFit/>
          </a:bodyPr>
          <a:lstStyle/>
          <a:p>
            <a:r>
              <a:rPr lang="en-US" dirty="0"/>
              <a:t>Code block at new </a:t>
            </a:r>
          </a:p>
          <a:p>
            <a:r>
              <a:rPr lang="en-US" dirty="0"/>
              <a:t>indentation level</a:t>
            </a:r>
          </a:p>
        </p:txBody>
      </p:sp>
    </p:spTree>
    <p:extLst>
      <p:ext uri="{BB962C8B-B14F-4D97-AF65-F5344CB8AC3E}">
        <p14:creationId xmlns:p14="http://schemas.microsoft.com/office/powerpoint/2010/main" val="664221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5" name="Picture 4" descr="Calculator, pen, compass, money and a paper with graphs printed on it">
            <a:extLst>
              <a:ext uri="{FF2B5EF4-FFF2-40B4-BE49-F238E27FC236}">
                <a16:creationId xmlns:a16="http://schemas.microsoft.com/office/drawing/2014/main" id="{6A66C636-FF44-9E85-4EFC-242934E9B2D3}"/>
              </a:ext>
            </a:extLst>
          </p:cNvPr>
          <p:cNvPicPr>
            <a:picLocks noChangeAspect="1"/>
          </p:cNvPicPr>
          <p:nvPr/>
        </p:nvPicPr>
        <p:blipFill>
          <a:blip r:embed="rId2"/>
          <a:srcRect l="25333" r="21110" b="-1"/>
          <a:stretch>
            <a:fillRect/>
          </a:stretch>
        </p:blipFill>
        <p:spPr>
          <a:xfrm>
            <a:off x="642" y="10"/>
            <a:ext cx="6096000" cy="6857990"/>
          </a:xfrm>
          <a:prstGeom prst="rect">
            <a:avLst/>
          </a:prstGeom>
        </p:spPr>
      </p:pic>
      <p:sp>
        <p:nvSpPr>
          <p:cNvPr id="2" name="Title 1">
            <a:extLst>
              <a:ext uri="{FF2B5EF4-FFF2-40B4-BE49-F238E27FC236}">
                <a16:creationId xmlns:a16="http://schemas.microsoft.com/office/drawing/2014/main" id="{DBA98C3C-26DC-3A9F-AF38-576222F1BBBB}"/>
              </a:ext>
            </a:extLst>
          </p:cNvPr>
          <p:cNvSpPr>
            <a:spLocks noGrp="1"/>
          </p:cNvSpPr>
          <p:nvPr>
            <p:ph type="title"/>
          </p:nvPr>
        </p:nvSpPr>
        <p:spPr>
          <a:xfrm>
            <a:off x="804672" y="2841505"/>
            <a:ext cx="4487298" cy="1174991"/>
          </a:xfrm>
          <a:solidFill>
            <a:schemeClr val="tx1">
              <a:alpha val="60000"/>
            </a:schemeClr>
          </a:solidFill>
          <a:ln>
            <a:solidFill>
              <a:schemeClr val="bg1"/>
            </a:solidFill>
          </a:ln>
        </p:spPr>
        <p:txBody>
          <a:bodyPr>
            <a:normAutofit/>
          </a:bodyPr>
          <a:lstStyle/>
          <a:p>
            <a:r>
              <a:rPr lang="en-US" sz="2400">
                <a:solidFill>
                  <a:schemeClr val="bg1"/>
                </a:solidFill>
              </a:rPr>
              <a:t>Find a Partner</a:t>
            </a:r>
          </a:p>
        </p:txBody>
      </p:sp>
      <p:sp>
        <p:nvSpPr>
          <p:cNvPr id="3" name="Content Placeholder 2">
            <a:extLst>
              <a:ext uri="{FF2B5EF4-FFF2-40B4-BE49-F238E27FC236}">
                <a16:creationId xmlns:a16="http://schemas.microsoft.com/office/drawing/2014/main" id="{C10D9356-685E-B162-1C4F-D909DA4103B5}"/>
              </a:ext>
            </a:extLst>
          </p:cNvPr>
          <p:cNvSpPr>
            <a:spLocks noGrp="1"/>
          </p:cNvSpPr>
          <p:nvPr>
            <p:ph idx="1"/>
          </p:nvPr>
        </p:nvSpPr>
        <p:spPr>
          <a:xfrm>
            <a:off x="6743941" y="976129"/>
            <a:ext cx="4804931" cy="4919815"/>
          </a:xfrm>
        </p:spPr>
        <p:txBody>
          <a:bodyPr anchor="ctr">
            <a:normAutofit fontScale="92500"/>
          </a:bodyPr>
          <a:lstStyle/>
          <a:p>
            <a:r>
              <a:rPr lang="en-US" sz="2400" dirty="0"/>
              <a:t>Complete the bank balance example </a:t>
            </a:r>
          </a:p>
          <a:p>
            <a:r>
              <a:rPr lang="en-US" sz="2400" dirty="0"/>
              <a:t>A customer wants to withdraw money from their account</a:t>
            </a:r>
          </a:p>
          <a:p>
            <a:r>
              <a:rPr lang="en-US" sz="2400" dirty="0"/>
              <a:t>If they try to withdraw more money than they have you should print an error saying insufficient funds, unless the customer has overdraft protection in which case they are allowed to carry a negative balance. </a:t>
            </a:r>
          </a:p>
          <a:p>
            <a:r>
              <a:rPr lang="en-US" sz="2400" dirty="0"/>
              <a:t>After the transaction print the balance (regardless as to whether it happened or not </a:t>
            </a:r>
          </a:p>
        </p:txBody>
      </p:sp>
    </p:spTree>
    <p:extLst>
      <p:ext uri="{BB962C8B-B14F-4D97-AF65-F5344CB8AC3E}">
        <p14:creationId xmlns:p14="http://schemas.microsoft.com/office/powerpoint/2010/main" val="34405884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5" name="Picture 4" descr="Basketball going into hoop against sky">
            <a:extLst>
              <a:ext uri="{FF2B5EF4-FFF2-40B4-BE49-F238E27FC236}">
                <a16:creationId xmlns:a16="http://schemas.microsoft.com/office/drawing/2014/main" id="{E63BFC9F-18E8-A668-EB73-391FDDF14C76}"/>
              </a:ext>
            </a:extLst>
          </p:cNvPr>
          <p:cNvPicPr>
            <a:picLocks noChangeAspect="1"/>
          </p:cNvPicPr>
          <p:nvPr/>
        </p:nvPicPr>
        <p:blipFill>
          <a:blip r:embed="rId2"/>
          <a:srcRect l="1039" r="32294"/>
          <a:stretch>
            <a:fillRect/>
          </a:stretch>
        </p:blipFill>
        <p:spPr>
          <a:xfrm>
            <a:off x="642" y="10"/>
            <a:ext cx="6096000" cy="6857990"/>
          </a:xfrm>
          <a:prstGeom prst="rect">
            <a:avLst/>
          </a:prstGeom>
        </p:spPr>
      </p:pic>
      <p:sp>
        <p:nvSpPr>
          <p:cNvPr id="2" name="Title 1">
            <a:extLst>
              <a:ext uri="{FF2B5EF4-FFF2-40B4-BE49-F238E27FC236}">
                <a16:creationId xmlns:a16="http://schemas.microsoft.com/office/drawing/2014/main" id="{F10D99F3-DB80-987C-BD21-E46A6A0E27F0}"/>
              </a:ext>
            </a:extLst>
          </p:cNvPr>
          <p:cNvSpPr>
            <a:spLocks noGrp="1"/>
          </p:cNvSpPr>
          <p:nvPr>
            <p:ph type="title"/>
          </p:nvPr>
        </p:nvSpPr>
        <p:spPr>
          <a:xfrm>
            <a:off x="804672" y="2841505"/>
            <a:ext cx="4487298" cy="1174991"/>
          </a:xfrm>
          <a:solidFill>
            <a:schemeClr val="tx1">
              <a:alpha val="60000"/>
            </a:schemeClr>
          </a:solidFill>
          <a:ln>
            <a:solidFill>
              <a:schemeClr val="bg1"/>
            </a:solidFill>
          </a:ln>
        </p:spPr>
        <p:txBody>
          <a:bodyPr>
            <a:normAutofit/>
          </a:bodyPr>
          <a:lstStyle/>
          <a:p>
            <a:r>
              <a:rPr lang="en-US" sz="2400">
                <a:solidFill>
                  <a:schemeClr val="bg1"/>
                </a:solidFill>
              </a:rPr>
              <a:t>Find a Partner</a:t>
            </a:r>
          </a:p>
        </p:txBody>
      </p:sp>
      <p:sp>
        <p:nvSpPr>
          <p:cNvPr id="3" name="Content Placeholder 2">
            <a:extLst>
              <a:ext uri="{FF2B5EF4-FFF2-40B4-BE49-F238E27FC236}">
                <a16:creationId xmlns:a16="http://schemas.microsoft.com/office/drawing/2014/main" id="{C8B934BC-787E-6F4C-0B40-801C0BCB6807}"/>
              </a:ext>
            </a:extLst>
          </p:cNvPr>
          <p:cNvSpPr>
            <a:spLocks noGrp="1"/>
          </p:cNvSpPr>
          <p:nvPr>
            <p:ph idx="1"/>
          </p:nvPr>
        </p:nvSpPr>
        <p:spPr>
          <a:xfrm>
            <a:off x="6743941" y="976129"/>
            <a:ext cx="4804931" cy="5373871"/>
          </a:xfrm>
        </p:spPr>
        <p:txBody>
          <a:bodyPr anchor="ctr">
            <a:normAutofit/>
          </a:bodyPr>
          <a:lstStyle/>
          <a:p>
            <a:r>
              <a:rPr lang="en-US" sz="2000" dirty="0"/>
              <a:t>Complete the Basketball example</a:t>
            </a:r>
          </a:p>
          <a:p>
            <a:r>
              <a:rPr lang="en-US" sz="2000" dirty="0"/>
              <a:t>In the WNBA </a:t>
            </a:r>
          </a:p>
          <a:p>
            <a:r>
              <a:rPr lang="en-US" sz="2000" dirty="0"/>
              <a:t>if you are fouled while taking a shot and your shot does not go in, you get the equivalent number of free throws as your shot was worth (2 for a 2 pointer and 3 for a 3 pointer). </a:t>
            </a:r>
          </a:p>
          <a:p>
            <a:r>
              <a:rPr lang="en-US" sz="2000" dirty="0"/>
              <a:t>If your shot does go in (and you were fouled) you get the appropriate amount of points plus 1 additional free throw.</a:t>
            </a:r>
          </a:p>
          <a:p>
            <a:r>
              <a:rPr lang="en-US" sz="2000" dirty="0"/>
              <a:t>If you miss your shot and no foul occurs you get no points</a:t>
            </a:r>
          </a:p>
          <a:p>
            <a:r>
              <a:rPr lang="en-US" sz="2000" dirty="0"/>
              <a:t>If you make your shot and no foul occurs you get the appropriate number of points</a:t>
            </a:r>
          </a:p>
          <a:p>
            <a:endParaRPr lang="en-US" sz="2000" dirty="0"/>
          </a:p>
        </p:txBody>
      </p:sp>
    </p:spTree>
    <p:extLst>
      <p:ext uri="{BB962C8B-B14F-4D97-AF65-F5344CB8AC3E}">
        <p14:creationId xmlns:p14="http://schemas.microsoft.com/office/powerpoint/2010/main" val="9311047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7" name="Picture 6" descr="Computer Generated Lights">
            <a:extLst>
              <a:ext uri="{FF2B5EF4-FFF2-40B4-BE49-F238E27FC236}">
                <a16:creationId xmlns:a16="http://schemas.microsoft.com/office/drawing/2014/main" id="{59E8CF71-D6C1-B9F1-95A7-271CDF2D944F}"/>
              </a:ext>
            </a:extLst>
          </p:cNvPr>
          <p:cNvPicPr>
            <a:picLocks noChangeAspect="1"/>
          </p:cNvPicPr>
          <p:nvPr/>
        </p:nvPicPr>
        <p:blipFill>
          <a:blip r:embed="rId2"/>
          <a:srcRect l="11836" r="22386"/>
          <a:stretch>
            <a:fillRect/>
          </a:stretch>
        </p:blipFill>
        <p:spPr>
          <a:xfrm>
            <a:off x="642" y="10"/>
            <a:ext cx="6096000" cy="6857990"/>
          </a:xfrm>
          <a:prstGeom prst="rect">
            <a:avLst/>
          </a:prstGeom>
        </p:spPr>
      </p:pic>
      <p:sp>
        <p:nvSpPr>
          <p:cNvPr id="2" name="Title 1">
            <a:extLst>
              <a:ext uri="{FF2B5EF4-FFF2-40B4-BE49-F238E27FC236}">
                <a16:creationId xmlns:a16="http://schemas.microsoft.com/office/drawing/2014/main" id="{D66397C3-E38C-37EF-0F65-6CF25FD065D4}"/>
              </a:ext>
            </a:extLst>
          </p:cNvPr>
          <p:cNvSpPr>
            <a:spLocks noGrp="1"/>
          </p:cNvSpPr>
          <p:nvPr>
            <p:ph type="title"/>
          </p:nvPr>
        </p:nvSpPr>
        <p:spPr>
          <a:xfrm>
            <a:off x="804672" y="2841505"/>
            <a:ext cx="4487298" cy="1174991"/>
          </a:xfrm>
          <a:solidFill>
            <a:schemeClr val="tx1">
              <a:alpha val="60000"/>
            </a:schemeClr>
          </a:solidFill>
          <a:ln>
            <a:solidFill>
              <a:schemeClr val="bg1"/>
            </a:solidFill>
          </a:ln>
        </p:spPr>
        <p:txBody>
          <a:bodyPr>
            <a:normAutofit/>
          </a:bodyPr>
          <a:lstStyle/>
          <a:p>
            <a:r>
              <a:rPr lang="en-US" sz="2400">
                <a:solidFill>
                  <a:schemeClr val="bg1"/>
                </a:solidFill>
              </a:rPr>
              <a:t>Find a Partner</a:t>
            </a:r>
          </a:p>
        </p:txBody>
      </p:sp>
      <p:sp>
        <p:nvSpPr>
          <p:cNvPr id="3" name="Content Placeholder 2">
            <a:extLst>
              <a:ext uri="{FF2B5EF4-FFF2-40B4-BE49-F238E27FC236}">
                <a16:creationId xmlns:a16="http://schemas.microsoft.com/office/drawing/2014/main" id="{0C19CFC2-2F78-9875-828B-D448FED49C7A}"/>
              </a:ext>
            </a:extLst>
          </p:cNvPr>
          <p:cNvSpPr>
            <a:spLocks noGrp="1"/>
          </p:cNvSpPr>
          <p:nvPr>
            <p:ph idx="1"/>
          </p:nvPr>
        </p:nvSpPr>
        <p:spPr>
          <a:xfrm>
            <a:off x="6743941" y="976129"/>
            <a:ext cx="4804931" cy="4919815"/>
          </a:xfrm>
        </p:spPr>
        <p:txBody>
          <a:bodyPr anchor="ctr">
            <a:normAutofit/>
          </a:bodyPr>
          <a:lstStyle/>
          <a:p>
            <a:r>
              <a:rPr lang="en-US"/>
              <a:t>Brain storm another real-world example where we might have complex logic or nested if statements to model it in software</a:t>
            </a:r>
          </a:p>
        </p:txBody>
      </p:sp>
    </p:spTree>
    <p:extLst>
      <p:ext uri="{BB962C8B-B14F-4D97-AF65-F5344CB8AC3E}">
        <p14:creationId xmlns:p14="http://schemas.microsoft.com/office/powerpoint/2010/main" val="627669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5FBBF-F9F7-3836-E575-58C473F8BBD1}"/>
              </a:ext>
            </a:extLst>
          </p:cNvPr>
          <p:cNvSpPr>
            <a:spLocks noGrp="1"/>
          </p:cNvSpPr>
          <p:nvPr>
            <p:ph type="title"/>
          </p:nvPr>
        </p:nvSpPr>
        <p:spPr>
          <a:xfrm>
            <a:off x="637674" y="2958106"/>
            <a:ext cx="4872548" cy="941796"/>
          </a:xfrm>
        </p:spPr>
        <p:txBody>
          <a:bodyPr vert="horz" wrap="square" lIns="182880" tIns="182880" rIns="182880" bIns="182880" rtlCol="0" anchor="ctr">
            <a:normAutofit/>
          </a:bodyPr>
          <a:lstStyle/>
          <a:p>
            <a:r>
              <a:rPr lang="en-US" kern="1200" cap="all" spc="200" baseline="0" dirty="0">
                <a:solidFill>
                  <a:srgbClr val="262626"/>
                </a:solidFill>
                <a:latin typeface="+mj-lt"/>
                <a:ea typeface="+mj-ea"/>
                <a:cs typeface="+mj-cs"/>
              </a:rPr>
              <a:t>Comparisons </a:t>
            </a:r>
            <a:r>
              <a:rPr lang="en-US" kern="1200" cap="all" spc="200" baseline="0" dirty="0" err="1">
                <a:solidFill>
                  <a:srgbClr val="262626"/>
                </a:solidFill>
                <a:latin typeface="+mj-lt"/>
                <a:ea typeface="+mj-ea"/>
                <a:cs typeface="+mj-cs"/>
              </a:rPr>
              <a:t>PAuse</a:t>
            </a:r>
            <a:endParaRPr lang="en-US" kern="1200" cap="all" spc="200" baseline="0" dirty="0">
              <a:solidFill>
                <a:srgbClr val="262626"/>
              </a:solidFill>
              <a:latin typeface="+mj-lt"/>
              <a:ea typeface="+mj-ea"/>
              <a:cs typeface="+mj-cs"/>
            </a:endParaRPr>
          </a:p>
        </p:txBody>
      </p:sp>
      <p:pic>
        <p:nvPicPr>
          <p:cNvPr id="5" name="Picture 4" descr="Close-up of hopscotch on a sidewalk">
            <a:extLst>
              <a:ext uri="{FF2B5EF4-FFF2-40B4-BE49-F238E27FC236}">
                <a16:creationId xmlns:a16="http://schemas.microsoft.com/office/drawing/2014/main" id="{9FD87CE1-3A96-11FA-39B9-CD2A2F185354}"/>
              </a:ext>
            </a:extLst>
          </p:cNvPr>
          <p:cNvPicPr>
            <a:picLocks noChangeAspect="1"/>
          </p:cNvPicPr>
          <p:nvPr/>
        </p:nvPicPr>
        <p:blipFill>
          <a:blip r:embed="rId2"/>
          <a:srcRect l="21051" r="19615" b="-1"/>
          <a:stretch>
            <a:fillRect/>
          </a:stretch>
        </p:blipFill>
        <p:spPr>
          <a:xfrm>
            <a:off x="6150302" y="10"/>
            <a:ext cx="6095999" cy="6857990"/>
          </a:xfrm>
          <a:prstGeom prst="rect">
            <a:avLst/>
          </a:prstGeom>
        </p:spPr>
      </p:pic>
      <p:sp>
        <p:nvSpPr>
          <p:cNvPr id="4" name="TextBox 3">
            <a:extLst>
              <a:ext uri="{FF2B5EF4-FFF2-40B4-BE49-F238E27FC236}">
                <a16:creationId xmlns:a16="http://schemas.microsoft.com/office/drawing/2014/main" id="{BC8474EA-378C-7357-3F02-5F65EC383AEC}"/>
              </a:ext>
            </a:extLst>
          </p:cNvPr>
          <p:cNvSpPr txBox="1"/>
          <p:nvPr/>
        </p:nvSpPr>
        <p:spPr>
          <a:xfrm>
            <a:off x="1461463" y="4538132"/>
            <a:ext cx="2912533" cy="646331"/>
          </a:xfrm>
          <a:prstGeom prst="rect">
            <a:avLst/>
          </a:prstGeom>
          <a:noFill/>
        </p:spPr>
        <p:txBody>
          <a:bodyPr wrap="square" rtlCol="0">
            <a:spAutoFit/>
          </a:bodyPr>
          <a:lstStyle/>
          <a:p>
            <a:r>
              <a:rPr lang="en-US" dirty="0">
                <a:solidFill>
                  <a:schemeClr val="bg1"/>
                </a:solidFill>
              </a:rPr>
              <a:t>A few notes about comparisons</a:t>
            </a:r>
          </a:p>
        </p:txBody>
      </p:sp>
    </p:spTree>
    <p:extLst>
      <p:ext uri="{BB962C8B-B14F-4D97-AF65-F5344CB8AC3E}">
        <p14:creationId xmlns:p14="http://schemas.microsoft.com/office/powerpoint/2010/main" val="19206595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014A3-EF85-79C2-4B4A-68BA7AEE87B1}"/>
              </a:ext>
            </a:extLst>
          </p:cNvPr>
          <p:cNvSpPr>
            <a:spLocks noGrp="1"/>
          </p:cNvSpPr>
          <p:nvPr>
            <p:ph type="title"/>
          </p:nvPr>
        </p:nvSpPr>
        <p:spPr>
          <a:xfrm>
            <a:off x="640079" y="640079"/>
            <a:ext cx="3402531" cy="5272242"/>
          </a:xfrm>
        </p:spPr>
        <p:txBody>
          <a:bodyPr>
            <a:normAutofit/>
          </a:bodyPr>
          <a:lstStyle/>
          <a:p>
            <a:r>
              <a:rPr lang="en-US" dirty="0"/>
              <a:t>Floating Point Values</a:t>
            </a:r>
          </a:p>
        </p:txBody>
      </p:sp>
      <p:sp>
        <p:nvSpPr>
          <p:cNvPr id="3" name="Content Placeholder 2">
            <a:extLst>
              <a:ext uri="{FF2B5EF4-FFF2-40B4-BE49-F238E27FC236}">
                <a16:creationId xmlns:a16="http://schemas.microsoft.com/office/drawing/2014/main" id="{7826279F-181B-6499-A1A9-C2FF9ABDC478}"/>
              </a:ext>
            </a:extLst>
          </p:cNvPr>
          <p:cNvSpPr>
            <a:spLocks noGrp="1"/>
          </p:cNvSpPr>
          <p:nvPr>
            <p:ph idx="1"/>
          </p:nvPr>
        </p:nvSpPr>
        <p:spPr>
          <a:xfrm>
            <a:off x="4672103" y="640079"/>
            <a:ext cx="6883072" cy="2959155"/>
          </a:xfrm>
        </p:spPr>
        <p:txBody>
          <a:bodyPr>
            <a:normAutofit lnSpcReduction="10000"/>
          </a:bodyPr>
          <a:lstStyle/>
          <a:p>
            <a:pPr>
              <a:lnSpc>
                <a:spcPct val="90000"/>
              </a:lnSpc>
            </a:pPr>
            <a:r>
              <a:rPr lang="en-US" sz="2000" dirty="0"/>
              <a:t>Usually we do not use == to compare floating point values</a:t>
            </a:r>
          </a:p>
          <a:p>
            <a:pPr>
              <a:lnSpc>
                <a:spcPct val="90000"/>
              </a:lnSpc>
            </a:pPr>
            <a:r>
              <a:rPr lang="en-US" sz="2000" dirty="0"/>
              <a:t>Floating point numbers can be challenging to fully represent in a discrete finite binary system</a:t>
            </a:r>
          </a:p>
          <a:p>
            <a:pPr>
              <a:lnSpc>
                <a:spcPct val="90000"/>
              </a:lnSpc>
            </a:pPr>
            <a:r>
              <a:rPr lang="en-US" sz="2000" dirty="0"/>
              <a:t>Just like 1/3 is challenging to represent in decimal, various fractions are challenging in binary (such as 0.1) as they produce long or repeating sequences</a:t>
            </a:r>
          </a:p>
          <a:p>
            <a:pPr>
              <a:lnSpc>
                <a:spcPct val="90000"/>
              </a:lnSpc>
            </a:pPr>
            <a:r>
              <a:rPr lang="en-US" sz="2000" dirty="0"/>
              <a:t>This leads to rounding errors and makes it unreliable to compare directly two floating point numbers</a:t>
            </a:r>
          </a:p>
          <a:p>
            <a:pPr>
              <a:lnSpc>
                <a:spcPct val="90000"/>
              </a:lnSpc>
            </a:pPr>
            <a:r>
              <a:rPr lang="en-US" sz="2000" dirty="0"/>
              <a:t>Example: </a:t>
            </a:r>
          </a:p>
        </p:txBody>
      </p:sp>
      <p:sp>
        <p:nvSpPr>
          <p:cNvPr id="13" name="Rectangle 12">
            <a:extLst>
              <a:ext uri="{FF2B5EF4-FFF2-40B4-BE49-F238E27FC236}">
                <a16:creationId xmlns:a16="http://schemas.microsoft.com/office/drawing/2014/main" id="{9344763E-1F5B-4192-9E84-267D8A649E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72223" y="3822192"/>
            <a:ext cx="6882951" cy="2068469"/>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50013361-A314-4AA8-8C94-4662265543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53278" y="3905450"/>
            <a:ext cx="6720840" cy="1901952"/>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screen shot of a computer&#10;&#10;AI-generated content may be incorrect.">
            <a:extLst>
              <a:ext uri="{FF2B5EF4-FFF2-40B4-BE49-F238E27FC236}">
                <a16:creationId xmlns:a16="http://schemas.microsoft.com/office/drawing/2014/main" id="{F1EF403B-067E-47D8-BFBF-310DA2D31EA0}"/>
              </a:ext>
            </a:extLst>
          </p:cNvPr>
          <p:cNvPicPr>
            <a:picLocks noChangeAspect="1"/>
          </p:cNvPicPr>
          <p:nvPr/>
        </p:nvPicPr>
        <p:blipFill>
          <a:blip r:embed="rId2"/>
          <a:stretch>
            <a:fillRect/>
          </a:stretch>
        </p:blipFill>
        <p:spPr>
          <a:xfrm>
            <a:off x="4849231" y="4130095"/>
            <a:ext cx="6528816" cy="1452661"/>
          </a:xfrm>
          <a:prstGeom prst="rect">
            <a:avLst/>
          </a:prstGeom>
        </p:spPr>
      </p:pic>
    </p:spTree>
    <p:extLst>
      <p:ext uri="{BB962C8B-B14F-4D97-AF65-F5344CB8AC3E}">
        <p14:creationId xmlns:p14="http://schemas.microsoft.com/office/powerpoint/2010/main" val="33746794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9A9311-F42D-DA0E-DE89-08C16A8C13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EDAF00-DA91-A8DB-ED4F-FCD24EB99839}"/>
              </a:ext>
            </a:extLst>
          </p:cNvPr>
          <p:cNvSpPr>
            <a:spLocks noGrp="1"/>
          </p:cNvSpPr>
          <p:nvPr>
            <p:ph type="title"/>
          </p:nvPr>
        </p:nvSpPr>
        <p:spPr/>
        <p:txBody>
          <a:bodyPr vert="horz" lIns="274320" tIns="182880" rIns="274320" bIns="182880" rtlCol="0" anchor="ctr" anchorCtr="1">
            <a:normAutofit/>
          </a:bodyPr>
          <a:lstStyle/>
          <a:p>
            <a:r>
              <a:rPr lang="en-US"/>
              <a:t>What is the output?</a:t>
            </a:r>
          </a:p>
        </p:txBody>
      </p:sp>
      <p:pic>
        <p:nvPicPr>
          <p:cNvPr id="4" name="Content Placeholder 3">
            <a:extLst>
              <a:ext uri="{FF2B5EF4-FFF2-40B4-BE49-F238E27FC236}">
                <a16:creationId xmlns:a16="http://schemas.microsoft.com/office/drawing/2014/main" id="{44A734ED-2120-DC06-77E6-072A1D4FDCD1}"/>
              </a:ext>
            </a:extLst>
          </p:cNvPr>
          <p:cNvPicPr>
            <a:picLocks noGrp="1" noChangeAspect="1"/>
          </p:cNvPicPr>
          <p:nvPr>
            <p:ph idx="1"/>
          </p:nvPr>
        </p:nvPicPr>
        <p:blipFill>
          <a:blip r:embed="rId2"/>
          <a:stretch>
            <a:fillRect/>
          </a:stretch>
        </p:blipFill>
        <p:spPr>
          <a:xfrm>
            <a:off x="6735763" y="1794089"/>
            <a:ext cx="4816475" cy="3269823"/>
          </a:xfrm>
          <a:prstGeom prst="rect">
            <a:avLst/>
          </a:prstGeom>
        </p:spPr>
      </p:pic>
      <p:sp>
        <p:nvSpPr>
          <p:cNvPr id="13" name="Text Placeholder 12">
            <a:extLst>
              <a:ext uri="{FF2B5EF4-FFF2-40B4-BE49-F238E27FC236}">
                <a16:creationId xmlns:a16="http://schemas.microsoft.com/office/drawing/2014/main" id="{2FAA5016-C6EA-EF18-1188-3A79428B2891}"/>
              </a:ext>
            </a:extLst>
          </p:cNvPr>
          <p:cNvSpPr>
            <a:spLocks noGrp="1"/>
          </p:cNvSpPr>
          <p:nvPr>
            <p:ph type="body" sz="half" idx="2"/>
          </p:nvPr>
        </p:nvSpPr>
        <p:spPr/>
        <p:txBody>
          <a:bodyPr/>
          <a:lstStyle/>
          <a:p>
            <a:endParaRPr lang="en-CA"/>
          </a:p>
        </p:txBody>
      </p:sp>
    </p:spTree>
    <p:extLst>
      <p:ext uri="{BB962C8B-B14F-4D97-AF65-F5344CB8AC3E}">
        <p14:creationId xmlns:p14="http://schemas.microsoft.com/office/powerpoint/2010/main" val="4856484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EF5CB-C264-8084-096F-15175AA5CC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175C28-E53E-8691-01F4-2EA4E245EE43}"/>
              </a:ext>
            </a:extLst>
          </p:cNvPr>
          <p:cNvSpPr>
            <a:spLocks noGrp="1"/>
          </p:cNvSpPr>
          <p:nvPr>
            <p:ph type="title"/>
          </p:nvPr>
        </p:nvSpPr>
        <p:spPr/>
        <p:txBody>
          <a:bodyPr vert="horz" lIns="274320" tIns="182880" rIns="274320" bIns="182880" rtlCol="0" anchor="ctr" anchorCtr="1">
            <a:normAutofit/>
          </a:bodyPr>
          <a:lstStyle/>
          <a:p>
            <a:r>
              <a:rPr lang="en-US"/>
              <a:t>What is the output?</a:t>
            </a:r>
          </a:p>
        </p:txBody>
      </p:sp>
      <p:pic>
        <p:nvPicPr>
          <p:cNvPr id="4" name="Content Placeholder 3">
            <a:extLst>
              <a:ext uri="{FF2B5EF4-FFF2-40B4-BE49-F238E27FC236}">
                <a16:creationId xmlns:a16="http://schemas.microsoft.com/office/drawing/2014/main" id="{5B7252DB-70A5-9478-FDEA-FF99D06A026D}"/>
              </a:ext>
            </a:extLst>
          </p:cNvPr>
          <p:cNvPicPr>
            <a:picLocks noGrp="1" noChangeAspect="1"/>
          </p:cNvPicPr>
          <p:nvPr>
            <p:ph idx="1"/>
          </p:nvPr>
        </p:nvPicPr>
        <p:blipFill>
          <a:blip r:embed="rId2"/>
          <a:stretch>
            <a:fillRect/>
          </a:stretch>
        </p:blipFill>
        <p:spPr>
          <a:xfrm>
            <a:off x="6735763" y="1794089"/>
            <a:ext cx="4816475" cy="3269823"/>
          </a:xfrm>
          <a:prstGeom prst="rect">
            <a:avLst/>
          </a:prstGeom>
        </p:spPr>
      </p:pic>
      <p:sp>
        <p:nvSpPr>
          <p:cNvPr id="5" name="Text Placeholder 4">
            <a:extLst>
              <a:ext uri="{FF2B5EF4-FFF2-40B4-BE49-F238E27FC236}">
                <a16:creationId xmlns:a16="http://schemas.microsoft.com/office/drawing/2014/main" id="{2A9DF297-1706-D80A-C5AF-92AF6B0DA0A8}"/>
              </a:ext>
            </a:extLst>
          </p:cNvPr>
          <p:cNvSpPr>
            <a:spLocks noGrp="1"/>
          </p:cNvSpPr>
          <p:nvPr>
            <p:ph type="body" sz="half" idx="2"/>
          </p:nvPr>
        </p:nvSpPr>
        <p:spPr/>
        <p:txBody>
          <a:bodyPr/>
          <a:lstStyle/>
          <a:p>
            <a:endParaRPr lang="en-CA" dirty="0"/>
          </a:p>
          <a:p>
            <a:endParaRPr lang="en-CA" dirty="0"/>
          </a:p>
          <a:p>
            <a:endParaRPr lang="en-CA" dirty="0"/>
          </a:p>
          <a:p>
            <a:endParaRPr lang="en-CA" dirty="0"/>
          </a:p>
          <a:p>
            <a:endParaRPr lang="en-CA" dirty="0"/>
          </a:p>
          <a:p>
            <a:r>
              <a:rPr lang="en-US" sz="2000" dirty="0">
                <a:solidFill>
                  <a:schemeClr val="bg1"/>
                </a:solidFill>
              </a:rPr>
              <a:t>Whoops! That’s not right!</a:t>
            </a:r>
          </a:p>
          <a:p>
            <a:endParaRPr lang="en-CA" dirty="0"/>
          </a:p>
        </p:txBody>
      </p:sp>
      <p:pic>
        <p:nvPicPr>
          <p:cNvPr id="3" name="Picture 2">
            <a:extLst>
              <a:ext uri="{FF2B5EF4-FFF2-40B4-BE49-F238E27FC236}">
                <a16:creationId xmlns:a16="http://schemas.microsoft.com/office/drawing/2014/main" id="{5BE3C144-BFB5-84A1-6EF8-137354A50358}"/>
              </a:ext>
            </a:extLst>
          </p:cNvPr>
          <p:cNvPicPr>
            <a:picLocks noChangeAspect="1"/>
          </p:cNvPicPr>
          <p:nvPr/>
        </p:nvPicPr>
        <p:blipFill>
          <a:blip r:embed="rId3"/>
          <a:stretch>
            <a:fillRect/>
          </a:stretch>
        </p:blipFill>
        <p:spPr>
          <a:xfrm>
            <a:off x="6735763" y="5216904"/>
            <a:ext cx="4546600" cy="1054100"/>
          </a:xfrm>
          <a:prstGeom prst="rect">
            <a:avLst/>
          </a:prstGeom>
        </p:spPr>
      </p:pic>
      <p:cxnSp>
        <p:nvCxnSpPr>
          <p:cNvPr id="7" name="Straight Arrow Connector 6">
            <a:extLst>
              <a:ext uri="{FF2B5EF4-FFF2-40B4-BE49-F238E27FC236}">
                <a16:creationId xmlns:a16="http://schemas.microsoft.com/office/drawing/2014/main" id="{B460EFB3-0A6B-A810-F40F-FA4BF3FCDD61}"/>
              </a:ext>
            </a:extLst>
          </p:cNvPr>
          <p:cNvCxnSpPr>
            <a:cxnSpLocks/>
          </p:cNvCxnSpPr>
          <p:nvPr/>
        </p:nvCxnSpPr>
        <p:spPr>
          <a:xfrm>
            <a:off x="4512564" y="5537200"/>
            <a:ext cx="2223199" cy="4826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488601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AD85578-1E4B-4014-9D52-E768947503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38656" cy="6858000"/>
          </a:xfrm>
          <a:prstGeom prst="rect">
            <a:avLst/>
          </a:prstGeom>
          <a:solidFill>
            <a:schemeClr val="accent2">
              <a:alpha val="50000"/>
            </a:schemeClr>
          </a:solidFill>
          <a:ln>
            <a:noFill/>
          </a:ln>
        </p:spPr>
        <p:style>
          <a:lnRef idx="2">
            <a:schemeClr val="accent1">
              <a:shade val="50000"/>
            </a:schemeClr>
          </a:lnRef>
          <a:fillRef idx="1003">
            <a:schemeClr val="l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10" name="Rectangle 9">
            <a:extLst>
              <a:ext uri="{FF2B5EF4-FFF2-40B4-BE49-F238E27FC236}">
                <a16:creationId xmlns:a16="http://schemas.microsoft.com/office/drawing/2014/main" id="{48550B3F-9390-4CA1-B3C8-91529289DC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38656" y="0"/>
            <a:ext cx="4653776"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9EB270-FA8A-4A48-99E2-74E50ECA2946}"/>
              </a:ext>
            </a:extLst>
          </p:cNvPr>
          <p:cNvSpPr>
            <a:spLocks noGrp="1"/>
          </p:cNvSpPr>
          <p:nvPr>
            <p:ph type="title"/>
          </p:nvPr>
        </p:nvSpPr>
        <p:spPr>
          <a:xfrm>
            <a:off x="1949518" y="1059838"/>
            <a:ext cx="3632052" cy="4738324"/>
          </a:xfrm>
          <a:noFill/>
          <a:ln>
            <a:noFill/>
          </a:ln>
        </p:spPr>
        <p:txBody>
          <a:bodyPr>
            <a:normAutofit/>
          </a:bodyPr>
          <a:lstStyle/>
          <a:p>
            <a:r>
              <a:rPr lang="en-US" sz="3600">
                <a:solidFill>
                  <a:schemeClr val="bg1"/>
                </a:solidFill>
              </a:rPr>
              <a:t>Comparing Floats</a:t>
            </a:r>
          </a:p>
        </p:txBody>
      </p:sp>
      <p:sp>
        <p:nvSpPr>
          <p:cNvPr id="3" name="Content Placeholder 2">
            <a:extLst>
              <a:ext uri="{FF2B5EF4-FFF2-40B4-BE49-F238E27FC236}">
                <a16:creationId xmlns:a16="http://schemas.microsoft.com/office/drawing/2014/main" id="{F494AA39-2FB0-2313-5A39-C8DCDB1A0961}"/>
              </a:ext>
            </a:extLst>
          </p:cNvPr>
          <p:cNvSpPr>
            <a:spLocks noGrp="1"/>
          </p:cNvSpPr>
          <p:nvPr>
            <p:ph idx="1"/>
          </p:nvPr>
        </p:nvSpPr>
        <p:spPr>
          <a:xfrm>
            <a:off x="6679109" y="1059838"/>
            <a:ext cx="4665397" cy="4738323"/>
          </a:xfrm>
        </p:spPr>
        <p:txBody>
          <a:bodyPr anchor="ctr">
            <a:normAutofit/>
          </a:bodyPr>
          <a:lstStyle/>
          <a:p>
            <a:r>
              <a:rPr lang="en-US" sz="3200" dirty="0"/>
              <a:t>2 Solutions to avoid direct comparisons</a:t>
            </a:r>
          </a:p>
          <a:p>
            <a:pPr lvl="1"/>
            <a:r>
              <a:rPr lang="en-US" sz="2800" dirty="0"/>
              <a:t>Use a threshold </a:t>
            </a:r>
          </a:p>
          <a:p>
            <a:pPr lvl="1"/>
            <a:r>
              <a:rPr lang="en-US" sz="2800" dirty="0"/>
              <a:t>Use a library</a:t>
            </a:r>
          </a:p>
          <a:p>
            <a:endParaRPr lang="en-US" sz="3200" dirty="0"/>
          </a:p>
        </p:txBody>
      </p:sp>
    </p:spTree>
    <p:extLst>
      <p:ext uri="{BB962C8B-B14F-4D97-AF65-F5344CB8AC3E}">
        <p14:creationId xmlns:p14="http://schemas.microsoft.com/office/powerpoint/2010/main" val="17097477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7BF00-7FFF-1ABA-ADA9-DF482E343C7C}"/>
              </a:ext>
            </a:extLst>
          </p:cNvPr>
          <p:cNvSpPr>
            <a:spLocks noGrp="1"/>
          </p:cNvSpPr>
          <p:nvPr>
            <p:ph type="title"/>
          </p:nvPr>
        </p:nvSpPr>
        <p:spPr/>
        <p:txBody>
          <a:bodyPr/>
          <a:lstStyle/>
          <a:p>
            <a:r>
              <a:rPr lang="en-US" dirty="0"/>
              <a:t>Threshold</a:t>
            </a:r>
          </a:p>
        </p:txBody>
      </p:sp>
      <p:sp>
        <p:nvSpPr>
          <p:cNvPr id="3" name="Content Placeholder 2">
            <a:extLst>
              <a:ext uri="{FF2B5EF4-FFF2-40B4-BE49-F238E27FC236}">
                <a16:creationId xmlns:a16="http://schemas.microsoft.com/office/drawing/2014/main" id="{5147C0EA-A52F-EC0F-E7FC-2B871990F2E4}"/>
              </a:ext>
            </a:extLst>
          </p:cNvPr>
          <p:cNvSpPr>
            <a:spLocks noGrp="1"/>
          </p:cNvSpPr>
          <p:nvPr>
            <p:ph idx="1"/>
          </p:nvPr>
        </p:nvSpPr>
        <p:spPr>
          <a:xfrm>
            <a:off x="1296416" y="2617724"/>
            <a:ext cx="9960864" cy="3101983"/>
          </a:xfrm>
        </p:spPr>
        <p:txBody>
          <a:bodyPr>
            <a:normAutofit/>
          </a:bodyPr>
          <a:lstStyle/>
          <a:p>
            <a:r>
              <a:rPr lang="en-US" sz="2400" dirty="0"/>
              <a:t>Rather than writing </a:t>
            </a:r>
            <a:r>
              <a:rPr lang="en-US" sz="2400" dirty="0">
                <a:latin typeface="Courier New" panose="02070309020205020404" pitchFamily="49" charset="0"/>
                <a:cs typeface="Courier New" panose="02070309020205020404" pitchFamily="49" charset="0"/>
              </a:rPr>
              <a:t>float_variable_1 == float_variable_2</a:t>
            </a:r>
          </a:p>
          <a:p>
            <a:r>
              <a:rPr lang="en-US" sz="2400" dirty="0">
                <a:cs typeface="Courier New" panose="02070309020205020404" pitchFamily="49" charset="0"/>
              </a:rPr>
              <a:t>Subtract and compare against a small threshold of acceptance</a:t>
            </a:r>
          </a:p>
          <a:p>
            <a:pPr lvl="1"/>
            <a:r>
              <a:rPr lang="en-CA" sz="2000" dirty="0">
                <a:latin typeface="Courier New" panose="02070309020205020404" pitchFamily="49" charset="0"/>
                <a:cs typeface="Courier New" panose="02070309020205020404" pitchFamily="49" charset="0"/>
              </a:rPr>
              <a:t>float_variable_1 </a:t>
            </a:r>
            <a:r>
              <a:rPr lang="en-CA" sz="2000" b="1" dirty="0">
                <a:latin typeface="Courier New" panose="02070309020205020404" pitchFamily="49" charset="0"/>
                <a:cs typeface="Courier New" panose="02070309020205020404" pitchFamily="49" charset="0"/>
              </a:rPr>
              <a:t>–</a:t>
            </a:r>
            <a:r>
              <a:rPr lang="en-CA" sz="2000" dirty="0">
                <a:latin typeface="Courier New" panose="02070309020205020404" pitchFamily="49" charset="0"/>
                <a:cs typeface="Courier New" panose="02070309020205020404" pitchFamily="49" charset="0"/>
              </a:rPr>
              <a:t> float_variable_2 </a:t>
            </a:r>
            <a:r>
              <a:rPr lang="en-CA" sz="2000" b="1" dirty="0">
                <a:latin typeface="Courier New" panose="02070309020205020404" pitchFamily="49" charset="0"/>
                <a:cs typeface="Courier New" panose="02070309020205020404" pitchFamily="49" charset="0"/>
              </a:rPr>
              <a:t>&lt;</a:t>
            </a:r>
            <a:r>
              <a:rPr lang="en-CA" sz="2000" dirty="0">
                <a:latin typeface="Courier New" panose="02070309020205020404" pitchFamily="49" charset="0"/>
                <a:cs typeface="Courier New" panose="02070309020205020404" pitchFamily="49" charset="0"/>
              </a:rPr>
              <a:t> threshold</a:t>
            </a:r>
          </a:p>
          <a:p>
            <a:r>
              <a:rPr lang="en-US" sz="2400" dirty="0">
                <a:cs typeface="Courier New" panose="02070309020205020404" pitchFamily="49" charset="0"/>
              </a:rPr>
              <a:t>GOTCHA ... Use ABS to avoid issues with negatives</a:t>
            </a:r>
          </a:p>
          <a:p>
            <a:pPr marL="0" indent="0">
              <a:buNone/>
            </a:pPr>
            <a:r>
              <a:rPr lang="en-US" sz="2400" dirty="0">
                <a:latin typeface="Courier New" panose="02070309020205020404" pitchFamily="49" charset="0"/>
                <a:cs typeface="Courier New" panose="02070309020205020404" pitchFamily="49" charset="0"/>
              </a:rPr>
              <a:t>threshold = 0.0000001</a:t>
            </a:r>
          </a:p>
          <a:p>
            <a:pPr marL="0" indent="0">
              <a:buNone/>
            </a:pPr>
            <a:r>
              <a:rPr lang="en-US" sz="2400" dirty="0">
                <a:latin typeface="Courier New" panose="02070309020205020404" pitchFamily="49" charset="0"/>
                <a:cs typeface="Courier New" panose="02070309020205020404" pitchFamily="49" charset="0"/>
              </a:rPr>
              <a:t>abs(float_variable_1 – float_variable_2) &lt; threshold</a:t>
            </a:r>
          </a:p>
        </p:txBody>
      </p:sp>
    </p:spTree>
    <p:extLst>
      <p:ext uri="{BB962C8B-B14F-4D97-AF65-F5344CB8AC3E}">
        <p14:creationId xmlns:p14="http://schemas.microsoft.com/office/powerpoint/2010/main" val="7571167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715C7-D0BC-A59D-57AD-471E41E0AA6D}"/>
              </a:ext>
            </a:extLst>
          </p:cNvPr>
          <p:cNvSpPr>
            <a:spLocks noGrp="1"/>
          </p:cNvSpPr>
          <p:nvPr>
            <p:ph type="title"/>
          </p:nvPr>
        </p:nvSpPr>
        <p:spPr/>
        <p:txBody>
          <a:bodyPr/>
          <a:lstStyle/>
          <a:p>
            <a:r>
              <a:rPr lang="en-US" dirty="0" err="1"/>
              <a:t>Math.isclose</a:t>
            </a:r>
            <a:endParaRPr lang="en-US" dirty="0"/>
          </a:p>
        </p:txBody>
      </p:sp>
      <p:sp>
        <p:nvSpPr>
          <p:cNvPr id="3" name="Content Placeholder 2">
            <a:extLst>
              <a:ext uri="{FF2B5EF4-FFF2-40B4-BE49-F238E27FC236}">
                <a16:creationId xmlns:a16="http://schemas.microsoft.com/office/drawing/2014/main" id="{7E9E91CB-FDF8-56AA-4B60-12462C251C96}"/>
              </a:ext>
            </a:extLst>
          </p:cNvPr>
          <p:cNvSpPr>
            <a:spLocks noGrp="1"/>
          </p:cNvSpPr>
          <p:nvPr>
            <p:ph idx="1"/>
          </p:nvPr>
        </p:nvSpPr>
        <p:spPr>
          <a:xfrm>
            <a:off x="2231136" y="2638045"/>
            <a:ext cx="7729728" cy="1608836"/>
          </a:xfrm>
        </p:spPr>
        <p:txBody>
          <a:bodyPr>
            <a:normAutofit fontScale="92500" lnSpcReduction="10000"/>
          </a:bodyPr>
          <a:lstStyle/>
          <a:p>
            <a:r>
              <a:rPr lang="en-US" sz="2800" dirty="0"/>
              <a:t>The math library has a method </a:t>
            </a:r>
            <a:r>
              <a:rPr lang="en-US" sz="2800" dirty="0" err="1"/>
              <a:t>isclose</a:t>
            </a:r>
            <a:r>
              <a:rPr lang="en-US" sz="2800" dirty="0"/>
              <a:t> that determines if 2 floating point numbers are really close</a:t>
            </a:r>
          </a:p>
          <a:p>
            <a:pPr lvl="1"/>
            <a:r>
              <a:rPr lang="en-US" sz="2400" dirty="0"/>
              <a:t>Has a default tolerance of 9 decimal places but can be configured </a:t>
            </a:r>
          </a:p>
          <a:p>
            <a:endParaRPr lang="en-US" sz="2800" dirty="0"/>
          </a:p>
        </p:txBody>
      </p:sp>
      <p:sp>
        <p:nvSpPr>
          <p:cNvPr id="4" name="TextBox 3">
            <a:extLst>
              <a:ext uri="{FF2B5EF4-FFF2-40B4-BE49-F238E27FC236}">
                <a16:creationId xmlns:a16="http://schemas.microsoft.com/office/drawing/2014/main" id="{B103940A-6BDB-4E53-332D-5B2C2CF6B8C2}"/>
              </a:ext>
            </a:extLst>
          </p:cNvPr>
          <p:cNvSpPr txBox="1"/>
          <p:nvPr/>
        </p:nvSpPr>
        <p:spPr>
          <a:xfrm>
            <a:off x="1150749" y="4731514"/>
            <a:ext cx="10495181" cy="523220"/>
          </a:xfrm>
          <a:prstGeom prst="rect">
            <a:avLst/>
          </a:prstGeom>
          <a:noFill/>
        </p:spPr>
        <p:txBody>
          <a:bodyPr wrap="none" rtlCol="0">
            <a:spAutoFit/>
          </a:bodyPr>
          <a:lstStyle/>
          <a:p>
            <a:r>
              <a:rPr lang="en-US" sz="2800" dirty="0" err="1">
                <a:latin typeface="Courier New" panose="02070309020205020404" pitchFamily="49" charset="0"/>
                <a:cs typeface="Courier New" panose="02070309020205020404" pitchFamily="49" charset="0"/>
              </a:rPr>
              <a:t>math.isclose</a:t>
            </a:r>
            <a:r>
              <a:rPr lang="en-US" sz="2800" dirty="0">
                <a:latin typeface="Courier New" panose="02070309020205020404" pitchFamily="49" charset="0"/>
                <a:cs typeface="Courier New" panose="02070309020205020404" pitchFamily="49" charset="0"/>
              </a:rPr>
              <a:t>(float_variable_1, float_variable_2)</a:t>
            </a:r>
          </a:p>
        </p:txBody>
      </p:sp>
    </p:spTree>
    <p:extLst>
      <p:ext uri="{BB962C8B-B14F-4D97-AF65-F5344CB8AC3E}">
        <p14:creationId xmlns:p14="http://schemas.microsoft.com/office/powerpoint/2010/main" val="4620888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75629-5FC6-3044-EAC7-D2514EE2B091}"/>
              </a:ext>
            </a:extLst>
          </p:cNvPr>
          <p:cNvSpPr>
            <a:spLocks noGrp="1"/>
          </p:cNvSpPr>
          <p:nvPr>
            <p:ph type="title"/>
          </p:nvPr>
        </p:nvSpPr>
        <p:spPr>
          <a:prstGeom prst="roundRect">
            <a:avLst>
              <a:gd name="adj" fmla="val 14141"/>
            </a:avLst>
          </a:prstGeom>
        </p:spPr>
        <p:txBody>
          <a:bodyPr vert="horz" lIns="274320" tIns="182880" rIns="274320" bIns="182880" rtlCol="0" anchor="ctr" anchorCtr="1">
            <a:normAutofit/>
          </a:bodyPr>
          <a:lstStyle/>
          <a:p>
            <a:r>
              <a:rPr lang="en-US"/>
              <a:t>Comparing Floats</a:t>
            </a:r>
          </a:p>
        </p:txBody>
      </p:sp>
      <p:pic>
        <p:nvPicPr>
          <p:cNvPr id="4" name="Content Placeholder 3">
            <a:extLst>
              <a:ext uri="{FF2B5EF4-FFF2-40B4-BE49-F238E27FC236}">
                <a16:creationId xmlns:a16="http://schemas.microsoft.com/office/drawing/2014/main" id="{4260D192-881D-5B0A-3755-CD5266085677}"/>
              </a:ext>
            </a:extLst>
          </p:cNvPr>
          <p:cNvPicPr>
            <a:picLocks noGrp="1" noChangeAspect="1"/>
          </p:cNvPicPr>
          <p:nvPr>
            <p:ph idx="1"/>
          </p:nvPr>
        </p:nvPicPr>
        <p:blipFill>
          <a:blip r:embed="rId2"/>
          <a:stretch>
            <a:fillRect/>
          </a:stretch>
        </p:blipFill>
        <p:spPr>
          <a:xfrm>
            <a:off x="6735763" y="1794089"/>
            <a:ext cx="4816475" cy="3269823"/>
          </a:xfrm>
          <a:prstGeom prst="rect">
            <a:avLst/>
          </a:prstGeom>
        </p:spPr>
      </p:pic>
      <p:sp>
        <p:nvSpPr>
          <p:cNvPr id="3" name="Text Placeholder 2">
            <a:extLst>
              <a:ext uri="{FF2B5EF4-FFF2-40B4-BE49-F238E27FC236}">
                <a16:creationId xmlns:a16="http://schemas.microsoft.com/office/drawing/2014/main" id="{6C0F3F70-672C-4758-B9E1-F042D18CEF24}"/>
              </a:ext>
            </a:extLst>
          </p:cNvPr>
          <p:cNvSpPr>
            <a:spLocks noGrp="1"/>
          </p:cNvSpPr>
          <p:nvPr>
            <p:ph type="body" sz="half" idx="2"/>
          </p:nvPr>
        </p:nvSpPr>
        <p:spPr/>
        <p:txBody>
          <a:bodyPr>
            <a:normAutofit/>
          </a:bodyPr>
          <a:lstStyle/>
          <a:p>
            <a:r>
              <a:rPr lang="en-US" sz="2000" dirty="0">
                <a:solidFill>
                  <a:schemeClr val="bg1"/>
                </a:solidFill>
              </a:rPr>
              <a:t>Fix the code to avoid directly </a:t>
            </a:r>
          </a:p>
          <a:p>
            <a:r>
              <a:rPr lang="en-US" sz="2000" dirty="0">
                <a:solidFill>
                  <a:schemeClr val="bg1"/>
                </a:solidFill>
              </a:rPr>
              <a:t>comparing floating points</a:t>
            </a:r>
          </a:p>
          <a:p>
            <a:endParaRPr lang="en-CA" sz="2000" dirty="0"/>
          </a:p>
        </p:txBody>
      </p:sp>
    </p:spTree>
    <p:extLst>
      <p:ext uri="{BB962C8B-B14F-4D97-AF65-F5344CB8AC3E}">
        <p14:creationId xmlns:p14="http://schemas.microsoft.com/office/powerpoint/2010/main" val="1032255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D276E-DAD5-B5AD-44A1-2522DD879F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41F79-5695-7FCE-844E-64A1A07D13D6}"/>
              </a:ext>
            </a:extLst>
          </p:cNvPr>
          <p:cNvSpPr>
            <a:spLocks noGrp="1"/>
          </p:cNvSpPr>
          <p:nvPr>
            <p:ph type="title"/>
          </p:nvPr>
        </p:nvSpPr>
        <p:spPr>
          <a:prstGeom prst="roundRect">
            <a:avLst>
              <a:gd name="adj" fmla="val 14141"/>
            </a:avLst>
          </a:prstGeom>
        </p:spPr>
        <p:txBody>
          <a:bodyPr vert="horz" lIns="274320" tIns="182880" rIns="274320" bIns="182880" rtlCol="0" anchor="ctr" anchorCtr="1">
            <a:normAutofit/>
          </a:bodyPr>
          <a:lstStyle/>
          <a:p>
            <a:r>
              <a:rPr lang="en-US"/>
              <a:t>Comparing Floats</a:t>
            </a:r>
          </a:p>
        </p:txBody>
      </p:sp>
      <p:pic>
        <p:nvPicPr>
          <p:cNvPr id="7" name="Content Placeholder 6">
            <a:extLst>
              <a:ext uri="{FF2B5EF4-FFF2-40B4-BE49-F238E27FC236}">
                <a16:creationId xmlns:a16="http://schemas.microsoft.com/office/drawing/2014/main" id="{ABCEA71A-E863-0FF0-9D08-CB69957E195D}"/>
              </a:ext>
            </a:extLst>
          </p:cNvPr>
          <p:cNvPicPr>
            <a:picLocks noGrp="1" noChangeAspect="1"/>
          </p:cNvPicPr>
          <p:nvPr>
            <p:ph idx="1"/>
          </p:nvPr>
        </p:nvPicPr>
        <p:blipFill>
          <a:blip r:embed="rId2"/>
          <a:stretch>
            <a:fillRect/>
          </a:stretch>
        </p:blipFill>
        <p:spPr>
          <a:xfrm>
            <a:off x="6735763" y="1607644"/>
            <a:ext cx="4816475" cy="3642712"/>
          </a:xfrm>
          <a:prstGeom prst="rect">
            <a:avLst/>
          </a:prstGeom>
        </p:spPr>
      </p:pic>
      <p:sp>
        <p:nvSpPr>
          <p:cNvPr id="3" name="Text Placeholder 2">
            <a:extLst>
              <a:ext uri="{FF2B5EF4-FFF2-40B4-BE49-F238E27FC236}">
                <a16:creationId xmlns:a16="http://schemas.microsoft.com/office/drawing/2014/main" id="{A26644D2-AA85-B893-D2F9-952E77753995}"/>
              </a:ext>
            </a:extLst>
          </p:cNvPr>
          <p:cNvSpPr>
            <a:spLocks noGrp="1"/>
          </p:cNvSpPr>
          <p:nvPr>
            <p:ph type="body" sz="half" idx="2"/>
          </p:nvPr>
        </p:nvSpPr>
        <p:spPr/>
        <p:txBody>
          <a:bodyPr>
            <a:normAutofit/>
          </a:bodyPr>
          <a:lstStyle/>
          <a:p>
            <a:r>
              <a:rPr lang="en-US" sz="2000" dirty="0"/>
              <a:t>Fix the code to avoid directly </a:t>
            </a:r>
          </a:p>
          <a:p>
            <a:r>
              <a:rPr lang="en-US" sz="2000" dirty="0"/>
              <a:t>comparing floating points</a:t>
            </a:r>
          </a:p>
          <a:p>
            <a:endParaRPr lang="en-CA" sz="2000" dirty="0"/>
          </a:p>
        </p:txBody>
      </p:sp>
    </p:spTree>
    <p:extLst>
      <p:ext uri="{BB962C8B-B14F-4D97-AF65-F5344CB8AC3E}">
        <p14:creationId xmlns:p14="http://schemas.microsoft.com/office/powerpoint/2010/main" val="30665294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78B53-B6BE-F52E-C659-C1AEA4730050}"/>
              </a:ext>
            </a:extLst>
          </p:cNvPr>
          <p:cNvSpPr>
            <a:spLocks noGrp="1"/>
          </p:cNvSpPr>
          <p:nvPr>
            <p:ph type="title"/>
          </p:nvPr>
        </p:nvSpPr>
        <p:spPr>
          <a:xfrm>
            <a:off x="2231136" y="370332"/>
            <a:ext cx="7729728" cy="1188720"/>
          </a:xfrm>
        </p:spPr>
        <p:txBody>
          <a:bodyPr/>
          <a:lstStyle/>
          <a:p>
            <a:r>
              <a:rPr lang="en-US" dirty="0"/>
              <a:t>Comparing Strings</a:t>
            </a:r>
          </a:p>
        </p:txBody>
      </p:sp>
      <p:sp>
        <p:nvSpPr>
          <p:cNvPr id="3" name="Content Placeholder 2">
            <a:extLst>
              <a:ext uri="{FF2B5EF4-FFF2-40B4-BE49-F238E27FC236}">
                <a16:creationId xmlns:a16="http://schemas.microsoft.com/office/drawing/2014/main" id="{7FF75B04-7797-C760-4882-B8B2FB8769C8}"/>
              </a:ext>
            </a:extLst>
          </p:cNvPr>
          <p:cNvSpPr>
            <a:spLocks noGrp="1"/>
          </p:cNvSpPr>
          <p:nvPr>
            <p:ph idx="1"/>
          </p:nvPr>
        </p:nvSpPr>
        <p:spPr>
          <a:xfrm>
            <a:off x="1060704" y="2298613"/>
            <a:ext cx="2962656" cy="3594696"/>
          </a:xfrm>
        </p:spPr>
        <p:txBody>
          <a:bodyPr>
            <a:normAutofit fontScale="92500"/>
          </a:bodyPr>
          <a:lstStyle/>
          <a:p>
            <a:r>
              <a:rPr lang="en-US" sz="2400" dirty="0"/>
              <a:t>Characters are represented as numbers (binary numbers)</a:t>
            </a:r>
          </a:p>
          <a:p>
            <a:r>
              <a:rPr lang="en-US" sz="2400" dirty="0"/>
              <a:t>For example “A” is character 65,</a:t>
            </a:r>
          </a:p>
          <a:p>
            <a:r>
              <a:rPr lang="en-US" sz="2400" dirty="0"/>
              <a:t>Strings are compared by their binary code (ordinal number) </a:t>
            </a:r>
          </a:p>
        </p:txBody>
      </p:sp>
      <p:pic>
        <p:nvPicPr>
          <p:cNvPr id="8" name="Picture 7">
            <a:extLst>
              <a:ext uri="{FF2B5EF4-FFF2-40B4-BE49-F238E27FC236}">
                <a16:creationId xmlns:a16="http://schemas.microsoft.com/office/drawing/2014/main" id="{AD664C8E-B18F-DEEE-DF88-3DC856FF0F91}"/>
              </a:ext>
            </a:extLst>
          </p:cNvPr>
          <p:cNvPicPr>
            <a:picLocks noChangeAspect="1"/>
          </p:cNvPicPr>
          <p:nvPr/>
        </p:nvPicPr>
        <p:blipFill>
          <a:blip r:embed="rId2"/>
          <a:stretch>
            <a:fillRect/>
          </a:stretch>
        </p:blipFill>
        <p:spPr>
          <a:xfrm>
            <a:off x="4876800" y="2298612"/>
            <a:ext cx="6835164" cy="3265512"/>
          </a:xfrm>
          <a:prstGeom prst="rect">
            <a:avLst/>
          </a:prstGeom>
        </p:spPr>
      </p:pic>
      <p:cxnSp>
        <p:nvCxnSpPr>
          <p:cNvPr id="10" name="Straight Arrow Connector 9">
            <a:extLst>
              <a:ext uri="{FF2B5EF4-FFF2-40B4-BE49-F238E27FC236}">
                <a16:creationId xmlns:a16="http://schemas.microsoft.com/office/drawing/2014/main" id="{FCC9A553-2F75-6EDA-9575-6E05218E0980}"/>
              </a:ext>
            </a:extLst>
          </p:cNvPr>
          <p:cNvCxnSpPr/>
          <p:nvPr/>
        </p:nvCxnSpPr>
        <p:spPr>
          <a:xfrm flipV="1">
            <a:off x="2783840" y="2791325"/>
            <a:ext cx="5791200" cy="15509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18EC5626-DDE9-C404-F576-A7E19041B367}"/>
              </a:ext>
            </a:extLst>
          </p:cNvPr>
          <p:cNvSpPr txBox="1"/>
          <p:nvPr/>
        </p:nvSpPr>
        <p:spPr>
          <a:xfrm>
            <a:off x="3576320" y="5893309"/>
            <a:ext cx="6122189" cy="830997"/>
          </a:xfrm>
          <a:prstGeom prst="rect">
            <a:avLst/>
          </a:prstGeom>
          <a:noFill/>
          <a:ln>
            <a:solidFill>
              <a:srgbClr val="404040"/>
            </a:solidFill>
          </a:ln>
        </p:spPr>
        <p:txBody>
          <a:bodyPr wrap="none" rtlCol="0">
            <a:spAutoFit/>
          </a:bodyPr>
          <a:lstStyle/>
          <a:p>
            <a:r>
              <a:rPr lang="en-US" sz="2400" dirty="0"/>
              <a:t>“A” comes before ”Z” which comes before “a”</a:t>
            </a:r>
          </a:p>
          <a:p>
            <a:r>
              <a:rPr lang="en-US" sz="2400" dirty="0"/>
              <a:t>(65)                      (90)                              (97)</a:t>
            </a:r>
          </a:p>
        </p:txBody>
      </p:sp>
    </p:spTree>
    <p:extLst>
      <p:ext uri="{BB962C8B-B14F-4D97-AF65-F5344CB8AC3E}">
        <p14:creationId xmlns:p14="http://schemas.microsoft.com/office/powerpoint/2010/main" val="39358014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35B45-0C6F-7489-DA6F-0E1E42DEBAB5}"/>
              </a:ext>
            </a:extLst>
          </p:cNvPr>
          <p:cNvSpPr>
            <a:spLocks noGrp="1"/>
          </p:cNvSpPr>
          <p:nvPr>
            <p:ph type="title"/>
          </p:nvPr>
        </p:nvSpPr>
        <p:spPr/>
        <p:txBody>
          <a:bodyPr/>
          <a:lstStyle/>
          <a:p>
            <a:r>
              <a:rPr lang="en-US" dirty="0" err="1"/>
              <a:t>ord</a:t>
            </a:r>
            <a:endParaRPr lang="en-US" dirty="0"/>
          </a:p>
        </p:txBody>
      </p:sp>
      <p:sp>
        <p:nvSpPr>
          <p:cNvPr id="3" name="Content Placeholder 2">
            <a:extLst>
              <a:ext uri="{FF2B5EF4-FFF2-40B4-BE49-F238E27FC236}">
                <a16:creationId xmlns:a16="http://schemas.microsoft.com/office/drawing/2014/main" id="{207F5F60-7A76-56C5-2D26-2306740BE9B3}"/>
              </a:ext>
            </a:extLst>
          </p:cNvPr>
          <p:cNvSpPr>
            <a:spLocks noGrp="1"/>
          </p:cNvSpPr>
          <p:nvPr>
            <p:ph idx="1"/>
          </p:nvPr>
        </p:nvSpPr>
        <p:spPr/>
        <p:txBody>
          <a:bodyPr>
            <a:normAutofit/>
          </a:bodyPr>
          <a:lstStyle/>
          <a:p>
            <a:r>
              <a:rPr lang="en-US" sz="2800" dirty="0"/>
              <a:t>The python built-in function </a:t>
            </a:r>
            <a:r>
              <a:rPr lang="en-US" sz="2800" dirty="0" err="1"/>
              <a:t>ord</a:t>
            </a:r>
            <a:r>
              <a:rPr lang="en-US" sz="2800" dirty="0"/>
              <a:t>(character) can be used to retrieve the ordinal number for a specified character</a:t>
            </a:r>
          </a:p>
          <a:p>
            <a:r>
              <a:rPr lang="en-US" sz="2800" dirty="0"/>
              <a:t>Example: </a:t>
            </a:r>
            <a:r>
              <a:rPr lang="en-US" sz="2800" dirty="0" err="1"/>
              <a:t>ord</a:t>
            </a:r>
            <a:r>
              <a:rPr lang="en-US" sz="2800" dirty="0"/>
              <a:t>(“A”) </a:t>
            </a:r>
            <a:r>
              <a:rPr lang="en-US" sz="2800" dirty="0">
                <a:sym typeface="Wingdings" pitchFamily="2" charset="2"/>
              </a:rPr>
              <a:t>returns 65</a:t>
            </a:r>
            <a:endParaRPr lang="en-US" sz="2800" dirty="0"/>
          </a:p>
        </p:txBody>
      </p:sp>
    </p:spTree>
    <p:extLst>
      <p:ext uri="{BB962C8B-B14F-4D97-AF65-F5344CB8AC3E}">
        <p14:creationId xmlns:p14="http://schemas.microsoft.com/office/powerpoint/2010/main" val="39017567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3C460D-72DC-75E9-0CD6-B5F2B8E113FB}"/>
              </a:ext>
            </a:extLst>
          </p:cNvPr>
          <p:cNvSpPr>
            <a:spLocks noGrp="1"/>
          </p:cNvSpPr>
          <p:nvPr>
            <p:ph type="title"/>
          </p:nvPr>
        </p:nvSpPr>
        <p:spPr/>
        <p:txBody>
          <a:bodyPr/>
          <a:lstStyle/>
          <a:p>
            <a:r>
              <a:rPr lang="en-US" dirty="0"/>
              <a:t>Self Check</a:t>
            </a:r>
          </a:p>
        </p:txBody>
      </p:sp>
      <p:sp>
        <p:nvSpPr>
          <p:cNvPr id="3" name="Content Placeholder 2">
            <a:extLst>
              <a:ext uri="{FF2B5EF4-FFF2-40B4-BE49-F238E27FC236}">
                <a16:creationId xmlns:a16="http://schemas.microsoft.com/office/drawing/2014/main" id="{A7D92935-B13E-2794-1139-C29C16212E8A}"/>
              </a:ext>
            </a:extLst>
          </p:cNvPr>
          <p:cNvSpPr>
            <a:spLocks noGrp="1"/>
          </p:cNvSpPr>
          <p:nvPr>
            <p:ph idx="1"/>
          </p:nvPr>
        </p:nvSpPr>
        <p:spPr/>
        <p:txBody>
          <a:bodyPr>
            <a:normAutofit/>
          </a:bodyPr>
          <a:lstStyle/>
          <a:p>
            <a:r>
              <a:rPr lang="en-US" sz="2400" dirty="0"/>
              <a:t>What is the output of the following comparisons?</a:t>
            </a:r>
          </a:p>
          <a:p>
            <a:r>
              <a:rPr lang="en-US" sz="2400" dirty="0">
                <a:latin typeface="Courier New" panose="02070309020205020404" pitchFamily="49" charset="0"/>
                <a:cs typeface="Courier New" panose="02070309020205020404" pitchFamily="49" charset="0"/>
              </a:rPr>
              <a:t>“BBB” &lt; “</a:t>
            </a:r>
            <a:r>
              <a:rPr lang="en-US" sz="2400" dirty="0" err="1">
                <a:latin typeface="Courier New" panose="02070309020205020404" pitchFamily="49" charset="0"/>
                <a:cs typeface="Courier New" panose="02070309020205020404" pitchFamily="49" charset="0"/>
              </a:rPr>
              <a:t>aaa</a:t>
            </a:r>
            <a:r>
              <a:rPr lang="en-US" sz="2400" dirty="0">
                <a:latin typeface="Courier New" panose="02070309020205020404" pitchFamily="49" charset="0"/>
                <a:cs typeface="Courier New" panose="02070309020205020404" pitchFamily="49" charset="0"/>
              </a:rPr>
              <a:t>”</a:t>
            </a:r>
          </a:p>
          <a:p>
            <a:r>
              <a:rPr lang="en-US" sz="2400" dirty="0">
                <a:latin typeface="Courier New" panose="02070309020205020404" pitchFamily="49" charset="0"/>
                <a:cs typeface="Courier New" panose="02070309020205020404" pitchFamily="49" charset="0"/>
              </a:rPr>
              <a:t>“a” == “A”</a:t>
            </a:r>
          </a:p>
          <a:p>
            <a:r>
              <a:rPr lang="en-US" sz="2400" dirty="0">
                <a:latin typeface="Courier New" panose="02070309020205020404" pitchFamily="49" charset="0"/>
                <a:cs typeface="Courier New" panose="02070309020205020404" pitchFamily="49" charset="0"/>
              </a:rPr>
              <a:t>“9” &gt; “8”</a:t>
            </a:r>
          </a:p>
          <a:p>
            <a:endParaRPr lang="en-US" sz="2400" dirty="0"/>
          </a:p>
        </p:txBody>
      </p:sp>
    </p:spTree>
    <p:extLst>
      <p:ext uri="{BB962C8B-B14F-4D97-AF65-F5344CB8AC3E}">
        <p14:creationId xmlns:p14="http://schemas.microsoft.com/office/powerpoint/2010/main" val="20210577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528F5-C97D-DF31-5501-AA0B7656F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A02FBC-D550-57DB-49BE-A77EAE2097AB}"/>
              </a:ext>
            </a:extLst>
          </p:cNvPr>
          <p:cNvSpPr>
            <a:spLocks noGrp="1"/>
          </p:cNvSpPr>
          <p:nvPr>
            <p:ph type="title"/>
          </p:nvPr>
        </p:nvSpPr>
        <p:spPr/>
        <p:txBody>
          <a:bodyPr/>
          <a:lstStyle/>
          <a:p>
            <a:r>
              <a:rPr lang="en-US" dirty="0"/>
              <a:t>Self Check</a:t>
            </a:r>
          </a:p>
        </p:txBody>
      </p:sp>
      <p:sp>
        <p:nvSpPr>
          <p:cNvPr id="3" name="Content Placeholder 2">
            <a:extLst>
              <a:ext uri="{FF2B5EF4-FFF2-40B4-BE49-F238E27FC236}">
                <a16:creationId xmlns:a16="http://schemas.microsoft.com/office/drawing/2014/main" id="{7C9F21AC-93B5-ADB0-B5A4-5DB045CC4679}"/>
              </a:ext>
            </a:extLst>
          </p:cNvPr>
          <p:cNvSpPr>
            <a:spLocks noGrp="1"/>
          </p:cNvSpPr>
          <p:nvPr>
            <p:ph idx="1"/>
          </p:nvPr>
        </p:nvSpPr>
        <p:spPr/>
        <p:txBody>
          <a:bodyPr>
            <a:normAutofit/>
          </a:bodyPr>
          <a:lstStyle/>
          <a:p>
            <a:r>
              <a:rPr lang="en-US" sz="2400" dirty="0"/>
              <a:t>What is the output of the following comparisons?</a:t>
            </a:r>
          </a:p>
          <a:p>
            <a:r>
              <a:rPr lang="en-US" sz="2400" dirty="0">
                <a:latin typeface="Courier New" panose="02070309020205020404" pitchFamily="49" charset="0"/>
                <a:cs typeface="Courier New" panose="02070309020205020404" pitchFamily="49" charset="0"/>
              </a:rPr>
              <a:t>“BBB” &lt; “</a:t>
            </a:r>
            <a:r>
              <a:rPr lang="en-US" sz="2400" dirty="0" err="1">
                <a:latin typeface="Courier New" panose="02070309020205020404" pitchFamily="49" charset="0"/>
                <a:cs typeface="Courier New" panose="02070309020205020404" pitchFamily="49" charset="0"/>
              </a:rPr>
              <a:t>aaa</a:t>
            </a:r>
            <a:r>
              <a:rPr lang="en-US" sz="2400" dirty="0">
                <a:latin typeface="Courier New" panose="02070309020205020404" pitchFamily="49" charset="0"/>
                <a:cs typeface="Courier New" panose="02070309020205020404" pitchFamily="49" charset="0"/>
              </a:rPr>
              <a:t>”  </a:t>
            </a:r>
            <a:r>
              <a:rPr lang="en-US" sz="2400" b="1" dirty="0">
                <a:latin typeface="Courier New" panose="02070309020205020404" pitchFamily="49" charset="0"/>
                <a:cs typeface="Courier New" panose="02070309020205020404" pitchFamily="49" charset="0"/>
              </a:rPr>
              <a:t>True</a:t>
            </a:r>
          </a:p>
          <a:p>
            <a:r>
              <a:rPr lang="en-US" sz="2400" dirty="0">
                <a:latin typeface="Courier New" panose="02070309020205020404" pitchFamily="49" charset="0"/>
                <a:cs typeface="Courier New" panose="02070309020205020404" pitchFamily="49" charset="0"/>
              </a:rPr>
              <a:t>“a” == “A”     </a:t>
            </a:r>
            <a:r>
              <a:rPr lang="en-US" sz="2400" b="1" dirty="0">
                <a:latin typeface="Courier New" panose="02070309020205020404" pitchFamily="49" charset="0"/>
                <a:cs typeface="Courier New" panose="02070309020205020404" pitchFamily="49" charset="0"/>
              </a:rPr>
              <a:t>False</a:t>
            </a:r>
            <a:endParaRPr lang="en-US" sz="2400" dirty="0">
              <a:latin typeface="Courier New" panose="02070309020205020404" pitchFamily="49" charset="0"/>
              <a:cs typeface="Courier New" panose="02070309020205020404" pitchFamily="49" charset="0"/>
            </a:endParaRPr>
          </a:p>
          <a:p>
            <a:r>
              <a:rPr lang="en-US" sz="2400" dirty="0">
                <a:latin typeface="Courier New" panose="02070309020205020404" pitchFamily="49" charset="0"/>
                <a:cs typeface="Courier New" panose="02070309020205020404" pitchFamily="49" charset="0"/>
              </a:rPr>
              <a:t>“9” &gt; “8”      </a:t>
            </a:r>
            <a:r>
              <a:rPr lang="en-US" sz="2400" b="1" dirty="0">
                <a:latin typeface="Courier New" panose="02070309020205020404" pitchFamily="49" charset="0"/>
                <a:cs typeface="Courier New" panose="02070309020205020404" pitchFamily="49" charset="0"/>
              </a:rPr>
              <a:t>True</a:t>
            </a:r>
            <a:endParaRPr lang="en-US" sz="2400" dirty="0">
              <a:latin typeface="Courier New" panose="02070309020205020404" pitchFamily="49" charset="0"/>
              <a:cs typeface="Courier New" panose="02070309020205020404" pitchFamily="49" charset="0"/>
            </a:endParaRPr>
          </a:p>
          <a:p>
            <a:endParaRPr lang="en-US" sz="2400" dirty="0"/>
          </a:p>
        </p:txBody>
      </p:sp>
    </p:spTree>
    <p:extLst>
      <p:ext uri="{BB962C8B-B14F-4D97-AF65-F5344CB8AC3E}">
        <p14:creationId xmlns:p14="http://schemas.microsoft.com/office/powerpoint/2010/main" val="33441727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19488-A11E-EB6D-91ED-462B64612A25}"/>
              </a:ext>
            </a:extLst>
          </p:cNvPr>
          <p:cNvSpPr>
            <a:spLocks noGrp="1"/>
          </p:cNvSpPr>
          <p:nvPr>
            <p:ph type="title"/>
          </p:nvPr>
        </p:nvSpPr>
        <p:spPr/>
        <p:txBody>
          <a:bodyPr/>
          <a:lstStyle/>
          <a:p>
            <a:r>
              <a:rPr lang="en-US" dirty="0"/>
              <a:t>Try at Home</a:t>
            </a:r>
          </a:p>
        </p:txBody>
      </p:sp>
      <p:sp>
        <p:nvSpPr>
          <p:cNvPr id="3" name="Content Placeholder 2">
            <a:extLst>
              <a:ext uri="{FF2B5EF4-FFF2-40B4-BE49-F238E27FC236}">
                <a16:creationId xmlns:a16="http://schemas.microsoft.com/office/drawing/2014/main" id="{208B0FD1-5F6A-134F-5C58-EC524C48D0E7}"/>
              </a:ext>
            </a:extLst>
          </p:cNvPr>
          <p:cNvSpPr>
            <a:spLocks noGrp="1"/>
          </p:cNvSpPr>
          <p:nvPr>
            <p:ph idx="1"/>
          </p:nvPr>
        </p:nvSpPr>
        <p:spPr/>
        <p:txBody>
          <a:bodyPr>
            <a:normAutofit fontScale="92500" lnSpcReduction="20000"/>
          </a:bodyPr>
          <a:lstStyle/>
          <a:p>
            <a:r>
              <a:rPr lang="en-US" dirty="0"/>
              <a:t>Write a program to ask for the user’s age. For those less than 18 output “Minor” otherwise output “Age of Majority”</a:t>
            </a:r>
          </a:p>
          <a:p>
            <a:r>
              <a:rPr lang="en-US" dirty="0"/>
              <a:t>Program to read an integer from the user and print whether it is zero, negative or positive</a:t>
            </a:r>
          </a:p>
          <a:p>
            <a:r>
              <a:rPr lang="en-US" dirty="0"/>
              <a:t>Program to compute and compare Area of Rectangles</a:t>
            </a:r>
          </a:p>
          <a:p>
            <a:pPr lvl="1"/>
            <a:r>
              <a:rPr lang="en-US" dirty="0"/>
              <a:t>Write code to determine if 2 rectangles have the same area:</a:t>
            </a:r>
          </a:p>
          <a:p>
            <a:pPr lvl="1"/>
            <a:r>
              <a:rPr lang="en-US" dirty="0"/>
              <a:t>Rectangle 1 dimensions: 2.49 x 2.49</a:t>
            </a:r>
          </a:p>
          <a:p>
            <a:pPr lvl="1"/>
            <a:r>
              <a:rPr lang="en-US" dirty="0"/>
              <a:t>Rectangle 2 dimensions: 1.0 x 6.2001</a:t>
            </a:r>
          </a:p>
          <a:p>
            <a:r>
              <a:rPr lang="en-US" dirty="0"/>
              <a:t>There is a small inconsistency in a number comparison program. What is the inconsistency, given an example input that exposes it and then fix it.</a:t>
            </a:r>
          </a:p>
          <a:p>
            <a:endParaRPr lang="en-US" dirty="0"/>
          </a:p>
        </p:txBody>
      </p:sp>
    </p:spTree>
    <p:extLst>
      <p:ext uri="{BB962C8B-B14F-4D97-AF65-F5344CB8AC3E}">
        <p14:creationId xmlns:p14="http://schemas.microsoft.com/office/powerpoint/2010/main" val="1881749580"/>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Parcel</Template>
  <TotalTime>28480</TotalTime>
  <Words>1120</Words>
  <Application>Microsoft Office PowerPoint</Application>
  <PresentationFormat>Widescreen</PresentationFormat>
  <Paragraphs>166</Paragraphs>
  <Slides>35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Aptos</vt:lpstr>
      <vt:lpstr>Arial</vt:lpstr>
      <vt:lpstr>Courier New</vt:lpstr>
      <vt:lpstr>Gill Sans MT</vt:lpstr>
      <vt:lpstr>Wingdings</vt:lpstr>
      <vt:lpstr>Parcel</vt:lpstr>
      <vt:lpstr>DECISIONS (If/Then/Else)</vt:lpstr>
      <vt:lpstr>Questions</vt:lpstr>
      <vt:lpstr>Code Examples</vt:lpstr>
      <vt:lpstr>Boolean</vt:lpstr>
      <vt:lpstr>Quick Hitters</vt:lpstr>
      <vt:lpstr>Flow of Control</vt:lpstr>
      <vt:lpstr>Conditional Statements</vt:lpstr>
      <vt:lpstr>If statement</vt:lpstr>
      <vt:lpstr>Example</vt:lpstr>
      <vt:lpstr>If-Else statement</vt:lpstr>
      <vt:lpstr>If-Else statement</vt:lpstr>
      <vt:lpstr>Self-Check</vt:lpstr>
      <vt:lpstr>Self-Check</vt:lpstr>
      <vt:lpstr>Example</vt:lpstr>
      <vt:lpstr>If-elif-Else statement</vt:lpstr>
      <vt:lpstr>Example</vt:lpstr>
      <vt:lpstr>Class Participation</vt:lpstr>
      <vt:lpstr>Nested Conditional Statements</vt:lpstr>
      <vt:lpstr>Find a Partner</vt:lpstr>
      <vt:lpstr>Find a Partner</vt:lpstr>
      <vt:lpstr>Find a Partner</vt:lpstr>
      <vt:lpstr>Comparisons PAuse</vt:lpstr>
      <vt:lpstr>Floating Point Values</vt:lpstr>
      <vt:lpstr>What is the output?</vt:lpstr>
      <vt:lpstr>What is the output?</vt:lpstr>
      <vt:lpstr>Comparing Floats</vt:lpstr>
      <vt:lpstr>Threshold</vt:lpstr>
      <vt:lpstr>Math.isclose</vt:lpstr>
      <vt:lpstr>Comparing Floats</vt:lpstr>
      <vt:lpstr>Comparing Floats</vt:lpstr>
      <vt:lpstr>Comparing Strings</vt:lpstr>
      <vt:lpstr>ord</vt:lpstr>
      <vt:lpstr>Self Check</vt:lpstr>
      <vt:lpstr>Self Check</vt:lpstr>
      <vt:lpstr>Try at Home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Andrew Godbout</dc:creator>
  <cp:lastModifiedBy>Christopher Power</cp:lastModifiedBy>
  <cp:revision>2</cp:revision>
  <dcterms:created xsi:type="dcterms:W3CDTF">2025-06-27T17:31:36Z</dcterms:created>
  <dcterms:modified xsi:type="dcterms:W3CDTF">2026-07-23T02:13:54Z</dcterms:modified>
</cp:coreProperties>
</file>